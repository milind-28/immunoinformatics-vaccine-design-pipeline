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notesSlides/notesSlide1.xml" ContentType="application/vnd.openxmlformats-officedocument.presentationml.notesSlide+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notesSlides/notesSlide2.xml" ContentType="application/vnd.openxmlformats-officedocument.presentationml.notesSlide+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41"/>
  </p:notesMasterIdLst>
  <p:sldIdLst>
    <p:sldId id="273" r:id="rId3"/>
    <p:sldId id="274" r:id="rId4"/>
    <p:sldId id="256" r:id="rId5"/>
    <p:sldId id="275" r:id="rId6"/>
    <p:sldId id="277" r:id="rId7"/>
    <p:sldId id="276" r:id="rId8"/>
    <p:sldId id="283" r:id="rId9"/>
    <p:sldId id="278" r:id="rId10"/>
    <p:sldId id="300" r:id="rId11"/>
    <p:sldId id="301" r:id="rId12"/>
    <p:sldId id="302" r:id="rId13"/>
    <p:sldId id="303" r:id="rId14"/>
    <p:sldId id="304" r:id="rId15"/>
    <p:sldId id="305" r:id="rId16"/>
    <p:sldId id="306" r:id="rId17"/>
    <p:sldId id="307" r:id="rId18"/>
    <p:sldId id="310" r:id="rId19"/>
    <p:sldId id="308" r:id="rId20"/>
    <p:sldId id="309" r:id="rId21"/>
    <p:sldId id="311" r:id="rId22"/>
    <p:sldId id="312" r:id="rId23"/>
    <p:sldId id="313" r:id="rId24"/>
    <p:sldId id="314" r:id="rId25"/>
    <p:sldId id="315" r:id="rId26"/>
    <p:sldId id="316" r:id="rId27"/>
    <p:sldId id="317" r:id="rId28"/>
    <p:sldId id="326" r:id="rId29"/>
    <p:sldId id="324" r:id="rId30"/>
    <p:sldId id="328" r:id="rId31"/>
    <p:sldId id="325" r:id="rId32"/>
    <p:sldId id="329" r:id="rId33"/>
    <p:sldId id="327" r:id="rId34"/>
    <p:sldId id="318" r:id="rId35"/>
    <p:sldId id="319" r:id="rId36"/>
    <p:sldId id="323" r:id="rId37"/>
    <p:sldId id="321" r:id="rId38"/>
    <p:sldId id="322" r:id="rId39"/>
    <p:sldId id="320" r:id="rId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1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9D9D9"/>
    <a:srgbClr val="C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showGuides="1">
      <p:cViewPr varScale="1">
        <p:scale>
          <a:sx n="100" d="100"/>
          <a:sy n="100" d="100"/>
        </p:scale>
        <p:origin x="78" y="108"/>
      </p:cViewPr>
      <p:guideLst>
        <p:guide orient="horz" pos="2160"/>
        <p:guide pos="3816"/>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presProps" Target="pres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viewProps" Target="viewProp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microsoft.com/office/2016/11/relationships/changesInfo" Target="changesInfos/changesInfo1.xml"/><Relationship Id="rId20" Type="http://schemas.openxmlformats.org/officeDocument/2006/relationships/slide" Target="slides/slide18.xml"/><Relationship Id="rId41"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lind Shrivastava" userId="58f98054a2783abe" providerId="LiveId" clId="{16C4A0AC-FBDD-463D-AF07-B19D87AF644F}"/>
    <pc:docChg chg="modSld">
      <pc:chgData name="Milind Shrivastava" userId="58f98054a2783abe" providerId="LiveId" clId="{16C4A0AC-FBDD-463D-AF07-B19D87AF644F}" dt="2026-07-12T18:09:18.319" v="51" actId="20577"/>
      <pc:docMkLst>
        <pc:docMk/>
      </pc:docMkLst>
      <pc:sldChg chg="modSp mod">
        <pc:chgData name="Milind Shrivastava" userId="58f98054a2783abe" providerId="LiveId" clId="{16C4A0AC-FBDD-463D-AF07-B19D87AF644F}" dt="2026-07-12T18:09:11.970" v="48" actId="20577"/>
        <pc:sldMkLst>
          <pc:docMk/>
          <pc:sldMk cId="3456844731" sldId="318"/>
        </pc:sldMkLst>
        <pc:spChg chg="mod">
          <ac:chgData name="Milind Shrivastava" userId="58f98054a2783abe" providerId="LiveId" clId="{16C4A0AC-FBDD-463D-AF07-B19D87AF644F}" dt="2026-07-12T18:09:11.970" v="48" actId="20577"/>
          <ac:spMkLst>
            <pc:docMk/>
            <pc:sldMk cId="3456844731" sldId="318"/>
            <ac:spMk id="12" creationId="{5DCA3717-9BD2-A4D5-A73A-BE472C1CA49C}"/>
          </ac:spMkLst>
        </pc:spChg>
      </pc:sldChg>
      <pc:sldChg chg="modSp mod">
        <pc:chgData name="Milind Shrivastava" userId="58f98054a2783abe" providerId="LiveId" clId="{16C4A0AC-FBDD-463D-AF07-B19D87AF644F}" dt="2026-07-12T18:09:18.319" v="51" actId="20577"/>
        <pc:sldMkLst>
          <pc:docMk/>
          <pc:sldMk cId="2567631563" sldId="319"/>
        </pc:sldMkLst>
        <pc:spChg chg="mod">
          <ac:chgData name="Milind Shrivastava" userId="58f98054a2783abe" providerId="LiveId" clId="{16C4A0AC-FBDD-463D-AF07-B19D87AF644F}" dt="2026-07-12T18:09:18.319" v="51" actId="20577"/>
          <ac:spMkLst>
            <pc:docMk/>
            <pc:sldMk cId="2567631563" sldId="319"/>
            <ac:spMk id="16" creationId="{717E636D-6783-F85E-114E-C0D307EECC6F}"/>
          </ac:spMkLst>
        </pc:spChg>
      </pc:sldChg>
      <pc:sldChg chg="modSp mod">
        <pc:chgData name="Milind Shrivastava" userId="58f98054a2783abe" providerId="LiveId" clId="{16C4A0AC-FBDD-463D-AF07-B19D87AF644F}" dt="2026-07-12T18:09:01.806" v="45" actId="20577"/>
        <pc:sldMkLst>
          <pc:docMk/>
          <pc:sldMk cId="4103218360" sldId="327"/>
        </pc:sldMkLst>
        <pc:spChg chg="mod">
          <ac:chgData name="Milind Shrivastava" userId="58f98054a2783abe" providerId="LiveId" clId="{16C4A0AC-FBDD-463D-AF07-B19D87AF644F}" dt="2026-07-12T18:09:01.806" v="45" actId="20577"/>
          <ac:spMkLst>
            <pc:docMk/>
            <pc:sldMk cId="4103218360" sldId="327"/>
            <ac:spMk id="12" creationId="{8A2691FC-59E2-82A5-E12A-035070912A47}"/>
          </ac:spMkLst>
        </pc:sp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8-31T21:49:29.633"/>
    </inkml:context>
    <inkml:brush xml:id="br0">
      <inkml:brushProperty name="width" value="0.1" units="cm"/>
      <inkml:brushProperty name="height" value="0.2" units="cm"/>
      <inkml:brushProperty name="color" value="#FFFC00"/>
      <inkml:brushProperty name="tip" value="rectangle"/>
      <inkml:brushProperty name="rasterOp" value="maskPen"/>
      <inkml:brushProperty name="ignorePressure" value="1"/>
    </inkml:brush>
  </inkml:definitions>
  <inkml:trace contextRef="#ctx0" brushRef="#br0">0 35,'1'3,"0"0,0 0,0 0,1 0,-1 0,1 0,-1-1,1 1,0 0,0-1,0 0,0 1,1-1,-1 0,1 0,-1 0,1-1,-1 1,1 0,5 1,2 2,1 0,-1-1,0 0,20 4,-12-6,0-2,0 0,0 0,1-2,-1 0,23-7,-16 4,-1 1,40-1,421 5,-457-2,-1-1,31-8,-38 7,158-19,-143 20,0 1,58 4,-20 0,-72-2,0 0,-1 0,1 0,0 0,0 0,0 0,-1 0,1 0,0 1,0-1,0 0,-1 0,1 1,0-1,-1 1,1-1,0 1,-1-1,1 1,-1-1,1 1,0-1,-1 1,1 0,-1-1,0 1,1 0,-1 0,0-1,1 1,-1 0,0 1,1 0,-1 0,0 0,0 0,0 0,-1 0,1 0,0 0,-1-1,1 1,-1 0,0 0,1 0,-3 3,2-4,1 1,-1 0,0-1,0 1,0-1,0 1,0-1,0 0,-1 0,1 1,0-1,-1 0,1 0,-1 0,1 0,-1 0,0-1,1 1,-1 0,0-1,1 1,-1-1,0 0,0 1,1-1,-1 0,0 0,0 0,1-1,-1 1,0 0,0 0,1-1,-1 1,0-1,1 0,-1 0,-2-1,-13-8,1 2,-2-1,1 2,-1 0,-22-4,30 9,1 1,-2 1,1 0,0 0,0 1,0 0,1 1,-1 0,0 1,-13 5,10-4,0 0,-1-1,1 0,-1-1,-14 0,-58-3,-183 2,188 6,-118 3,124-8,-79-4,146 1,0 0,1 0,-1-1,1 0,-15-7,20 8,0 1,0-1,0 0,0-1,0 1,0 0,1 0,-1-1,0 1,1-1,-1 0,1 1,-1-1,1 0,0 0,0 0,0 0,0 0,0 0,0 0,1 0,-1-1,0 1,1-4,0 4,1 1,0-1,-1 1,1-1,0 1,0 0,0-1,0 1,0 0,0 0,1 0,-1 0,0 0,0 0,1 0,-1 0,1 0,-1 1,1-1,-1 0,1 1,2-1,45-13,-38 12,-3 1,-1 0,0 0,1 1,-1 0,1 1,-1 0,1 0,-1 0,0 1,12 5,-8-4,-1 0,1-1,0 0,17 1,-26-3,243-8,-163 0,0 4,107 7,-21 5,-1 10,-155-17,1 0,-1 0,0 1,0 0,0 1,-1 1,18 7,-76-11,25 1,85-3,-30 2,-29 1,-13 2,-88 6,74-8,1 0,-45 10,-51 11,177-14,100-18,-127 1,7 0,-4 10,-27-1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1T21:50:00.957"/>
    </inkml:context>
    <inkml:brush xml:id="br0">
      <inkml:brushProperty name="width" value="0.1" units="cm"/>
      <inkml:brushProperty name="height" value="0.2" units="cm"/>
      <inkml:brushProperty name="color" value="#FFFC00"/>
      <inkml:brushProperty name="tip" value="rectangle"/>
      <inkml:brushProperty name="rasterOp" value="maskPen"/>
      <inkml:brushProperty name="ignorePressure" value="1"/>
    </inkml:brush>
  </inkml:definitions>
  <inkml:trace contextRef="#ctx0" brushRef="#br0">0 0 0,'7602'0'0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1T21:50:09.308"/>
    </inkml:context>
    <inkml:brush xml:id="br0">
      <inkml:brushProperty name="width" value="0.1" units="cm"/>
      <inkml:brushProperty name="height" value="0.2" units="cm"/>
      <inkml:brushProperty name="color" value="#FFFC00"/>
      <inkml:brushProperty name="tip" value="rectangle"/>
      <inkml:brushProperty name="rasterOp" value="maskPen"/>
      <inkml:brushProperty name="ignorePressure" value="1"/>
    </inkml:brush>
  </inkml:definitions>
  <inkml:trace contextRef="#ctx0" brushRef="#br0">7505 1 0,'-7505'0'0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1T21:50:17.504"/>
    </inkml:context>
    <inkml:brush xml:id="br0">
      <inkml:brushProperty name="width" value="0.1" units="cm"/>
      <inkml:brushProperty name="height" value="0.2" units="cm"/>
      <inkml:brushProperty name="color" value="#FFFC00"/>
      <inkml:brushProperty name="tip" value="rectangle"/>
      <inkml:brushProperty name="rasterOp" value="maskPen"/>
      <inkml:brushProperty name="ignorePressure" value="1"/>
    </inkml:brush>
  </inkml:definitions>
  <inkml:trace contextRef="#ctx0" brushRef="#br0">0 0 0,'0'194'0,"539"-194"0,-539-194 0,-539 194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01T10:27:31.335"/>
    </inkml:context>
    <inkml:brush xml:id="br0">
      <inkml:brushProperty name="width" value="0.1" units="cm"/>
      <inkml:brushProperty name="height" value="0.2" units="cm"/>
      <inkml:brushProperty name="color" value="#FFFC00"/>
      <inkml:brushProperty name="tip" value="rectangle"/>
      <inkml:brushProperty name="rasterOp" value="maskPen"/>
      <inkml:brushProperty name="ignorePressure" value="1"/>
    </inkml:brush>
  </inkml:definitions>
  <inkml:trace contextRef="#ctx0" brushRef="#br0">0 0 0,'2712'0'0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01T10:27:38.212"/>
    </inkml:context>
    <inkml:brush xml:id="br0">
      <inkml:brushProperty name="width" value="0.1" units="cm"/>
      <inkml:brushProperty name="height" value="0.2" units="cm"/>
      <inkml:brushProperty name="color" value="#FFFC00"/>
      <inkml:brushProperty name="tip" value="rectangle"/>
      <inkml:brushProperty name="rasterOp" value="maskPen"/>
      <inkml:brushProperty name="ignorePressure" value="1"/>
    </inkml:brush>
  </inkml:definitions>
  <inkml:trace contextRef="#ctx0" brushRef="#br0">0 0 0,'2682'28'0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01T10:27:40.529"/>
    </inkml:context>
    <inkml:brush xml:id="br0">
      <inkml:brushProperty name="width" value="0.1" units="cm"/>
      <inkml:brushProperty name="height" value="0.2" units="cm"/>
      <inkml:brushProperty name="color" value="#FFFC00"/>
      <inkml:brushProperty name="tip" value="rectangle"/>
      <inkml:brushProperty name="rasterOp" value="maskPen"/>
      <inkml:brushProperty name="ignorePressure" value="1"/>
    </inkml:brush>
  </inkml:definitions>
  <inkml:trace contextRef="#ctx0" brushRef="#br0">0 0 0,'999'0'0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9-01T10:27:43.144"/>
    </inkml:context>
    <inkml:brush xml:id="br0">
      <inkml:brushProperty name="width" value="0.1" units="cm"/>
      <inkml:brushProperty name="height" value="0.2" units="cm"/>
      <inkml:brushProperty name="color" value="#FFFC00"/>
      <inkml:brushProperty name="tip" value="rectangle"/>
      <inkml:brushProperty name="rasterOp" value="maskPen"/>
      <inkml:brushProperty name="ignorePressure" value="1"/>
    </inkml:brush>
  </inkml:definitions>
  <inkml:trace contextRef="#ctx0" brushRef="#br0">0 1,'142'129,"-135"-124,-1 0,1 0,-1 0,1-1,1 0,-1-1,0 1,1-2,0 1,0-1,0 0,0 0,12 0,12 0,1-2,36-4,-1 1,40 3,-22 1,-1-4,88-13,-127 10,78-1,-96 7</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01T10:27:45.693"/>
    </inkml:context>
    <inkml:brush xml:id="br0">
      <inkml:brushProperty name="width" value="0.1" units="cm"/>
      <inkml:brushProperty name="height" value="0.2" units="cm"/>
      <inkml:brushProperty name="color" value="#FFFC00"/>
      <inkml:brushProperty name="tip" value="rectangle"/>
      <inkml:brushProperty name="rasterOp" value="maskPen"/>
      <inkml:brushProperty name="ignorePressure" value="1"/>
    </inkml:brush>
  </inkml:definitions>
  <inkml:trace contextRef="#ctx0" brushRef="#br0">0 28 0,'1056'-28'0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01T10:27:48.044"/>
    </inkml:context>
    <inkml:brush xml:id="br0">
      <inkml:brushProperty name="width" value="0.1" units="cm"/>
      <inkml:brushProperty name="height" value="0.2" units="cm"/>
      <inkml:brushProperty name="color" value="#FFFC00"/>
      <inkml:brushProperty name="tip" value="rectangle"/>
      <inkml:brushProperty name="rasterOp" value="maskPen"/>
      <inkml:brushProperty name="ignorePressure" value="1"/>
    </inkml:brush>
  </inkml:definitions>
  <inkml:trace contextRef="#ctx0" brushRef="#br0">0 57 0,'942'-57'0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9-01T10:27:49.544"/>
    </inkml:context>
    <inkml:brush xml:id="br0">
      <inkml:brushProperty name="width" value="0.1" units="cm"/>
      <inkml:brushProperty name="height" value="0.2" units="cm"/>
      <inkml:brushProperty name="color" value="#FFFC00"/>
      <inkml:brushProperty name="tip" value="rectangle"/>
      <inkml:brushProperty name="rasterOp" value="maskPen"/>
      <inkml:brushProperty name="ignorePressure" value="1"/>
    </inkml:brush>
  </inkml:definitions>
  <inkml:trace contextRef="#ctx0" brushRef="#br0">0 148,'0'-5,"0"-6,0-7,0-4,0-4,5 2,6 1,2 5</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9-01T10:27:56.478"/>
    </inkml:context>
    <inkml:brush xml:id="br0">
      <inkml:brushProperty name="width" value="0.1" units="cm"/>
      <inkml:brushProperty name="height" value="0.2" units="cm"/>
      <inkml:brushProperty name="color" value="#FFFC00"/>
      <inkml:brushProperty name="tip" value="rectangle"/>
      <inkml:brushProperty name="rasterOp" value="maskPen"/>
      <inkml:brushProperty name="ignorePressure" value="1"/>
    </inkml:brush>
  </inkml:definitions>
  <inkml:trace contextRef="#ctx0" brushRef="#br0">0 1,'53'0,"0"2,71 13,105 14,-75 0,-120-23,0-2,0-2,60-2,-46-1,-23 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9-01T10:27:58.273"/>
    </inkml:context>
    <inkml:brush xml:id="br0">
      <inkml:brushProperty name="width" value="0.1" units="cm"/>
      <inkml:brushProperty name="height" value="0.2" units="cm"/>
      <inkml:brushProperty name="color" value="#FFFC00"/>
      <inkml:brushProperty name="tip" value="rectangle"/>
      <inkml:brushProperty name="rasterOp" value="maskPen"/>
      <inkml:brushProperty name="ignorePressure" value="1"/>
    </inkml:brush>
  </inkml:definitions>
  <inkml:trace contextRef="#ctx0" brushRef="#br0">0 0,'917'0,"-893"0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9-01T10:27:59.746"/>
    </inkml:context>
    <inkml:brush xml:id="br0">
      <inkml:brushProperty name="width" value="0.1" units="cm"/>
      <inkml:brushProperty name="height" value="0.2" units="cm"/>
      <inkml:brushProperty name="color" value="#FFFC00"/>
      <inkml:brushProperty name="tip" value="rectangle"/>
      <inkml:brushProperty name="rasterOp" value="maskPen"/>
      <inkml:brushProperty name="ignorePressure" value="1"/>
    </inkml:brush>
  </inkml:definitions>
  <inkml:trace contextRef="#ctx0" brushRef="#br0">1 1,'3'2,"0"1,0-1,0 0,1 0,-1 0,1 0,-1 0,1-1,0 1,-1-1,1 0,5 0,52 4,-27-4,61 10,153 7,-89-17,125-4,-256-1,-6-2</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9-01T10:28:02.952"/>
    </inkml:context>
    <inkml:brush xml:id="br0">
      <inkml:brushProperty name="width" value="0.1" units="cm"/>
      <inkml:brushProperty name="height" value="0.2" units="cm"/>
      <inkml:brushProperty name="color" value="#FFFC00"/>
      <inkml:brushProperty name="tip" value="rectangle"/>
      <inkml:brushProperty name="rasterOp" value="maskPen"/>
      <inkml:brushProperty name="ignorePressure" value="1"/>
    </inkml:brush>
  </inkml:definitions>
  <inkml:trace contextRef="#ctx0" brushRef="#br0">1 165,'0'-5,"0"-6,0-6,5-6,6-3,2-2,-2-1,-3 4</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9-01T10:28:04.353"/>
    </inkml:context>
    <inkml:brush xml:id="br0">
      <inkml:brushProperty name="width" value="0.1" units="cm"/>
      <inkml:brushProperty name="height" value="0.2" units="cm"/>
      <inkml:brushProperty name="color" value="#FFFC00"/>
      <inkml:brushProperty name="tip" value="rectangle"/>
      <inkml:brushProperty name="rasterOp" value="maskPen"/>
      <inkml:brushProperty name="ignorePressure" value="1"/>
    </inkml:brush>
  </inkml:definitions>
  <inkml:trace contextRef="#ctx0" brushRef="#br0">136 1,'-5'0,"-7"0,-5 0,-6 0,-3 0,-2 0,4 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9-01T10:28:05.365"/>
    </inkml:context>
    <inkml:brush xml:id="br0">
      <inkml:brushProperty name="width" value="0.1" units="cm"/>
      <inkml:brushProperty name="height" value="0.2" units="cm"/>
      <inkml:brushProperty name="color" value="#FFFC00"/>
      <inkml:brushProperty name="tip" value="rectangle"/>
      <inkml:brushProperty name="rasterOp" value="maskPen"/>
      <inkml:brushProperty name="ignorePressure" value="1"/>
    </inkml:brush>
  </inkml:definitions>
  <inkml:trace contextRef="#ctx0" brushRef="#br0">136 60,'0'-5,"0"-6,-5-2,-7 2,-5 3,-6 2,-3 3,-2 1,4 2</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9-01T10:28:10.987"/>
    </inkml:context>
    <inkml:brush xml:id="br0">
      <inkml:brushProperty name="width" value="0.1" units="cm"/>
      <inkml:brushProperty name="height" value="0.2" units="cm"/>
      <inkml:brushProperty name="color" value="#FFFC00"/>
      <inkml:brushProperty name="tip" value="rectangle"/>
      <inkml:brushProperty name="rasterOp" value="maskPen"/>
      <inkml:brushProperty name="ignorePressure" value="1"/>
    </inkml:brush>
  </inkml:definitions>
  <inkml:trace contextRef="#ctx0" brushRef="#br0">105 18,'-5'0,"-6"0,-6 0,-6-5,-3-1,3-1</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9-01T10:28:12.666"/>
    </inkml:context>
    <inkml:brush xml:id="br0">
      <inkml:brushProperty name="width" value="0.1" units="cm"/>
      <inkml:brushProperty name="height" value="0.2" units="cm"/>
      <inkml:brushProperty name="color" value="#FFFC00"/>
      <inkml:brushProperty name="tip" value="rectangle"/>
      <inkml:brushProperty name="rasterOp" value="maskPen"/>
      <inkml:brushProperty name="ignorePressure" value="1"/>
    </inkml:brush>
  </inkml:definitions>
  <inkml:trace contextRef="#ctx0" brushRef="#br0">0 0,'0'0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9-02T16:51:05.641"/>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88,'9'9,"1"0,0-1,1 0,-1-1,1 0,1-1,-1 0,1-1,0-1,0 1,1-2,-1 0,1 0,0-1,-1-1,1 0,20-1,211 21,-159-11,95 1,-97-11,71-2,-120-3,0-2,-1-2,43-16,43-11,-87 29,0 1,0 1,42-1,-49 5,46-9,24 0,667 10,-738-1,0-2,0 0,36-11,-34 7,1 2,41-4,85-1,96-1,-157 10,109-15,-115 9,143 7,-95 3,523-3,-636 1,0 1,-1 1,1 1,20 7,-19-5,0 0,46 4,-33-7,64 15,-68-11,-1-2,1 0,34-1,-36-4,22-2,0 3,-1 1,1 3,78 18,-92-16,1-1,0-3,1 0,73-7,-16 2,-13 2,-64 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02T08:40:29.804"/>
    </inkml:context>
    <inkml:brush xml:id="br0">
      <inkml:brushProperty name="width" value="0.2" units="cm"/>
      <inkml:brushProperty name="height" value="0.4" units="cm"/>
      <inkml:brushProperty name="color" value="#FFFC00"/>
      <inkml:brushProperty name="tip" value="rectangle"/>
      <inkml:brushProperty name="rasterOp" value="maskPen"/>
      <inkml:brushProperty name="ignorePressure" value="1"/>
    </inkml:brush>
  </inkml:definitions>
  <inkml:trace contextRef="#ctx0" brushRef="#br0">0 0 0,'1120'17'0</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9-02T08:40:34.455"/>
    </inkml:context>
    <inkml:brush xml:id="br0">
      <inkml:brushProperty name="width" value="0.2" units="cm"/>
      <inkml:brushProperty name="height" value="0.4" units="cm"/>
      <inkml:brushProperty name="color" value="#FFFC00"/>
      <inkml:brushProperty name="tip" value="rectangle"/>
      <inkml:brushProperty name="rasterOp" value="maskPen"/>
      <inkml:brushProperty name="ignorePressure" value="1"/>
    </inkml:brush>
  </inkml:definitions>
  <inkml:trace contextRef="#ctx0" brushRef="#br0">1 1,'73'9,"532"-13,-167-1,-410 5,-18 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9-02T08:40:36.598"/>
    </inkml:context>
    <inkml:brush xml:id="br0">
      <inkml:brushProperty name="width" value="0.2" units="cm"/>
      <inkml:brushProperty name="height" value="0.4" units="cm"/>
      <inkml:brushProperty name="color" value="#FFFC00"/>
      <inkml:brushProperty name="tip" value="rectangle"/>
      <inkml:brushProperty name="rasterOp" value="maskPen"/>
      <inkml:brushProperty name="ignorePressure" value="1"/>
    </inkml:brush>
  </inkml:definitions>
  <inkml:trace contextRef="#ctx0" brushRef="#br0">1 0,'1094'0,"-1086"0</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02T08:40:41.068"/>
    </inkml:context>
    <inkml:brush xml:id="br0">
      <inkml:brushProperty name="width" value="0.2" units="cm"/>
      <inkml:brushProperty name="height" value="0.4" units="cm"/>
      <inkml:brushProperty name="color" value="#FFFC00"/>
      <inkml:brushProperty name="tip" value="rectangle"/>
      <inkml:brushProperty name="rasterOp" value="maskPen"/>
      <inkml:brushProperty name="ignorePressure" value="1"/>
    </inkml:brush>
  </inkml:definitions>
  <inkml:trace contextRef="#ctx0" brushRef="#br0">0 0 0,'882'0'0</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02T18:13:37.093"/>
    </inkml:context>
    <inkml:brush xml:id="br0">
      <inkml:brushProperty name="width" value="0.2" units="cm"/>
      <inkml:brushProperty name="height" value="0.4" units="cm"/>
      <inkml:brushProperty name="color" value="#FFFC00"/>
      <inkml:brushProperty name="tip" value="rectangle"/>
      <inkml:brushProperty name="rasterOp" value="maskPen"/>
      <inkml:brushProperty name="ignorePressure" value="1"/>
    </inkml:brush>
  </inkml:definitions>
  <inkml:trace contextRef="#ctx0" brushRef="#br0">0 0 0,'5651'41'0</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9-02T18:13:44.837"/>
    </inkml:context>
    <inkml:brush xml:id="br0">
      <inkml:brushProperty name="width" value="0.2" units="cm"/>
      <inkml:brushProperty name="height" value="0.4" units="cm"/>
      <inkml:brushProperty name="color" value="#FFFC00"/>
      <inkml:brushProperty name="tip" value="rectangle"/>
      <inkml:brushProperty name="rasterOp" value="maskPen"/>
      <inkml:brushProperty name="ignorePressure" value="1"/>
    </inkml:brush>
  </inkml:definitions>
  <inkml:trace contextRef="#ctx0" brushRef="#br0">0 109,'2398'0,"-2055"-11,15 0,98-10,-369 11,-45 4,44 0,20 6,368-15,885-14,-947 32,-377-2,43 8,21 2,-19-9,157 9,154 20,-194-9,-19-1,-25-2,-96-10,110 4,46-14,-191 1</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02T19:24:29.188"/>
    </inkml:context>
    <inkml:brush xml:id="br0">
      <inkml:brushProperty name="width" value="0.2" units="cm"/>
      <inkml:brushProperty name="height" value="0.4" units="cm"/>
      <inkml:brushProperty name="color" value="#FFFC00"/>
      <inkml:brushProperty name="tip" value="rectangle"/>
      <inkml:brushProperty name="rasterOp" value="maskPen"/>
      <inkml:brushProperty name="ignorePressure" value="1"/>
    </inkml:brush>
  </inkml:definitions>
  <inkml:trace contextRef="#ctx0" brushRef="#br0">0 86 0,'885'-85'0</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9-02T19:24:31.725"/>
    </inkml:context>
    <inkml:brush xml:id="br0">
      <inkml:brushProperty name="width" value="0.2" units="cm"/>
      <inkml:brushProperty name="height" value="0.4" units="cm"/>
      <inkml:brushProperty name="color" value="#FFFC00"/>
      <inkml:brushProperty name="tip" value="rectangle"/>
      <inkml:brushProperty name="rasterOp" value="maskPen"/>
      <inkml:brushProperty name="ignorePressure" value="1"/>
    </inkml:brush>
  </inkml:definitions>
  <inkml:trace contextRef="#ctx0" brushRef="#br0">0 92,'67'-4,"0"-3,-1-2,100-29,-101 22,-18 8,0 3,1 2,-1 1,53 6,10-1,-82-3,-4 0</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9-02T19:24:40.555"/>
    </inkml:context>
    <inkml:brush xml:id="br0">
      <inkml:brushProperty name="width" value="0.2" units="cm"/>
      <inkml:brushProperty name="height" value="0.4" units="cm"/>
      <inkml:brushProperty name="color" value="#FFFC00"/>
      <inkml:brushProperty name="tip" value="rectangle"/>
      <inkml:brushProperty name="rasterOp" value="maskPen"/>
      <inkml:brushProperty name="ignorePressure" value="1"/>
    </inkml:brush>
  </inkml:definitions>
  <inkml:trace contextRef="#ctx0" brushRef="#br0">1 91,'10'-8,"1"1,0 1,1 0,-1 0,1 1,0 1,1 0,12-2,28-7,0 4,0 1,1 3,0 2,105 8,-138-2,-1 1,-1 1,32 11,-32-9,0-1,0-1,1 0,21 1,43-4,-59-3</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02T19:24:51.015"/>
    </inkml:context>
    <inkml:brush xml:id="br0">
      <inkml:brushProperty name="width" value="0.2" units="cm"/>
      <inkml:brushProperty name="height" value="0.4" units="cm"/>
      <inkml:brushProperty name="color" value="#FFFC00"/>
      <inkml:brushProperty name="tip" value="rectangle"/>
      <inkml:brushProperty name="rasterOp" value="maskPen"/>
      <inkml:brushProperty name="ignorePressure" value="1"/>
    </inkml:brush>
  </inkml:definitions>
  <inkml:trace contextRef="#ctx0" brushRef="#br0">0 28 0,'971'-28'0</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02T19:26:04.392"/>
    </inkml:context>
    <inkml:brush xml:id="br0">
      <inkml:brushProperty name="width" value="0.2" units="cm"/>
      <inkml:brushProperty name="height" value="0.4" units="cm"/>
      <inkml:brushProperty name="color" value="#FFFC00"/>
      <inkml:brushProperty name="tip" value="rectangle"/>
      <inkml:brushProperty name="rasterOp" value="maskPen"/>
      <inkml:brushProperty name="ignorePressure" value="1"/>
    </inkml:brush>
  </inkml:definitions>
  <inkml:trace contextRef="#ctx0" brushRef="#br0">0 0 0,'953'0'0</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02T19:41:00.579"/>
    </inkml:context>
    <inkml:brush xml:id="br0">
      <inkml:brushProperty name="width" value="0.2" units="cm"/>
      <inkml:brushProperty name="height" value="0.4" units="cm"/>
      <inkml:brushProperty name="color" value="#FFFC00"/>
      <inkml:brushProperty name="tip" value="rectangle"/>
      <inkml:brushProperty name="rasterOp" value="maskPen"/>
      <inkml:brushProperty name="ignorePressure" value="1"/>
    </inkml:brush>
  </inkml:definitions>
  <inkml:trace contextRef="#ctx0" brushRef="#br0">0 0 0,'800'0'0</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02T19:41:41.476"/>
    </inkml:context>
    <inkml:brush xml:id="br0">
      <inkml:brushProperty name="width" value="0.2" units="cm"/>
      <inkml:brushProperty name="height" value="0.4" units="cm"/>
      <inkml:brushProperty name="color" value="#FFFC00"/>
      <inkml:brushProperty name="tip" value="rectangle"/>
      <inkml:brushProperty name="rasterOp" value="maskPen"/>
      <inkml:brushProperty name="ignorePressure" value="1"/>
    </inkml:brush>
  </inkml:definitions>
  <inkml:trace contextRef="#ctx0" brushRef="#br0">0 0 0,'885'57'0</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02T19:42:09.669"/>
    </inkml:context>
    <inkml:brush xml:id="br0">
      <inkml:brushProperty name="width" value="0.2" units="cm"/>
      <inkml:brushProperty name="height" value="0.4" units="cm"/>
      <inkml:brushProperty name="color" value="#FFFC00"/>
      <inkml:brushProperty name="tip" value="rectangle"/>
      <inkml:brushProperty name="rasterOp" value="maskPen"/>
      <inkml:brushProperty name="ignorePressure" value="1"/>
    </inkml:brush>
  </inkml:definitions>
  <inkml:trace contextRef="#ctx0" brushRef="#br0">0 0 0,'942'85'0</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02T18:49:51.838"/>
    </inkml:context>
    <inkml:brush xml:id="br0">
      <inkml:brushProperty name="width" value="0.2" units="cm"/>
      <inkml:brushProperty name="height" value="0.4" units="cm"/>
      <inkml:brushProperty name="color" value="#FFFC00"/>
      <inkml:brushProperty name="tip" value="rectangle"/>
      <inkml:brushProperty name="rasterOp" value="maskPen"/>
      <inkml:brushProperty name="ignorePressure" value="1"/>
    </inkml:brush>
  </inkml:definitions>
  <inkml:trace contextRef="#ctx0" brushRef="#br0">0 0 0,'4745'36'0</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02T13:06:32.842"/>
    </inkml:context>
    <inkml:brush xml:id="br0">
      <inkml:brushProperty name="width" value="0.2" units="cm"/>
      <inkml:brushProperty name="height" value="0.4" units="cm"/>
      <inkml:brushProperty name="color" value="#FFFC00"/>
      <inkml:brushProperty name="tip" value="rectangle"/>
      <inkml:brushProperty name="rasterOp" value="maskPen"/>
      <inkml:brushProperty name="ignorePressure" value="1"/>
    </inkml:brush>
  </inkml:definitions>
  <inkml:trace contextRef="#ctx0" brushRef="#br0">0 0 0,'1863'106'0</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9-02T13:06:35.949"/>
    </inkml:context>
    <inkml:brush xml:id="br0">
      <inkml:brushProperty name="width" value="0.2" units="cm"/>
      <inkml:brushProperty name="height" value="0.4" units="cm"/>
      <inkml:brushProperty name="color" value="#FFFC00"/>
      <inkml:brushProperty name="tip" value="rectangle"/>
      <inkml:brushProperty name="rasterOp" value="maskPen"/>
      <inkml:brushProperty name="ignorePressure" value="1"/>
    </inkml:brush>
  </inkml:definitions>
  <inkml:trace contextRef="#ctx0" brushRef="#br0">0 1,'0'3,"1"0,-1-1,0 1,1 0,0 0,0-1,0 1,0 0,0-1,1 1,-1-1,1 1,-1-1,1 0,0 1,0-1,0 0,0 0,0-1,1 1,-1 0,0-1,1 1,-1-1,1 0,0 0,-1 0,1 0,4 0,10 4,1-2,0 0,31 0,-25-1,296 5,-98-6,-132 9,12 0,57 1,-15-1,-82-8,159-5,-201 0,-5-2</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9-02T13:06:38.995"/>
    </inkml:context>
    <inkml:brush xml:id="br0">
      <inkml:brushProperty name="width" value="0.2" units="cm"/>
      <inkml:brushProperty name="height" value="0.4" units="cm"/>
      <inkml:brushProperty name="color" value="#FFFC00"/>
      <inkml:brushProperty name="tip" value="rectangle"/>
      <inkml:brushProperty name="rasterOp" value="maskPen"/>
      <inkml:brushProperty name="ignorePressure" value="1"/>
    </inkml:brush>
  </inkml:definitions>
  <inkml:trace contextRef="#ctx0" brushRef="#br0">0 0,'13'1,"0"1,0 1,-1 0,1 0,-1 1,0 0,22 12,-16-7,-1-2,35 10,19-6,0-4,1-2,123-9,-44 1,29 14,-8 0,-151-11</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02T13:06:42.877"/>
    </inkml:context>
    <inkml:brush xml:id="br0">
      <inkml:brushProperty name="width" value="0.2" units="cm"/>
      <inkml:brushProperty name="height" value="0.4" units="cm"/>
      <inkml:brushProperty name="color" value="#FFFC00"/>
      <inkml:brushProperty name="tip" value="rectangle"/>
      <inkml:brushProperty name="rasterOp" value="maskPen"/>
      <inkml:brushProperty name="ignorePressure" value="1"/>
    </inkml:brush>
  </inkml:definitions>
  <inkml:trace contextRef="#ctx0" brushRef="#br0">0 0 0,'909'63'0</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9-02T13:06:50.505"/>
    </inkml:context>
    <inkml:brush xml:id="br0">
      <inkml:brushProperty name="width" value="0.2" units="cm"/>
      <inkml:brushProperty name="height" value="0.4" units="cm"/>
      <inkml:brushProperty name="color" value="#FFFC00"/>
      <inkml:brushProperty name="tip" value="rectangle"/>
      <inkml:brushProperty name="rasterOp" value="maskPen"/>
      <inkml:brushProperty name="ignorePressure" value="1"/>
    </inkml:brush>
  </inkml:definitions>
  <inkml:trace contextRef="#ctx0" brushRef="#br0">0 0,'899'0,"-870"2,45 7,27 2,-83-11</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02T13:06:52.976"/>
    </inkml:context>
    <inkml:brush xml:id="br0">
      <inkml:brushProperty name="width" value="0.2" units="cm"/>
      <inkml:brushProperty name="height" value="0.4" units="cm"/>
      <inkml:brushProperty name="color" value="#FFFC00"/>
      <inkml:brushProperty name="tip" value="rectangle"/>
      <inkml:brushProperty name="rasterOp" value="maskPen"/>
      <inkml:brushProperty name="ignorePressure" value="1"/>
    </inkml:brush>
  </inkml:definitions>
  <inkml:trace contextRef="#ctx0" brushRef="#br0">0 0 0,'761'0'0</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02T13:07:19.355"/>
    </inkml:context>
    <inkml:brush xml:id="br0">
      <inkml:brushProperty name="width" value="0.2" units="cm"/>
      <inkml:brushProperty name="height" value="0.4" units="cm"/>
      <inkml:brushProperty name="color" value="#FFFC00"/>
      <inkml:brushProperty name="tip" value="rectangle"/>
      <inkml:brushProperty name="rasterOp" value="maskPen"/>
      <inkml:brushProperty name="ignorePressure" value="1"/>
    </inkml:brush>
  </inkml:definitions>
  <inkml:trace contextRef="#ctx0" brushRef="#br0">0 0 0,'720'0'0</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9-02T13:07:22.341"/>
    </inkml:context>
    <inkml:brush xml:id="br0">
      <inkml:brushProperty name="width" value="0.2" units="cm"/>
      <inkml:brushProperty name="height" value="0.4" units="cm"/>
      <inkml:brushProperty name="color" value="#FFFC00"/>
      <inkml:brushProperty name="tip" value="rectangle"/>
      <inkml:brushProperty name="rasterOp" value="maskPen"/>
      <inkml:brushProperty name="ignorePressure" value="1"/>
    </inkml:brush>
  </inkml:definitions>
  <inkml:trace contextRef="#ctx0" brushRef="#br0">0 0,'862'0,"-830"0</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02T13:07:24.604"/>
    </inkml:context>
    <inkml:brush xml:id="br0">
      <inkml:brushProperty name="width" value="0.2" units="cm"/>
      <inkml:brushProperty name="height" value="0.4" units="cm"/>
      <inkml:brushProperty name="color" value="#FFFC00"/>
      <inkml:brushProperty name="tip" value="rectangle"/>
      <inkml:brushProperty name="rasterOp" value="maskPen"/>
      <inkml:brushProperty name="ignorePressure" value="1"/>
    </inkml:brush>
  </inkml:definitions>
  <inkml:trace contextRef="#ctx0" brushRef="#br0">0 0 0,'1206'43'0</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9-02T13:07:27"/>
    </inkml:context>
    <inkml:brush xml:id="br0">
      <inkml:brushProperty name="width" value="0.2" units="cm"/>
      <inkml:brushProperty name="height" value="0.4" units="cm"/>
      <inkml:brushProperty name="color" value="#FFFC00"/>
      <inkml:brushProperty name="tip" value="rectangle"/>
      <inkml:brushProperty name="rasterOp" value="maskPen"/>
      <inkml:brushProperty name="ignorePressure" value="1"/>
    </inkml:brush>
  </inkml:definitions>
  <inkml:trace contextRef="#ctx0" brushRef="#br0">1 52,'0'1,"0"1,0-1,0 0,1 1,-1-1,0 0,1 1,-1-1,1 0,0 0,-1 1,1-1,0 0,0 0,-1 0,1 0,0 0,0 0,0 0,0 0,1 0,0 0,2 2,0-1,1-1,-1 1,0-1,1 1,-1-1,5 0,12 2,0-2,26-2,-36 1,65-6,-1-3,120-29,-190 36,43-5,1 2,-1 2,89 6,-26 0,-38-4,99-15,-112 7,-46 4</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24CA0B9-2AF6-4E34-B570-0F6D792E3ED9}" type="datetimeFigureOut">
              <a:rPr lang="en-US" smtClean="0"/>
              <a:t>7/12/2026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BB2B86-405F-4408-80F8-01A2D420D50D}" type="slidenum">
              <a:rPr lang="en-US" smtClean="0"/>
              <a:t>‹#›</a:t>
            </a:fld>
            <a:endParaRPr lang="en-US"/>
          </a:p>
        </p:txBody>
      </p:sp>
    </p:spTree>
    <p:extLst>
      <p:ext uri="{BB962C8B-B14F-4D97-AF65-F5344CB8AC3E}">
        <p14:creationId xmlns:p14="http://schemas.microsoft.com/office/powerpoint/2010/main" val="27371208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8BB2B86-405F-4408-80F8-01A2D420D50D}" type="slidenum">
              <a:rPr lang="en-US" smtClean="0"/>
              <a:t>28</a:t>
            </a:fld>
            <a:endParaRPr lang="en-US"/>
          </a:p>
        </p:txBody>
      </p:sp>
    </p:spTree>
    <p:extLst>
      <p:ext uri="{BB962C8B-B14F-4D97-AF65-F5344CB8AC3E}">
        <p14:creationId xmlns:p14="http://schemas.microsoft.com/office/powerpoint/2010/main" val="29456879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8BB2B86-405F-4408-80F8-01A2D420D50D}" type="slidenum">
              <a:rPr lang="en-US" smtClean="0"/>
              <a:t>33</a:t>
            </a:fld>
            <a:endParaRPr lang="en-US"/>
          </a:p>
        </p:txBody>
      </p:sp>
    </p:spTree>
    <p:extLst>
      <p:ext uri="{BB962C8B-B14F-4D97-AF65-F5344CB8AC3E}">
        <p14:creationId xmlns:p14="http://schemas.microsoft.com/office/powerpoint/2010/main" val="19480149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10BFE4-1A6E-2491-DF4D-6ABBDA41D69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948F011-7C6E-967D-E3B3-2B66041AB35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F7A5DA1-CFBC-F46E-D8C7-EE3DEDDCEC88}"/>
              </a:ext>
            </a:extLst>
          </p:cNvPr>
          <p:cNvSpPr>
            <a:spLocks noGrp="1"/>
          </p:cNvSpPr>
          <p:nvPr>
            <p:ph type="dt" sz="half" idx="10"/>
          </p:nvPr>
        </p:nvSpPr>
        <p:spPr/>
        <p:txBody>
          <a:bodyPr/>
          <a:lstStyle/>
          <a:p>
            <a:fld id="{6D68C107-F2B0-4DB5-B541-30E1F9AD3F40}" type="datetimeFigureOut">
              <a:rPr lang="en-US" smtClean="0"/>
              <a:t>7/12/2026</a:t>
            </a:fld>
            <a:endParaRPr lang="en-US"/>
          </a:p>
        </p:txBody>
      </p:sp>
      <p:sp>
        <p:nvSpPr>
          <p:cNvPr id="5" name="Footer Placeholder 4">
            <a:extLst>
              <a:ext uri="{FF2B5EF4-FFF2-40B4-BE49-F238E27FC236}">
                <a16:creationId xmlns:a16="http://schemas.microsoft.com/office/drawing/2014/main" id="{1825C44F-8FC5-0A2B-B943-D8F9E9C1D57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ADCE581-E546-ACF8-AB73-3D57AFE7944F}"/>
              </a:ext>
            </a:extLst>
          </p:cNvPr>
          <p:cNvSpPr>
            <a:spLocks noGrp="1"/>
          </p:cNvSpPr>
          <p:nvPr>
            <p:ph type="sldNum" sz="quarter" idx="12"/>
          </p:nvPr>
        </p:nvSpPr>
        <p:spPr/>
        <p:txBody>
          <a:bodyPr/>
          <a:lstStyle/>
          <a:p>
            <a:fld id="{B3B72081-5D84-49BB-BA7E-255CFB58620D}" type="slidenum">
              <a:rPr lang="en-US" smtClean="0"/>
              <a:t>‹#›</a:t>
            </a:fld>
            <a:endParaRPr lang="en-US"/>
          </a:p>
        </p:txBody>
      </p:sp>
    </p:spTree>
    <p:extLst>
      <p:ext uri="{BB962C8B-B14F-4D97-AF65-F5344CB8AC3E}">
        <p14:creationId xmlns:p14="http://schemas.microsoft.com/office/powerpoint/2010/main" val="336931028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D9D21E-2058-52DE-ECD3-E1AB6639AF8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3404A69-CB29-D20F-CAE5-F785456087D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FC4EB10-9D7F-9444-117A-259784533251}"/>
              </a:ext>
            </a:extLst>
          </p:cNvPr>
          <p:cNvSpPr>
            <a:spLocks noGrp="1"/>
          </p:cNvSpPr>
          <p:nvPr>
            <p:ph type="dt" sz="half" idx="10"/>
          </p:nvPr>
        </p:nvSpPr>
        <p:spPr/>
        <p:txBody>
          <a:bodyPr/>
          <a:lstStyle/>
          <a:p>
            <a:fld id="{6D68C107-F2B0-4DB5-B541-30E1F9AD3F40}" type="datetimeFigureOut">
              <a:rPr lang="en-US" smtClean="0"/>
              <a:t>7/12/2026</a:t>
            </a:fld>
            <a:endParaRPr lang="en-US"/>
          </a:p>
        </p:txBody>
      </p:sp>
      <p:sp>
        <p:nvSpPr>
          <p:cNvPr id="5" name="Footer Placeholder 4">
            <a:extLst>
              <a:ext uri="{FF2B5EF4-FFF2-40B4-BE49-F238E27FC236}">
                <a16:creationId xmlns:a16="http://schemas.microsoft.com/office/drawing/2014/main" id="{46C1655C-4EC1-D180-1608-EFAAFEFDAB1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9E07C5D-AA83-A35C-A43E-10D3CE438A2F}"/>
              </a:ext>
            </a:extLst>
          </p:cNvPr>
          <p:cNvSpPr>
            <a:spLocks noGrp="1"/>
          </p:cNvSpPr>
          <p:nvPr>
            <p:ph type="sldNum" sz="quarter" idx="12"/>
          </p:nvPr>
        </p:nvSpPr>
        <p:spPr/>
        <p:txBody>
          <a:bodyPr/>
          <a:lstStyle/>
          <a:p>
            <a:fld id="{B3B72081-5D84-49BB-BA7E-255CFB58620D}" type="slidenum">
              <a:rPr lang="en-US" smtClean="0"/>
              <a:t>‹#›</a:t>
            </a:fld>
            <a:endParaRPr lang="en-US"/>
          </a:p>
        </p:txBody>
      </p:sp>
    </p:spTree>
    <p:extLst>
      <p:ext uri="{BB962C8B-B14F-4D97-AF65-F5344CB8AC3E}">
        <p14:creationId xmlns:p14="http://schemas.microsoft.com/office/powerpoint/2010/main" val="322395999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4D200-49F3-AB59-0D0D-3515B056089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9679589-218B-5C21-A29B-AA1E3172C78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6CA2024-0F13-6554-9467-B3D225619E64}"/>
              </a:ext>
            </a:extLst>
          </p:cNvPr>
          <p:cNvSpPr>
            <a:spLocks noGrp="1"/>
          </p:cNvSpPr>
          <p:nvPr>
            <p:ph type="dt" sz="half" idx="10"/>
          </p:nvPr>
        </p:nvSpPr>
        <p:spPr/>
        <p:txBody>
          <a:bodyPr/>
          <a:lstStyle/>
          <a:p>
            <a:fld id="{6D68C107-F2B0-4DB5-B541-30E1F9AD3F40}" type="datetimeFigureOut">
              <a:rPr lang="en-US" smtClean="0"/>
              <a:t>7/12/2026</a:t>
            </a:fld>
            <a:endParaRPr lang="en-US"/>
          </a:p>
        </p:txBody>
      </p:sp>
      <p:sp>
        <p:nvSpPr>
          <p:cNvPr id="5" name="Footer Placeholder 4">
            <a:extLst>
              <a:ext uri="{FF2B5EF4-FFF2-40B4-BE49-F238E27FC236}">
                <a16:creationId xmlns:a16="http://schemas.microsoft.com/office/drawing/2014/main" id="{E68C001C-C946-1B31-2390-F2E939E9588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79FFBAA-495E-1669-62A6-C3E9389F96DE}"/>
              </a:ext>
            </a:extLst>
          </p:cNvPr>
          <p:cNvSpPr>
            <a:spLocks noGrp="1"/>
          </p:cNvSpPr>
          <p:nvPr>
            <p:ph type="sldNum" sz="quarter" idx="12"/>
          </p:nvPr>
        </p:nvSpPr>
        <p:spPr/>
        <p:txBody>
          <a:bodyPr/>
          <a:lstStyle/>
          <a:p>
            <a:fld id="{B3B72081-5D84-49BB-BA7E-255CFB58620D}" type="slidenum">
              <a:rPr lang="en-US" smtClean="0"/>
              <a:t>‹#›</a:t>
            </a:fld>
            <a:endParaRPr lang="en-US"/>
          </a:p>
        </p:txBody>
      </p:sp>
    </p:spTree>
    <p:extLst>
      <p:ext uri="{BB962C8B-B14F-4D97-AF65-F5344CB8AC3E}">
        <p14:creationId xmlns:p14="http://schemas.microsoft.com/office/powerpoint/2010/main" val="15199469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D43BDE-FEE8-3625-62A8-7F3EA8600D6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66423E7-1964-ACFA-389F-E51D2A7AE58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20F98E1-7DDE-DF5F-225C-B1870367F37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2E94383-A571-6BE8-010B-99205D798CB1}"/>
              </a:ext>
            </a:extLst>
          </p:cNvPr>
          <p:cNvSpPr>
            <a:spLocks noGrp="1"/>
          </p:cNvSpPr>
          <p:nvPr>
            <p:ph type="dt" sz="half" idx="10"/>
          </p:nvPr>
        </p:nvSpPr>
        <p:spPr/>
        <p:txBody>
          <a:bodyPr/>
          <a:lstStyle/>
          <a:p>
            <a:fld id="{6D68C107-F2B0-4DB5-B541-30E1F9AD3F40}" type="datetimeFigureOut">
              <a:rPr lang="en-US" smtClean="0"/>
              <a:t>7/12/2026</a:t>
            </a:fld>
            <a:endParaRPr lang="en-US"/>
          </a:p>
        </p:txBody>
      </p:sp>
      <p:sp>
        <p:nvSpPr>
          <p:cNvPr id="6" name="Footer Placeholder 5">
            <a:extLst>
              <a:ext uri="{FF2B5EF4-FFF2-40B4-BE49-F238E27FC236}">
                <a16:creationId xmlns:a16="http://schemas.microsoft.com/office/drawing/2014/main" id="{D33D0B72-3BFF-FDDB-B1F1-7A8817BA730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6DABC86-89C3-3945-0140-E3B5537713BD}"/>
              </a:ext>
            </a:extLst>
          </p:cNvPr>
          <p:cNvSpPr>
            <a:spLocks noGrp="1"/>
          </p:cNvSpPr>
          <p:nvPr>
            <p:ph type="sldNum" sz="quarter" idx="12"/>
          </p:nvPr>
        </p:nvSpPr>
        <p:spPr/>
        <p:txBody>
          <a:bodyPr/>
          <a:lstStyle/>
          <a:p>
            <a:fld id="{B3B72081-5D84-49BB-BA7E-255CFB58620D}" type="slidenum">
              <a:rPr lang="en-US" smtClean="0"/>
              <a:t>‹#›</a:t>
            </a:fld>
            <a:endParaRPr lang="en-US"/>
          </a:p>
        </p:txBody>
      </p:sp>
    </p:spTree>
    <p:extLst>
      <p:ext uri="{BB962C8B-B14F-4D97-AF65-F5344CB8AC3E}">
        <p14:creationId xmlns:p14="http://schemas.microsoft.com/office/powerpoint/2010/main" val="344007090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FA6D78-C935-9F2F-7E0A-ECF267C4D0C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E0B4F33-FACE-9E54-7F17-27DFFC8BF66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9347644-0883-0510-D849-A6B282B8E3B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AEC8D9A-915B-2DA9-E5F8-8875E47B935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794EB86-5DEC-AE30-1435-98BE1FFED6A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642ED75-F915-31D2-3767-4274B3035CAD}"/>
              </a:ext>
            </a:extLst>
          </p:cNvPr>
          <p:cNvSpPr>
            <a:spLocks noGrp="1"/>
          </p:cNvSpPr>
          <p:nvPr>
            <p:ph type="dt" sz="half" idx="10"/>
          </p:nvPr>
        </p:nvSpPr>
        <p:spPr/>
        <p:txBody>
          <a:bodyPr/>
          <a:lstStyle/>
          <a:p>
            <a:fld id="{6D68C107-F2B0-4DB5-B541-30E1F9AD3F40}" type="datetimeFigureOut">
              <a:rPr lang="en-US" smtClean="0"/>
              <a:t>7/12/2026</a:t>
            </a:fld>
            <a:endParaRPr lang="en-US"/>
          </a:p>
        </p:txBody>
      </p:sp>
      <p:sp>
        <p:nvSpPr>
          <p:cNvPr id="8" name="Footer Placeholder 7">
            <a:extLst>
              <a:ext uri="{FF2B5EF4-FFF2-40B4-BE49-F238E27FC236}">
                <a16:creationId xmlns:a16="http://schemas.microsoft.com/office/drawing/2014/main" id="{8F78A8B1-8351-A821-96C3-9633016274F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94011C1-8446-4EBC-621D-4405F2AE06C4}"/>
              </a:ext>
            </a:extLst>
          </p:cNvPr>
          <p:cNvSpPr>
            <a:spLocks noGrp="1"/>
          </p:cNvSpPr>
          <p:nvPr>
            <p:ph type="sldNum" sz="quarter" idx="12"/>
          </p:nvPr>
        </p:nvSpPr>
        <p:spPr/>
        <p:txBody>
          <a:bodyPr/>
          <a:lstStyle/>
          <a:p>
            <a:fld id="{B3B72081-5D84-49BB-BA7E-255CFB58620D}" type="slidenum">
              <a:rPr lang="en-US" smtClean="0"/>
              <a:t>‹#›</a:t>
            </a:fld>
            <a:endParaRPr lang="en-US"/>
          </a:p>
        </p:txBody>
      </p:sp>
    </p:spTree>
    <p:extLst>
      <p:ext uri="{BB962C8B-B14F-4D97-AF65-F5344CB8AC3E}">
        <p14:creationId xmlns:p14="http://schemas.microsoft.com/office/powerpoint/2010/main" val="26098515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2AB1CC-6575-155F-82F7-D5C5F8709E2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85ED272-13F3-6F0C-1D57-2E5A1E36AD24}"/>
              </a:ext>
            </a:extLst>
          </p:cNvPr>
          <p:cNvSpPr>
            <a:spLocks noGrp="1"/>
          </p:cNvSpPr>
          <p:nvPr>
            <p:ph type="dt" sz="half" idx="10"/>
          </p:nvPr>
        </p:nvSpPr>
        <p:spPr/>
        <p:txBody>
          <a:bodyPr/>
          <a:lstStyle/>
          <a:p>
            <a:fld id="{6D68C107-F2B0-4DB5-B541-30E1F9AD3F40}" type="datetimeFigureOut">
              <a:rPr lang="en-US" smtClean="0"/>
              <a:t>7/12/2026</a:t>
            </a:fld>
            <a:endParaRPr lang="en-US"/>
          </a:p>
        </p:txBody>
      </p:sp>
      <p:sp>
        <p:nvSpPr>
          <p:cNvPr id="4" name="Footer Placeholder 3">
            <a:extLst>
              <a:ext uri="{FF2B5EF4-FFF2-40B4-BE49-F238E27FC236}">
                <a16:creationId xmlns:a16="http://schemas.microsoft.com/office/drawing/2014/main" id="{BB40BF39-38B0-6E2F-0ED4-317BCF95923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213CFAE-E295-3B71-23B9-48B35F31D002}"/>
              </a:ext>
            </a:extLst>
          </p:cNvPr>
          <p:cNvSpPr>
            <a:spLocks noGrp="1"/>
          </p:cNvSpPr>
          <p:nvPr>
            <p:ph type="sldNum" sz="quarter" idx="12"/>
          </p:nvPr>
        </p:nvSpPr>
        <p:spPr/>
        <p:txBody>
          <a:bodyPr/>
          <a:lstStyle/>
          <a:p>
            <a:fld id="{B3B72081-5D84-49BB-BA7E-255CFB58620D}" type="slidenum">
              <a:rPr lang="en-US" smtClean="0"/>
              <a:t>‹#›</a:t>
            </a:fld>
            <a:endParaRPr lang="en-US"/>
          </a:p>
        </p:txBody>
      </p:sp>
    </p:spTree>
    <p:extLst>
      <p:ext uri="{BB962C8B-B14F-4D97-AF65-F5344CB8AC3E}">
        <p14:creationId xmlns:p14="http://schemas.microsoft.com/office/powerpoint/2010/main" val="6875282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AA48F64-6858-631D-329C-D11504D3AA62}"/>
              </a:ext>
            </a:extLst>
          </p:cNvPr>
          <p:cNvSpPr>
            <a:spLocks noGrp="1"/>
          </p:cNvSpPr>
          <p:nvPr>
            <p:ph type="dt" sz="half" idx="10"/>
          </p:nvPr>
        </p:nvSpPr>
        <p:spPr/>
        <p:txBody>
          <a:bodyPr/>
          <a:lstStyle/>
          <a:p>
            <a:fld id="{6D68C107-F2B0-4DB5-B541-30E1F9AD3F40}" type="datetimeFigureOut">
              <a:rPr lang="en-US" smtClean="0"/>
              <a:t>7/12/2026</a:t>
            </a:fld>
            <a:endParaRPr lang="en-US"/>
          </a:p>
        </p:txBody>
      </p:sp>
      <p:sp>
        <p:nvSpPr>
          <p:cNvPr id="3" name="Footer Placeholder 2">
            <a:extLst>
              <a:ext uri="{FF2B5EF4-FFF2-40B4-BE49-F238E27FC236}">
                <a16:creationId xmlns:a16="http://schemas.microsoft.com/office/drawing/2014/main" id="{5D03143B-6CF1-6EAC-1464-915F0D90053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9C2B468-BB9D-834B-C35E-A9767E5B3EA5}"/>
              </a:ext>
            </a:extLst>
          </p:cNvPr>
          <p:cNvSpPr>
            <a:spLocks noGrp="1"/>
          </p:cNvSpPr>
          <p:nvPr>
            <p:ph type="sldNum" sz="quarter" idx="12"/>
          </p:nvPr>
        </p:nvSpPr>
        <p:spPr/>
        <p:txBody>
          <a:bodyPr/>
          <a:lstStyle/>
          <a:p>
            <a:fld id="{B3B72081-5D84-49BB-BA7E-255CFB58620D}" type="slidenum">
              <a:rPr lang="en-US" smtClean="0"/>
              <a:t>‹#›</a:t>
            </a:fld>
            <a:endParaRPr lang="en-US"/>
          </a:p>
        </p:txBody>
      </p:sp>
    </p:spTree>
    <p:extLst>
      <p:ext uri="{BB962C8B-B14F-4D97-AF65-F5344CB8AC3E}">
        <p14:creationId xmlns:p14="http://schemas.microsoft.com/office/powerpoint/2010/main" val="8367876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672911-9D3E-32EA-40CC-7AD79F2772D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F4CEE65-8AA6-B3E2-8F95-4901EFCDC20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C5FA87F-7958-8477-CCF9-02D433C75CA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1A34565-CB55-FE4B-DFB3-D37F460777AC}"/>
              </a:ext>
            </a:extLst>
          </p:cNvPr>
          <p:cNvSpPr>
            <a:spLocks noGrp="1"/>
          </p:cNvSpPr>
          <p:nvPr>
            <p:ph type="dt" sz="half" idx="10"/>
          </p:nvPr>
        </p:nvSpPr>
        <p:spPr/>
        <p:txBody>
          <a:bodyPr/>
          <a:lstStyle/>
          <a:p>
            <a:fld id="{6D68C107-F2B0-4DB5-B541-30E1F9AD3F40}" type="datetimeFigureOut">
              <a:rPr lang="en-US" smtClean="0"/>
              <a:t>7/12/2026</a:t>
            </a:fld>
            <a:endParaRPr lang="en-US"/>
          </a:p>
        </p:txBody>
      </p:sp>
      <p:sp>
        <p:nvSpPr>
          <p:cNvPr id="6" name="Footer Placeholder 5">
            <a:extLst>
              <a:ext uri="{FF2B5EF4-FFF2-40B4-BE49-F238E27FC236}">
                <a16:creationId xmlns:a16="http://schemas.microsoft.com/office/drawing/2014/main" id="{FEFA4601-B83C-3CDD-A3EB-4227C168232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91FB0EB-E9FF-A2E7-73C6-ADE5E8653670}"/>
              </a:ext>
            </a:extLst>
          </p:cNvPr>
          <p:cNvSpPr>
            <a:spLocks noGrp="1"/>
          </p:cNvSpPr>
          <p:nvPr>
            <p:ph type="sldNum" sz="quarter" idx="12"/>
          </p:nvPr>
        </p:nvSpPr>
        <p:spPr/>
        <p:txBody>
          <a:bodyPr/>
          <a:lstStyle/>
          <a:p>
            <a:fld id="{B3B72081-5D84-49BB-BA7E-255CFB58620D}" type="slidenum">
              <a:rPr lang="en-US" smtClean="0"/>
              <a:t>‹#›</a:t>
            </a:fld>
            <a:endParaRPr lang="en-US"/>
          </a:p>
        </p:txBody>
      </p:sp>
    </p:spTree>
    <p:extLst>
      <p:ext uri="{BB962C8B-B14F-4D97-AF65-F5344CB8AC3E}">
        <p14:creationId xmlns:p14="http://schemas.microsoft.com/office/powerpoint/2010/main" val="31405246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78A5C8-4E7D-A700-0B28-B5DB2A810DD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C6D50E6-B689-B404-E4C7-0D5BA611D9E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3723BA9-274A-AEE2-BBF2-46E1E92D364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313C37A-B727-59EE-C1C2-387D1DF6C178}"/>
              </a:ext>
            </a:extLst>
          </p:cNvPr>
          <p:cNvSpPr>
            <a:spLocks noGrp="1"/>
          </p:cNvSpPr>
          <p:nvPr>
            <p:ph type="dt" sz="half" idx="10"/>
          </p:nvPr>
        </p:nvSpPr>
        <p:spPr/>
        <p:txBody>
          <a:bodyPr/>
          <a:lstStyle/>
          <a:p>
            <a:fld id="{6D68C107-F2B0-4DB5-B541-30E1F9AD3F40}" type="datetimeFigureOut">
              <a:rPr lang="en-US" smtClean="0"/>
              <a:t>7/12/2026</a:t>
            </a:fld>
            <a:endParaRPr lang="en-US"/>
          </a:p>
        </p:txBody>
      </p:sp>
      <p:sp>
        <p:nvSpPr>
          <p:cNvPr id="6" name="Footer Placeholder 5">
            <a:extLst>
              <a:ext uri="{FF2B5EF4-FFF2-40B4-BE49-F238E27FC236}">
                <a16:creationId xmlns:a16="http://schemas.microsoft.com/office/drawing/2014/main" id="{96C7367F-EBC9-C3EF-832A-8D3E6DC165F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5783233-23E9-C95B-FBE4-376BBE4C84B5}"/>
              </a:ext>
            </a:extLst>
          </p:cNvPr>
          <p:cNvSpPr>
            <a:spLocks noGrp="1"/>
          </p:cNvSpPr>
          <p:nvPr>
            <p:ph type="sldNum" sz="quarter" idx="12"/>
          </p:nvPr>
        </p:nvSpPr>
        <p:spPr/>
        <p:txBody>
          <a:bodyPr/>
          <a:lstStyle/>
          <a:p>
            <a:fld id="{B3B72081-5D84-49BB-BA7E-255CFB58620D}" type="slidenum">
              <a:rPr lang="en-US" smtClean="0"/>
              <a:t>‹#›</a:t>
            </a:fld>
            <a:endParaRPr lang="en-US"/>
          </a:p>
        </p:txBody>
      </p:sp>
    </p:spTree>
    <p:extLst>
      <p:ext uri="{BB962C8B-B14F-4D97-AF65-F5344CB8AC3E}">
        <p14:creationId xmlns:p14="http://schemas.microsoft.com/office/powerpoint/2010/main" val="11397954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8929CC-1978-0B26-9CC1-CB57C97526E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10ECEA3-AA6D-3B4E-9627-6BFFB232F65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27BF091-F36A-8A8A-6C88-0AB956CA71C3}"/>
              </a:ext>
            </a:extLst>
          </p:cNvPr>
          <p:cNvSpPr>
            <a:spLocks noGrp="1"/>
          </p:cNvSpPr>
          <p:nvPr>
            <p:ph type="dt" sz="half" idx="10"/>
          </p:nvPr>
        </p:nvSpPr>
        <p:spPr/>
        <p:txBody>
          <a:bodyPr/>
          <a:lstStyle/>
          <a:p>
            <a:fld id="{6D68C107-F2B0-4DB5-B541-30E1F9AD3F40}" type="datetimeFigureOut">
              <a:rPr lang="en-US" smtClean="0"/>
              <a:t>7/12/2026</a:t>
            </a:fld>
            <a:endParaRPr lang="en-US"/>
          </a:p>
        </p:txBody>
      </p:sp>
      <p:sp>
        <p:nvSpPr>
          <p:cNvPr id="5" name="Footer Placeholder 4">
            <a:extLst>
              <a:ext uri="{FF2B5EF4-FFF2-40B4-BE49-F238E27FC236}">
                <a16:creationId xmlns:a16="http://schemas.microsoft.com/office/drawing/2014/main" id="{C72921EC-6BA8-3A7E-53C5-4EB889C3D74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948CF59-6226-16AD-57C3-55978B3611EE}"/>
              </a:ext>
            </a:extLst>
          </p:cNvPr>
          <p:cNvSpPr>
            <a:spLocks noGrp="1"/>
          </p:cNvSpPr>
          <p:nvPr>
            <p:ph type="sldNum" sz="quarter" idx="12"/>
          </p:nvPr>
        </p:nvSpPr>
        <p:spPr/>
        <p:txBody>
          <a:bodyPr/>
          <a:lstStyle/>
          <a:p>
            <a:fld id="{B3B72081-5D84-49BB-BA7E-255CFB58620D}" type="slidenum">
              <a:rPr lang="en-US" smtClean="0"/>
              <a:t>‹#›</a:t>
            </a:fld>
            <a:endParaRPr lang="en-US"/>
          </a:p>
        </p:txBody>
      </p:sp>
    </p:spTree>
    <p:extLst>
      <p:ext uri="{BB962C8B-B14F-4D97-AF65-F5344CB8AC3E}">
        <p14:creationId xmlns:p14="http://schemas.microsoft.com/office/powerpoint/2010/main" val="20513204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9A0F81F-6C3B-9415-6C9E-1152A7A5912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726B8A4-5DAE-38DB-98BC-68738799B8C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81FE4AB-E79F-B258-13E0-5915F9FE68BD}"/>
              </a:ext>
            </a:extLst>
          </p:cNvPr>
          <p:cNvSpPr>
            <a:spLocks noGrp="1"/>
          </p:cNvSpPr>
          <p:nvPr>
            <p:ph type="dt" sz="half" idx="10"/>
          </p:nvPr>
        </p:nvSpPr>
        <p:spPr/>
        <p:txBody>
          <a:bodyPr/>
          <a:lstStyle/>
          <a:p>
            <a:fld id="{6D68C107-F2B0-4DB5-B541-30E1F9AD3F40}" type="datetimeFigureOut">
              <a:rPr lang="en-US" smtClean="0"/>
              <a:t>7/12/2026</a:t>
            </a:fld>
            <a:endParaRPr lang="en-US"/>
          </a:p>
        </p:txBody>
      </p:sp>
      <p:sp>
        <p:nvSpPr>
          <p:cNvPr id="5" name="Footer Placeholder 4">
            <a:extLst>
              <a:ext uri="{FF2B5EF4-FFF2-40B4-BE49-F238E27FC236}">
                <a16:creationId xmlns:a16="http://schemas.microsoft.com/office/drawing/2014/main" id="{06D6E2E4-AF67-2A48-1E0C-554820F9A3E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C1B62CC-5B7B-5035-15E3-40EFED0DC044}"/>
              </a:ext>
            </a:extLst>
          </p:cNvPr>
          <p:cNvSpPr>
            <a:spLocks noGrp="1"/>
          </p:cNvSpPr>
          <p:nvPr>
            <p:ph type="sldNum" sz="quarter" idx="12"/>
          </p:nvPr>
        </p:nvSpPr>
        <p:spPr/>
        <p:txBody>
          <a:bodyPr/>
          <a:lstStyle/>
          <a:p>
            <a:fld id="{B3B72081-5D84-49BB-BA7E-255CFB58620D}" type="slidenum">
              <a:rPr lang="en-US" smtClean="0"/>
              <a:t>‹#›</a:t>
            </a:fld>
            <a:endParaRPr lang="en-US"/>
          </a:p>
        </p:txBody>
      </p:sp>
    </p:spTree>
    <p:extLst>
      <p:ext uri="{BB962C8B-B14F-4D97-AF65-F5344CB8AC3E}">
        <p14:creationId xmlns:p14="http://schemas.microsoft.com/office/powerpoint/2010/main" val="22431605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n-US"/>
              <a:t>Click to edit Master title style</a:t>
            </a:r>
            <a:endParaRPr lang="en-US" dirty="0"/>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2784044171"/>
      </p:ext>
    </p:extLst>
  </p:cSld>
  <p:clrMapOvr>
    <a:overrideClrMapping bg1="dk1" tx1="lt1" bg2="dk2" tx2="lt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35667364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n-US"/>
              <a:t>Click to edit Master title style</a:t>
            </a:r>
            <a:endParaRPr lang="en-US" dirty="0"/>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2822803313"/>
      </p:ext>
    </p:extLst>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581912" y="2638044"/>
            <a:ext cx="4271771"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38315" y="2638044"/>
            <a:ext cx="4270247"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endParaRPr lang="en-US"/>
          </a:p>
        </p:txBody>
      </p:sp>
      <p:sp>
        <p:nvSpPr>
          <p:cNvPr id="9" name="Footer Placeholder 8"/>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398298110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83436" y="3143250"/>
            <a:ext cx="4270248" cy="25967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
        <p:nvSpPr>
          <p:cNvPr id="10" name="Title 9"/>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939547084"/>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113843843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282098667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n-US"/>
              <a:t>Click to edit Master title style</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Date Placeholder 8"/>
          <p:cNvSpPr>
            <a:spLocks noGrp="1"/>
          </p:cNvSpPr>
          <p:nvPr>
            <p:ph type="dt" sz="half" idx="10"/>
          </p:nvPr>
        </p:nvSpPr>
        <p:spPr/>
        <p:txBody>
          <a:bodyPr/>
          <a:lstStyle/>
          <a:p>
            <a:endParaRPr lang="en-US"/>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a:p>
        </p:txBody>
      </p:sp>
      <p:sp>
        <p:nvSpPr>
          <p:cNvPr id="11" name="Slide Number Placeholder 10"/>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84499465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9" y="0"/>
            <a:ext cx="6102097"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endParaRPr lang="en-US"/>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a:p>
        </p:txBody>
      </p:sp>
      <p:sp>
        <p:nvSpPr>
          <p:cNvPr id="10" name="Slide Number Placeholder 9"/>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62084247"/>
      </p:ext>
    </p:extLst>
  </p:cSld>
  <p:clrMapOvr>
    <a:masterClrMapping/>
  </p:clrMapOvr>
  <p:hf sldNum="0"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179998326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2337581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022DE0E-DE8C-1786-AF0B-FF73A1BD375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A999C2E-5D31-C66A-957F-BC36FC06F7B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0D6357E-4967-00A7-24AA-D3B11340804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D68C107-F2B0-4DB5-B541-30E1F9AD3F40}" type="datetimeFigureOut">
              <a:rPr lang="en-US" smtClean="0"/>
              <a:t>7/12/2026</a:t>
            </a:fld>
            <a:endParaRPr lang="en-US"/>
          </a:p>
        </p:txBody>
      </p:sp>
      <p:sp>
        <p:nvSpPr>
          <p:cNvPr id="5" name="Footer Placeholder 4">
            <a:extLst>
              <a:ext uri="{FF2B5EF4-FFF2-40B4-BE49-F238E27FC236}">
                <a16:creationId xmlns:a16="http://schemas.microsoft.com/office/drawing/2014/main" id="{F8939366-C881-C702-3101-F42BE3C1CE0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7166C3EB-A424-1E55-E1BE-FDE0BE7D600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3B72081-5D84-49BB-BA7E-255CFB58620D}" type="slidenum">
              <a:rPr lang="en-US" smtClean="0"/>
              <a:t>‹#›</a:t>
            </a:fld>
            <a:endParaRPr lang="en-US"/>
          </a:p>
        </p:txBody>
      </p:sp>
    </p:spTree>
    <p:extLst>
      <p:ext uri="{BB962C8B-B14F-4D97-AF65-F5344CB8AC3E}">
        <p14:creationId xmlns:p14="http://schemas.microsoft.com/office/powerpoint/2010/main" val="21921769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endParaRPr lang="en-US"/>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en-US"/>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18862595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10.svg"/><Relationship Id="rId13" Type="http://schemas.openxmlformats.org/officeDocument/2006/relationships/image" Target="../media/image15.svg"/><Relationship Id="rId3" Type="http://schemas.openxmlformats.org/officeDocument/2006/relationships/image" Target="../media/image5.svg"/><Relationship Id="rId7" Type="http://schemas.openxmlformats.org/officeDocument/2006/relationships/image" Target="../media/image9.svg"/><Relationship Id="rId12" Type="http://schemas.openxmlformats.org/officeDocument/2006/relationships/image" Target="../media/image14.svg"/><Relationship Id="rId2" Type="http://schemas.openxmlformats.org/officeDocument/2006/relationships/image" Target="../media/image4.svg"/><Relationship Id="rId1" Type="http://schemas.openxmlformats.org/officeDocument/2006/relationships/slideLayout" Target="../slideLayouts/slideLayout1.xml"/><Relationship Id="rId6" Type="http://schemas.openxmlformats.org/officeDocument/2006/relationships/image" Target="../media/image8.svg"/><Relationship Id="rId11" Type="http://schemas.openxmlformats.org/officeDocument/2006/relationships/image" Target="../media/image13.svg"/><Relationship Id="rId5" Type="http://schemas.openxmlformats.org/officeDocument/2006/relationships/image" Target="../media/image7.svg"/><Relationship Id="rId15" Type="http://schemas.openxmlformats.org/officeDocument/2006/relationships/image" Target="../media/image17.svg"/><Relationship Id="rId10" Type="http://schemas.openxmlformats.org/officeDocument/2006/relationships/image" Target="../media/image12.svg"/><Relationship Id="rId4" Type="http://schemas.openxmlformats.org/officeDocument/2006/relationships/image" Target="../media/image6.svg"/><Relationship Id="rId9" Type="http://schemas.openxmlformats.org/officeDocument/2006/relationships/image" Target="../media/image11.svg"/><Relationship Id="rId14" Type="http://schemas.openxmlformats.org/officeDocument/2006/relationships/image" Target="../media/image16.sv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19.png"/><Relationship Id="rId7" Type="http://schemas.openxmlformats.org/officeDocument/2006/relationships/customXml" Target="../ink/ink2.xml"/><Relationship Id="rId12" Type="http://schemas.openxmlformats.org/officeDocument/2006/relationships/image" Target="../media/image39.png"/><Relationship Id="rId2" Type="http://schemas.openxmlformats.org/officeDocument/2006/relationships/image" Target="../media/image18.png"/><Relationship Id="rId1" Type="http://schemas.openxmlformats.org/officeDocument/2006/relationships/slideLayout" Target="../slideLayouts/slideLayout18.xml"/><Relationship Id="rId6" Type="http://schemas.openxmlformats.org/officeDocument/2006/relationships/image" Target="../media/image36.png"/><Relationship Id="rId11" Type="http://schemas.openxmlformats.org/officeDocument/2006/relationships/customXml" Target="../ink/ink4.xml"/><Relationship Id="rId5" Type="http://schemas.openxmlformats.org/officeDocument/2006/relationships/customXml" Target="../ink/ink1.xml"/><Relationship Id="rId10" Type="http://schemas.openxmlformats.org/officeDocument/2006/relationships/image" Target="../media/image38.png"/><Relationship Id="rId4" Type="http://schemas.openxmlformats.org/officeDocument/2006/relationships/image" Target="../media/image20.png"/><Relationship Id="rId9" Type="http://schemas.openxmlformats.org/officeDocument/2006/relationships/customXml" Target="../ink/ink3.xml"/></Relationships>
</file>

<file path=ppt/slides/_rels/slide11.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2.png"/><Relationship Id="rId7" Type="http://schemas.microsoft.com/office/2007/relationships/hdphoto" Target="../media/hdphoto1.wdp"/><Relationship Id="rId2" Type="http://schemas.openxmlformats.org/officeDocument/2006/relationships/image" Target="../media/image21.png"/><Relationship Id="rId1" Type="http://schemas.openxmlformats.org/officeDocument/2006/relationships/slideLayout" Target="../slideLayouts/slideLayout18.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13" Type="http://schemas.openxmlformats.org/officeDocument/2006/relationships/customXml" Target="../ink/ink9.xml"/><Relationship Id="rId18" Type="http://schemas.openxmlformats.org/officeDocument/2006/relationships/image" Target="../media/image55.png"/><Relationship Id="rId26" Type="http://schemas.openxmlformats.org/officeDocument/2006/relationships/image" Target="../media/image59.png"/><Relationship Id="rId3" Type="http://schemas.openxmlformats.org/officeDocument/2006/relationships/image" Target="../media/image28.png"/><Relationship Id="rId21" Type="http://schemas.openxmlformats.org/officeDocument/2006/relationships/customXml" Target="../ink/ink13.xml"/><Relationship Id="rId34" Type="http://schemas.openxmlformats.org/officeDocument/2006/relationships/image" Target="../media/image63.png"/><Relationship Id="rId7" Type="http://schemas.openxmlformats.org/officeDocument/2006/relationships/customXml" Target="../ink/ink6.xml"/><Relationship Id="rId12" Type="http://schemas.openxmlformats.org/officeDocument/2006/relationships/image" Target="../media/image52.png"/><Relationship Id="rId17" Type="http://schemas.openxmlformats.org/officeDocument/2006/relationships/customXml" Target="../ink/ink11.xml"/><Relationship Id="rId25" Type="http://schemas.openxmlformats.org/officeDocument/2006/relationships/customXml" Target="../ink/ink15.xml"/><Relationship Id="rId33" Type="http://schemas.openxmlformats.org/officeDocument/2006/relationships/customXml" Target="../ink/ink19.xml"/><Relationship Id="rId2" Type="http://schemas.openxmlformats.org/officeDocument/2006/relationships/image" Target="../media/image27.png"/><Relationship Id="rId16" Type="http://schemas.openxmlformats.org/officeDocument/2006/relationships/image" Target="../media/image54.png"/><Relationship Id="rId20" Type="http://schemas.openxmlformats.org/officeDocument/2006/relationships/image" Target="../media/image56.png"/><Relationship Id="rId29" Type="http://schemas.openxmlformats.org/officeDocument/2006/relationships/customXml" Target="../ink/ink17.xml"/><Relationship Id="rId1" Type="http://schemas.openxmlformats.org/officeDocument/2006/relationships/slideLayout" Target="../slideLayouts/slideLayout18.xml"/><Relationship Id="rId6" Type="http://schemas.openxmlformats.org/officeDocument/2006/relationships/image" Target="../media/image49.png"/><Relationship Id="rId11" Type="http://schemas.openxmlformats.org/officeDocument/2006/relationships/customXml" Target="../ink/ink8.xml"/><Relationship Id="rId24" Type="http://schemas.openxmlformats.org/officeDocument/2006/relationships/image" Target="../media/image58.png"/><Relationship Id="rId32" Type="http://schemas.openxmlformats.org/officeDocument/2006/relationships/image" Target="../media/image62.png"/><Relationship Id="rId5" Type="http://schemas.openxmlformats.org/officeDocument/2006/relationships/customXml" Target="../ink/ink5.xml"/><Relationship Id="rId15" Type="http://schemas.openxmlformats.org/officeDocument/2006/relationships/customXml" Target="../ink/ink10.xml"/><Relationship Id="rId23" Type="http://schemas.openxmlformats.org/officeDocument/2006/relationships/customXml" Target="../ink/ink14.xml"/><Relationship Id="rId28" Type="http://schemas.openxmlformats.org/officeDocument/2006/relationships/image" Target="../media/image60.png"/><Relationship Id="rId10" Type="http://schemas.openxmlformats.org/officeDocument/2006/relationships/image" Target="../media/image51.png"/><Relationship Id="rId19" Type="http://schemas.openxmlformats.org/officeDocument/2006/relationships/customXml" Target="../ink/ink12.xml"/><Relationship Id="rId31" Type="http://schemas.openxmlformats.org/officeDocument/2006/relationships/customXml" Target="../ink/ink18.xml"/><Relationship Id="rId4" Type="http://schemas.openxmlformats.org/officeDocument/2006/relationships/image" Target="../media/image29.png"/><Relationship Id="rId9" Type="http://schemas.openxmlformats.org/officeDocument/2006/relationships/customXml" Target="../ink/ink7.xml"/><Relationship Id="rId14" Type="http://schemas.openxmlformats.org/officeDocument/2006/relationships/image" Target="../media/image53.png"/><Relationship Id="rId22" Type="http://schemas.openxmlformats.org/officeDocument/2006/relationships/image" Target="../media/image57.png"/><Relationship Id="rId27" Type="http://schemas.openxmlformats.org/officeDocument/2006/relationships/customXml" Target="../ink/ink16.xml"/><Relationship Id="rId30" Type="http://schemas.openxmlformats.org/officeDocument/2006/relationships/image" Target="../media/image61.png"/><Relationship Id="rId8" Type="http://schemas.openxmlformats.org/officeDocument/2006/relationships/image" Target="../media/image5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image" Target="../media/image30.png"/><Relationship Id="rId1" Type="http://schemas.openxmlformats.org/officeDocument/2006/relationships/slideLayout" Target="../slideLayouts/slideLayout18.xml"/><Relationship Id="rId6" Type="http://schemas.openxmlformats.org/officeDocument/2006/relationships/image" Target="../media/image33.svg"/><Relationship Id="rId5" Type="http://schemas.microsoft.com/office/2007/relationships/hdphoto" Target="../media/hdphoto2.wdp"/><Relationship Id="rId4" Type="http://schemas.openxmlformats.org/officeDocument/2006/relationships/image" Target="../media/image3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image" Target="../media/image30.png"/><Relationship Id="rId1" Type="http://schemas.openxmlformats.org/officeDocument/2006/relationships/slideLayout" Target="../slideLayouts/slideLayout18.xml"/><Relationship Id="rId6" Type="http://schemas.openxmlformats.org/officeDocument/2006/relationships/image" Target="../media/image33.svg"/><Relationship Id="rId5" Type="http://schemas.microsoft.com/office/2007/relationships/hdphoto" Target="../media/hdphoto2.wdp"/><Relationship Id="rId4" Type="http://schemas.openxmlformats.org/officeDocument/2006/relationships/image" Target="../media/image3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4.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customXml" Target="../ink/ink20.xml"/><Relationship Id="rId1" Type="http://schemas.openxmlformats.org/officeDocument/2006/relationships/slideLayout" Target="../slideLayouts/slideLayout1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6.xml.rels><?xml version="1.0" encoding="UTF-8" standalone="yes"?>
<Relationships xmlns="http://schemas.openxmlformats.org/package/2006/relationships"><Relationship Id="rId8" Type="http://schemas.openxmlformats.org/officeDocument/2006/relationships/customXml" Target="../ink/ink24.xml"/><Relationship Id="rId3" Type="http://schemas.openxmlformats.org/officeDocument/2006/relationships/image" Target="../media/image71.png"/><Relationship Id="rId7" Type="http://schemas.openxmlformats.org/officeDocument/2006/relationships/image" Target="../media/image73.png"/><Relationship Id="rId2" Type="http://schemas.openxmlformats.org/officeDocument/2006/relationships/customXml" Target="../ink/ink21.xml"/><Relationship Id="rId1" Type="http://schemas.openxmlformats.org/officeDocument/2006/relationships/slideLayout" Target="../slideLayouts/slideLayout18.xml"/><Relationship Id="rId6" Type="http://schemas.openxmlformats.org/officeDocument/2006/relationships/customXml" Target="../ink/ink23.xml"/><Relationship Id="rId5" Type="http://schemas.openxmlformats.org/officeDocument/2006/relationships/image" Target="../media/image72.png"/><Relationship Id="rId4" Type="http://schemas.openxmlformats.org/officeDocument/2006/relationships/customXml" Target="../ink/ink22.xml"/><Relationship Id="rId9" Type="http://schemas.openxmlformats.org/officeDocument/2006/relationships/image" Target="../media/image74.png"/></Relationships>
</file>

<file path=ppt/slides/_rels/slide27.xml.rels><?xml version="1.0" encoding="UTF-8" standalone="yes"?>
<Relationships xmlns="http://schemas.openxmlformats.org/package/2006/relationships"><Relationship Id="rId3" Type="http://schemas.openxmlformats.org/officeDocument/2006/relationships/image" Target="../media/image40.png"/><Relationship Id="rId7" Type="http://schemas.openxmlformats.org/officeDocument/2006/relationships/image" Target="../media/image78.png"/><Relationship Id="rId2" Type="http://schemas.openxmlformats.org/officeDocument/2006/relationships/image" Target="../media/image35.png"/><Relationship Id="rId1" Type="http://schemas.openxmlformats.org/officeDocument/2006/relationships/slideLayout" Target="../slideLayouts/slideLayout18.xml"/><Relationship Id="rId6" Type="http://schemas.openxmlformats.org/officeDocument/2006/relationships/customXml" Target="../ink/ink26.xml"/><Relationship Id="rId5" Type="http://schemas.openxmlformats.org/officeDocument/2006/relationships/image" Target="../media/image77.png"/><Relationship Id="rId4" Type="http://schemas.openxmlformats.org/officeDocument/2006/relationships/customXml" Target="../ink/ink25.xml"/></Relationships>
</file>

<file path=ppt/slides/_rels/slide28.xml.rels><?xml version="1.0" encoding="UTF-8" standalone="yes"?>
<Relationships xmlns="http://schemas.openxmlformats.org/package/2006/relationships"><Relationship Id="rId8" Type="http://schemas.openxmlformats.org/officeDocument/2006/relationships/image" Target="../media/image45.png"/><Relationship Id="rId3" Type="http://schemas.openxmlformats.org/officeDocument/2006/relationships/image" Target="../media/image41.png"/><Relationship Id="rId7" Type="http://schemas.openxmlformats.org/officeDocument/2006/relationships/image" Target="../media/image44.png"/><Relationship Id="rId2" Type="http://schemas.openxmlformats.org/officeDocument/2006/relationships/notesSlide" Target="../notesSlides/notesSlide1.xml"/><Relationship Id="rId1" Type="http://schemas.openxmlformats.org/officeDocument/2006/relationships/slideLayout" Target="../slideLayouts/slideLayout18.xml"/><Relationship Id="rId6" Type="http://schemas.openxmlformats.org/officeDocument/2006/relationships/image" Target="../media/image43.png"/><Relationship Id="rId5" Type="http://schemas.openxmlformats.org/officeDocument/2006/relationships/image" Target="../media/image42.png"/><Relationship Id="rId4" Type="http://schemas.microsoft.com/office/2007/relationships/hdphoto" Target="../media/hdphoto3.wdp"/><Relationship Id="rId9" Type="http://schemas.openxmlformats.org/officeDocument/2006/relationships/image" Target="../media/image46.png"/></Relationships>
</file>

<file path=ppt/slides/_rels/slide29.xml.rels><?xml version="1.0" encoding="UTF-8" standalone="yes"?>
<Relationships xmlns="http://schemas.openxmlformats.org/package/2006/relationships"><Relationship Id="rId8" Type="http://schemas.openxmlformats.org/officeDocument/2006/relationships/image" Target="../media/image88.png"/><Relationship Id="rId3" Type="http://schemas.openxmlformats.org/officeDocument/2006/relationships/customXml" Target="../ink/ink27.xml"/><Relationship Id="rId7" Type="http://schemas.openxmlformats.org/officeDocument/2006/relationships/customXml" Target="../ink/ink29.xml"/><Relationship Id="rId12" Type="http://schemas.openxmlformats.org/officeDocument/2006/relationships/image" Target="../media/image90.png"/><Relationship Id="rId2" Type="http://schemas.openxmlformats.org/officeDocument/2006/relationships/image" Target="../media/image47.png"/><Relationship Id="rId1" Type="http://schemas.openxmlformats.org/officeDocument/2006/relationships/slideLayout" Target="../slideLayouts/slideLayout18.xml"/><Relationship Id="rId6" Type="http://schemas.openxmlformats.org/officeDocument/2006/relationships/image" Target="../media/image87.png"/><Relationship Id="rId11" Type="http://schemas.openxmlformats.org/officeDocument/2006/relationships/customXml" Target="../ink/ink31.xml"/><Relationship Id="rId5" Type="http://schemas.openxmlformats.org/officeDocument/2006/relationships/customXml" Target="../ink/ink28.xml"/><Relationship Id="rId10" Type="http://schemas.openxmlformats.org/officeDocument/2006/relationships/image" Target="../media/image89.png"/><Relationship Id="rId4" Type="http://schemas.openxmlformats.org/officeDocument/2006/relationships/image" Target="../media/image86.png"/><Relationship Id="rId9" Type="http://schemas.openxmlformats.org/officeDocument/2006/relationships/customXml" Target="../ink/ink30.xml"/></Relationships>
</file>

<file path=ppt/slides/_rels/slide30.xml.rels><?xml version="1.0" encoding="UTF-8" standalone="yes"?>
<Relationships xmlns="http://schemas.openxmlformats.org/package/2006/relationships"><Relationship Id="rId8" Type="http://schemas.openxmlformats.org/officeDocument/2006/relationships/image" Target="../media/image65.png"/><Relationship Id="rId3" Type="http://schemas.microsoft.com/office/2007/relationships/hdphoto" Target="../media/hdphoto3.wdp"/><Relationship Id="rId7" Type="http://schemas.openxmlformats.org/officeDocument/2006/relationships/image" Target="../media/image64.png"/><Relationship Id="rId2" Type="http://schemas.openxmlformats.org/officeDocument/2006/relationships/image" Target="../media/image41.png"/><Relationship Id="rId1" Type="http://schemas.openxmlformats.org/officeDocument/2006/relationships/slideLayout" Target="../slideLayouts/slideLayout18.xml"/><Relationship Id="rId6" Type="http://schemas.openxmlformats.org/officeDocument/2006/relationships/image" Target="../media/image48.png"/><Relationship Id="rId5" Type="http://schemas.openxmlformats.org/officeDocument/2006/relationships/image" Target="../media/image43.png"/><Relationship Id="rId4" Type="http://schemas.openxmlformats.org/officeDocument/2006/relationships/image" Target="../media/image42.png"/></Relationships>
</file>

<file path=ppt/slides/_rels/slide31.xml.rels><?xml version="1.0" encoding="UTF-8" standalone="yes"?>
<Relationships xmlns="http://schemas.openxmlformats.org/package/2006/relationships"><Relationship Id="rId8" Type="http://schemas.openxmlformats.org/officeDocument/2006/relationships/image" Target="../media/image97.png"/><Relationship Id="rId3" Type="http://schemas.openxmlformats.org/officeDocument/2006/relationships/customXml" Target="../ink/ink32.xml"/><Relationship Id="rId7" Type="http://schemas.openxmlformats.org/officeDocument/2006/relationships/customXml" Target="../ink/ink34.xml"/><Relationship Id="rId2" Type="http://schemas.openxmlformats.org/officeDocument/2006/relationships/image" Target="../media/image66.png"/><Relationship Id="rId1" Type="http://schemas.openxmlformats.org/officeDocument/2006/relationships/slideLayout" Target="../slideLayouts/slideLayout18.xml"/><Relationship Id="rId6" Type="http://schemas.openxmlformats.org/officeDocument/2006/relationships/image" Target="../media/image96.png"/><Relationship Id="rId5" Type="http://schemas.openxmlformats.org/officeDocument/2006/relationships/customXml" Target="../ink/ink33.xml"/><Relationship Id="rId4" Type="http://schemas.openxmlformats.org/officeDocument/2006/relationships/image" Target="../media/image95.png"/></Relationships>
</file>

<file path=ppt/slides/_rels/slide32.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18.xml"/><Relationship Id="rId5" Type="http://schemas.openxmlformats.org/officeDocument/2006/relationships/image" Target="../media/image100.png"/><Relationship Id="rId4" Type="http://schemas.openxmlformats.org/officeDocument/2006/relationships/customXml" Target="../ink/ink35.xml"/></Relationships>
</file>

<file path=ppt/slides/_rels/slide33.xml.rels><?xml version="1.0" encoding="UTF-8" standalone="yes"?>
<Relationships xmlns="http://schemas.openxmlformats.org/package/2006/relationships"><Relationship Id="rId8" Type="http://schemas.openxmlformats.org/officeDocument/2006/relationships/image" Target="../media/image42.png"/><Relationship Id="rId13" Type="http://schemas.openxmlformats.org/officeDocument/2006/relationships/image" Target="../media/image82.png"/><Relationship Id="rId3" Type="http://schemas.openxmlformats.org/officeDocument/2006/relationships/image" Target="../media/image69.png"/><Relationship Id="rId7" Type="http://schemas.openxmlformats.org/officeDocument/2006/relationships/image" Target="../media/image76.png"/><Relationship Id="rId12" Type="http://schemas.openxmlformats.org/officeDocument/2006/relationships/image" Target="../media/image81.png"/><Relationship Id="rId2" Type="http://schemas.openxmlformats.org/officeDocument/2006/relationships/notesSlide" Target="../notesSlides/notesSlide2.xml"/><Relationship Id="rId1" Type="http://schemas.openxmlformats.org/officeDocument/2006/relationships/slideLayout" Target="../slideLayouts/slideLayout18.xml"/><Relationship Id="rId6" Type="http://schemas.openxmlformats.org/officeDocument/2006/relationships/image" Target="../media/image75.png"/><Relationship Id="rId11" Type="http://schemas.openxmlformats.org/officeDocument/2006/relationships/image" Target="../media/image80.png"/><Relationship Id="rId5" Type="http://schemas.microsoft.com/office/2007/relationships/hdphoto" Target="../media/hdphoto3.wdp"/><Relationship Id="rId10" Type="http://schemas.openxmlformats.org/officeDocument/2006/relationships/image" Target="../media/image79.png"/><Relationship Id="rId4" Type="http://schemas.openxmlformats.org/officeDocument/2006/relationships/image" Target="../media/image41.png"/><Relationship Id="rId9" Type="http://schemas.openxmlformats.org/officeDocument/2006/relationships/image" Target="../media/image43.png"/></Relationships>
</file>

<file path=ppt/slides/_rels/slide34.xml.rels><?xml version="1.0" encoding="UTF-8" standalone="yes"?>
<Relationships xmlns="http://schemas.openxmlformats.org/package/2006/relationships"><Relationship Id="rId8" Type="http://schemas.openxmlformats.org/officeDocument/2006/relationships/image" Target="../media/image113.png"/><Relationship Id="rId13" Type="http://schemas.openxmlformats.org/officeDocument/2006/relationships/customXml" Target="../ink/ink39.xml"/><Relationship Id="rId18" Type="http://schemas.openxmlformats.org/officeDocument/2006/relationships/image" Target="../media/image118.png"/><Relationship Id="rId26" Type="http://schemas.openxmlformats.org/officeDocument/2006/relationships/image" Target="../media/image122.png"/><Relationship Id="rId3" Type="http://schemas.openxmlformats.org/officeDocument/2006/relationships/image" Target="../media/image84.png"/><Relationship Id="rId21" Type="http://schemas.openxmlformats.org/officeDocument/2006/relationships/customXml" Target="../ink/ink43.xml"/><Relationship Id="rId7" Type="http://schemas.openxmlformats.org/officeDocument/2006/relationships/customXml" Target="../ink/ink36.xml"/><Relationship Id="rId12" Type="http://schemas.openxmlformats.org/officeDocument/2006/relationships/image" Target="../media/image115.png"/><Relationship Id="rId17" Type="http://schemas.openxmlformats.org/officeDocument/2006/relationships/customXml" Target="../ink/ink41.xml"/><Relationship Id="rId25" Type="http://schemas.openxmlformats.org/officeDocument/2006/relationships/customXml" Target="../ink/ink45.xml"/><Relationship Id="rId2" Type="http://schemas.openxmlformats.org/officeDocument/2006/relationships/image" Target="../media/image83.png"/><Relationship Id="rId16" Type="http://schemas.openxmlformats.org/officeDocument/2006/relationships/image" Target="../media/image117.png"/><Relationship Id="rId20" Type="http://schemas.openxmlformats.org/officeDocument/2006/relationships/image" Target="../media/image119.png"/><Relationship Id="rId1" Type="http://schemas.openxmlformats.org/officeDocument/2006/relationships/slideLayout" Target="../slideLayouts/slideLayout18.xml"/><Relationship Id="rId6" Type="http://schemas.openxmlformats.org/officeDocument/2006/relationships/image" Target="../media/image92.png"/><Relationship Id="rId11" Type="http://schemas.openxmlformats.org/officeDocument/2006/relationships/customXml" Target="../ink/ink38.xml"/><Relationship Id="rId24" Type="http://schemas.openxmlformats.org/officeDocument/2006/relationships/image" Target="../media/image121.png"/><Relationship Id="rId5" Type="http://schemas.openxmlformats.org/officeDocument/2006/relationships/image" Target="../media/image91.png"/><Relationship Id="rId15" Type="http://schemas.openxmlformats.org/officeDocument/2006/relationships/customXml" Target="../ink/ink40.xml"/><Relationship Id="rId23" Type="http://schemas.openxmlformats.org/officeDocument/2006/relationships/customXml" Target="../ink/ink44.xml"/><Relationship Id="rId10" Type="http://schemas.openxmlformats.org/officeDocument/2006/relationships/image" Target="../media/image114.png"/><Relationship Id="rId19" Type="http://schemas.openxmlformats.org/officeDocument/2006/relationships/customXml" Target="../ink/ink42.xml"/><Relationship Id="rId4" Type="http://schemas.openxmlformats.org/officeDocument/2006/relationships/image" Target="../media/image85.png"/><Relationship Id="rId9" Type="http://schemas.openxmlformats.org/officeDocument/2006/relationships/customXml" Target="../ink/ink37.xml"/><Relationship Id="rId14" Type="http://schemas.openxmlformats.org/officeDocument/2006/relationships/image" Target="../media/image116.png"/><Relationship Id="rId22" Type="http://schemas.openxmlformats.org/officeDocument/2006/relationships/image" Target="../media/image120.png"/></Relationships>
</file>

<file path=ppt/slides/_rels/slide35.xml.rels><?xml version="1.0" encoding="UTF-8" standalone="yes"?>
<Relationships xmlns="http://schemas.openxmlformats.org/package/2006/relationships"><Relationship Id="rId8" Type="http://schemas.openxmlformats.org/officeDocument/2006/relationships/image" Target="../media/image125.png"/><Relationship Id="rId3" Type="http://schemas.openxmlformats.org/officeDocument/2006/relationships/image" Target="../media/image124.png"/><Relationship Id="rId7" Type="http://schemas.openxmlformats.org/officeDocument/2006/relationships/image" Target="../media/image82.png"/><Relationship Id="rId2" Type="http://schemas.openxmlformats.org/officeDocument/2006/relationships/image" Target="../media/image123.png"/><Relationship Id="rId1" Type="http://schemas.openxmlformats.org/officeDocument/2006/relationships/slideLayout" Target="../slideLayouts/slideLayout18.xml"/><Relationship Id="rId6" Type="http://schemas.openxmlformats.org/officeDocument/2006/relationships/image" Target="../media/image81.png"/><Relationship Id="rId5" Type="http://schemas.openxmlformats.org/officeDocument/2006/relationships/image" Target="../media/image80.png"/><Relationship Id="rId10" Type="http://schemas.openxmlformats.org/officeDocument/2006/relationships/image" Target="../media/image127.png"/><Relationship Id="rId4" Type="http://schemas.openxmlformats.org/officeDocument/2006/relationships/image" Target="../media/image79.png"/><Relationship Id="rId9" Type="http://schemas.openxmlformats.org/officeDocument/2006/relationships/image" Target="../media/image126.png"/></Relationships>
</file>

<file path=ppt/slides/_rels/slide36.xml.rels><?xml version="1.0" encoding="UTF-8" standalone="yes"?>
<Relationships xmlns="http://schemas.openxmlformats.org/package/2006/relationships"><Relationship Id="rId3" Type="http://schemas.openxmlformats.org/officeDocument/2006/relationships/hyperlink" Target="https://www.sciencedirect.com/science/article/pii/S2950248925000331" TargetMode="External"/><Relationship Id="rId2" Type="http://schemas.openxmlformats.org/officeDocument/2006/relationships/hyperlink" Target="https://www.thelancet.com/journals/lanwpc/article/PIIS2666-6065(24)00127-5/fulltext?uuid=uuid%3Ac867e2b7-1e72-4b4a-91aa-071ecc2d81e8" TargetMode="External"/><Relationship Id="rId1" Type="http://schemas.openxmlformats.org/officeDocument/2006/relationships/slideLayout" Target="../slideLayouts/slideLayout18.xml"/><Relationship Id="rId4" Type="http://schemas.openxmlformats.org/officeDocument/2006/relationships/hyperlink" Target="https://www.biorxiv.org/content/10.1101/2024.12.10.627672v1" TargetMode="External"/></Relationships>
</file>

<file path=ppt/slides/_rels/slide37.xml.rels><?xml version="1.0" encoding="UTF-8" standalone="yes"?>
<Relationships xmlns="http://schemas.openxmlformats.org/package/2006/relationships"><Relationship Id="rId2" Type="http://schemas.openxmlformats.org/officeDocument/2006/relationships/hyperlink" Target="https://www.biorxiv.org/content/10.1101/2023.01.18.524531v1" TargetMode="External"/><Relationship Id="rId1" Type="http://schemas.openxmlformats.org/officeDocument/2006/relationships/slideLayout" Target="../slideLayouts/slideLayout1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For PPT-01.jpg">
            <a:extLst>
              <a:ext uri="{FF2B5EF4-FFF2-40B4-BE49-F238E27FC236}">
                <a16:creationId xmlns:a16="http://schemas.microsoft.com/office/drawing/2014/main" id="{7A46497A-7507-9FF4-10CE-2605C796C679}"/>
              </a:ext>
            </a:extLst>
          </p:cNvPr>
          <p:cNvPicPr>
            <a:picLocks noChangeAspect="1"/>
          </p:cNvPicPr>
          <p:nvPr/>
        </p:nvPicPr>
        <p:blipFill>
          <a:blip r:embed="rId2" cstate="print"/>
          <a:stretch>
            <a:fillRect/>
          </a:stretch>
        </p:blipFill>
        <p:spPr>
          <a:xfrm>
            <a:off x="0" y="0"/>
            <a:ext cx="12192000" cy="6858000"/>
          </a:xfrm>
          <a:prstGeom prst="rect">
            <a:avLst/>
          </a:prstGeom>
          <a:ln w="28575">
            <a:solidFill>
              <a:srgbClr val="C00000"/>
            </a:solidFill>
          </a:ln>
        </p:spPr>
      </p:pic>
      <p:sp>
        <p:nvSpPr>
          <p:cNvPr id="2" name="TextBox 1"/>
          <p:cNvSpPr txBox="1"/>
          <p:nvPr/>
        </p:nvSpPr>
        <p:spPr>
          <a:xfrm>
            <a:off x="0" y="1457325"/>
            <a:ext cx="12192000" cy="1477328"/>
          </a:xfrm>
          <a:prstGeom prst="rect">
            <a:avLst/>
          </a:prstGeom>
          <a:solidFill>
            <a:schemeClr val="bg1"/>
          </a:solidFill>
          <a:ln w="19050">
            <a:solidFill>
              <a:srgbClr val="C00000"/>
            </a:solidFill>
          </a:ln>
        </p:spPr>
        <p:txBody>
          <a:bodyPr wrap="square" rtlCol="0">
            <a:spAutoFit/>
          </a:bodyPr>
          <a:lstStyle/>
          <a:p>
            <a:pPr algn="ctr"/>
            <a:r>
              <a:rPr lang="en-US" sz="3000" b="1" dirty="0" err="1">
                <a:solidFill>
                  <a:prstClr val="black"/>
                </a:solidFill>
                <a:latin typeface="Arial" panose="020B0604020202020204" pitchFamily="34" charset="0"/>
                <a:cs typeface="Arial" panose="020B0604020202020204" pitchFamily="34" charset="0"/>
              </a:rPr>
              <a:t>Immunoinformatics</a:t>
            </a:r>
            <a:r>
              <a:rPr lang="en-US" sz="3000" b="1" dirty="0">
                <a:solidFill>
                  <a:prstClr val="black"/>
                </a:solidFill>
                <a:latin typeface="Arial" panose="020B0604020202020204" pitchFamily="34" charset="0"/>
                <a:cs typeface="Arial" panose="020B0604020202020204" pitchFamily="34" charset="0"/>
              </a:rPr>
              <a:t> aided design of conserved peptides containing multi-epitopes against Severe fever with Thrombocytopenia Syndrome</a:t>
            </a:r>
          </a:p>
        </p:txBody>
      </p:sp>
      <p:sp>
        <p:nvSpPr>
          <p:cNvPr id="3" name="TextBox 2"/>
          <p:cNvSpPr txBox="1"/>
          <p:nvPr/>
        </p:nvSpPr>
        <p:spPr>
          <a:xfrm>
            <a:off x="2422263" y="3550023"/>
            <a:ext cx="2655347" cy="1077218"/>
          </a:xfrm>
          <a:prstGeom prst="rect">
            <a:avLst/>
          </a:prstGeom>
          <a:solidFill>
            <a:schemeClr val="bg1"/>
          </a:solidFill>
          <a:ln w="19050">
            <a:solidFill>
              <a:srgbClr val="C00000"/>
            </a:solidFill>
          </a:ln>
        </p:spPr>
        <p:txBody>
          <a:bodyPr wrap="square" rtlCol="0">
            <a:spAutoFit/>
          </a:bodyPr>
          <a:lstStyle/>
          <a:p>
            <a:pPr algn="ctr"/>
            <a:r>
              <a:rPr lang="en-IN" sz="1600" b="1" dirty="0">
                <a:solidFill>
                  <a:prstClr val="black"/>
                </a:solidFill>
                <a:latin typeface="Arial" panose="020B0604020202020204" pitchFamily="34" charset="0"/>
                <a:cs typeface="Arial" panose="020B0604020202020204" pitchFamily="34" charset="0"/>
              </a:rPr>
              <a:t>Presented by:</a:t>
            </a:r>
          </a:p>
          <a:p>
            <a:pPr algn="ctr"/>
            <a:r>
              <a:rPr lang="en-IN" sz="1600" b="1" dirty="0">
                <a:solidFill>
                  <a:prstClr val="black"/>
                </a:solidFill>
                <a:latin typeface="Arial" panose="020B0604020202020204" pitchFamily="34" charset="0"/>
                <a:cs typeface="Arial" panose="020B0604020202020204" pitchFamily="34" charset="0"/>
              </a:rPr>
              <a:t>Milind Shrivastava (302301019)</a:t>
            </a:r>
          </a:p>
          <a:p>
            <a:pPr algn="ctr"/>
            <a:r>
              <a:rPr lang="en-IN" sz="1600" b="1" dirty="0">
                <a:solidFill>
                  <a:prstClr val="black"/>
                </a:solidFill>
                <a:latin typeface="Arial" panose="020B0604020202020204" pitchFamily="34" charset="0"/>
                <a:cs typeface="Arial" panose="020B0604020202020204" pitchFamily="34" charset="0"/>
              </a:rPr>
              <a:t>M.Sc. Biotechnology</a:t>
            </a:r>
            <a:endParaRPr lang="en-US" sz="1600" b="1" dirty="0">
              <a:solidFill>
                <a:prstClr val="black"/>
              </a:solidFill>
              <a:latin typeface="Arial" panose="020B0604020202020204" pitchFamily="34" charset="0"/>
              <a:cs typeface="Arial" panose="020B0604020202020204" pitchFamily="34" charset="0"/>
            </a:endParaRPr>
          </a:p>
        </p:txBody>
      </p:sp>
      <p:sp>
        <p:nvSpPr>
          <p:cNvPr id="5" name="TextBox 4"/>
          <p:cNvSpPr txBox="1"/>
          <p:nvPr/>
        </p:nvSpPr>
        <p:spPr>
          <a:xfrm>
            <a:off x="5762838" y="3303447"/>
            <a:ext cx="3545552" cy="1323439"/>
          </a:xfrm>
          <a:prstGeom prst="rect">
            <a:avLst/>
          </a:prstGeom>
          <a:solidFill>
            <a:schemeClr val="bg1"/>
          </a:solidFill>
          <a:ln w="19050">
            <a:solidFill>
              <a:srgbClr val="C00000"/>
            </a:solidFill>
          </a:ln>
        </p:spPr>
        <p:txBody>
          <a:bodyPr wrap="square" rtlCol="0">
            <a:spAutoFit/>
          </a:bodyPr>
          <a:lstStyle/>
          <a:p>
            <a:pPr algn="ctr"/>
            <a:r>
              <a:rPr lang="en-IN" sz="1600" b="1" dirty="0">
                <a:solidFill>
                  <a:prstClr val="black"/>
                </a:solidFill>
                <a:latin typeface="Arial" panose="020B0604020202020204" pitchFamily="34" charset="0"/>
                <a:cs typeface="Arial" panose="020B0604020202020204" pitchFamily="34" charset="0"/>
              </a:rPr>
              <a:t>Under the supervision of:</a:t>
            </a:r>
          </a:p>
          <a:p>
            <a:pPr algn="ctr"/>
            <a:r>
              <a:rPr lang="en-IN" sz="1600" b="1" dirty="0">
                <a:solidFill>
                  <a:prstClr val="black"/>
                </a:solidFill>
                <a:latin typeface="Arial" panose="020B0604020202020204" pitchFamily="34" charset="0"/>
                <a:cs typeface="Arial" panose="020B0604020202020204" pitchFamily="34" charset="0"/>
              </a:rPr>
              <a:t>Dr Manoj </a:t>
            </a:r>
            <a:r>
              <a:rPr lang="en-IN" sz="1600" b="1" dirty="0" err="1">
                <a:solidFill>
                  <a:prstClr val="black"/>
                </a:solidFill>
                <a:latin typeface="Arial" panose="020B0604020202020204" pitchFamily="34" charset="0"/>
                <a:cs typeface="Arial" panose="020B0604020202020204" pitchFamily="34" charset="0"/>
              </a:rPr>
              <a:t>Baranwal</a:t>
            </a:r>
            <a:endParaRPr lang="en-IN" sz="1600" b="1" dirty="0">
              <a:solidFill>
                <a:prstClr val="black"/>
              </a:solidFill>
              <a:latin typeface="Arial" panose="020B0604020202020204" pitchFamily="34" charset="0"/>
              <a:cs typeface="Arial" panose="020B0604020202020204" pitchFamily="34" charset="0"/>
            </a:endParaRPr>
          </a:p>
          <a:p>
            <a:pPr algn="ctr"/>
            <a:r>
              <a:rPr lang="en-IN" sz="1600" b="1" dirty="0">
                <a:solidFill>
                  <a:prstClr val="black"/>
                </a:solidFill>
                <a:latin typeface="Arial" panose="020B0604020202020204" pitchFamily="34" charset="0"/>
                <a:cs typeface="Arial" panose="020B0604020202020204" pitchFamily="34" charset="0"/>
              </a:rPr>
              <a:t>Professor</a:t>
            </a:r>
          </a:p>
          <a:p>
            <a:pPr algn="ctr"/>
            <a:r>
              <a:rPr lang="en-IN" sz="1600" b="1" dirty="0">
                <a:solidFill>
                  <a:prstClr val="black"/>
                </a:solidFill>
                <a:latin typeface="Arial" panose="020B0604020202020204" pitchFamily="34" charset="0"/>
                <a:cs typeface="Arial" panose="020B0604020202020204" pitchFamily="34" charset="0"/>
              </a:rPr>
              <a:t>Head of Department (Biotechnology)</a:t>
            </a:r>
          </a:p>
        </p:txBody>
      </p:sp>
      <p:sp>
        <p:nvSpPr>
          <p:cNvPr id="6" name="Rectangle 5">
            <a:extLst>
              <a:ext uri="{FF2B5EF4-FFF2-40B4-BE49-F238E27FC236}">
                <a16:creationId xmlns:a16="http://schemas.microsoft.com/office/drawing/2014/main" id="{8ADFF956-89E4-116A-D059-F5AFCE510434}"/>
              </a:ext>
            </a:extLst>
          </p:cNvPr>
          <p:cNvSpPr/>
          <p:nvPr/>
        </p:nvSpPr>
        <p:spPr>
          <a:xfrm>
            <a:off x="0" y="28574"/>
            <a:ext cx="12192000" cy="6858000"/>
          </a:xfrm>
          <a:prstGeom prst="rect">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817050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1AB7429B-3479-83F7-4CCF-98AD13002CD4}"/>
              </a:ext>
            </a:extLst>
          </p:cNvPr>
          <p:cNvSpPr/>
          <p:nvPr/>
        </p:nvSpPr>
        <p:spPr>
          <a:xfrm>
            <a:off x="4390489" y="223803"/>
            <a:ext cx="3411021" cy="1042237"/>
          </a:xfrm>
          <a:prstGeom prst="roundRect">
            <a:avLst/>
          </a:prstGeom>
          <a:solidFill>
            <a:schemeClr val="bg1">
              <a:lumMod val="85000"/>
            </a:schemeClr>
          </a:solidFill>
          <a:ln>
            <a:no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en-US" dirty="0"/>
          </a:p>
        </p:txBody>
      </p:sp>
      <p:sp>
        <p:nvSpPr>
          <p:cNvPr id="2" name="Title 1">
            <a:extLst>
              <a:ext uri="{FF2B5EF4-FFF2-40B4-BE49-F238E27FC236}">
                <a16:creationId xmlns:a16="http://schemas.microsoft.com/office/drawing/2014/main" id="{2514CF23-5B2A-69E7-3484-84AC0D45132A}"/>
              </a:ext>
            </a:extLst>
          </p:cNvPr>
          <p:cNvSpPr>
            <a:spLocks noGrp="1"/>
          </p:cNvSpPr>
          <p:nvPr>
            <p:ph type="title"/>
          </p:nvPr>
        </p:nvSpPr>
        <p:spPr>
          <a:xfrm>
            <a:off x="4390489" y="384257"/>
            <a:ext cx="3158447" cy="881783"/>
          </a:xfrm>
          <a:noFill/>
          <a:ln>
            <a:noFill/>
          </a:ln>
        </p:spPr>
        <p:style>
          <a:lnRef idx="1">
            <a:schemeClr val="accent4"/>
          </a:lnRef>
          <a:fillRef idx="2">
            <a:schemeClr val="accent4"/>
          </a:fillRef>
          <a:effectRef idx="1">
            <a:schemeClr val="accent4"/>
          </a:effectRef>
          <a:fontRef idx="minor">
            <a:schemeClr val="dk1"/>
          </a:fontRef>
        </p:style>
        <p:txBody>
          <a:bodyPr/>
          <a:lstStyle/>
          <a:p>
            <a:r>
              <a:rPr lang="en-US" dirty="0">
                <a:solidFill>
                  <a:srgbClr val="C00000"/>
                </a:solidFill>
              </a:rPr>
              <a:t>Introduction</a:t>
            </a:r>
          </a:p>
        </p:txBody>
      </p:sp>
      <p:sp>
        <p:nvSpPr>
          <p:cNvPr id="3" name="Content Placeholder 2">
            <a:extLst>
              <a:ext uri="{FF2B5EF4-FFF2-40B4-BE49-F238E27FC236}">
                <a16:creationId xmlns:a16="http://schemas.microsoft.com/office/drawing/2014/main" id="{F3C9F317-0986-F20C-A243-F4ACC37A2FFA}"/>
              </a:ext>
            </a:extLst>
          </p:cNvPr>
          <p:cNvSpPr>
            <a:spLocks noGrp="1"/>
          </p:cNvSpPr>
          <p:nvPr>
            <p:ph idx="1"/>
          </p:nvPr>
        </p:nvSpPr>
        <p:spPr>
          <a:xfrm>
            <a:off x="684090" y="1825625"/>
            <a:ext cx="6656614" cy="4351338"/>
          </a:xfrm>
        </p:spPr>
        <p:txBody>
          <a:bodyPr>
            <a:normAutofit/>
          </a:bodyPr>
          <a:lstStyle/>
          <a:p>
            <a:r>
              <a:rPr lang="en-US" sz="1800" dirty="0"/>
              <a:t>SFTS is a tick-borne hemorrhagic fever caused by the </a:t>
            </a:r>
            <a:r>
              <a:rPr lang="en-US" sz="1800" b="1" dirty="0"/>
              <a:t>Severe Fever with Thrombocytopenia Syndrome Virus (SFTSV)</a:t>
            </a:r>
            <a:r>
              <a:rPr lang="en-US" sz="1800" dirty="0"/>
              <a:t>, classified under the </a:t>
            </a:r>
            <a:r>
              <a:rPr lang="en-US" sz="1800" b="1" i="1" dirty="0" err="1"/>
              <a:t>Bandavirus</a:t>
            </a:r>
            <a:r>
              <a:rPr lang="en-US" sz="1800" dirty="0"/>
              <a:t> genus in the </a:t>
            </a:r>
            <a:r>
              <a:rPr lang="en-US" sz="1800" b="1" i="1" dirty="0" err="1"/>
              <a:t>Phenuiviridae</a:t>
            </a:r>
            <a:r>
              <a:rPr lang="en-US" sz="1800" dirty="0"/>
              <a:t> family.</a:t>
            </a:r>
          </a:p>
          <a:p>
            <a:r>
              <a:rPr lang="en-US" sz="1800" dirty="0"/>
              <a:t>First identified in China (2009), it is now endemic in </a:t>
            </a:r>
            <a:r>
              <a:rPr lang="en-US" sz="1800" b="1" dirty="0"/>
              <a:t>Japan</a:t>
            </a:r>
            <a:r>
              <a:rPr lang="en-US" sz="1800" dirty="0"/>
              <a:t>, </a:t>
            </a:r>
            <a:r>
              <a:rPr lang="en-US" sz="1800" b="1" dirty="0"/>
              <a:t>South Korea</a:t>
            </a:r>
            <a:r>
              <a:rPr lang="en-US" sz="1800" dirty="0"/>
              <a:t>, </a:t>
            </a:r>
            <a:r>
              <a:rPr lang="en-US" sz="1800" b="1" dirty="0"/>
              <a:t>Vietnam</a:t>
            </a:r>
            <a:r>
              <a:rPr lang="en-US" sz="1800" dirty="0"/>
              <a:t>, </a:t>
            </a:r>
            <a:r>
              <a:rPr lang="en-US" sz="1800" b="1" dirty="0"/>
              <a:t>Taiwan</a:t>
            </a:r>
            <a:r>
              <a:rPr lang="en-US" sz="1800" dirty="0"/>
              <a:t>, and</a:t>
            </a:r>
            <a:r>
              <a:rPr lang="en-US" sz="1800" b="1" dirty="0"/>
              <a:t> China</a:t>
            </a:r>
            <a:r>
              <a:rPr lang="en-US" sz="1800" dirty="0"/>
              <a:t>.</a:t>
            </a:r>
          </a:p>
          <a:p>
            <a:r>
              <a:rPr lang="en-US" sz="1800" b="1" dirty="0"/>
              <a:t>Recent Concern: </a:t>
            </a:r>
            <a:r>
              <a:rPr lang="en-US" sz="1800" dirty="0"/>
              <a:t>The primary vector, </a:t>
            </a:r>
            <a:r>
              <a:rPr lang="en-US" sz="1800" i="1" dirty="0" err="1"/>
              <a:t>Haemaphysalis</a:t>
            </a:r>
            <a:r>
              <a:rPr lang="en-US" sz="1800" i="1" dirty="0"/>
              <a:t> longicornis </a:t>
            </a:r>
            <a:r>
              <a:rPr lang="en-US" sz="1800" dirty="0"/>
              <a:t>(Asian </a:t>
            </a:r>
            <a:r>
              <a:rPr lang="en-US" sz="1800" dirty="0" err="1"/>
              <a:t>longhorned</a:t>
            </a:r>
            <a:r>
              <a:rPr lang="en-US" sz="1800" dirty="0"/>
              <a:t> tick), has spread to over 20 U.S. states, raising fears of global expansion.</a:t>
            </a:r>
          </a:p>
          <a:p>
            <a:r>
              <a:rPr lang="en-US" sz="1800" b="1" dirty="0"/>
              <a:t>Fatality Rate: </a:t>
            </a:r>
            <a:r>
              <a:rPr lang="en-US" sz="1800" dirty="0"/>
              <a:t>Ranges from 6% in China to 27% in Japan, with higher mortality in individuals over 50 years old due to age-related immune dysfunction.</a:t>
            </a:r>
          </a:p>
          <a:p>
            <a:r>
              <a:rPr lang="en-US" sz="1800" b="1" dirty="0"/>
              <a:t>WHO Classification: </a:t>
            </a:r>
            <a:r>
              <a:rPr lang="en-US" sz="1800" dirty="0"/>
              <a:t>Recognized as a priority pathogen due to its pandemic potential.</a:t>
            </a:r>
          </a:p>
        </p:txBody>
      </p:sp>
      <p:sp>
        <p:nvSpPr>
          <p:cNvPr id="6" name="Rectangle 5">
            <a:extLst>
              <a:ext uri="{FF2B5EF4-FFF2-40B4-BE49-F238E27FC236}">
                <a16:creationId xmlns:a16="http://schemas.microsoft.com/office/drawing/2014/main" id="{28801667-4577-4648-C343-EF213F17F080}"/>
              </a:ext>
            </a:extLst>
          </p:cNvPr>
          <p:cNvSpPr/>
          <p:nvPr/>
        </p:nvSpPr>
        <p:spPr>
          <a:xfrm>
            <a:off x="0" y="18300"/>
            <a:ext cx="12192000" cy="6858000"/>
          </a:xfrm>
          <a:prstGeom prst="rect">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800" dirty="0">
              <a:latin typeface="Arial" panose="020B0604020202020204" pitchFamily="34" charset="0"/>
              <a:cs typeface="Arial" panose="020B0604020202020204" pitchFamily="34" charset="0"/>
            </a:endParaRPr>
          </a:p>
        </p:txBody>
      </p:sp>
      <p:grpSp>
        <p:nvGrpSpPr>
          <p:cNvPr id="14" name="Group 13">
            <a:extLst>
              <a:ext uri="{FF2B5EF4-FFF2-40B4-BE49-F238E27FC236}">
                <a16:creationId xmlns:a16="http://schemas.microsoft.com/office/drawing/2014/main" id="{39198780-9546-6AD9-9541-A871B7BA4D3F}"/>
              </a:ext>
            </a:extLst>
          </p:cNvPr>
          <p:cNvGrpSpPr/>
          <p:nvPr/>
        </p:nvGrpSpPr>
        <p:grpSpPr>
          <a:xfrm>
            <a:off x="7432302" y="1899378"/>
            <a:ext cx="4424364" cy="1666875"/>
            <a:chOff x="3816313" y="900512"/>
            <a:chExt cx="4424364" cy="1666875"/>
          </a:xfrm>
        </p:grpSpPr>
        <p:sp>
          <p:nvSpPr>
            <p:cNvPr id="8" name="Rectangle 7">
              <a:extLst>
                <a:ext uri="{FF2B5EF4-FFF2-40B4-BE49-F238E27FC236}">
                  <a16:creationId xmlns:a16="http://schemas.microsoft.com/office/drawing/2014/main" id="{782C7F93-0F63-7707-2557-0EBF389EE573}"/>
                </a:ext>
              </a:extLst>
            </p:cNvPr>
            <p:cNvSpPr/>
            <p:nvPr/>
          </p:nvSpPr>
          <p:spPr>
            <a:xfrm>
              <a:off x="3816313" y="900512"/>
              <a:ext cx="4424364" cy="166687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E344328C-DC36-BCBA-60F9-8841956740BA}"/>
                </a:ext>
              </a:extLst>
            </p:cNvPr>
            <p:cNvSpPr txBox="1"/>
            <p:nvPr/>
          </p:nvSpPr>
          <p:spPr>
            <a:xfrm>
              <a:off x="4095877" y="1011213"/>
              <a:ext cx="2183139" cy="1323439"/>
            </a:xfrm>
            <a:prstGeom prst="rect">
              <a:avLst/>
            </a:prstGeom>
            <a:noFill/>
          </p:spPr>
          <p:txBody>
            <a:bodyPr wrap="square" rtlCol="0">
              <a:spAutoFit/>
            </a:bodyPr>
            <a:lstStyle/>
            <a:p>
              <a:pPr algn="ctr"/>
              <a:r>
                <a:rPr lang="en-US" sz="1600" dirty="0">
                  <a:latin typeface="Arial" panose="020B0604020202020204" pitchFamily="34" charset="0"/>
                  <a:cs typeface="Arial" panose="020B0604020202020204" pitchFamily="34" charset="0"/>
                </a:rPr>
                <a:t>Caused by SFTS virus (SFTSV), a novel bunyavirus also called </a:t>
              </a:r>
              <a:r>
                <a:rPr lang="en-US" sz="1600" i="1" dirty="0" err="1">
                  <a:latin typeface="Arial" panose="020B0604020202020204" pitchFamily="34" charset="0"/>
                  <a:cs typeface="Arial" panose="020B0604020202020204" pitchFamily="34" charset="0"/>
                </a:rPr>
                <a:t>Bandavirus</a:t>
              </a:r>
              <a:r>
                <a:rPr lang="en-US" sz="1600" i="1" dirty="0">
                  <a:latin typeface="Arial" panose="020B0604020202020204" pitchFamily="34" charset="0"/>
                  <a:cs typeface="Arial" panose="020B0604020202020204" pitchFamily="34" charset="0"/>
                </a:rPr>
                <a:t> </a:t>
              </a:r>
              <a:r>
                <a:rPr lang="en-US" sz="1600" i="1" dirty="0" err="1">
                  <a:latin typeface="Arial" panose="020B0604020202020204" pitchFamily="34" charset="0"/>
                  <a:cs typeface="Arial" panose="020B0604020202020204" pitchFamily="34" charset="0"/>
                </a:rPr>
                <a:t>dabieense</a:t>
              </a:r>
              <a:r>
                <a:rPr lang="en-US" sz="1600" i="1" dirty="0">
                  <a:latin typeface="Arial" panose="020B0604020202020204" pitchFamily="34" charset="0"/>
                  <a:cs typeface="Arial" panose="020B0604020202020204" pitchFamily="34" charset="0"/>
                </a:rPr>
                <a:t>.</a:t>
              </a:r>
              <a:endParaRPr lang="en-US" sz="1600" dirty="0"/>
            </a:p>
          </p:txBody>
        </p:sp>
      </p:grpSp>
      <p:grpSp>
        <p:nvGrpSpPr>
          <p:cNvPr id="15" name="Group 14">
            <a:extLst>
              <a:ext uri="{FF2B5EF4-FFF2-40B4-BE49-F238E27FC236}">
                <a16:creationId xmlns:a16="http://schemas.microsoft.com/office/drawing/2014/main" id="{785923AA-0E96-7737-A5F1-AB536BB9C567}"/>
              </a:ext>
            </a:extLst>
          </p:cNvPr>
          <p:cNvGrpSpPr/>
          <p:nvPr/>
        </p:nvGrpSpPr>
        <p:grpSpPr>
          <a:xfrm>
            <a:off x="7432302" y="4125838"/>
            <a:ext cx="4424364" cy="1666875"/>
            <a:chOff x="9078877" y="916247"/>
            <a:chExt cx="4424364" cy="1666875"/>
          </a:xfrm>
        </p:grpSpPr>
        <p:sp>
          <p:nvSpPr>
            <p:cNvPr id="11" name="Rectangle 10">
              <a:extLst>
                <a:ext uri="{FF2B5EF4-FFF2-40B4-BE49-F238E27FC236}">
                  <a16:creationId xmlns:a16="http://schemas.microsoft.com/office/drawing/2014/main" id="{00BF4B9C-0E69-2309-BC6F-6560B7BE8858}"/>
                </a:ext>
              </a:extLst>
            </p:cNvPr>
            <p:cNvSpPr/>
            <p:nvPr/>
          </p:nvSpPr>
          <p:spPr>
            <a:xfrm>
              <a:off x="9078877" y="916247"/>
              <a:ext cx="4424364" cy="166687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2" name="Picture 11" descr="A close up of a bug&#10;&#10;AI-generated content may be incorrect.">
              <a:extLst>
                <a:ext uri="{FF2B5EF4-FFF2-40B4-BE49-F238E27FC236}">
                  <a16:creationId xmlns:a16="http://schemas.microsoft.com/office/drawing/2014/main" id="{576B4964-1B4E-1C46-72BB-669A2663223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770955" y="1011213"/>
              <a:ext cx="1598933" cy="1471411"/>
            </a:xfrm>
            <a:prstGeom prst="rect">
              <a:avLst/>
            </a:prstGeom>
          </p:spPr>
        </p:pic>
        <p:sp>
          <p:nvSpPr>
            <p:cNvPr id="13" name="TextBox 12">
              <a:extLst>
                <a:ext uri="{FF2B5EF4-FFF2-40B4-BE49-F238E27FC236}">
                  <a16:creationId xmlns:a16="http://schemas.microsoft.com/office/drawing/2014/main" id="{4BC7947B-E05C-D1E4-F3FA-C55472B94D4A}"/>
                </a:ext>
              </a:extLst>
            </p:cNvPr>
            <p:cNvSpPr txBox="1"/>
            <p:nvPr/>
          </p:nvSpPr>
          <p:spPr>
            <a:xfrm>
              <a:off x="9446856" y="1177645"/>
              <a:ext cx="2057400" cy="1354217"/>
            </a:xfrm>
            <a:prstGeom prst="rect">
              <a:avLst/>
            </a:prstGeom>
            <a:noFill/>
          </p:spPr>
          <p:txBody>
            <a:bodyPr wrap="square" rtlCol="0">
              <a:spAutoFit/>
            </a:bodyPr>
            <a:lstStyle/>
            <a:p>
              <a:pPr algn="ctr"/>
              <a:r>
                <a:rPr lang="en-US" sz="1600" dirty="0">
                  <a:latin typeface="Arial" panose="020B0604020202020204" pitchFamily="34" charset="0"/>
                  <a:cs typeface="Arial" panose="020B0604020202020204" pitchFamily="34" charset="0"/>
                </a:rPr>
                <a:t>Primary vector: Asian </a:t>
              </a:r>
              <a:r>
                <a:rPr lang="en-US" sz="1600" dirty="0" err="1">
                  <a:latin typeface="Arial" panose="020B0604020202020204" pitchFamily="34" charset="0"/>
                  <a:cs typeface="Arial" panose="020B0604020202020204" pitchFamily="34" charset="0"/>
                </a:rPr>
                <a:t>longhorned</a:t>
              </a:r>
              <a:r>
                <a:rPr lang="en-US" sz="1600" dirty="0">
                  <a:latin typeface="Arial" panose="020B0604020202020204" pitchFamily="34" charset="0"/>
                  <a:cs typeface="Arial" panose="020B0604020202020204" pitchFamily="34" charset="0"/>
                </a:rPr>
                <a:t> tick (</a:t>
              </a:r>
              <a:r>
                <a:rPr lang="en-US" sz="1600" i="1" dirty="0" err="1">
                  <a:latin typeface="Arial" panose="020B0604020202020204" pitchFamily="34" charset="0"/>
                  <a:cs typeface="Arial" panose="020B0604020202020204" pitchFamily="34" charset="0"/>
                </a:rPr>
                <a:t>Haemaphysalis</a:t>
              </a:r>
              <a:r>
                <a:rPr lang="en-US" sz="1600" i="1" dirty="0">
                  <a:latin typeface="Arial" panose="020B0604020202020204" pitchFamily="34" charset="0"/>
                  <a:cs typeface="Arial" panose="020B0604020202020204" pitchFamily="34" charset="0"/>
                </a:rPr>
                <a:t> longicornis</a:t>
              </a:r>
              <a:r>
                <a:rPr lang="en-US" sz="1600" dirty="0">
                  <a:latin typeface="Arial" panose="020B0604020202020204" pitchFamily="34" charset="0"/>
                  <a:cs typeface="Arial" panose="020B0604020202020204" pitchFamily="34" charset="0"/>
                </a:rPr>
                <a:t>).</a:t>
              </a:r>
            </a:p>
            <a:p>
              <a:pPr algn="ctr"/>
              <a:endParaRPr lang="en-US" dirty="0"/>
            </a:p>
          </p:txBody>
        </p:sp>
      </p:grpSp>
      <p:pic>
        <p:nvPicPr>
          <p:cNvPr id="5" name="Picture 4">
            <a:extLst>
              <a:ext uri="{FF2B5EF4-FFF2-40B4-BE49-F238E27FC236}">
                <a16:creationId xmlns:a16="http://schemas.microsoft.com/office/drawing/2014/main" id="{DEA95FAA-7A88-FB73-1A9F-CD592E9CB71E}"/>
              </a:ext>
            </a:extLst>
          </p:cNvPr>
          <p:cNvPicPr>
            <a:picLocks noChangeAspect="1"/>
          </p:cNvPicPr>
          <p:nvPr/>
        </p:nvPicPr>
        <p:blipFill>
          <a:blip r:embed="rId3" cstate="print">
            <a:extLst>
              <a:ext uri="{28A0092B-C50C-407E-A947-70E740481C1C}">
                <a14:useLocalDpi xmlns:a14="http://schemas.microsoft.com/office/drawing/2010/main" val="0"/>
              </a:ext>
            </a:extLst>
          </a:blip>
          <a:srcRect t="4816" r="42215"/>
          <a:stretch>
            <a:fillRect/>
          </a:stretch>
        </p:blipFill>
        <p:spPr bwMode="auto">
          <a:xfrm>
            <a:off x="10076715" y="1996016"/>
            <a:ext cx="1581886" cy="1432983"/>
          </a:xfrm>
          <a:prstGeom prst="rect">
            <a:avLst/>
          </a:prstGeom>
          <a:noFill/>
        </p:spPr>
      </p:pic>
    </p:spTree>
    <p:extLst>
      <p:ext uri="{BB962C8B-B14F-4D97-AF65-F5344CB8AC3E}">
        <p14:creationId xmlns:p14="http://schemas.microsoft.com/office/powerpoint/2010/main" val="15217343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271F2BB-02EB-A9E2-1F24-FD295F83A2A2}"/>
              </a:ext>
            </a:extLst>
          </p:cNvPr>
          <p:cNvSpPr/>
          <p:nvPr/>
        </p:nvSpPr>
        <p:spPr>
          <a:xfrm>
            <a:off x="0" y="28574"/>
            <a:ext cx="12192000" cy="6858000"/>
          </a:xfrm>
          <a:prstGeom prst="rect">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800" dirty="0">
              <a:latin typeface="Arial" panose="020B0604020202020204" pitchFamily="34" charset="0"/>
              <a:cs typeface="Arial" panose="020B0604020202020204" pitchFamily="34" charset="0"/>
            </a:endParaRPr>
          </a:p>
        </p:txBody>
      </p:sp>
      <p:grpSp>
        <p:nvGrpSpPr>
          <p:cNvPr id="42" name="Group 41">
            <a:extLst>
              <a:ext uri="{FF2B5EF4-FFF2-40B4-BE49-F238E27FC236}">
                <a16:creationId xmlns:a16="http://schemas.microsoft.com/office/drawing/2014/main" id="{236068B1-E925-D12E-9761-03B3D0C25C30}"/>
              </a:ext>
            </a:extLst>
          </p:cNvPr>
          <p:cNvGrpSpPr/>
          <p:nvPr/>
        </p:nvGrpSpPr>
        <p:grpSpPr>
          <a:xfrm>
            <a:off x="2180095" y="261829"/>
            <a:ext cx="7804038" cy="1042237"/>
            <a:chOff x="739739" y="344774"/>
            <a:chExt cx="8311794" cy="1042237"/>
          </a:xfrm>
        </p:grpSpPr>
        <p:sp>
          <p:nvSpPr>
            <p:cNvPr id="7" name="Rectangle: Rounded Corners 6">
              <a:extLst>
                <a:ext uri="{FF2B5EF4-FFF2-40B4-BE49-F238E27FC236}">
                  <a16:creationId xmlns:a16="http://schemas.microsoft.com/office/drawing/2014/main" id="{0DCF8BA2-C433-6633-9931-C60DC74BC4D4}"/>
                </a:ext>
              </a:extLst>
            </p:cNvPr>
            <p:cNvSpPr/>
            <p:nvPr/>
          </p:nvSpPr>
          <p:spPr>
            <a:xfrm>
              <a:off x="739739" y="344774"/>
              <a:ext cx="8311794" cy="1042237"/>
            </a:xfrm>
            <a:prstGeom prst="roundRect">
              <a:avLst/>
            </a:prstGeom>
            <a:solidFill>
              <a:schemeClr val="bg1">
                <a:lumMod val="85000"/>
              </a:schemeClr>
            </a:solidFill>
            <a:ln>
              <a:no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en-US" dirty="0"/>
            </a:p>
          </p:txBody>
        </p:sp>
        <p:sp>
          <p:nvSpPr>
            <p:cNvPr id="8" name="Title 1">
              <a:extLst>
                <a:ext uri="{FF2B5EF4-FFF2-40B4-BE49-F238E27FC236}">
                  <a16:creationId xmlns:a16="http://schemas.microsoft.com/office/drawing/2014/main" id="{EE60B9F0-111B-D320-3CC8-20B485DB906B}"/>
                </a:ext>
              </a:extLst>
            </p:cNvPr>
            <p:cNvSpPr txBox="1">
              <a:spLocks/>
            </p:cNvSpPr>
            <p:nvPr/>
          </p:nvSpPr>
          <p:spPr>
            <a:xfrm>
              <a:off x="739739" y="626723"/>
              <a:ext cx="8054940" cy="678094"/>
            </a:xfrm>
            <a:prstGeom prst="rect">
              <a:avLst/>
            </a:prstGeom>
            <a:noFill/>
            <a:ln w="12700" cap="flat" cmpd="sng" algn="ctr">
              <a:noFill/>
              <a:prstDash val="solid"/>
              <a:miter lim="800000"/>
            </a:ln>
          </p:spPr>
          <p:style>
            <a:lnRef idx="1">
              <a:schemeClr val="accent4"/>
            </a:lnRef>
            <a:fillRef idx="2">
              <a:schemeClr val="accent4"/>
            </a:fillRef>
            <a:effectRef idx="1">
              <a:schemeClr val="accent4"/>
            </a:effectRef>
            <a:fontRef idx="minor">
              <a:schemeClr val="dk1"/>
            </a:fontRef>
          </p:style>
          <p:txBody>
            <a:bodyPr vert="horz" lIns="91440" tIns="45720" rIns="91440" bIns="45720" rtlCol="0" anchor="b">
              <a:normAutofit fontScale="55000" lnSpcReduction="20000"/>
            </a:bodyPr>
            <a:lstStyle>
              <a:lvl1pPr algn="ctr" defTabSz="914400" rtl="0" eaLnBrk="1" latinLnBrk="0" hangingPunct="1">
                <a:lnSpc>
                  <a:spcPct val="90000"/>
                </a:lnSpc>
                <a:spcBef>
                  <a:spcPct val="0"/>
                </a:spcBef>
                <a:buNone/>
                <a:defRPr sz="60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l"/>
              <a:r>
                <a:rPr lang="en-US" sz="7000" dirty="0">
                  <a:solidFill>
                    <a:srgbClr val="C00000"/>
                  </a:solidFill>
                </a:rPr>
                <a:t>Transmission</a:t>
              </a:r>
              <a:r>
                <a:rPr lang="en-US" dirty="0">
                  <a:solidFill>
                    <a:srgbClr val="C00000"/>
                  </a:solidFill>
                </a:rPr>
                <a:t> </a:t>
              </a:r>
              <a:r>
                <a:rPr lang="en-US" sz="7000" dirty="0">
                  <a:solidFill>
                    <a:srgbClr val="C00000"/>
                  </a:solidFill>
                </a:rPr>
                <a:t>and</a:t>
              </a:r>
              <a:r>
                <a:rPr lang="en-US" dirty="0">
                  <a:solidFill>
                    <a:srgbClr val="C00000"/>
                  </a:solidFill>
                </a:rPr>
                <a:t> </a:t>
              </a:r>
              <a:r>
                <a:rPr lang="en-US" sz="7000" dirty="0">
                  <a:solidFill>
                    <a:srgbClr val="C00000"/>
                  </a:solidFill>
                </a:rPr>
                <a:t>Global Spread</a:t>
              </a:r>
              <a:endParaRPr lang="en-US" dirty="0">
                <a:solidFill>
                  <a:srgbClr val="C00000"/>
                </a:solidFill>
              </a:endParaRPr>
            </a:p>
          </p:txBody>
        </p:sp>
      </p:grpSp>
      <p:sp>
        <p:nvSpPr>
          <p:cNvPr id="9" name="Content Placeholder 2">
            <a:extLst>
              <a:ext uri="{FF2B5EF4-FFF2-40B4-BE49-F238E27FC236}">
                <a16:creationId xmlns:a16="http://schemas.microsoft.com/office/drawing/2014/main" id="{AEC7CBB3-0AB2-8A14-072F-B7FEFE466351}"/>
              </a:ext>
            </a:extLst>
          </p:cNvPr>
          <p:cNvSpPr txBox="1">
            <a:spLocks/>
          </p:cNvSpPr>
          <p:nvPr/>
        </p:nvSpPr>
        <p:spPr>
          <a:xfrm>
            <a:off x="838200" y="1825625"/>
            <a:ext cx="10515600" cy="435133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endParaRPr lang="en-US" dirty="0"/>
          </a:p>
        </p:txBody>
      </p:sp>
      <p:sp>
        <p:nvSpPr>
          <p:cNvPr id="11" name="TextBox 10">
            <a:extLst>
              <a:ext uri="{FF2B5EF4-FFF2-40B4-BE49-F238E27FC236}">
                <a16:creationId xmlns:a16="http://schemas.microsoft.com/office/drawing/2014/main" id="{7924530C-D18F-3B4A-E539-0BB83E376092}"/>
              </a:ext>
            </a:extLst>
          </p:cNvPr>
          <p:cNvSpPr txBox="1"/>
          <p:nvPr/>
        </p:nvSpPr>
        <p:spPr>
          <a:xfrm>
            <a:off x="629291" y="1668960"/>
            <a:ext cx="6260911" cy="1760040"/>
          </a:xfrm>
          <a:prstGeom prst="rect">
            <a:avLst/>
          </a:prstGeom>
          <a:noFill/>
        </p:spPr>
        <p:txBody>
          <a:bodyPr wrap="square">
            <a:spAutoFit/>
          </a:bodyPr>
          <a:lstStyle/>
          <a:p>
            <a:r>
              <a:rPr lang="en-US" dirty="0"/>
              <a:t>   </a:t>
            </a:r>
            <a:r>
              <a:rPr lang="en-US" b="1" dirty="0"/>
              <a:t>Primary Transmission:</a:t>
            </a:r>
          </a:p>
          <a:p>
            <a:endParaRPr lang="en-US" dirty="0"/>
          </a:p>
          <a:p>
            <a:pPr marL="742950" lvl="1" indent="-285750" algn="just">
              <a:buFont typeface="Arial" panose="020B0604020202020204" pitchFamily="34" charset="0"/>
              <a:buChar char="•"/>
            </a:pPr>
            <a:r>
              <a:rPr lang="en-US" dirty="0"/>
              <a:t>Tick bites (</a:t>
            </a:r>
            <a:r>
              <a:rPr lang="en-US" b="1" i="1" dirty="0" err="1"/>
              <a:t>Haemaphysalis</a:t>
            </a:r>
            <a:r>
              <a:rPr lang="en-US" b="1" i="1" dirty="0"/>
              <a:t> longicornis).</a:t>
            </a:r>
          </a:p>
          <a:p>
            <a:pPr marL="742950" lvl="1" indent="-285750" algn="just">
              <a:buFont typeface="Arial" panose="020B0604020202020204" pitchFamily="34" charset="0"/>
              <a:buChar char="•"/>
            </a:pPr>
            <a:r>
              <a:rPr lang="en-US" dirty="0"/>
              <a:t>Human-to-human transmission through contact with infected blood and body fluids.</a:t>
            </a:r>
          </a:p>
          <a:p>
            <a:pPr marL="742950" lvl="1" indent="-285750" algn="just">
              <a:buFont typeface="Arial" panose="020B0604020202020204" pitchFamily="34" charset="0"/>
              <a:buChar char="•"/>
            </a:pPr>
            <a:r>
              <a:rPr lang="en-US" b="1" dirty="0"/>
              <a:t>Animal reservoirs:</a:t>
            </a:r>
            <a:r>
              <a:rPr lang="en-US" dirty="0"/>
              <a:t> Goats, cattle, sheep, dogs, pigs.</a:t>
            </a:r>
          </a:p>
        </p:txBody>
      </p:sp>
      <p:sp>
        <p:nvSpPr>
          <p:cNvPr id="12" name="TextBox 11">
            <a:extLst>
              <a:ext uri="{FF2B5EF4-FFF2-40B4-BE49-F238E27FC236}">
                <a16:creationId xmlns:a16="http://schemas.microsoft.com/office/drawing/2014/main" id="{365A572E-0136-4141-95D8-88D15395BE3D}"/>
              </a:ext>
            </a:extLst>
          </p:cNvPr>
          <p:cNvSpPr txBox="1"/>
          <p:nvPr/>
        </p:nvSpPr>
        <p:spPr>
          <a:xfrm>
            <a:off x="739739" y="3787429"/>
            <a:ext cx="6128534" cy="2308324"/>
          </a:xfrm>
          <a:prstGeom prst="rect">
            <a:avLst/>
          </a:prstGeom>
          <a:noFill/>
        </p:spPr>
        <p:txBody>
          <a:bodyPr wrap="square">
            <a:spAutoFit/>
          </a:bodyPr>
          <a:lstStyle/>
          <a:p>
            <a:pPr algn="just">
              <a:buNone/>
            </a:pPr>
            <a:r>
              <a:rPr lang="en-US" b="1" dirty="0"/>
              <a:t>Global Spread Factors:</a:t>
            </a:r>
          </a:p>
          <a:p>
            <a:pPr algn="just">
              <a:buNone/>
            </a:pPr>
            <a:endParaRPr lang="en-US" dirty="0"/>
          </a:p>
          <a:p>
            <a:pPr marL="742950" lvl="1" indent="-285750" algn="just">
              <a:buFont typeface="Arial" panose="020B0604020202020204" pitchFamily="34" charset="0"/>
              <a:buChar char="•"/>
            </a:pPr>
            <a:r>
              <a:rPr lang="en-US" dirty="0"/>
              <a:t>Expansion of tick habitats due to </a:t>
            </a:r>
            <a:r>
              <a:rPr lang="en-US" b="1" dirty="0"/>
              <a:t>climate change, International trade</a:t>
            </a:r>
            <a:r>
              <a:rPr lang="en-US" dirty="0"/>
              <a:t> and </a:t>
            </a:r>
            <a:r>
              <a:rPr lang="en-US" b="1" dirty="0"/>
              <a:t>migratory birds</a:t>
            </a:r>
            <a:r>
              <a:rPr lang="en-US" dirty="0"/>
              <a:t> spreading infected ticks.</a:t>
            </a:r>
          </a:p>
          <a:p>
            <a:pPr marL="742950" lvl="1" indent="-285750" algn="just">
              <a:buFont typeface="Arial" panose="020B0604020202020204" pitchFamily="34" charset="0"/>
              <a:buChar char="•"/>
            </a:pPr>
            <a:r>
              <a:rPr lang="en-US" dirty="0"/>
              <a:t>Genetic </a:t>
            </a:r>
            <a:r>
              <a:rPr lang="en-US" b="1" dirty="0"/>
              <a:t>reassortment increasing viral diversity and adaptability</a:t>
            </a:r>
            <a:r>
              <a:rPr lang="en-US" dirty="0"/>
              <a:t>.</a:t>
            </a:r>
          </a:p>
          <a:p>
            <a:pPr marL="285750" indent="-285750">
              <a:buFont typeface="Wingdings" panose="05000000000000000000" pitchFamily="2" charset="2"/>
              <a:buChar char="Ø"/>
            </a:pPr>
            <a:endParaRPr lang="en-US" dirty="0"/>
          </a:p>
        </p:txBody>
      </p:sp>
      <p:grpSp>
        <p:nvGrpSpPr>
          <p:cNvPr id="13" name="Group 12">
            <a:extLst>
              <a:ext uri="{FF2B5EF4-FFF2-40B4-BE49-F238E27FC236}">
                <a16:creationId xmlns:a16="http://schemas.microsoft.com/office/drawing/2014/main" id="{0DCE0D4F-7888-E513-EBC2-EA59B012BA13}"/>
              </a:ext>
            </a:extLst>
          </p:cNvPr>
          <p:cNvGrpSpPr/>
          <p:nvPr/>
        </p:nvGrpSpPr>
        <p:grpSpPr>
          <a:xfrm>
            <a:off x="7207747" y="2078170"/>
            <a:ext cx="4244514" cy="3299586"/>
            <a:chOff x="2483088" y="1980814"/>
            <a:chExt cx="6011308" cy="4361100"/>
          </a:xfrm>
        </p:grpSpPr>
        <p:pic>
          <p:nvPicPr>
            <p:cNvPr id="14" name="Graphic 13" descr="Bug with solid fill">
              <a:extLst>
                <a:ext uri="{FF2B5EF4-FFF2-40B4-BE49-F238E27FC236}">
                  <a16:creationId xmlns:a16="http://schemas.microsoft.com/office/drawing/2014/main" id="{6523BAD9-C755-7202-7438-8A8B31AAF52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945431" y="1980814"/>
              <a:ext cx="864404" cy="842317"/>
            </a:xfrm>
            <a:prstGeom prst="rect">
              <a:avLst/>
            </a:prstGeom>
          </p:spPr>
        </p:pic>
        <p:pic>
          <p:nvPicPr>
            <p:cNvPr id="15" name="Graphic 14" descr="Bug outline">
              <a:extLst>
                <a:ext uri="{FF2B5EF4-FFF2-40B4-BE49-F238E27FC236}">
                  <a16:creationId xmlns:a16="http://schemas.microsoft.com/office/drawing/2014/main" id="{996CD7D4-0307-3A6A-DF2F-0DA30934695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951621" y="5537312"/>
              <a:ext cx="825700" cy="804602"/>
            </a:xfrm>
            <a:prstGeom prst="rect">
              <a:avLst/>
            </a:prstGeom>
          </p:spPr>
        </p:pic>
        <p:grpSp>
          <p:nvGrpSpPr>
            <p:cNvPr id="16" name="Group 15">
              <a:extLst>
                <a:ext uri="{FF2B5EF4-FFF2-40B4-BE49-F238E27FC236}">
                  <a16:creationId xmlns:a16="http://schemas.microsoft.com/office/drawing/2014/main" id="{7DF6F49C-E1E7-86A9-5AE7-66C28588144A}"/>
                </a:ext>
              </a:extLst>
            </p:cNvPr>
            <p:cNvGrpSpPr/>
            <p:nvPr/>
          </p:nvGrpSpPr>
          <p:grpSpPr>
            <a:xfrm>
              <a:off x="2483088" y="2662043"/>
              <a:ext cx="1486297" cy="3222481"/>
              <a:chOff x="2161778" y="1759094"/>
              <a:chExt cx="1953022" cy="4733781"/>
            </a:xfrm>
          </p:grpSpPr>
          <p:pic>
            <p:nvPicPr>
              <p:cNvPr id="35" name="Graphic 34" descr="Man outline">
                <a:extLst>
                  <a:ext uri="{FF2B5EF4-FFF2-40B4-BE49-F238E27FC236}">
                    <a16:creationId xmlns:a16="http://schemas.microsoft.com/office/drawing/2014/main" id="{F3CD35EB-75AA-28FB-61BC-32E7F3EC44C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473897" y="1759094"/>
                <a:ext cx="1336758" cy="1302602"/>
              </a:xfrm>
              <a:prstGeom prst="rect">
                <a:avLst/>
              </a:prstGeom>
            </p:spPr>
          </p:pic>
          <p:pic>
            <p:nvPicPr>
              <p:cNvPr id="36" name="Graphic 35" descr="Man with solid fill">
                <a:extLst>
                  <a:ext uri="{FF2B5EF4-FFF2-40B4-BE49-F238E27FC236}">
                    <a16:creationId xmlns:a16="http://schemas.microsoft.com/office/drawing/2014/main" id="{B35DEDFF-20DD-0C78-BBC9-105CC8C36210}"/>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473896" y="3174959"/>
                <a:ext cx="1336758" cy="1302602"/>
              </a:xfrm>
              <a:prstGeom prst="rect">
                <a:avLst/>
              </a:prstGeom>
            </p:spPr>
          </p:pic>
          <p:grpSp>
            <p:nvGrpSpPr>
              <p:cNvPr id="37" name="Group 36">
                <a:extLst>
                  <a:ext uri="{FF2B5EF4-FFF2-40B4-BE49-F238E27FC236}">
                    <a16:creationId xmlns:a16="http://schemas.microsoft.com/office/drawing/2014/main" id="{F809F83E-E3E4-B546-4A42-307ED43AEF77}"/>
                  </a:ext>
                </a:extLst>
              </p:cNvPr>
              <p:cNvGrpSpPr/>
              <p:nvPr/>
            </p:nvGrpSpPr>
            <p:grpSpPr>
              <a:xfrm>
                <a:off x="2161778" y="4771207"/>
                <a:ext cx="1953022" cy="1721668"/>
                <a:chOff x="440409" y="3082558"/>
                <a:chExt cx="2023873" cy="1718869"/>
              </a:xfrm>
            </p:grpSpPr>
            <p:pic>
              <p:nvPicPr>
                <p:cNvPr id="38" name="Graphic 37" descr="Man with solid fill">
                  <a:extLst>
                    <a:ext uri="{FF2B5EF4-FFF2-40B4-BE49-F238E27FC236}">
                      <a16:creationId xmlns:a16="http://schemas.microsoft.com/office/drawing/2014/main" id="{D41094ED-90F4-A899-C5C8-639954DC9B6F}"/>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211763" y="3298281"/>
                  <a:ext cx="1252519" cy="1220515"/>
                </a:xfrm>
                <a:prstGeom prst="rect">
                  <a:avLst/>
                </a:prstGeom>
              </p:spPr>
            </p:pic>
            <p:pic>
              <p:nvPicPr>
                <p:cNvPr id="39" name="Graphic 38" descr="Man with solid fill">
                  <a:extLst>
                    <a:ext uri="{FF2B5EF4-FFF2-40B4-BE49-F238E27FC236}">
                      <a16:creationId xmlns:a16="http://schemas.microsoft.com/office/drawing/2014/main" id="{AE662F3B-EDE6-C20B-0265-AC18F1CAB488}"/>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40724" y="3630332"/>
                  <a:ext cx="1252519" cy="1171095"/>
                </a:xfrm>
                <a:prstGeom prst="rect">
                  <a:avLst/>
                </a:prstGeom>
              </p:spPr>
            </p:pic>
            <p:pic>
              <p:nvPicPr>
                <p:cNvPr id="40" name="Graphic 39" descr="Man with solid fill">
                  <a:extLst>
                    <a:ext uri="{FF2B5EF4-FFF2-40B4-BE49-F238E27FC236}">
                      <a16:creationId xmlns:a16="http://schemas.microsoft.com/office/drawing/2014/main" id="{4507F0B1-C030-F0C2-0AF0-3364A626DE2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40409" y="3274940"/>
                  <a:ext cx="1252519" cy="1220515"/>
                </a:xfrm>
                <a:prstGeom prst="rect">
                  <a:avLst/>
                </a:prstGeom>
              </p:spPr>
            </p:pic>
            <p:pic>
              <p:nvPicPr>
                <p:cNvPr id="41" name="Graphic 40" descr="Man with solid fill">
                  <a:extLst>
                    <a:ext uri="{FF2B5EF4-FFF2-40B4-BE49-F238E27FC236}">
                      <a16:creationId xmlns:a16="http://schemas.microsoft.com/office/drawing/2014/main" id="{2D5FFA29-2ABB-A27E-1B19-EF51DF0A168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22369" y="3082558"/>
                  <a:ext cx="1252519" cy="1171095"/>
                </a:xfrm>
                <a:prstGeom prst="rect">
                  <a:avLst/>
                </a:prstGeom>
              </p:spPr>
            </p:pic>
          </p:grpSp>
        </p:grpSp>
        <p:grpSp>
          <p:nvGrpSpPr>
            <p:cNvPr id="17" name="Group 16">
              <a:extLst>
                <a:ext uri="{FF2B5EF4-FFF2-40B4-BE49-F238E27FC236}">
                  <a16:creationId xmlns:a16="http://schemas.microsoft.com/office/drawing/2014/main" id="{DB4B15BB-FC78-39EA-DA17-2DA56C3B7010}"/>
                </a:ext>
              </a:extLst>
            </p:cNvPr>
            <p:cNvGrpSpPr/>
            <p:nvPr/>
          </p:nvGrpSpPr>
          <p:grpSpPr>
            <a:xfrm>
              <a:off x="6700511" y="2726663"/>
              <a:ext cx="1793885" cy="3046608"/>
              <a:chOff x="7236031" y="2277867"/>
              <a:chExt cx="1961060" cy="3481226"/>
            </a:xfrm>
          </p:grpSpPr>
          <p:grpSp>
            <p:nvGrpSpPr>
              <p:cNvPr id="23" name="Group 22">
                <a:extLst>
                  <a:ext uri="{FF2B5EF4-FFF2-40B4-BE49-F238E27FC236}">
                    <a16:creationId xmlns:a16="http://schemas.microsoft.com/office/drawing/2014/main" id="{E9BE1665-9269-0291-857A-B367AC647E2E}"/>
                  </a:ext>
                </a:extLst>
              </p:cNvPr>
              <p:cNvGrpSpPr/>
              <p:nvPr/>
            </p:nvGrpSpPr>
            <p:grpSpPr>
              <a:xfrm>
                <a:off x="7236031" y="4045123"/>
                <a:ext cx="1922227" cy="1713970"/>
                <a:chOff x="7129541" y="3129000"/>
                <a:chExt cx="2000213" cy="1952625"/>
              </a:xfrm>
            </p:grpSpPr>
            <p:pic>
              <p:nvPicPr>
                <p:cNvPr id="30" name="Graphic 29" descr="Goat with solid fill">
                  <a:extLst>
                    <a:ext uri="{FF2B5EF4-FFF2-40B4-BE49-F238E27FC236}">
                      <a16:creationId xmlns:a16="http://schemas.microsoft.com/office/drawing/2014/main" id="{0E5D9602-46FF-2B88-7685-950284306F47}"/>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215354" y="4167225"/>
                  <a:ext cx="914400" cy="914400"/>
                </a:xfrm>
                <a:prstGeom prst="rect">
                  <a:avLst/>
                </a:prstGeom>
              </p:spPr>
            </p:pic>
            <p:pic>
              <p:nvPicPr>
                <p:cNvPr id="31" name="Graphic 30" descr="Cat with solid fill">
                  <a:extLst>
                    <a:ext uri="{FF2B5EF4-FFF2-40B4-BE49-F238E27FC236}">
                      <a16:creationId xmlns:a16="http://schemas.microsoft.com/office/drawing/2014/main" id="{EE4A93D2-1FC9-6DC5-85F9-D0807B92373C}"/>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129541" y="3860063"/>
                  <a:ext cx="914400" cy="914400"/>
                </a:xfrm>
                <a:prstGeom prst="rect">
                  <a:avLst/>
                </a:prstGeom>
              </p:spPr>
            </p:pic>
            <p:pic>
              <p:nvPicPr>
                <p:cNvPr id="32" name="Graphic 31" descr="Dog with solid fill">
                  <a:extLst>
                    <a:ext uri="{FF2B5EF4-FFF2-40B4-BE49-F238E27FC236}">
                      <a16:creationId xmlns:a16="http://schemas.microsoft.com/office/drawing/2014/main" id="{8B6163DD-E825-C273-BA67-722A7BF25BD2}"/>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7884454" y="3667125"/>
                  <a:ext cx="914400" cy="914400"/>
                </a:xfrm>
                <a:prstGeom prst="rect">
                  <a:avLst/>
                </a:prstGeom>
              </p:spPr>
            </p:pic>
            <p:pic>
              <p:nvPicPr>
                <p:cNvPr id="33" name="Graphic 32" descr="Fox with solid fill">
                  <a:extLst>
                    <a:ext uri="{FF2B5EF4-FFF2-40B4-BE49-F238E27FC236}">
                      <a16:creationId xmlns:a16="http://schemas.microsoft.com/office/drawing/2014/main" id="{9C969792-8688-FE00-78D5-0D949E3B8F1E}"/>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7289027" y="3129000"/>
                  <a:ext cx="914400" cy="914400"/>
                </a:xfrm>
                <a:prstGeom prst="rect">
                  <a:avLst/>
                </a:prstGeom>
              </p:spPr>
            </p:pic>
            <p:pic>
              <p:nvPicPr>
                <p:cNvPr id="34" name="Graphic 33" descr="Sheep with solid fill">
                  <a:extLst>
                    <a:ext uri="{FF2B5EF4-FFF2-40B4-BE49-F238E27FC236}">
                      <a16:creationId xmlns:a16="http://schemas.microsoft.com/office/drawing/2014/main" id="{62BD85EF-F540-E380-EFAE-C083EDDC3469}"/>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8203427" y="3129000"/>
                  <a:ext cx="914400" cy="914400"/>
                </a:xfrm>
                <a:prstGeom prst="rect">
                  <a:avLst/>
                </a:prstGeom>
              </p:spPr>
            </p:pic>
          </p:grpSp>
          <p:grpSp>
            <p:nvGrpSpPr>
              <p:cNvPr id="24" name="Group 23">
                <a:extLst>
                  <a:ext uri="{FF2B5EF4-FFF2-40B4-BE49-F238E27FC236}">
                    <a16:creationId xmlns:a16="http://schemas.microsoft.com/office/drawing/2014/main" id="{FC6F0A4D-B7AB-CBED-D943-2D2F270FB50E}"/>
                  </a:ext>
                </a:extLst>
              </p:cNvPr>
              <p:cNvGrpSpPr/>
              <p:nvPr/>
            </p:nvGrpSpPr>
            <p:grpSpPr>
              <a:xfrm>
                <a:off x="7361927" y="2277867"/>
                <a:ext cx="1835164" cy="1712911"/>
                <a:chOff x="9679228" y="3765964"/>
                <a:chExt cx="1987812" cy="1959976"/>
              </a:xfrm>
            </p:grpSpPr>
            <p:pic>
              <p:nvPicPr>
                <p:cNvPr id="25" name="Graphic 24" descr="Dog outline">
                  <a:extLst>
                    <a:ext uri="{FF2B5EF4-FFF2-40B4-BE49-F238E27FC236}">
                      <a16:creationId xmlns:a16="http://schemas.microsoft.com/office/drawing/2014/main" id="{B4B90AFD-389B-F79C-8181-DBE76E8622F1}"/>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10433134" y="4342049"/>
                  <a:ext cx="914400" cy="914400"/>
                </a:xfrm>
                <a:prstGeom prst="rect">
                  <a:avLst/>
                </a:prstGeom>
              </p:spPr>
            </p:pic>
            <p:pic>
              <p:nvPicPr>
                <p:cNvPr id="26" name="Graphic 25" descr="Cat outline">
                  <a:extLst>
                    <a:ext uri="{FF2B5EF4-FFF2-40B4-BE49-F238E27FC236}">
                      <a16:creationId xmlns:a16="http://schemas.microsoft.com/office/drawing/2014/main" id="{6FA5F7A5-8CBB-81C8-8211-C1F906634BF2}"/>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9679228" y="4545472"/>
                  <a:ext cx="914400" cy="914400"/>
                </a:xfrm>
                <a:prstGeom prst="rect">
                  <a:avLst/>
                </a:prstGeom>
              </p:spPr>
            </p:pic>
            <p:pic>
              <p:nvPicPr>
                <p:cNvPr id="27" name="Graphic 26" descr="Goat outline">
                  <a:extLst>
                    <a:ext uri="{FF2B5EF4-FFF2-40B4-BE49-F238E27FC236}">
                      <a16:creationId xmlns:a16="http://schemas.microsoft.com/office/drawing/2014/main" id="{1E4873FC-1A60-89AC-C9D3-F25542FF11EF}"/>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10752640" y="4811540"/>
                  <a:ext cx="914400" cy="914400"/>
                </a:xfrm>
                <a:prstGeom prst="rect">
                  <a:avLst/>
                </a:prstGeom>
              </p:spPr>
            </p:pic>
            <p:pic>
              <p:nvPicPr>
                <p:cNvPr id="28" name="Graphic 27" descr="Fox outline">
                  <a:extLst>
                    <a:ext uri="{FF2B5EF4-FFF2-40B4-BE49-F238E27FC236}">
                      <a16:creationId xmlns:a16="http://schemas.microsoft.com/office/drawing/2014/main" id="{74BC1935-21C7-7669-F9D0-B5431C756E19}"/>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9915423" y="3824417"/>
                  <a:ext cx="824247" cy="824247"/>
                </a:xfrm>
                <a:prstGeom prst="rect">
                  <a:avLst/>
                </a:prstGeom>
              </p:spPr>
            </p:pic>
            <p:pic>
              <p:nvPicPr>
                <p:cNvPr id="29" name="Graphic 28" descr="Sheep outline">
                  <a:extLst>
                    <a:ext uri="{FF2B5EF4-FFF2-40B4-BE49-F238E27FC236}">
                      <a16:creationId xmlns:a16="http://schemas.microsoft.com/office/drawing/2014/main" id="{A0ED87E9-6312-9BE5-FD0F-9B61C6792021}"/>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10739670" y="3765964"/>
                  <a:ext cx="914400" cy="914400"/>
                </a:xfrm>
                <a:prstGeom prst="rect">
                  <a:avLst/>
                </a:prstGeom>
              </p:spPr>
            </p:pic>
          </p:grpSp>
        </p:grpSp>
        <p:sp>
          <p:nvSpPr>
            <p:cNvPr id="18" name="Arrow: Left 17">
              <a:extLst>
                <a:ext uri="{FF2B5EF4-FFF2-40B4-BE49-F238E27FC236}">
                  <a16:creationId xmlns:a16="http://schemas.microsoft.com/office/drawing/2014/main" id="{4D1C850E-E2AB-DC52-B141-FF18A8F4AF2C}"/>
                </a:ext>
              </a:extLst>
            </p:cNvPr>
            <p:cNvSpPr/>
            <p:nvPr/>
          </p:nvSpPr>
          <p:spPr>
            <a:xfrm rot="12069111">
              <a:off x="3854027" y="5765212"/>
              <a:ext cx="940467" cy="147381"/>
            </a:xfrm>
            <a:prstGeom prst="leftArrow">
              <a:avLst/>
            </a:prstGeom>
            <a:solidFill>
              <a:schemeClr val="bg2">
                <a:lumMod val="9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Arrow: Left 18">
              <a:extLst>
                <a:ext uri="{FF2B5EF4-FFF2-40B4-BE49-F238E27FC236}">
                  <a16:creationId xmlns:a16="http://schemas.microsoft.com/office/drawing/2014/main" id="{714F50F1-300B-E5BA-7E10-19C7179AE57D}"/>
                </a:ext>
              </a:extLst>
            </p:cNvPr>
            <p:cNvSpPr/>
            <p:nvPr/>
          </p:nvSpPr>
          <p:spPr>
            <a:xfrm rot="20741156">
              <a:off x="5944922" y="5789869"/>
              <a:ext cx="940467" cy="147381"/>
            </a:xfrm>
            <a:prstGeom prst="leftArrow">
              <a:avLst/>
            </a:prstGeom>
            <a:solidFill>
              <a:schemeClr val="bg2">
                <a:lumMod val="9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Arrow: Left 19">
              <a:extLst>
                <a:ext uri="{FF2B5EF4-FFF2-40B4-BE49-F238E27FC236}">
                  <a16:creationId xmlns:a16="http://schemas.microsoft.com/office/drawing/2014/main" id="{8D7ECC5C-90E4-FBE2-388B-CA534BBD6415}"/>
                </a:ext>
              </a:extLst>
            </p:cNvPr>
            <p:cNvSpPr/>
            <p:nvPr/>
          </p:nvSpPr>
          <p:spPr>
            <a:xfrm rot="5400000">
              <a:off x="4335018" y="4110200"/>
              <a:ext cx="2108435" cy="170136"/>
            </a:xfrm>
            <a:prstGeom prst="leftArrow">
              <a:avLst/>
            </a:prstGeom>
            <a:solidFill>
              <a:schemeClr val="bg2">
                <a:lumMod val="9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Arrow: Left 20">
              <a:extLst>
                <a:ext uri="{FF2B5EF4-FFF2-40B4-BE49-F238E27FC236}">
                  <a16:creationId xmlns:a16="http://schemas.microsoft.com/office/drawing/2014/main" id="{2CBA401A-72A6-EF8C-6D8D-76FD6DD4193A}"/>
                </a:ext>
              </a:extLst>
            </p:cNvPr>
            <p:cNvSpPr/>
            <p:nvPr/>
          </p:nvSpPr>
          <p:spPr>
            <a:xfrm rot="20506945">
              <a:off x="3870343" y="2532437"/>
              <a:ext cx="940467" cy="147381"/>
            </a:xfrm>
            <a:prstGeom prst="leftArrow">
              <a:avLst/>
            </a:prstGeom>
            <a:solidFill>
              <a:schemeClr val="bg2">
                <a:lumMod val="9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Arrow: Left 21">
              <a:extLst>
                <a:ext uri="{FF2B5EF4-FFF2-40B4-BE49-F238E27FC236}">
                  <a16:creationId xmlns:a16="http://schemas.microsoft.com/office/drawing/2014/main" id="{7F3181A6-B486-1E78-A1DB-236D90309659}"/>
                </a:ext>
              </a:extLst>
            </p:cNvPr>
            <p:cNvSpPr/>
            <p:nvPr/>
          </p:nvSpPr>
          <p:spPr>
            <a:xfrm rot="12180032">
              <a:off x="6090035" y="2535868"/>
              <a:ext cx="940467" cy="147381"/>
            </a:xfrm>
            <a:prstGeom prst="leftArrow">
              <a:avLst/>
            </a:prstGeom>
            <a:solidFill>
              <a:schemeClr val="bg2">
                <a:lumMod val="9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Rectangle 1">
            <a:extLst>
              <a:ext uri="{FF2B5EF4-FFF2-40B4-BE49-F238E27FC236}">
                <a16:creationId xmlns:a16="http://schemas.microsoft.com/office/drawing/2014/main" id="{DB999E4A-E324-E406-6C29-62E1FE0E70F2}"/>
              </a:ext>
            </a:extLst>
          </p:cNvPr>
          <p:cNvSpPr/>
          <p:nvPr/>
        </p:nvSpPr>
        <p:spPr>
          <a:xfrm>
            <a:off x="0" y="18300"/>
            <a:ext cx="12192000" cy="6858000"/>
          </a:xfrm>
          <a:prstGeom prst="rect">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796780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8999A0FB-FFE9-D844-DD75-979D6E481DDC}"/>
              </a:ext>
            </a:extLst>
          </p:cNvPr>
          <p:cNvGrpSpPr/>
          <p:nvPr/>
        </p:nvGrpSpPr>
        <p:grpSpPr>
          <a:xfrm>
            <a:off x="1534394" y="327649"/>
            <a:ext cx="10657606" cy="1042237"/>
            <a:chOff x="739738" y="344774"/>
            <a:chExt cx="9755972" cy="1042237"/>
          </a:xfrm>
        </p:grpSpPr>
        <p:sp>
          <p:nvSpPr>
            <p:cNvPr id="3" name="Rectangle: Rounded Corners 2">
              <a:extLst>
                <a:ext uri="{FF2B5EF4-FFF2-40B4-BE49-F238E27FC236}">
                  <a16:creationId xmlns:a16="http://schemas.microsoft.com/office/drawing/2014/main" id="{394A5613-6DB4-A843-13B6-16652E470445}"/>
                </a:ext>
              </a:extLst>
            </p:cNvPr>
            <p:cNvSpPr/>
            <p:nvPr/>
          </p:nvSpPr>
          <p:spPr>
            <a:xfrm>
              <a:off x="739739" y="344774"/>
              <a:ext cx="8311794" cy="1042237"/>
            </a:xfrm>
            <a:prstGeom prst="roundRect">
              <a:avLst/>
            </a:prstGeom>
            <a:solidFill>
              <a:schemeClr val="bg1">
                <a:lumMod val="85000"/>
              </a:schemeClr>
            </a:solidFill>
            <a:ln>
              <a:no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en-US" dirty="0"/>
            </a:p>
          </p:txBody>
        </p:sp>
        <p:sp>
          <p:nvSpPr>
            <p:cNvPr id="4" name="Title 1">
              <a:extLst>
                <a:ext uri="{FF2B5EF4-FFF2-40B4-BE49-F238E27FC236}">
                  <a16:creationId xmlns:a16="http://schemas.microsoft.com/office/drawing/2014/main" id="{42EF1C3A-A52E-67E9-AE28-5DA9522967E5}"/>
                </a:ext>
              </a:extLst>
            </p:cNvPr>
            <p:cNvSpPr txBox="1">
              <a:spLocks/>
            </p:cNvSpPr>
            <p:nvPr/>
          </p:nvSpPr>
          <p:spPr>
            <a:xfrm>
              <a:off x="739738" y="344774"/>
              <a:ext cx="9755972" cy="960043"/>
            </a:xfrm>
            <a:prstGeom prst="rect">
              <a:avLst/>
            </a:prstGeom>
            <a:noFill/>
            <a:ln w="12700" cap="flat" cmpd="sng" algn="ctr">
              <a:noFill/>
              <a:prstDash val="solid"/>
              <a:miter lim="800000"/>
            </a:ln>
          </p:spPr>
          <p:style>
            <a:lnRef idx="1">
              <a:schemeClr val="accent4"/>
            </a:lnRef>
            <a:fillRef idx="2">
              <a:schemeClr val="accent4"/>
            </a:fillRef>
            <a:effectRef idx="1">
              <a:schemeClr val="accent4"/>
            </a:effectRef>
            <a:fontRef idx="minor">
              <a:schemeClr val="dk1"/>
            </a:fontRef>
          </p:style>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l"/>
              <a:r>
                <a:rPr lang="en-US" sz="4400" dirty="0">
                  <a:solidFill>
                    <a:srgbClr val="C00000"/>
                  </a:solidFill>
                </a:rPr>
                <a:t>Clinical Features and Pathogenesis </a:t>
              </a:r>
            </a:p>
          </p:txBody>
        </p:sp>
      </p:grpSp>
      <p:sp>
        <p:nvSpPr>
          <p:cNvPr id="11" name="TextBox 10">
            <a:extLst>
              <a:ext uri="{FF2B5EF4-FFF2-40B4-BE49-F238E27FC236}">
                <a16:creationId xmlns:a16="http://schemas.microsoft.com/office/drawing/2014/main" id="{50A2A0A5-8000-9367-ACB5-B2FB5DEF7687}"/>
              </a:ext>
            </a:extLst>
          </p:cNvPr>
          <p:cNvSpPr txBox="1"/>
          <p:nvPr/>
        </p:nvSpPr>
        <p:spPr>
          <a:xfrm>
            <a:off x="629291" y="1668960"/>
            <a:ext cx="7567651" cy="369332"/>
          </a:xfrm>
          <a:prstGeom prst="rect">
            <a:avLst/>
          </a:prstGeom>
          <a:noFill/>
        </p:spPr>
        <p:txBody>
          <a:bodyPr wrap="square">
            <a:spAutoFit/>
          </a:bodyPr>
          <a:lstStyle/>
          <a:p>
            <a:r>
              <a:rPr lang="en-US" b="1" dirty="0"/>
              <a:t>Incubation Period:</a:t>
            </a:r>
            <a:r>
              <a:rPr lang="en-US" dirty="0"/>
              <a:t> </a:t>
            </a:r>
            <a:r>
              <a:rPr lang="en-US" b="1" dirty="0"/>
              <a:t>7-14 days</a:t>
            </a:r>
            <a:r>
              <a:rPr lang="en-US" dirty="0"/>
              <a:t>.</a:t>
            </a:r>
          </a:p>
        </p:txBody>
      </p:sp>
      <p:sp>
        <p:nvSpPr>
          <p:cNvPr id="12" name="TextBox 11">
            <a:extLst>
              <a:ext uri="{FF2B5EF4-FFF2-40B4-BE49-F238E27FC236}">
                <a16:creationId xmlns:a16="http://schemas.microsoft.com/office/drawing/2014/main" id="{E64A3498-83A3-1E4F-690A-13AA7EEE729F}"/>
              </a:ext>
            </a:extLst>
          </p:cNvPr>
          <p:cNvSpPr txBox="1"/>
          <p:nvPr/>
        </p:nvSpPr>
        <p:spPr>
          <a:xfrm>
            <a:off x="629292" y="2253456"/>
            <a:ext cx="10947664" cy="1477328"/>
          </a:xfrm>
          <a:prstGeom prst="rect">
            <a:avLst/>
          </a:prstGeom>
          <a:noFill/>
        </p:spPr>
        <p:txBody>
          <a:bodyPr wrap="square">
            <a:spAutoFit/>
          </a:bodyPr>
          <a:lstStyle/>
          <a:p>
            <a:pPr algn="just">
              <a:buNone/>
            </a:pPr>
            <a:r>
              <a:rPr lang="en-US" sz="2000" b="1" dirty="0"/>
              <a:t>Symptoms:</a:t>
            </a:r>
          </a:p>
          <a:p>
            <a:pPr algn="just">
              <a:buNone/>
            </a:pPr>
            <a:endParaRPr lang="en-US" sz="1600" dirty="0"/>
          </a:p>
          <a:p>
            <a:pPr marL="742950" lvl="1" indent="-285750" algn="just">
              <a:buFont typeface="Arial" panose="020B0604020202020204" pitchFamily="34" charset="0"/>
              <a:buChar char="•"/>
            </a:pPr>
            <a:r>
              <a:rPr lang="en-US" b="1" dirty="0"/>
              <a:t>Early Stage:</a:t>
            </a:r>
            <a:r>
              <a:rPr lang="en-US" dirty="0"/>
              <a:t> High fever, nausea, thrombocytopenia (low platelets), leukopenia (low WBCs).</a:t>
            </a:r>
          </a:p>
          <a:p>
            <a:pPr marL="742950" lvl="1" indent="-285750" algn="just">
              <a:buFont typeface="Arial" panose="020B0604020202020204" pitchFamily="34" charset="0"/>
              <a:buChar char="•"/>
            </a:pPr>
            <a:endParaRPr lang="en-US" b="1" dirty="0"/>
          </a:p>
          <a:p>
            <a:pPr marL="742950" lvl="1" indent="-285750" algn="just">
              <a:buFont typeface="Arial" panose="020B0604020202020204" pitchFamily="34" charset="0"/>
              <a:buChar char="•"/>
            </a:pPr>
            <a:r>
              <a:rPr lang="en-US" b="1" dirty="0"/>
              <a:t>Severe Cases:</a:t>
            </a:r>
            <a:r>
              <a:rPr lang="en-US" dirty="0"/>
              <a:t> Hemorrhagic fever, neurological complications, multi-organ failure.</a:t>
            </a:r>
          </a:p>
        </p:txBody>
      </p:sp>
      <p:sp>
        <p:nvSpPr>
          <p:cNvPr id="13" name="TextBox 12">
            <a:extLst>
              <a:ext uri="{FF2B5EF4-FFF2-40B4-BE49-F238E27FC236}">
                <a16:creationId xmlns:a16="http://schemas.microsoft.com/office/drawing/2014/main" id="{0F94F5D1-9FFB-625B-75D0-E60CC1ADA7A6}"/>
              </a:ext>
            </a:extLst>
          </p:cNvPr>
          <p:cNvSpPr txBox="1"/>
          <p:nvPr/>
        </p:nvSpPr>
        <p:spPr>
          <a:xfrm>
            <a:off x="690749" y="4133002"/>
            <a:ext cx="10886207" cy="2339102"/>
          </a:xfrm>
          <a:prstGeom prst="rect">
            <a:avLst/>
          </a:prstGeom>
          <a:noFill/>
        </p:spPr>
        <p:txBody>
          <a:bodyPr wrap="square">
            <a:spAutoFit/>
          </a:bodyPr>
          <a:lstStyle/>
          <a:p>
            <a:pPr algn="just">
              <a:buNone/>
            </a:pPr>
            <a:r>
              <a:rPr lang="en-US" sz="2000" b="1" dirty="0"/>
              <a:t>Why is it so deadly?</a:t>
            </a:r>
          </a:p>
          <a:p>
            <a:pPr algn="just">
              <a:buNone/>
            </a:pPr>
            <a:endParaRPr lang="en-US" sz="1600" dirty="0"/>
          </a:p>
          <a:p>
            <a:pPr marL="742950" lvl="1" indent="-285750" algn="just">
              <a:buFont typeface="Arial" panose="020B0604020202020204" pitchFamily="34" charset="0"/>
              <a:buChar char="•"/>
            </a:pPr>
            <a:r>
              <a:rPr lang="en-US" b="1" dirty="0"/>
              <a:t>Cytokine Storm:</a:t>
            </a:r>
            <a:r>
              <a:rPr lang="en-US" dirty="0"/>
              <a:t> Overactivation of immune response causes </a:t>
            </a:r>
            <a:r>
              <a:rPr lang="en-US" b="1" dirty="0"/>
              <a:t>tissue damage</a:t>
            </a:r>
            <a:r>
              <a:rPr lang="en-US" dirty="0"/>
              <a:t>.</a:t>
            </a:r>
          </a:p>
          <a:p>
            <a:pPr marL="742950" lvl="1" indent="-285750" algn="just">
              <a:buFont typeface="Arial" panose="020B0604020202020204" pitchFamily="34" charset="0"/>
              <a:buChar char="•"/>
            </a:pPr>
            <a:endParaRPr lang="en-US" dirty="0"/>
          </a:p>
          <a:p>
            <a:pPr marL="742950" lvl="1" indent="-285750" algn="just">
              <a:buFont typeface="Arial" panose="020B0604020202020204" pitchFamily="34" charset="0"/>
              <a:buChar char="•"/>
            </a:pPr>
            <a:r>
              <a:rPr lang="en-US" b="1" dirty="0"/>
              <a:t>Endothelial Damage:</a:t>
            </a:r>
            <a:r>
              <a:rPr lang="en-US" dirty="0"/>
              <a:t> Leads to </a:t>
            </a:r>
            <a:r>
              <a:rPr lang="en-US" b="1" dirty="0"/>
              <a:t>bleeding disorders and organ failure</a:t>
            </a:r>
            <a:r>
              <a:rPr lang="en-US" dirty="0"/>
              <a:t>.</a:t>
            </a:r>
          </a:p>
          <a:p>
            <a:pPr marL="742950" lvl="1" indent="-285750" algn="just">
              <a:buFont typeface="Arial" panose="020B0604020202020204" pitchFamily="34" charset="0"/>
              <a:buChar char="•"/>
            </a:pPr>
            <a:endParaRPr lang="en-US" b="1" dirty="0"/>
          </a:p>
          <a:p>
            <a:pPr marL="742950" lvl="1" indent="-285750" algn="just">
              <a:buFont typeface="Arial" panose="020B0604020202020204" pitchFamily="34" charset="0"/>
              <a:buChar char="•"/>
            </a:pPr>
            <a:r>
              <a:rPr lang="en-US" b="1" dirty="0"/>
              <a:t>Weak Antibody Response:</a:t>
            </a:r>
            <a:r>
              <a:rPr lang="en-US" dirty="0"/>
              <a:t> Fatally infected patients fail to mount </a:t>
            </a:r>
            <a:r>
              <a:rPr lang="en-US" b="1" dirty="0"/>
              <a:t>IgM and IgG responses</a:t>
            </a:r>
            <a:r>
              <a:rPr lang="en-US" sz="2000" dirty="0"/>
              <a:t>.</a:t>
            </a:r>
          </a:p>
          <a:p>
            <a:endParaRPr lang="en-US" dirty="0"/>
          </a:p>
        </p:txBody>
      </p:sp>
      <p:sp>
        <p:nvSpPr>
          <p:cNvPr id="14" name="Rectangle 13">
            <a:extLst>
              <a:ext uri="{FF2B5EF4-FFF2-40B4-BE49-F238E27FC236}">
                <a16:creationId xmlns:a16="http://schemas.microsoft.com/office/drawing/2014/main" id="{3A9B7BE8-E2B9-1F3E-34D1-4DE756A3A7AF}"/>
              </a:ext>
            </a:extLst>
          </p:cNvPr>
          <p:cNvSpPr/>
          <p:nvPr/>
        </p:nvSpPr>
        <p:spPr>
          <a:xfrm>
            <a:off x="0" y="28574"/>
            <a:ext cx="12192000" cy="6858000"/>
          </a:xfrm>
          <a:prstGeom prst="rect">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800" dirty="0">
              <a:latin typeface="Arial" panose="020B0604020202020204" pitchFamily="34" charset="0"/>
              <a:cs typeface="Arial" panose="020B0604020202020204" pitchFamily="34" charset="0"/>
            </a:endParaRPr>
          </a:p>
        </p:txBody>
      </p:sp>
      <p:sp>
        <p:nvSpPr>
          <p:cNvPr id="5" name="Rectangle 4">
            <a:extLst>
              <a:ext uri="{FF2B5EF4-FFF2-40B4-BE49-F238E27FC236}">
                <a16:creationId xmlns:a16="http://schemas.microsoft.com/office/drawing/2014/main" id="{796C5B5A-090B-F357-86DA-1B717706E008}"/>
              </a:ext>
            </a:extLst>
          </p:cNvPr>
          <p:cNvSpPr/>
          <p:nvPr/>
        </p:nvSpPr>
        <p:spPr>
          <a:xfrm>
            <a:off x="0" y="18300"/>
            <a:ext cx="12192000" cy="6858000"/>
          </a:xfrm>
          <a:prstGeom prst="rect">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358407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AB626E72-8FA6-056A-4A07-715CD3FFE547}"/>
              </a:ext>
            </a:extLst>
          </p:cNvPr>
          <p:cNvGrpSpPr/>
          <p:nvPr/>
        </p:nvGrpSpPr>
        <p:grpSpPr>
          <a:xfrm>
            <a:off x="2921984" y="242865"/>
            <a:ext cx="7869841" cy="1042237"/>
            <a:chOff x="739738" y="344774"/>
            <a:chExt cx="9755972" cy="1042237"/>
          </a:xfrm>
        </p:grpSpPr>
        <p:sp>
          <p:nvSpPr>
            <p:cNvPr id="3" name="Rectangle: Rounded Corners 2">
              <a:extLst>
                <a:ext uri="{FF2B5EF4-FFF2-40B4-BE49-F238E27FC236}">
                  <a16:creationId xmlns:a16="http://schemas.microsoft.com/office/drawing/2014/main" id="{6D9798E1-9560-0C5E-A172-B6C7D0028ECB}"/>
                </a:ext>
              </a:extLst>
            </p:cNvPr>
            <p:cNvSpPr/>
            <p:nvPr/>
          </p:nvSpPr>
          <p:spPr>
            <a:xfrm>
              <a:off x="739739" y="344774"/>
              <a:ext cx="8311794" cy="1042237"/>
            </a:xfrm>
            <a:prstGeom prst="roundRect">
              <a:avLst/>
            </a:prstGeom>
            <a:solidFill>
              <a:schemeClr val="bg1">
                <a:lumMod val="85000"/>
              </a:schemeClr>
            </a:solidFill>
            <a:ln>
              <a:no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en-US" dirty="0"/>
            </a:p>
          </p:txBody>
        </p:sp>
        <p:sp>
          <p:nvSpPr>
            <p:cNvPr id="4" name="Title 1">
              <a:extLst>
                <a:ext uri="{FF2B5EF4-FFF2-40B4-BE49-F238E27FC236}">
                  <a16:creationId xmlns:a16="http://schemas.microsoft.com/office/drawing/2014/main" id="{6013D5E5-7488-5755-33E3-FAFE86D30024}"/>
                </a:ext>
              </a:extLst>
            </p:cNvPr>
            <p:cNvSpPr txBox="1">
              <a:spLocks/>
            </p:cNvSpPr>
            <p:nvPr/>
          </p:nvSpPr>
          <p:spPr>
            <a:xfrm>
              <a:off x="739738" y="344774"/>
              <a:ext cx="9755972" cy="960043"/>
            </a:xfrm>
            <a:prstGeom prst="rect">
              <a:avLst/>
            </a:prstGeom>
            <a:noFill/>
            <a:ln w="12700" cap="flat" cmpd="sng" algn="ctr">
              <a:noFill/>
              <a:prstDash val="solid"/>
              <a:miter lim="800000"/>
            </a:ln>
          </p:spPr>
          <p:style>
            <a:lnRef idx="1">
              <a:schemeClr val="accent4"/>
            </a:lnRef>
            <a:fillRef idx="2">
              <a:schemeClr val="accent4"/>
            </a:fillRef>
            <a:effectRef idx="1">
              <a:schemeClr val="accent4"/>
            </a:effectRef>
            <a:fontRef idx="minor">
              <a:schemeClr val="dk1"/>
            </a:fontRef>
          </p:style>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l"/>
              <a:r>
                <a:rPr lang="en-US" sz="4400" dirty="0">
                  <a:solidFill>
                    <a:srgbClr val="C00000"/>
                  </a:solidFill>
                </a:rPr>
                <a:t>Virus Genome Structure </a:t>
              </a:r>
            </a:p>
          </p:txBody>
        </p:sp>
      </p:grpSp>
      <p:sp>
        <p:nvSpPr>
          <p:cNvPr id="5" name="TextBox 4">
            <a:extLst>
              <a:ext uri="{FF2B5EF4-FFF2-40B4-BE49-F238E27FC236}">
                <a16:creationId xmlns:a16="http://schemas.microsoft.com/office/drawing/2014/main" id="{5E2EE8AF-6564-E620-95A6-DD99C73D43AF}"/>
              </a:ext>
            </a:extLst>
          </p:cNvPr>
          <p:cNvSpPr txBox="1"/>
          <p:nvPr/>
        </p:nvSpPr>
        <p:spPr>
          <a:xfrm>
            <a:off x="485453" y="1576492"/>
            <a:ext cx="10376760" cy="646331"/>
          </a:xfrm>
          <a:prstGeom prst="rect">
            <a:avLst/>
          </a:prstGeom>
          <a:noFill/>
        </p:spPr>
        <p:txBody>
          <a:bodyPr wrap="square">
            <a:spAutoFit/>
          </a:bodyPr>
          <a:lstStyle/>
          <a:p>
            <a:pPr algn="just"/>
            <a:r>
              <a:rPr lang="en-US" dirty="0"/>
              <a:t>SFTSV is a </a:t>
            </a:r>
            <a:r>
              <a:rPr lang="en-US" b="1" dirty="0"/>
              <a:t>segmented negative-sense single-stranded RNA (</a:t>
            </a:r>
            <a:r>
              <a:rPr lang="en-US" b="1" dirty="0" err="1"/>
              <a:t>ssRNA</a:t>
            </a:r>
            <a:r>
              <a:rPr lang="en-US" b="1" dirty="0"/>
              <a:t>) virus</a:t>
            </a:r>
            <a:r>
              <a:rPr lang="en-US" dirty="0"/>
              <a:t>, composed of three genome segments:</a:t>
            </a:r>
          </a:p>
        </p:txBody>
      </p:sp>
      <p:sp>
        <p:nvSpPr>
          <p:cNvPr id="36" name="Rectangle 35">
            <a:extLst>
              <a:ext uri="{FF2B5EF4-FFF2-40B4-BE49-F238E27FC236}">
                <a16:creationId xmlns:a16="http://schemas.microsoft.com/office/drawing/2014/main" id="{F0FACC94-B9D5-6125-95A6-11FA10B11940}"/>
              </a:ext>
            </a:extLst>
          </p:cNvPr>
          <p:cNvSpPr/>
          <p:nvPr/>
        </p:nvSpPr>
        <p:spPr>
          <a:xfrm>
            <a:off x="0" y="28574"/>
            <a:ext cx="12192000" cy="6858000"/>
          </a:xfrm>
          <a:prstGeom prst="rect">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800" dirty="0">
              <a:latin typeface="Arial" panose="020B0604020202020204" pitchFamily="34" charset="0"/>
              <a:cs typeface="Arial" panose="020B0604020202020204" pitchFamily="34" charset="0"/>
            </a:endParaRPr>
          </a:p>
        </p:txBody>
      </p:sp>
      <p:sp>
        <p:nvSpPr>
          <p:cNvPr id="7" name="Rectangle 6">
            <a:extLst>
              <a:ext uri="{FF2B5EF4-FFF2-40B4-BE49-F238E27FC236}">
                <a16:creationId xmlns:a16="http://schemas.microsoft.com/office/drawing/2014/main" id="{68378E3B-37B9-B299-B2E3-7014292F27D8}"/>
              </a:ext>
            </a:extLst>
          </p:cNvPr>
          <p:cNvSpPr/>
          <p:nvPr/>
        </p:nvSpPr>
        <p:spPr>
          <a:xfrm>
            <a:off x="0" y="18300"/>
            <a:ext cx="12192000" cy="6858000"/>
          </a:xfrm>
          <a:prstGeom prst="rect">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800" dirty="0">
              <a:latin typeface="Arial" panose="020B0604020202020204" pitchFamily="34" charset="0"/>
              <a:cs typeface="Arial" panose="020B0604020202020204" pitchFamily="34" charset="0"/>
            </a:endParaRPr>
          </a:p>
        </p:txBody>
      </p:sp>
      <p:pic>
        <p:nvPicPr>
          <p:cNvPr id="8" name="Picture 7">
            <a:extLst>
              <a:ext uri="{FF2B5EF4-FFF2-40B4-BE49-F238E27FC236}">
                <a16:creationId xmlns:a16="http://schemas.microsoft.com/office/drawing/2014/main" id="{34B2BB32-8655-4530-A663-0B1CBFC8C2A2}"/>
              </a:ext>
            </a:extLst>
          </p:cNvPr>
          <p:cNvPicPr>
            <a:picLocks noChangeAspect="1"/>
          </p:cNvPicPr>
          <p:nvPr/>
        </p:nvPicPr>
        <p:blipFill>
          <a:blip r:embed="rId2" cstate="print">
            <a:extLst>
              <a:ext uri="{28A0092B-C50C-407E-A947-70E740481C1C}">
                <a14:useLocalDpi xmlns:a14="http://schemas.microsoft.com/office/drawing/2010/main" val="0"/>
              </a:ext>
            </a:extLst>
          </a:blip>
          <a:srcRect t="4975" r="42215"/>
          <a:stretch>
            <a:fillRect/>
          </a:stretch>
        </p:blipFill>
        <p:spPr bwMode="auto">
          <a:xfrm>
            <a:off x="1637978" y="2575857"/>
            <a:ext cx="4172272" cy="3773210"/>
          </a:xfrm>
          <a:prstGeom prst="rect">
            <a:avLst/>
          </a:prstGeom>
          <a:noFill/>
        </p:spPr>
      </p:pic>
      <p:pic>
        <p:nvPicPr>
          <p:cNvPr id="24" name="Picture 23">
            <a:extLst>
              <a:ext uri="{FF2B5EF4-FFF2-40B4-BE49-F238E27FC236}">
                <a16:creationId xmlns:a16="http://schemas.microsoft.com/office/drawing/2014/main" id="{21EBB119-B3D1-3C12-AFB1-A3BC394CE2C7}"/>
              </a:ext>
            </a:extLst>
          </p:cNvPr>
          <p:cNvPicPr>
            <a:picLocks noChangeAspect="1"/>
          </p:cNvPicPr>
          <p:nvPr/>
        </p:nvPicPr>
        <p:blipFill>
          <a:blip r:embed="rId2" cstate="print">
            <a:extLst>
              <a:ext uri="{28A0092B-C50C-407E-A947-70E740481C1C}">
                <a14:useLocalDpi xmlns:a14="http://schemas.microsoft.com/office/drawing/2010/main" val="0"/>
              </a:ext>
            </a:extLst>
          </a:blip>
          <a:srcRect l="59155" t="21360" b="13923"/>
          <a:stretch>
            <a:fillRect/>
          </a:stretch>
        </p:blipFill>
        <p:spPr bwMode="auto">
          <a:xfrm>
            <a:off x="6867524" y="2752725"/>
            <a:ext cx="3924301" cy="3419475"/>
          </a:xfrm>
          <a:prstGeom prst="rect">
            <a:avLst/>
          </a:prstGeom>
          <a:noFill/>
        </p:spPr>
      </p:pic>
    </p:spTree>
    <p:extLst>
      <p:ext uri="{BB962C8B-B14F-4D97-AF65-F5344CB8AC3E}">
        <p14:creationId xmlns:p14="http://schemas.microsoft.com/office/powerpoint/2010/main" val="17910499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AC6F55D-F49C-E15B-F426-76B583BE3561}"/>
              </a:ext>
            </a:extLst>
          </p:cNvPr>
          <p:cNvSpPr/>
          <p:nvPr/>
        </p:nvSpPr>
        <p:spPr>
          <a:xfrm>
            <a:off x="0" y="28574"/>
            <a:ext cx="12192000" cy="6858000"/>
          </a:xfrm>
          <a:prstGeom prst="rect">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800" dirty="0">
              <a:latin typeface="Arial" panose="020B0604020202020204" pitchFamily="34" charset="0"/>
              <a:cs typeface="Arial" panose="020B0604020202020204" pitchFamily="34" charset="0"/>
            </a:endParaRPr>
          </a:p>
        </p:txBody>
      </p:sp>
      <p:grpSp>
        <p:nvGrpSpPr>
          <p:cNvPr id="3" name="Group 2">
            <a:extLst>
              <a:ext uri="{FF2B5EF4-FFF2-40B4-BE49-F238E27FC236}">
                <a16:creationId xmlns:a16="http://schemas.microsoft.com/office/drawing/2014/main" id="{28948282-89D1-9384-828E-F8837F4E2A5A}"/>
              </a:ext>
            </a:extLst>
          </p:cNvPr>
          <p:cNvGrpSpPr/>
          <p:nvPr/>
        </p:nvGrpSpPr>
        <p:grpSpPr>
          <a:xfrm>
            <a:off x="1325365" y="328853"/>
            <a:ext cx="9534420" cy="826801"/>
            <a:chOff x="739738" y="344774"/>
            <a:chExt cx="8311795" cy="1042237"/>
          </a:xfrm>
        </p:grpSpPr>
        <p:sp>
          <p:nvSpPr>
            <p:cNvPr id="4" name="Rectangle: Rounded Corners 3">
              <a:extLst>
                <a:ext uri="{FF2B5EF4-FFF2-40B4-BE49-F238E27FC236}">
                  <a16:creationId xmlns:a16="http://schemas.microsoft.com/office/drawing/2014/main" id="{24A33889-DC2B-C82A-D0FF-90FD91B2F5DB}"/>
                </a:ext>
              </a:extLst>
            </p:cNvPr>
            <p:cNvSpPr/>
            <p:nvPr/>
          </p:nvSpPr>
          <p:spPr>
            <a:xfrm>
              <a:off x="739739" y="344774"/>
              <a:ext cx="8311794" cy="1042237"/>
            </a:xfrm>
            <a:prstGeom prst="roundRect">
              <a:avLst/>
            </a:prstGeom>
            <a:solidFill>
              <a:schemeClr val="bg1">
                <a:lumMod val="85000"/>
              </a:schemeClr>
            </a:solidFill>
            <a:ln>
              <a:no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en-US" dirty="0"/>
            </a:p>
          </p:txBody>
        </p:sp>
        <p:sp>
          <p:nvSpPr>
            <p:cNvPr id="5" name="Title 1">
              <a:extLst>
                <a:ext uri="{FF2B5EF4-FFF2-40B4-BE49-F238E27FC236}">
                  <a16:creationId xmlns:a16="http://schemas.microsoft.com/office/drawing/2014/main" id="{1F82FD0A-D667-2D27-AA52-5365A577B0FE}"/>
                </a:ext>
              </a:extLst>
            </p:cNvPr>
            <p:cNvSpPr txBox="1">
              <a:spLocks/>
            </p:cNvSpPr>
            <p:nvPr/>
          </p:nvSpPr>
          <p:spPr>
            <a:xfrm>
              <a:off x="739738" y="344774"/>
              <a:ext cx="8208273" cy="960043"/>
            </a:xfrm>
            <a:prstGeom prst="rect">
              <a:avLst/>
            </a:prstGeom>
            <a:noFill/>
            <a:ln w="12700" cap="flat" cmpd="sng" algn="ctr">
              <a:noFill/>
              <a:prstDash val="solid"/>
              <a:miter lim="800000"/>
            </a:ln>
          </p:spPr>
          <p:style>
            <a:lnRef idx="1">
              <a:schemeClr val="accent4"/>
            </a:lnRef>
            <a:fillRef idx="2">
              <a:schemeClr val="accent4"/>
            </a:fillRef>
            <a:effectRef idx="1">
              <a:schemeClr val="accent4"/>
            </a:effectRef>
            <a:fontRef idx="minor">
              <a:schemeClr val="dk1"/>
            </a:fontRef>
          </p:style>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l"/>
              <a:r>
                <a:rPr lang="en-US" sz="4400" dirty="0">
                  <a:solidFill>
                    <a:srgbClr val="C00000"/>
                  </a:solidFill>
                </a:rPr>
                <a:t>Current Vaccine Development Efforts </a:t>
              </a:r>
            </a:p>
          </p:txBody>
        </p:sp>
      </p:grpSp>
      <p:sp>
        <p:nvSpPr>
          <p:cNvPr id="6" name="TextBox 5">
            <a:extLst>
              <a:ext uri="{FF2B5EF4-FFF2-40B4-BE49-F238E27FC236}">
                <a16:creationId xmlns:a16="http://schemas.microsoft.com/office/drawing/2014/main" id="{95B63AA7-0AB6-1519-211E-4D2BE1567D34}"/>
              </a:ext>
            </a:extLst>
          </p:cNvPr>
          <p:cNvSpPr txBox="1"/>
          <p:nvPr/>
        </p:nvSpPr>
        <p:spPr>
          <a:xfrm>
            <a:off x="629292" y="1718134"/>
            <a:ext cx="10947664" cy="1200329"/>
          </a:xfrm>
          <a:prstGeom prst="rect">
            <a:avLst/>
          </a:prstGeom>
          <a:noFill/>
        </p:spPr>
        <p:txBody>
          <a:bodyPr wrap="square">
            <a:spAutoFit/>
          </a:bodyPr>
          <a:lstStyle/>
          <a:p>
            <a:pPr>
              <a:buNone/>
            </a:pPr>
            <a:r>
              <a:rPr lang="en-US" b="1" dirty="0"/>
              <a:t>Why do we need a vaccine?</a:t>
            </a:r>
          </a:p>
          <a:p>
            <a:pPr algn="just">
              <a:buNone/>
            </a:pPr>
            <a:endParaRPr lang="en-US" dirty="0"/>
          </a:p>
          <a:p>
            <a:pPr marL="742950" lvl="1" indent="-285750" algn="just">
              <a:buFont typeface="Arial" panose="020B0604020202020204" pitchFamily="34" charset="0"/>
              <a:buChar char="•"/>
            </a:pPr>
            <a:r>
              <a:rPr lang="en-US" b="1" dirty="0"/>
              <a:t>No FDA-approved vaccines or specific antiviral drugs available against SFTS.</a:t>
            </a:r>
            <a:endParaRPr lang="en-US" dirty="0"/>
          </a:p>
          <a:p>
            <a:pPr marL="742950" lvl="1" indent="-285750" algn="just">
              <a:buFont typeface="Arial" panose="020B0604020202020204" pitchFamily="34" charset="0"/>
              <a:buChar char="•"/>
            </a:pPr>
            <a:r>
              <a:rPr lang="en-US" dirty="0"/>
              <a:t>Supportive care and plasma exchange are the </a:t>
            </a:r>
            <a:r>
              <a:rPr lang="en-US" b="1" dirty="0"/>
              <a:t>only current treatment options</a:t>
            </a:r>
            <a:r>
              <a:rPr lang="en-US" dirty="0"/>
              <a:t>.</a:t>
            </a:r>
          </a:p>
        </p:txBody>
      </p:sp>
      <p:sp>
        <p:nvSpPr>
          <p:cNvPr id="7" name="TextBox 6">
            <a:extLst>
              <a:ext uri="{FF2B5EF4-FFF2-40B4-BE49-F238E27FC236}">
                <a16:creationId xmlns:a16="http://schemas.microsoft.com/office/drawing/2014/main" id="{F3EDE45E-2742-8202-E89B-541B67AC1498}"/>
              </a:ext>
            </a:extLst>
          </p:cNvPr>
          <p:cNvSpPr txBox="1"/>
          <p:nvPr/>
        </p:nvSpPr>
        <p:spPr>
          <a:xfrm>
            <a:off x="622168" y="3153923"/>
            <a:ext cx="10947664" cy="3416320"/>
          </a:xfrm>
          <a:prstGeom prst="rect">
            <a:avLst/>
          </a:prstGeom>
          <a:noFill/>
        </p:spPr>
        <p:txBody>
          <a:bodyPr wrap="square">
            <a:spAutoFit/>
          </a:bodyPr>
          <a:lstStyle/>
          <a:p>
            <a:r>
              <a:rPr lang="en-US" b="1" dirty="0"/>
              <a:t>Types of Vaccines Under Development against SFTSV:</a:t>
            </a:r>
          </a:p>
          <a:p>
            <a:endParaRPr lang="en-US" dirty="0"/>
          </a:p>
          <a:p>
            <a:pPr marL="800100" lvl="1" indent="-342900">
              <a:lnSpc>
                <a:spcPct val="150000"/>
              </a:lnSpc>
              <a:buFont typeface="+mj-lt"/>
              <a:buAutoNum type="arabicPeriod"/>
            </a:pPr>
            <a:r>
              <a:rPr lang="en-US" b="1" dirty="0"/>
              <a:t>Live-attenuated vaccines</a:t>
            </a:r>
            <a:r>
              <a:rPr lang="en-US" dirty="0"/>
              <a:t> – uses weakened virus, shown high immunogenicity but risk of reversion to virulence.</a:t>
            </a:r>
          </a:p>
          <a:p>
            <a:pPr marL="800100" lvl="1" indent="-342900">
              <a:lnSpc>
                <a:spcPct val="150000"/>
              </a:lnSpc>
              <a:buFont typeface="+mj-lt"/>
              <a:buAutoNum type="arabicPeriod"/>
            </a:pPr>
            <a:r>
              <a:rPr lang="en-US" b="1" dirty="0"/>
              <a:t>mRNA vaccines</a:t>
            </a:r>
            <a:r>
              <a:rPr lang="en-US" dirty="0"/>
              <a:t> – </a:t>
            </a:r>
            <a:r>
              <a:rPr lang="en-US" b="1" dirty="0" err="1"/>
              <a:t>Gn</a:t>
            </a:r>
            <a:r>
              <a:rPr lang="en-US" b="1" dirty="0"/>
              <a:t>, Gc, N and NS</a:t>
            </a:r>
            <a:r>
              <a:rPr lang="en-US" dirty="0"/>
              <a:t>, coding genes based, showing </a:t>
            </a:r>
            <a:r>
              <a:rPr lang="en-US" b="1" dirty="0"/>
              <a:t>promising results</a:t>
            </a:r>
            <a:r>
              <a:rPr lang="en-US" dirty="0"/>
              <a:t>.</a:t>
            </a:r>
          </a:p>
          <a:p>
            <a:pPr marL="800100" lvl="1" indent="-342900">
              <a:lnSpc>
                <a:spcPct val="150000"/>
              </a:lnSpc>
              <a:buFont typeface="+mj-lt"/>
              <a:buAutoNum type="arabicPeriod"/>
            </a:pPr>
            <a:r>
              <a:rPr lang="en-US" b="1" dirty="0"/>
              <a:t>Protein subunit vaccines</a:t>
            </a:r>
            <a:r>
              <a:rPr lang="en-US" dirty="0"/>
              <a:t> – Using </a:t>
            </a:r>
            <a:r>
              <a:rPr lang="en-US" b="1" dirty="0" err="1"/>
              <a:t>Gn</a:t>
            </a:r>
            <a:r>
              <a:rPr lang="en-US" b="1" dirty="0"/>
              <a:t>/Gc glycoproteins</a:t>
            </a:r>
            <a:r>
              <a:rPr lang="en-US" dirty="0"/>
              <a:t>, safe for elderly but low immunogenicity.</a:t>
            </a:r>
          </a:p>
          <a:p>
            <a:pPr marL="800100" lvl="1" indent="-342900">
              <a:lnSpc>
                <a:spcPct val="150000"/>
              </a:lnSpc>
              <a:buFont typeface="+mj-lt"/>
              <a:buAutoNum type="arabicPeriod"/>
            </a:pPr>
            <a:r>
              <a:rPr lang="en-US" b="1" dirty="0"/>
              <a:t>Whole inactivated virus vaccines</a:t>
            </a:r>
            <a:r>
              <a:rPr lang="en-US" dirty="0"/>
              <a:t> – killed virus specimen, Safe but require multiple doses.</a:t>
            </a:r>
          </a:p>
          <a:p>
            <a:pPr>
              <a:buNone/>
            </a:pPr>
            <a:endParaRPr lang="en-US" dirty="0"/>
          </a:p>
        </p:txBody>
      </p:sp>
      <p:sp>
        <p:nvSpPr>
          <p:cNvPr id="8" name="Rectangle 7">
            <a:extLst>
              <a:ext uri="{FF2B5EF4-FFF2-40B4-BE49-F238E27FC236}">
                <a16:creationId xmlns:a16="http://schemas.microsoft.com/office/drawing/2014/main" id="{7DCBFCE5-5E0B-4442-324C-F6B43CAAACCF}"/>
              </a:ext>
            </a:extLst>
          </p:cNvPr>
          <p:cNvSpPr/>
          <p:nvPr/>
        </p:nvSpPr>
        <p:spPr>
          <a:xfrm>
            <a:off x="0" y="18300"/>
            <a:ext cx="12192000" cy="6858000"/>
          </a:xfrm>
          <a:prstGeom prst="rect">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604994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4EDA0F5F-691C-DC59-944B-70BEB0DDDDC8}"/>
              </a:ext>
            </a:extLst>
          </p:cNvPr>
          <p:cNvGraphicFramePr>
            <a:graphicFrameLocks noGrp="1"/>
          </p:cNvGraphicFramePr>
          <p:nvPr>
            <p:extLst>
              <p:ext uri="{D42A27DB-BD31-4B8C-83A1-F6EECF244321}">
                <p14:modId xmlns:p14="http://schemas.microsoft.com/office/powerpoint/2010/main" val="2822782625"/>
              </p:ext>
            </p:extLst>
          </p:nvPr>
        </p:nvGraphicFramePr>
        <p:xfrm>
          <a:off x="318498" y="1238358"/>
          <a:ext cx="11589249" cy="5509910"/>
        </p:xfrm>
        <a:graphic>
          <a:graphicData uri="http://schemas.openxmlformats.org/drawingml/2006/table">
            <a:tbl>
              <a:tblPr firstRow="1" bandRow="1">
                <a:tableStyleId>{72833802-FEF1-4C79-8D5D-14CF1EAF98D9}</a:tableStyleId>
              </a:tblPr>
              <a:tblGrid>
                <a:gridCol w="852756">
                  <a:extLst>
                    <a:ext uri="{9D8B030D-6E8A-4147-A177-3AD203B41FA5}">
                      <a16:colId xmlns:a16="http://schemas.microsoft.com/office/drawing/2014/main" val="2087914175"/>
                    </a:ext>
                  </a:extLst>
                </a:gridCol>
                <a:gridCol w="1390710">
                  <a:extLst>
                    <a:ext uri="{9D8B030D-6E8A-4147-A177-3AD203B41FA5}">
                      <a16:colId xmlns:a16="http://schemas.microsoft.com/office/drawing/2014/main" val="957209811"/>
                    </a:ext>
                  </a:extLst>
                </a:gridCol>
                <a:gridCol w="5820704">
                  <a:extLst>
                    <a:ext uri="{9D8B030D-6E8A-4147-A177-3AD203B41FA5}">
                      <a16:colId xmlns:a16="http://schemas.microsoft.com/office/drawing/2014/main" val="1414865558"/>
                    </a:ext>
                  </a:extLst>
                </a:gridCol>
                <a:gridCol w="3525079">
                  <a:extLst>
                    <a:ext uri="{9D8B030D-6E8A-4147-A177-3AD203B41FA5}">
                      <a16:colId xmlns:a16="http://schemas.microsoft.com/office/drawing/2014/main" val="2161227989"/>
                    </a:ext>
                  </a:extLst>
                </a:gridCol>
              </a:tblGrid>
              <a:tr h="352804">
                <a:tc>
                  <a:txBody>
                    <a:bodyPr/>
                    <a:lstStyle/>
                    <a:p>
                      <a:pPr algn="ctr"/>
                      <a:r>
                        <a:rPr lang="en-IN" sz="2000" b="1" dirty="0" err="1"/>
                        <a:t>S.No</a:t>
                      </a:r>
                      <a:r>
                        <a:rPr lang="en-IN" sz="2000" b="1" dirty="0"/>
                        <a:t>.</a:t>
                      </a:r>
                      <a:endParaRPr lang="en-US" sz="2000" b="1" dirty="0">
                        <a:latin typeface="Arial" panose="020B0604020202020204" pitchFamily="34" charset="0"/>
                        <a:cs typeface="Arial" panose="020B0604020202020204" pitchFamily="34" charset="0"/>
                      </a:endParaRPr>
                    </a:p>
                  </a:txBody>
                  <a:tcPr anchor="ctr">
                    <a:solidFill>
                      <a:srgbClr val="C00000"/>
                    </a:solidFill>
                  </a:tcPr>
                </a:tc>
                <a:tc>
                  <a:txBody>
                    <a:bodyPr/>
                    <a:lstStyle/>
                    <a:p>
                      <a:pPr algn="ctr"/>
                      <a:r>
                        <a:rPr lang="en-IN" sz="2000" b="1" dirty="0"/>
                        <a:t>Authors</a:t>
                      </a:r>
                      <a:endParaRPr lang="en-US" sz="2000" b="1" dirty="0">
                        <a:latin typeface="Arial" panose="020B0604020202020204" pitchFamily="34" charset="0"/>
                        <a:cs typeface="Arial" panose="020B0604020202020204" pitchFamily="34" charset="0"/>
                      </a:endParaRPr>
                    </a:p>
                  </a:txBody>
                  <a:tcPr anchor="ctr">
                    <a:solidFill>
                      <a:srgbClr val="C00000"/>
                    </a:solidFill>
                  </a:tcPr>
                </a:tc>
                <a:tc>
                  <a:txBody>
                    <a:bodyPr/>
                    <a:lstStyle/>
                    <a:p>
                      <a:pPr algn="ctr"/>
                      <a:r>
                        <a:rPr lang="en-IN" sz="2000" b="1" dirty="0"/>
                        <a:t>Title</a:t>
                      </a:r>
                      <a:endParaRPr lang="en-US" sz="2000" b="1" dirty="0">
                        <a:latin typeface="Arial" panose="020B0604020202020204" pitchFamily="34" charset="0"/>
                        <a:cs typeface="Arial" panose="020B0604020202020204" pitchFamily="34" charset="0"/>
                      </a:endParaRPr>
                    </a:p>
                  </a:txBody>
                  <a:tcPr anchor="ctr">
                    <a:solidFill>
                      <a:srgbClr val="C00000"/>
                    </a:solidFill>
                  </a:tcPr>
                </a:tc>
                <a:tc>
                  <a:txBody>
                    <a:bodyPr/>
                    <a:lstStyle/>
                    <a:p>
                      <a:pPr algn="ctr"/>
                      <a:r>
                        <a:rPr lang="en-IN" sz="2000" b="1" dirty="0"/>
                        <a:t>Key Findings</a:t>
                      </a:r>
                      <a:endParaRPr lang="en-US" sz="2000" b="1" dirty="0">
                        <a:latin typeface="Arial" panose="020B0604020202020204" pitchFamily="34" charset="0"/>
                        <a:cs typeface="Arial" panose="020B0604020202020204" pitchFamily="34" charset="0"/>
                      </a:endParaRPr>
                    </a:p>
                  </a:txBody>
                  <a:tcPr anchor="ctr">
                    <a:solidFill>
                      <a:srgbClr val="C00000"/>
                    </a:solidFill>
                  </a:tcPr>
                </a:tc>
                <a:extLst>
                  <a:ext uri="{0D108BD9-81ED-4DB2-BD59-A6C34878D82A}">
                    <a16:rowId xmlns:a16="http://schemas.microsoft.com/office/drawing/2014/main" val="1874785069"/>
                  </a:ext>
                </a:extLst>
              </a:tr>
              <a:tr h="949857">
                <a:tc>
                  <a:txBody>
                    <a:bodyPr/>
                    <a:lstStyle/>
                    <a:p>
                      <a:pPr algn="ctr"/>
                      <a:r>
                        <a:rPr lang="en-IN" sz="1600" dirty="0"/>
                        <a:t>1</a:t>
                      </a:r>
                      <a:endParaRPr lang="en-US" sz="1600" dirty="0">
                        <a:latin typeface="Arial" panose="020B0604020202020204" pitchFamily="34" charset="0"/>
                        <a:cs typeface="Arial" panose="020B0604020202020204" pitchFamily="34" charset="0"/>
                      </a:endParaRPr>
                    </a:p>
                  </a:txBody>
                  <a:tcPr anchor="ctr"/>
                </a:tc>
                <a:tc>
                  <a:txBody>
                    <a:bodyPr/>
                    <a:lstStyle/>
                    <a:p>
                      <a:pPr algn="just"/>
                      <a:r>
                        <a:rPr lang="en-US" sz="1600" b="0" dirty="0"/>
                        <a:t>Mark Anthony Casel et</a:t>
                      </a:r>
                      <a:r>
                        <a:rPr lang="en-US" sz="1600" b="0" baseline="0" dirty="0"/>
                        <a:t> al. 2021</a:t>
                      </a:r>
                      <a:endParaRPr lang="en-US" sz="1600" b="0" dirty="0">
                        <a:latin typeface="Arial" panose="020B0604020202020204" pitchFamily="34" charset="0"/>
                        <a:cs typeface="Arial" panose="020B0604020202020204" pitchFamily="34" charset="0"/>
                      </a:endParaRPr>
                    </a:p>
                  </a:txBody>
                  <a:tcPr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b="0" dirty="0"/>
                        <a:t>Severe fever with thrombocytopenia syndrome</a:t>
                      </a:r>
                    </a:p>
                    <a:p>
                      <a:pPr marL="0" marR="0" indent="0" algn="l" defTabSz="914400" rtl="0" eaLnBrk="1" fontAlgn="auto" latinLnBrk="0" hangingPunct="1">
                        <a:lnSpc>
                          <a:spcPct val="100000"/>
                        </a:lnSpc>
                        <a:spcBef>
                          <a:spcPts val="0"/>
                        </a:spcBef>
                        <a:spcAft>
                          <a:spcPts val="0"/>
                        </a:spcAft>
                        <a:buClrTx/>
                        <a:buSzTx/>
                        <a:buFontTx/>
                        <a:buNone/>
                        <a:tabLst/>
                        <a:defRPr/>
                      </a:pPr>
                      <a:r>
                        <a:rPr lang="en-US" sz="1600" b="0" dirty="0"/>
                        <a:t> virus: emerging novel </a:t>
                      </a:r>
                      <a:r>
                        <a:rPr lang="en-US" sz="1600" b="0" dirty="0" err="1"/>
                        <a:t>phlebovirus</a:t>
                      </a:r>
                      <a:r>
                        <a:rPr lang="en-US" sz="1600" b="0" dirty="0"/>
                        <a:t> and their control</a:t>
                      </a:r>
                    </a:p>
                    <a:p>
                      <a:pPr marL="0" marR="0" indent="0" algn="l" defTabSz="914400" rtl="0" eaLnBrk="1" fontAlgn="auto" latinLnBrk="0" hangingPunct="1">
                        <a:lnSpc>
                          <a:spcPct val="100000"/>
                        </a:lnSpc>
                        <a:spcBef>
                          <a:spcPts val="0"/>
                        </a:spcBef>
                        <a:spcAft>
                          <a:spcPts val="0"/>
                        </a:spcAft>
                        <a:buClrTx/>
                        <a:buSzTx/>
                        <a:buFontTx/>
                        <a:buNone/>
                        <a:tabLst/>
                        <a:defRPr/>
                      </a:pPr>
                      <a:r>
                        <a:rPr lang="en-US" sz="1600" b="0" dirty="0"/>
                        <a:t> strategy</a:t>
                      </a:r>
                      <a:endParaRPr lang="en-US" sz="1600" b="0" dirty="0">
                        <a:latin typeface="Arial" panose="020B0604020202020204" pitchFamily="34" charset="0"/>
                        <a:cs typeface="Arial" panose="020B0604020202020204" pitchFamily="34" charset="0"/>
                      </a:endParaRPr>
                    </a:p>
                  </a:txBody>
                  <a:tcPr anchor="ctr"/>
                </a:tc>
                <a:tc>
                  <a:txBody>
                    <a:bodyPr/>
                    <a:lstStyle/>
                    <a:p>
                      <a:pPr marL="117475" indent="-117475" algn="just">
                        <a:buFont typeface="Arial" panose="020B0604020202020204" pitchFamily="34" charset="0"/>
                        <a:buChar char="•"/>
                      </a:pPr>
                      <a:r>
                        <a:rPr lang="en-US" sz="1600" dirty="0"/>
                        <a:t>Immunological and epidemiological significance of SFTSV.</a:t>
                      </a:r>
                      <a:endParaRPr lang="en-US" sz="1600"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3075110288"/>
                  </a:ext>
                </a:extLst>
              </a:tr>
              <a:tr h="846470">
                <a:tc>
                  <a:txBody>
                    <a:bodyPr/>
                    <a:lstStyle/>
                    <a:p>
                      <a:pPr algn="ctr"/>
                      <a:r>
                        <a:rPr lang="en-IN" sz="1600" b="0" dirty="0">
                          <a:solidFill>
                            <a:schemeClr val="tx1"/>
                          </a:solidFill>
                        </a:rPr>
                        <a:t>2</a:t>
                      </a:r>
                      <a:endParaRPr lang="en-US" sz="1600" b="0" dirty="0">
                        <a:solidFill>
                          <a:schemeClr val="tx1"/>
                        </a:solidFill>
                        <a:latin typeface="Arial" panose="020B0604020202020204" pitchFamily="34" charset="0"/>
                        <a:cs typeface="Arial" panose="020B0604020202020204" pitchFamily="34" charset="0"/>
                      </a:endParaRPr>
                    </a:p>
                  </a:txBody>
                  <a:tcPr anchor="ctr"/>
                </a:tc>
                <a:tc>
                  <a:txBody>
                    <a:bodyPr/>
                    <a:lstStyle/>
                    <a:p>
                      <a:pPr algn="just"/>
                      <a:r>
                        <a:rPr lang="en-IN" sz="1600" b="0" baseline="0" dirty="0" err="1">
                          <a:solidFill>
                            <a:schemeClr val="tx1"/>
                          </a:solidFill>
                        </a:rPr>
                        <a:t>Dokyun</a:t>
                      </a:r>
                      <a:r>
                        <a:rPr lang="en-IN" sz="1600" b="0" baseline="0" dirty="0">
                          <a:solidFill>
                            <a:schemeClr val="tx1"/>
                          </a:solidFill>
                        </a:rPr>
                        <a:t> Kim et al. 2024</a:t>
                      </a:r>
                      <a:endParaRPr lang="en-US" sz="1600" b="0" dirty="0">
                        <a:solidFill>
                          <a:schemeClr val="tx1"/>
                        </a:solidFill>
                        <a:latin typeface="Arial" panose="020B0604020202020204" pitchFamily="34" charset="0"/>
                        <a:cs typeface="Arial" panose="020B0604020202020204" pitchFamily="34" charset="0"/>
                      </a:endParaRPr>
                    </a:p>
                  </a:txBody>
                  <a:tcPr anchor="ctr"/>
                </a:tc>
                <a:tc>
                  <a:txBody>
                    <a:bodyPr/>
                    <a:lstStyle/>
                    <a:p>
                      <a:pPr algn="just"/>
                      <a:r>
                        <a:rPr lang="en-US" sz="1600" b="0" dirty="0">
                          <a:solidFill>
                            <a:schemeClr val="tx1"/>
                          </a:solidFill>
                        </a:rPr>
                        <a:t>Current Progress of Severe Fever with Thrombocytopenia</a:t>
                      </a:r>
                    </a:p>
                    <a:p>
                      <a:pPr algn="just"/>
                      <a:r>
                        <a:rPr lang="en-US" sz="1600" b="0" dirty="0">
                          <a:solidFill>
                            <a:schemeClr val="tx1"/>
                          </a:solidFill>
                        </a:rPr>
                        <a:t> Syndrome Virus (SFTSV) Vaccine Development</a:t>
                      </a:r>
                      <a:endParaRPr lang="en-US" sz="1600" b="0" dirty="0">
                        <a:solidFill>
                          <a:schemeClr val="tx1"/>
                        </a:solidFill>
                        <a:latin typeface="Arial" panose="020B0604020202020204" pitchFamily="34" charset="0"/>
                        <a:cs typeface="Arial" panose="020B0604020202020204" pitchFamily="34" charset="0"/>
                      </a:endParaRPr>
                    </a:p>
                  </a:txBody>
                  <a:tcPr anchor="ctr"/>
                </a:tc>
                <a:tc>
                  <a:txBody>
                    <a:bodyPr/>
                    <a:lstStyle/>
                    <a:p>
                      <a:pPr marL="114300" indent="-114300" algn="just">
                        <a:buFont typeface="Arial" panose="020B0604020202020204" pitchFamily="34" charset="0"/>
                        <a:buChar char="•"/>
                      </a:pPr>
                      <a:r>
                        <a:rPr lang="en-IN" sz="1600" b="0" baseline="0" dirty="0">
                          <a:solidFill>
                            <a:schemeClr val="tx1"/>
                          </a:solidFill>
                        </a:rPr>
                        <a:t>Current status of vaccine development and challenges associated.</a:t>
                      </a:r>
                      <a:endParaRPr lang="en-IN" sz="1600" b="0" baseline="0" dirty="0">
                        <a:solidFill>
                          <a:schemeClr val="tx1"/>
                        </a:solidFill>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1504584265"/>
                  </a:ext>
                </a:extLst>
              </a:tr>
              <a:tr h="732746">
                <a:tc>
                  <a:txBody>
                    <a:bodyPr/>
                    <a:lstStyle/>
                    <a:p>
                      <a:pPr algn="ctr"/>
                      <a:r>
                        <a:rPr lang="en-IN" sz="1600" b="0" dirty="0"/>
                        <a:t>3</a:t>
                      </a:r>
                      <a:endParaRPr lang="en-US" sz="1600" b="0" dirty="0">
                        <a:latin typeface="Arial" panose="020B0604020202020204" pitchFamily="34" charset="0"/>
                        <a:cs typeface="Arial" panose="020B0604020202020204" pitchFamily="34" charset="0"/>
                      </a:endParaRPr>
                    </a:p>
                  </a:txBody>
                  <a:tcPr anchor="ctr"/>
                </a:tc>
                <a:tc>
                  <a:txBody>
                    <a:bodyPr/>
                    <a:lstStyle/>
                    <a:p>
                      <a:pPr algn="just"/>
                      <a:r>
                        <a:rPr lang="en-US" sz="1600" dirty="0" err="1"/>
                        <a:t>Aqian</a:t>
                      </a:r>
                      <a:r>
                        <a:rPr lang="en-US" sz="1600" dirty="0"/>
                        <a:t> Li et al 2021</a:t>
                      </a:r>
                      <a:endParaRPr lang="en-US" sz="1600" dirty="0">
                        <a:latin typeface="Arial" panose="020B0604020202020204" pitchFamily="34" charset="0"/>
                        <a:cs typeface="Arial" panose="020B0604020202020204" pitchFamily="34" charset="0"/>
                      </a:endParaRPr>
                    </a:p>
                  </a:txBody>
                  <a:tcPr anchor="ctr"/>
                </a:tc>
                <a:tc>
                  <a:txBody>
                    <a:bodyPr/>
                    <a:lstStyle/>
                    <a:p>
                      <a:pPr algn="just"/>
                      <a:r>
                        <a:rPr lang="en-US" sz="1600" dirty="0"/>
                        <a:t>Molecular evolution and genetic diversity analysis of SFTS virus based on next-generation sequencing</a:t>
                      </a:r>
                      <a:endParaRPr lang="en-US" sz="1600" dirty="0">
                        <a:latin typeface="Arial" panose="020B0604020202020204" pitchFamily="34" charset="0"/>
                        <a:cs typeface="Arial" panose="020B0604020202020204" pitchFamily="34" charset="0"/>
                      </a:endParaRPr>
                    </a:p>
                  </a:txBody>
                  <a:tcPr anchor="ctr"/>
                </a:tc>
                <a:tc>
                  <a:txBody>
                    <a:bodyPr/>
                    <a:lstStyle/>
                    <a:p>
                      <a:pPr marL="114300" indent="-114300" algn="just">
                        <a:buFont typeface="Arial" panose="020B0604020202020204" pitchFamily="34" charset="0"/>
                        <a:buChar char="•"/>
                      </a:pPr>
                      <a:r>
                        <a:rPr lang="en-IN" sz="1600" dirty="0"/>
                        <a:t>SFTSV is divided into 7 genotypically distinct strains ranging from A-F.</a:t>
                      </a:r>
                      <a:endParaRPr lang="en-US" sz="1600"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2204986264"/>
                  </a:ext>
                </a:extLst>
              </a:tr>
              <a:tr h="1166967">
                <a:tc>
                  <a:txBody>
                    <a:bodyPr/>
                    <a:lstStyle/>
                    <a:p>
                      <a:pPr algn="ctr"/>
                      <a:r>
                        <a:rPr lang="en-IN" sz="1600" b="0" dirty="0"/>
                        <a:t>4</a:t>
                      </a:r>
                      <a:endParaRPr lang="en-US" sz="1600" b="0" dirty="0">
                        <a:latin typeface="Arial" panose="020B0604020202020204" pitchFamily="34" charset="0"/>
                        <a:cs typeface="Arial" panose="020B0604020202020204" pitchFamily="34" charset="0"/>
                      </a:endParaRPr>
                    </a:p>
                  </a:txBody>
                  <a:tcPr anchor="ctr"/>
                </a:tc>
                <a:tc>
                  <a:txBody>
                    <a:bodyPr/>
                    <a:lstStyle/>
                    <a:p>
                      <a:pPr algn="just"/>
                      <a:r>
                        <a:rPr lang="en-US" sz="1600" dirty="0" err="1"/>
                        <a:t>Kyungha</a:t>
                      </a:r>
                      <a:r>
                        <a:rPr lang="en-US" sz="1600" dirty="0"/>
                        <a:t> Lee et al 2023</a:t>
                      </a:r>
                      <a:endParaRPr lang="en-US" sz="1600" dirty="0">
                        <a:latin typeface="Arial" panose="020B0604020202020204" pitchFamily="34" charset="0"/>
                        <a:cs typeface="Arial" panose="020B0604020202020204" pitchFamily="34" charset="0"/>
                      </a:endParaRPr>
                    </a:p>
                  </a:txBody>
                  <a:tcPr anchor="ct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1600" b="0" dirty="0"/>
                        <a:t>Antibody production and characterization of the nucleoprotein of sever fever with thrombocytopenia syndrome virus (SFTSV) for effective diagnosis of SFTSV</a:t>
                      </a:r>
                      <a:endParaRPr lang="en-US" sz="1600" b="0" dirty="0">
                        <a:latin typeface="Arial" panose="020B0604020202020204" pitchFamily="34" charset="0"/>
                        <a:cs typeface="Arial" panose="020B0604020202020204" pitchFamily="34" charset="0"/>
                      </a:endParaRPr>
                    </a:p>
                  </a:txBody>
                  <a:tcPr anchor="ctr"/>
                </a:tc>
                <a:tc>
                  <a:txBody>
                    <a:bodyPr/>
                    <a:lstStyle/>
                    <a:p>
                      <a:pPr marL="114300" indent="-114300" algn="just">
                        <a:buFont typeface="Arial" panose="020B0604020202020204" pitchFamily="34" charset="0"/>
                        <a:buChar char="•"/>
                      </a:pPr>
                      <a:r>
                        <a:rPr lang="en-IN" sz="1600" dirty="0"/>
                        <a:t>SFTSV-N-protein specific monoclonal antibody production in mice. </a:t>
                      </a:r>
                    </a:p>
                    <a:p>
                      <a:pPr marL="114300" indent="-114300" algn="just">
                        <a:buFont typeface="Arial" panose="020B0604020202020204" pitchFamily="34" charset="0"/>
                        <a:buChar char="•"/>
                      </a:pPr>
                      <a:r>
                        <a:rPr lang="en-IN" sz="1600" baseline="0" dirty="0"/>
                        <a:t>Abs pairs generated like B4E2, C2G11, C2G1, B4D9</a:t>
                      </a:r>
                      <a:endParaRPr lang="en-IN" sz="1600" baseline="0"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805057565"/>
                  </a:ext>
                </a:extLst>
              </a:tr>
              <a:tr h="949857">
                <a:tc>
                  <a:txBody>
                    <a:bodyPr/>
                    <a:lstStyle/>
                    <a:p>
                      <a:pPr algn="ctr"/>
                      <a:r>
                        <a:rPr lang="en-IN" sz="1600" b="0" dirty="0"/>
                        <a:t>5</a:t>
                      </a:r>
                      <a:endParaRPr lang="en-US" sz="1600" b="0" dirty="0">
                        <a:latin typeface="Arial" panose="020B0604020202020204" pitchFamily="34" charset="0"/>
                        <a:cs typeface="Arial" panose="020B0604020202020204" pitchFamily="34" charset="0"/>
                      </a:endParaRPr>
                    </a:p>
                  </a:txBody>
                  <a:tcPr anchor="ctr"/>
                </a:tc>
                <a:tc>
                  <a:txBody>
                    <a:bodyPr/>
                    <a:lstStyle/>
                    <a:p>
                      <a:pPr algn="just"/>
                      <a:r>
                        <a:rPr lang="en-US" sz="1600" b="0" dirty="0"/>
                        <a:t>Ayushi Sehgal et al. 2024</a:t>
                      </a:r>
                      <a:endParaRPr lang="en-US" sz="1600" b="0" dirty="0">
                        <a:latin typeface="Arial" panose="020B0604020202020204" pitchFamily="34" charset="0"/>
                        <a:cs typeface="Arial" panose="020B0604020202020204" pitchFamily="34" charset="0"/>
                      </a:endParaRPr>
                    </a:p>
                  </a:txBody>
                  <a:tcPr anchor="ct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1600" b="0" dirty="0"/>
                        <a:t> Designing a Conserved Immunogenic Peptide Construct from</a:t>
                      </a:r>
                    </a:p>
                    <a:p>
                      <a:pPr marL="0" marR="0" indent="0" algn="just" defTabSz="914400" rtl="0" eaLnBrk="1" fontAlgn="auto" latinLnBrk="0" hangingPunct="1">
                        <a:lnSpc>
                          <a:spcPct val="100000"/>
                        </a:lnSpc>
                        <a:spcBef>
                          <a:spcPts val="0"/>
                        </a:spcBef>
                        <a:spcAft>
                          <a:spcPts val="0"/>
                        </a:spcAft>
                        <a:buClrTx/>
                        <a:buSzTx/>
                        <a:buFontTx/>
                        <a:buNone/>
                        <a:tabLst/>
                        <a:defRPr/>
                      </a:pPr>
                      <a:r>
                        <a:rPr lang="en-US" sz="1600" b="0" dirty="0"/>
                        <a:t> the Nucleocapsid Protein of </a:t>
                      </a:r>
                      <a:r>
                        <a:rPr lang="en-US" sz="1600" b="0" i="1" u="sng" dirty="0" err="1"/>
                        <a:t>Puumala</a:t>
                      </a:r>
                      <a:r>
                        <a:rPr lang="en-US" sz="1600" b="0" i="1" u="sng" dirty="0"/>
                        <a:t> </a:t>
                      </a:r>
                      <a:r>
                        <a:rPr lang="en-US" sz="1600" b="0" i="1" u="sng" dirty="0" err="1"/>
                        <a:t>orthohantavirus</a:t>
                      </a:r>
                      <a:endParaRPr lang="en-US" sz="1600" b="0" i="1" u="sng" dirty="0">
                        <a:latin typeface="Arial" panose="020B0604020202020204" pitchFamily="34" charset="0"/>
                        <a:cs typeface="Arial" panose="020B0604020202020204" pitchFamily="34" charset="0"/>
                      </a:endParaRPr>
                    </a:p>
                  </a:txBody>
                  <a:tcPr anchor="ctr"/>
                </a:tc>
                <a:tc>
                  <a:txBody>
                    <a:bodyPr/>
                    <a:lstStyle/>
                    <a:p>
                      <a:pPr marL="114300" indent="-114300" algn="just">
                        <a:buFont typeface="Arial" panose="020B0604020202020204" pitchFamily="34" charset="0"/>
                        <a:buChar char="•"/>
                      </a:pPr>
                      <a:r>
                        <a:rPr lang="en-US" sz="1600" b="0" dirty="0"/>
                        <a:t>Immunoinformatic tools and procedure for finding and creating conserved peptide construct of nucleocapsid protein.</a:t>
                      </a:r>
                      <a:endParaRPr lang="en-US" sz="1600" b="0"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2473794922"/>
                  </a:ext>
                </a:extLst>
              </a:tr>
            </a:tbl>
          </a:graphicData>
        </a:graphic>
      </p:graphicFrame>
      <p:grpSp>
        <p:nvGrpSpPr>
          <p:cNvPr id="3" name="Group 2">
            <a:extLst>
              <a:ext uri="{FF2B5EF4-FFF2-40B4-BE49-F238E27FC236}">
                <a16:creationId xmlns:a16="http://schemas.microsoft.com/office/drawing/2014/main" id="{F68F770B-41EA-3F9C-4ACC-A6B48DE1BF33}"/>
              </a:ext>
            </a:extLst>
          </p:cNvPr>
          <p:cNvGrpSpPr/>
          <p:nvPr/>
        </p:nvGrpSpPr>
        <p:grpSpPr>
          <a:xfrm>
            <a:off x="3472663" y="172986"/>
            <a:ext cx="6154222" cy="910687"/>
            <a:chOff x="739738" y="344774"/>
            <a:chExt cx="9755972" cy="1042237"/>
          </a:xfrm>
        </p:grpSpPr>
        <p:sp>
          <p:nvSpPr>
            <p:cNvPr id="4" name="Rectangle: Rounded Corners 3">
              <a:extLst>
                <a:ext uri="{FF2B5EF4-FFF2-40B4-BE49-F238E27FC236}">
                  <a16:creationId xmlns:a16="http://schemas.microsoft.com/office/drawing/2014/main" id="{BA0D1915-0720-AC1C-3418-894E4188BBDA}"/>
                </a:ext>
              </a:extLst>
            </p:cNvPr>
            <p:cNvSpPr/>
            <p:nvPr/>
          </p:nvSpPr>
          <p:spPr>
            <a:xfrm>
              <a:off x="739739" y="344774"/>
              <a:ext cx="8311794" cy="1042237"/>
            </a:xfrm>
            <a:prstGeom prst="roundRect">
              <a:avLst/>
            </a:prstGeom>
            <a:solidFill>
              <a:schemeClr val="bg1">
                <a:lumMod val="85000"/>
              </a:schemeClr>
            </a:solidFill>
            <a:ln>
              <a:no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en-US" dirty="0"/>
            </a:p>
          </p:txBody>
        </p:sp>
        <p:sp>
          <p:nvSpPr>
            <p:cNvPr id="5" name="Title 1">
              <a:extLst>
                <a:ext uri="{FF2B5EF4-FFF2-40B4-BE49-F238E27FC236}">
                  <a16:creationId xmlns:a16="http://schemas.microsoft.com/office/drawing/2014/main" id="{082D40C1-475B-8603-50D9-190FB2CBD258}"/>
                </a:ext>
              </a:extLst>
            </p:cNvPr>
            <p:cNvSpPr txBox="1">
              <a:spLocks/>
            </p:cNvSpPr>
            <p:nvPr/>
          </p:nvSpPr>
          <p:spPr>
            <a:xfrm>
              <a:off x="739738" y="344774"/>
              <a:ext cx="9755972" cy="960043"/>
            </a:xfrm>
            <a:prstGeom prst="rect">
              <a:avLst/>
            </a:prstGeom>
            <a:noFill/>
            <a:ln w="12700" cap="flat" cmpd="sng" algn="ctr">
              <a:noFill/>
              <a:prstDash val="solid"/>
              <a:miter lim="800000"/>
            </a:ln>
          </p:spPr>
          <p:style>
            <a:lnRef idx="1">
              <a:schemeClr val="accent4"/>
            </a:lnRef>
            <a:fillRef idx="2">
              <a:schemeClr val="accent4"/>
            </a:fillRef>
            <a:effectRef idx="1">
              <a:schemeClr val="accent4"/>
            </a:effectRef>
            <a:fontRef idx="minor">
              <a:schemeClr val="dk1"/>
            </a:fontRef>
          </p:style>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l"/>
              <a:r>
                <a:rPr lang="en-US" sz="4400" dirty="0">
                  <a:solidFill>
                    <a:srgbClr val="C00000"/>
                  </a:solidFill>
                </a:rPr>
                <a:t>Review of Literature</a:t>
              </a:r>
            </a:p>
          </p:txBody>
        </p:sp>
      </p:grpSp>
      <p:sp>
        <p:nvSpPr>
          <p:cNvPr id="6" name="Rectangle 5">
            <a:extLst>
              <a:ext uri="{FF2B5EF4-FFF2-40B4-BE49-F238E27FC236}">
                <a16:creationId xmlns:a16="http://schemas.microsoft.com/office/drawing/2014/main" id="{A768D144-520E-50AA-6113-A2B50F09A84E}"/>
              </a:ext>
            </a:extLst>
          </p:cNvPr>
          <p:cNvSpPr/>
          <p:nvPr/>
        </p:nvSpPr>
        <p:spPr>
          <a:xfrm>
            <a:off x="0" y="18300"/>
            <a:ext cx="12192000" cy="6858000"/>
          </a:xfrm>
          <a:prstGeom prst="rect">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593686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1780EA0-7DE4-25AE-1F1B-12774B085A6D}"/>
              </a:ext>
            </a:extLst>
          </p:cNvPr>
          <p:cNvSpPr/>
          <p:nvPr/>
        </p:nvSpPr>
        <p:spPr>
          <a:xfrm>
            <a:off x="0" y="38848"/>
            <a:ext cx="12192000" cy="6858000"/>
          </a:xfrm>
          <a:prstGeom prst="rect">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800" dirty="0">
              <a:latin typeface="Arial" panose="020B0604020202020204" pitchFamily="34" charset="0"/>
              <a:cs typeface="Arial" panose="020B0604020202020204" pitchFamily="34" charset="0"/>
            </a:endParaRPr>
          </a:p>
        </p:txBody>
      </p:sp>
      <p:grpSp>
        <p:nvGrpSpPr>
          <p:cNvPr id="3" name="Group 2">
            <a:extLst>
              <a:ext uri="{FF2B5EF4-FFF2-40B4-BE49-F238E27FC236}">
                <a16:creationId xmlns:a16="http://schemas.microsoft.com/office/drawing/2014/main" id="{2FCC145F-97F1-7792-F597-6A2BA036E1A7}"/>
              </a:ext>
            </a:extLst>
          </p:cNvPr>
          <p:cNvGrpSpPr/>
          <p:nvPr/>
        </p:nvGrpSpPr>
        <p:grpSpPr>
          <a:xfrm>
            <a:off x="4027468" y="242152"/>
            <a:ext cx="4746662" cy="1042237"/>
            <a:chOff x="739738" y="344774"/>
            <a:chExt cx="9755972" cy="1042237"/>
          </a:xfrm>
        </p:grpSpPr>
        <p:sp>
          <p:nvSpPr>
            <p:cNvPr id="4" name="Rectangle: Rounded Corners 3">
              <a:extLst>
                <a:ext uri="{FF2B5EF4-FFF2-40B4-BE49-F238E27FC236}">
                  <a16:creationId xmlns:a16="http://schemas.microsoft.com/office/drawing/2014/main" id="{E6E4C986-FFD3-0988-E663-68C3EFB28CA1}"/>
                </a:ext>
              </a:extLst>
            </p:cNvPr>
            <p:cNvSpPr/>
            <p:nvPr/>
          </p:nvSpPr>
          <p:spPr>
            <a:xfrm>
              <a:off x="739739" y="344774"/>
              <a:ext cx="8311794" cy="1042237"/>
            </a:xfrm>
            <a:prstGeom prst="roundRect">
              <a:avLst/>
            </a:prstGeom>
            <a:solidFill>
              <a:schemeClr val="bg1">
                <a:lumMod val="85000"/>
              </a:schemeClr>
            </a:solidFill>
            <a:ln>
              <a:no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en-US" dirty="0"/>
            </a:p>
          </p:txBody>
        </p:sp>
        <p:sp>
          <p:nvSpPr>
            <p:cNvPr id="5" name="Title 1">
              <a:extLst>
                <a:ext uri="{FF2B5EF4-FFF2-40B4-BE49-F238E27FC236}">
                  <a16:creationId xmlns:a16="http://schemas.microsoft.com/office/drawing/2014/main" id="{13AE353B-910C-367D-A388-F862FCFCF11E}"/>
                </a:ext>
              </a:extLst>
            </p:cNvPr>
            <p:cNvSpPr txBox="1">
              <a:spLocks/>
            </p:cNvSpPr>
            <p:nvPr/>
          </p:nvSpPr>
          <p:spPr>
            <a:xfrm>
              <a:off x="739738" y="344774"/>
              <a:ext cx="9755972" cy="960043"/>
            </a:xfrm>
            <a:prstGeom prst="rect">
              <a:avLst/>
            </a:prstGeom>
            <a:noFill/>
            <a:ln w="12700" cap="flat" cmpd="sng" algn="ctr">
              <a:noFill/>
              <a:prstDash val="solid"/>
              <a:miter lim="800000"/>
            </a:ln>
          </p:spPr>
          <p:style>
            <a:lnRef idx="1">
              <a:schemeClr val="accent4"/>
            </a:lnRef>
            <a:fillRef idx="2">
              <a:schemeClr val="accent4"/>
            </a:fillRef>
            <a:effectRef idx="1">
              <a:schemeClr val="accent4"/>
            </a:effectRef>
            <a:fontRef idx="minor">
              <a:schemeClr val="dk1"/>
            </a:fontRef>
          </p:style>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l"/>
              <a:r>
                <a:rPr lang="en-US" sz="4400" dirty="0">
                  <a:solidFill>
                    <a:srgbClr val="C00000"/>
                  </a:solidFill>
                </a:rPr>
                <a:t>Research Gap</a:t>
              </a:r>
            </a:p>
          </p:txBody>
        </p:sp>
      </p:grpSp>
      <p:grpSp>
        <p:nvGrpSpPr>
          <p:cNvPr id="6" name="Group 5">
            <a:extLst>
              <a:ext uri="{FF2B5EF4-FFF2-40B4-BE49-F238E27FC236}">
                <a16:creationId xmlns:a16="http://schemas.microsoft.com/office/drawing/2014/main" id="{94B237BB-25B1-2465-F6DC-DFB4FC6DC56B}"/>
              </a:ext>
            </a:extLst>
          </p:cNvPr>
          <p:cNvGrpSpPr/>
          <p:nvPr/>
        </p:nvGrpSpPr>
        <p:grpSpPr>
          <a:xfrm>
            <a:off x="4515490" y="3467848"/>
            <a:ext cx="3770617" cy="994611"/>
            <a:chOff x="739738" y="344774"/>
            <a:chExt cx="9755972" cy="1042237"/>
          </a:xfrm>
        </p:grpSpPr>
        <p:sp>
          <p:nvSpPr>
            <p:cNvPr id="7" name="Rectangle: Rounded Corners 6">
              <a:extLst>
                <a:ext uri="{FF2B5EF4-FFF2-40B4-BE49-F238E27FC236}">
                  <a16:creationId xmlns:a16="http://schemas.microsoft.com/office/drawing/2014/main" id="{B07C70B9-DE84-E0F9-D7A3-AF5A45E47C65}"/>
                </a:ext>
              </a:extLst>
            </p:cNvPr>
            <p:cNvSpPr/>
            <p:nvPr/>
          </p:nvSpPr>
          <p:spPr>
            <a:xfrm>
              <a:off x="739739" y="344774"/>
              <a:ext cx="8311794" cy="1042237"/>
            </a:xfrm>
            <a:prstGeom prst="roundRect">
              <a:avLst/>
            </a:prstGeom>
            <a:solidFill>
              <a:schemeClr val="bg1">
                <a:lumMod val="85000"/>
              </a:schemeClr>
            </a:solidFill>
            <a:ln>
              <a:no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en-US" dirty="0"/>
            </a:p>
          </p:txBody>
        </p:sp>
        <p:sp>
          <p:nvSpPr>
            <p:cNvPr id="8" name="Title 1">
              <a:extLst>
                <a:ext uri="{FF2B5EF4-FFF2-40B4-BE49-F238E27FC236}">
                  <a16:creationId xmlns:a16="http://schemas.microsoft.com/office/drawing/2014/main" id="{06777D28-0BB0-500F-3F53-2A3D93293930}"/>
                </a:ext>
              </a:extLst>
            </p:cNvPr>
            <p:cNvSpPr txBox="1">
              <a:spLocks/>
            </p:cNvSpPr>
            <p:nvPr/>
          </p:nvSpPr>
          <p:spPr>
            <a:xfrm>
              <a:off x="739738" y="344774"/>
              <a:ext cx="9755972" cy="960043"/>
            </a:xfrm>
            <a:prstGeom prst="rect">
              <a:avLst/>
            </a:prstGeom>
            <a:noFill/>
            <a:ln w="12700" cap="flat" cmpd="sng" algn="ctr">
              <a:noFill/>
              <a:prstDash val="solid"/>
              <a:miter lim="800000"/>
            </a:ln>
          </p:spPr>
          <p:style>
            <a:lnRef idx="1">
              <a:schemeClr val="accent4"/>
            </a:lnRef>
            <a:fillRef idx="2">
              <a:schemeClr val="accent4"/>
            </a:fillRef>
            <a:effectRef idx="1">
              <a:schemeClr val="accent4"/>
            </a:effectRef>
            <a:fontRef idx="minor">
              <a:schemeClr val="dk1"/>
            </a:fontRef>
          </p:style>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l"/>
              <a:r>
                <a:rPr lang="en-US" sz="4400" dirty="0">
                  <a:solidFill>
                    <a:srgbClr val="C00000"/>
                  </a:solidFill>
                </a:rPr>
                <a:t>Objectives</a:t>
              </a:r>
            </a:p>
          </p:txBody>
        </p:sp>
      </p:grpSp>
      <p:sp>
        <p:nvSpPr>
          <p:cNvPr id="9" name="TextBox 8">
            <a:extLst>
              <a:ext uri="{FF2B5EF4-FFF2-40B4-BE49-F238E27FC236}">
                <a16:creationId xmlns:a16="http://schemas.microsoft.com/office/drawing/2014/main" id="{A5179895-ADEE-EC0D-FE31-B1624DCEDCE0}"/>
              </a:ext>
            </a:extLst>
          </p:cNvPr>
          <p:cNvSpPr txBox="1"/>
          <p:nvPr/>
        </p:nvSpPr>
        <p:spPr>
          <a:xfrm>
            <a:off x="660268" y="1450172"/>
            <a:ext cx="11226932" cy="2129878"/>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dirty="0"/>
              <a:t>Currently, there is </a:t>
            </a:r>
            <a:r>
              <a:rPr lang="en-US" b="1" dirty="0"/>
              <a:t>no licensed vaccine</a:t>
            </a:r>
            <a:r>
              <a:rPr lang="en-US" dirty="0"/>
              <a:t> against SFTSV.</a:t>
            </a:r>
          </a:p>
          <a:p>
            <a:pPr marL="285750" indent="-285750">
              <a:lnSpc>
                <a:spcPct val="150000"/>
              </a:lnSpc>
              <a:buFont typeface="Arial" panose="020B0604020202020204" pitchFamily="34" charset="0"/>
              <a:buChar char="•"/>
            </a:pPr>
            <a:r>
              <a:rPr lang="en-US" dirty="0"/>
              <a:t>SFTS pathogenesis is </a:t>
            </a:r>
            <a:r>
              <a:rPr lang="en-US" b="1" dirty="0"/>
              <a:t>age-dependent</a:t>
            </a:r>
            <a:r>
              <a:rPr lang="en-US" dirty="0"/>
              <a:t>, with </a:t>
            </a:r>
            <a:r>
              <a:rPr lang="en-US" b="1" dirty="0"/>
              <a:t>elderly individuals</a:t>
            </a:r>
            <a:r>
              <a:rPr lang="en-US" dirty="0"/>
              <a:t> at higher risk, necessitating a </a:t>
            </a:r>
            <a:r>
              <a:rPr lang="en-US" b="1" dirty="0"/>
              <a:t>sophisticated vaccine design</a:t>
            </a:r>
            <a:r>
              <a:rPr lang="en-US" dirty="0"/>
              <a:t>.</a:t>
            </a:r>
          </a:p>
          <a:p>
            <a:pPr marL="285750" indent="-285750">
              <a:lnSpc>
                <a:spcPct val="150000"/>
              </a:lnSpc>
              <a:buFont typeface="Arial" panose="020B0604020202020204" pitchFamily="34" charset="0"/>
              <a:buChar char="•"/>
            </a:pPr>
            <a:r>
              <a:rPr lang="en-US" dirty="0"/>
              <a:t>A </a:t>
            </a:r>
            <a:r>
              <a:rPr lang="en-US" b="1" dirty="0"/>
              <a:t>novel approach</a:t>
            </a:r>
            <a:r>
              <a:rPr lang="en-US" dirty="0"/>
              <a:t> is required, focusing on </a:t>
            </a:r>
            <a:r>
              <a:rPr lang="en-US" b="1" dirty="0"/>
              <a:t>conserved peptides</a:t>
            </a:r>
            <a:r>
              <a:rPr lang="en-US" dirty="0"/>
              <a:t> from the SFTSV </a:t>
            </a:r>
            <a:r>
              <a:rPr lang="en-US" b="1" dirty="0"/>
              <a:t>nucleocapsid protein</a:t>
            </a:r>
            <a:r>
              <a:rPr lang="en-US" dirty="0"/>
              <a:t>.</a:t>
            </a:r>
          </a:p>
          <a:p>
            <a:pPr>
              <a:lnSpc>
                <a:spcPct val="150000"/>
              </a:lnSpc>
              <a:buNone/>
            </a:pPr>
            <a:endParaRPr lang="en-US" dirty="0"/>
          </a:p>
        </p:txBody>
      </p:sp>
      <p:sp>
        <p:nvSpPr>
          <p:cNvPr id="10" name="TextBox 9">
            <a:extLst>
              <a:ext uri="{FF2B5EF4-FFF2-40B4-BE49-F238E27FC236}">
                <a16:creationId xmlns:a16="http://schemas.microsoft.com/office/drawing/2014/main" id="{A51953B4-3EA0-E452-4A2D-22B1DE367E01}"/>
              </a:ext>
            </a:extLst>
          </p:cNvPr>
          <p:cNvSpPr txBox="1"/>
          <p:nvPr/>
        </p:nvSpPr>
        <p:spPr>
          <a:xfrm>
            <a:off x="622168" y="4587156"/>
            <a:ext cx="10947664" cy="1703030"/>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b="1" dirty="0"/>
              <a:t>Design </a:t>
            </a:r>
            <a:r>
              <a:rPr lang="en-US" dirty="0"/>
              <a:t>of</a:t>
            </a:r>
            <a:r>
              <a:rPr lang="en-US" b="1" dirty="0"/>
              <a:t> peptide-based vaccines</a:t>
            </a:r>
            <a:r>
              <a:rPr lang="en-US" dirty="0"/>
              <a:t> with multiple </a:t>
            </a:r>
            <a:r>
              <a:rPr lang="en-US" b="1" dirty="0"/>
              <a:t>T and B cell epitopes</a:t>
            </a:r>
            <a:r>
              <a:rPr lang="en-US" dirty="0"/>
              <a:t>.</a:t>
            </a:r>
          </a:p>
          <a:p>
            <a:pPr marL="285750" indent="-285750">
              <a:lnSpc>
                <a:spcPct val="150000"/>
              </a:lnSpc>
              <a:buFont typeface="Arial" panose="020B0604020202020204" pitchFamily="34" charset="0"/>
              <a:buChar char="•"/>
            </a:pPr>
            <a:r>
              <a:rPr lang="en-US" b="1" dirty="0"/>
              <a:t>Analyze molecular interactions of immunogenic peptides with HLA (Human Leukocyte Antigen) and TLR-4 (Toll-like Receptors).</a:t>
            </a:r>
          </a:p>
          <a:p>
            <a:pPr marL="285750" indent="-285750">
              <a:lnSpc>
                <a:spcPct val="150000"/>
              </a:lnSpc>
              <a:buFont typeface="Arial" panose="020B0604020202020204" pitchFamily="34" charset="0"/>
              <a:buChar char="•"/>
            </a:pPr>
            <a:endParaRPr lang="en-US" dirty="0"/>
          </a:p>
        </p:txBody>
      </p:sp>
      <p:sp>
        <p:nvSpPr>
          <p:cNvPr id="11" name="Rectangle 10">
            <a:extLst>
              <a:ext uri="{FF2B5EF4-FFF2-40B4-BE49-F238E27FC236}">
                <a16:creationId xmlns:a16="http://schemas.microsoft.com/office/drawing/2014/main" id="{B513E07F-6DC5-F8E2-F521-A6BE9CD91463}"/>
              </a:ext>
            </a:extLst>
          </p:cNvPr>
          <p:cNvSpPr/>
          <p:nvPr/>
        </p:nvSpPr>
        <p:spPr>
          <a:xfrm>
            <a:off x="0" y="18300"/>
            <a:ext cx="12192000" cy="6858000"/>
          </a:xfrm>
          <a:prstGeom prst="rect">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800" dirty="0">
              <a:latin typeface="Arial" panose="020B0604020202020204" pitchFamily="34" charset="0"/>
              <a:cs typeface="Arial" panose="020B0604020202020204" pitchFamily="34" charset="0"/>
            </a:endParaRPr>
          </a:p>
        </p:txBody>
      </p:sp>
      <p:sp>
        <p:nvSpPr>
          <p:cNvPr id="12" name="Rectangle 11">
            <a:extLst>
              <a:ext uri="{FF2B5EF4-FFF2-40B4-BE49-F238E27FC236}">
                <a16:creationId xmlns:a16="http://schemas.microsoft.com/office/drawing/2014/main" id="{5E9F285D-861F-53A7-8175-F67794B3CAE6}"/>
              </a:ext>
            </a:extLst>
          </p:cNvPr>
          <p:cNvSpPr/>
          <p:nvPr/>
        </p:nvSpPr>
        <p:spPr>
          <a:xfrm>
            <a:off x="0" y="1675"/>
            <a:ext cx="12192000" cy="6858000"/>
          </a:xfrm>
          <a:prstGeom prst="rect">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223575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95509AC-D478-E146-50AB-9B34CD7BF5AB}"/>
              </a:ext>
            </a:extLst>
          </p:cNvPr>
          <p:cNvSpPr/>
          <p:nvPr/>
        </p:nvSpPr>
        <p:spPr>
          <a:xfrm>
            <a:off x="0" y="1675"/>
            <a:ext cx="12192000" cy="6858000"/>
          </a:xfrm>
          <a:prstGeom prst="rect">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800" dirty="0">
              <a:latin typeface="Arial" panose="020B0604020202020204" pitchFamily="34" charset="0"/>
              <a:cs typeface="Arial" panose="020B0604020202020204" pitchFamily="34" charset="0"/>
            </a:endParaRPr>
          </a:p>
        </p:txBody>
      </p:sp>
      <p:grpSp>
        <p:nvGrpSpPr>
          <p:cNvPr id="23" name="Group 22">
            <a:extLst>
              <a:ext uri="{FF2B5EF4-FFF2-40B4-BE49-F238E27FC236}">
                <a16:creationId xmlns:a16="http://schemas.microsoft.com/office/drawing/2014/main" id="{C88FBEFC-2348-401F-CB46-A775DEAA2C23}"/>
              </a:ext>
            </a:extLst>
          </p:cNvPr>
          <p:cNvGrpSpPr/>
          <p:nvPr/>
        </p:nvGrpSpPr>
        <p:grpSpPr>
          <a:xfrm>
            <a:off x="4503359" y="186410"/>
            <a:ext cx="4062029" cy="806213"/>
            <a:chOff x="739738" y="344774"/>
            <a:chExt cx="9760438" cy="1042237"/>
          </a:xfrm>
        </p:grpSpPr>
        <p:sp>
          <p:nvSpPr>
            <p:cNvPr id="24" name="Rectangle: Rounded Corners 23">
              <a:extLst>
                <a:ext uri="{FF2B5EF4-FFF2-40B4-BE49-F238E27FC236}">
                  <a16:creationId xmlns:a16="http://schemas.microsoft.com/office/drawing/2014/main" id="{7075A6F2-6774-042F-54C2-03F584FDCCB6}"/>
                </a:ext>
              </a:extLst>
            </p:cNvPr>
            <p:cNvSpPr/>
            <p:nvPr/>
          </p:nvSpPr>
          <p:spPr>
            <a:xfrm>
              <a:off x="739739" y="344774"/>
              <a:ext cx="8311794" cy="1042237"/>
            </a:xfrm>
            <a:prstGeom prst="roundRect">
              <a:avLst/>
            </a:prstGeom>
            <a:solidFill>
              <a:schemeClr val="bg1">
                <a:lumMod val="85000"/>
              </a:schemeClr>
            </a:solidFill>
            <a:ln>
              <a:no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en-US" dirty="0"/>
            </a:p>
          </p:txBody>
        </p:sp>
        <p:sp>
          <p:nvSpPr>
            <p:cNvPr id="25" name="Title 1">
              <a:extLst>
                <a:ext uri="{FF2B5EF4-FFF2-40B4-BE49-F238E27FC236}">
                  <a16:creationId xmlns:a16="http://schemas.microsoft.com/office/drawing/2014/main" id="{9C1A3149-98A0-C57B-FC23-B44931693403}"/>
                </a:ext>
              </a:extLst>
            </p:cNvPr>
            <p:cNvSpPr txBox="1">
              <a:spLocks/>
            </p:cNvSpPr>
            <p:nvPr/>
          </p:nvSpPr>
          <p:spPr>
            <a:xfrm>
              <a:off x="739738" y="344774"/>
              <a:ext cx="9760438" cy="960043"/>
            </a:xfrm>
            <a:prstGeom prst="rect">
              <a:avLst/>
            </a:prstGeom>
            <a:noFill/>
            <a:ln w="12700" cap="flat" cmpd="sng" algn="ctr">
              <a:noFill/>
              <a:prstDash val="solid"/>
              <a:miter lim="800000"/>
            </a:ln>
          </p:spPr>
          <p:style>
            <a:lnRef idx="1">
              <a:schemeClr val="accent4"/>
            </a:lnRef>
            <a:fillRef idx="2">
              <a:schemeClr val="accent4"/>
            </a:fillRef>
            <a:effectRef idx="1">
              <a:schemeClr val="accent4"/>
            </a:effectRef>
            <a:fontRef idx="minor">
              <a:schemeClr val="dk1"/>
            </a:fontRef>
          </p:style>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l"/>
              <a:r>
                <a:rPr lang="en-US" sz="4400" dirty="0">
                  <a:solidFill>
                    <a:srgbClr val="C00000"/>
                  </a:solidFill>
                </a:rPr>
                <a:t>Methodology</a:t>
              </a:r>
            </a:p>
          </p:txBody>
        </p:sp>
      </p:grpSp>
      <p:grpSp>
        <p:nvGrpSpPr>
          <p:cNvPr id="101" name="Group 100">
            <a:extLst>
              <a:ext uri="{FF2B5EF4-FFF2-40B4-BE49-F238E27FC236}">
                <a16:creationId xmlns:a16="http://schemas.microsoft.com/office/drawing/2014/main" id="{794B6C08-596C-095C-0DD7-0AED5FB0678B}"/>
              </a:ext>
            </a:extLst>
          </p:cNvPr>
          <p:cNvGrpSpPr/>
          <p:nvPr/>
        </p:nvGrpSpPr>
        <p:grpSpPr>
          <a:xfrm>
            <a:off x="1540274" y="1154030"/>
            <a:ext cx="8661967" cy="5372335"/>
            <a:chOff x="2253795" y="1291874"/>
            <a:chExt cx="7071181" cy="5372335"/>
          </a:xfrm>
        </p:grpSpPr>
        <p:sp>
          <p:nvSpPr>
            <p:cNvPr id="5" name="Rectangle: Rounded Corners 4">
              <a:extLst>
                <a:ext uri="{FF2B5EF4-FFF2-40B4-BE49-F238E27FC236}">
                  <a16:creationId xmlns:a16="http://schemas.microsoft.com/office/drawing/2014/main" id="{C793283E-C4ED-9070-74DE-B797B7DEDB38}"/>
                </a:ext>
              </a:extLst>
            </p:cNvPr>
            <p:cNvSpPr/>
            <p:nvPr/>
          </p:nvSpPr>
          <p:spPr>
            <a:xfrm>
              <a:off x="3780330" y="1326206"/>
              <a:ext cx="4707539" cy="306202"/>
            </a:xfrm>
            <a:prstGeom prst="roundRect">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Sequences Retrieval and Conserved Sequences Identification</a:t>
              </a:r>
            </a:p>
          </p:txBody>
        </p:sp>
        <p:sp>
          <p:nvSpPr>
            <p:cNvPr id="6" name="Rectangle: Rounded Corners 5">
              <a:extLst>
                <a:ext uri="{FF2B5EF4-FFF2-40B4-BE49-F238E27FC236}">
                  <a16:creationId xmlns:a16="http://schemas.microsoft.com/office/drawing/2014/main" id="{E696DDA8-0E4E-144E-20FC-A90811C494BF}"/>
                </a:ext>
              </a:extLst>
            </p:cNvPr>
            <p:cNvSpPr/>
            <p:nvPr/>
          </p:nvSpPr>
          <p:spPr>
            <a:xfrm>
              <a:off x="5248986" y="2183440"/>
              <a:ext cx="1762017" cy="306202"/>
            </a:xfrm>
            <a:prstGeom prst="roundRect">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Epitope Prediction</a:t>
              </a:r>
            </a:p>
          </p:txBody>
        </p:sp>
        <p:sp>
          <p:nvSpPr>
            <p:cNvPr id="7" name="Rectangle: Rounded Corners 6">
              <a:extLst>
                <a:ext uri="{FF2B5EF4-FFF2-40B4-BE49-F238E27FC236}">
                  <a16:creationId xmlns:a16="http://schemas.microsoft.com/office/drawing/2014/main" id="{B4C1D08A-0F37-3E69-BEDA-22DCB4839EEF}"/>
                </a:ext>
              </a:extLst>
            </p:cNvPr>
            <p:cNvSpPr/>
            <p:nvPr/>
          </p:nvSpPr>
          <p:spPr>
            <a:xfrm>
              <a:off x="2253795" y="2812650"/>
              <a:ext cx="2026562" cy="306202"/>
            </a:xfrm>
            <a:prstGeom prst="roundRect">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CD8+ T Cell Epitopes</a:t>
              </a:r>
            </a:p>
          </p:txBody>
        </p:sp>
        <p:sp>
          <p:nvSpPr>
            <p:cNvPr id="9" name="Rectangle: Rounded Corners 8">
              <a:extLst>
                <a:ext uri="{FF2B5EF4-FFF2-40B4-BE49-F238E27FC236}">
                  <a16:creationId xmlns:a16="http://schemas.microsoft.com/office/drawing/2014/main" id="{C195C71B-B37D-64FC-8B10-E58158B3D592}"/>
                </a:ext>
              </a:extLst>
            </p:cNvPr>
            <p:cNvSpPr/>
            <p:nvPr/>
          </p:nvSpPr>
          <p:spPr>
            <a:xfrm>
              <a:off x="5120819" y="2810598"/>
              <a:ext cx="2026562" cy="306202"/>
            </a:xfrm>
            <a:prstGeom prst="roundRect">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CD4+ T Cell Epitopes</a:t>
              </a:r>
            </a:p>
          </p:txBody>
        </p:sp>
        <p:sp>
          <p:nvSpPr>
            <p:cNvPr id="10" name="Rectangle: Rounded Corners 9">
              <a:extLst>
                <a:ext uri="{FF2B5EF4-FFF2-40B4-BE49-F238E27FC236}">
                  <a16:creationId xmlns:a16="http://schemas.microsoft.com/office/drawing/2014/main" id="{C0CE6AC4-58A1-96A4-F4ED-C809729BDC17}"/>
                </a:ext>
              </a:extLst>
            </p:cNvPr>
            <p:cNvSpPr/>
            <p:nvPr/>
          </p:nvSpPr>
          <p:spPr>
            <a:xfrm>
              <a:off x="7917958" y="2817072"/>
              <a:ext cx="1407018" cy="306202"/>
            </a:xfrm>
            <a:prstGeom prst="roundRect">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B Cell Epitopes</a:t>
              </a:r>
            </a:p>
          </p:txBody>
        </p:sp>
        <p:sp>
          <p:nvSpPr>
            <p:cNvPr id="11" name="Rectangle: Rounded Corners 10">
              <a:extLst>
                <a:ext uri="{FF2B5EF4-FFF2-40B4-BE49-F238E27FC236}">
                  <a16:creationId xmlns:a16="http://schemas.microsoft.com/office/drawing/2014/main" id="{ABB0337A-3CC5-9F6F-3895-4CD3605667D0}"/>
                </a:ext>
              </a:extLst>
            </p:cNvPr>
            <p:cNvSpPr/>
            <p:nvPr/>
          </p:nvSpPr>
          <p:spPr>
            <a:xfrm>
              <a:off x="2253795" y="3168746"/>
              <a:ext cx="2026562" cy="616730"/>
            </a:xfrm>
            <a:prstGeom prst="roundRect">
              <a:avLst/>
            </a:prstGeom>
            <a:solidFill>
              <a:srgbClr val="D9D9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28600"/>
              <a:r>
                <a:rPr lang="en-US" sz="1400" dirty="0" err="1">
                  <a:solidFill>
                    <a:schemeClr val="tx1"/>
                  </a:solidFill>
                </a:rPr>
                <a:t>NetMHCpan</a:t>
              </a:r>
              <a:r>
                <a:rPr lang="en-US" sz="1400" dirty="0">
                  <a:solidFill>
                    <a:schemeClr val="tx1"/>
                  </a:solidFill>
                </a:rPr>
                <a:t> v4.1.</a:t>
              </a:r>
            </a:p>
            <a:p>
              <a:pPr marL="228600"/>
              <a:r>
                <a:rPr lang="en-US" sz="1400" dirty="0" err="1">
                  <a:solidFill>
                    <a:schemeClr val="tx1"/>
                  </a:solidFill>
                </a:rPr>
                <a:t>MHCflurry</a:t>
              </a:r>
              <a:r>
                <a:rPr lang="en-US" sz="1400" dirty="0">
                  <a:solidFill>
                    <a:schemeClr val="tx1"/>
                  </a:solidFill>
                </a:rPr>
                <a:t> v2.0.</a:t>
              </a:r>
            </a:p>
          </p:txBody>
        </p:sp>
        <p:sp>
          <p:nvSpPr>
            <p:cNvPr id="13" name="Rectangle: Rounded Corners 12">
              <a:extLst>
                <a:ext uri="{FF2B5EF4-FFF2-40B4-BE49-F238E27FC236}">
                  <a16:creationId xmlns:a16="http://schemas.microsoft.com/office/drawing/2014/main" id="{BADF0034-FCA7-A35A-80B6-FAA8D66A4DDE}"/>
                </a:ext>
              </a:extLst>
            </p:cNvPr>
            <p:cNvSpPr/>
            <p:nvPr/>
          </p:nvSpPr>
          <p:spPr>
            <a:xfrm>
              <a:off x="5120819" y="3188166"/>
              <a:ext cx="2026562" cy="614567"/>
            </a:xfrm>
            <a:prstGeom prst="roundRect">
              <a:avLst/>
            </a:prstGeom>
            <a:solidFill>
              <a:srgbClr val="D9D9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28600"/>
              <a:r>
                <a:rPr lang="en-US" sz="1400" dirty="0" err="1">
                  <a:solidFill>
                    <a:schemeClr val="tx1"/>
                  </a:solidFill>
                </a:rPr>
                <a:t>NetMHCIIpan</a:t>
              </a:r>
              <a:r>
                <a:rPr lang="en-US" sz="1400" dirty="0">
                  <a:solidFill>
                    <a:schemeClr val="tx1"/>
                  </a:solidFill>
                </a:rPr>
                <a:t> v4.3.</a:t>
              </a:r>
            </a:p>
            <a:p>
              <a:pPr marL="228600"/>
              <a:r>
                <a:rPr lang="en-US" sz="1400" dirty="0" err="1">
                  <a:solidFill>
                    <a:schemeClr val="tx1"/>
                  </a:solidFill>
                </a:rPr>
                <a:t>DeepMHCII</a:t>
              </a:r>
              <a:endParaRPr lang="en-US" sz="1400" dirty="0">
                <a:solidFill>
                  <a:schemeClr val="tx1"/>
                </a:solidFill>
              </a:endParaRPr>
            </a:p>
          </p:txBody>
        </p:sp>
        <p:sp>
          <p:nvSpPr>
            <p:cNvPr id="14" name="Rectangle: Rounded Corners 13">
              <a:extLst>
                <a:ext uri="{FF2B5EF4-FFF2-40B4-BE49-F238E27FC236}">
                  <a16:creationId xmlns:a16="http://schemas.microsoft.com/office/drawing/2014/main" id="{36CFF6A4-FC91-38DC-5534-490A2F9DF6B3}"/>
                </a:ext>
              </a:extLst>
            </p:cNvPr>
            <p:cNvSpPr/>
            <p:nvPr/>
          </p:nvSpPr>
          <p:spPr>
            <a:xfrm>
              <a:off x="7917958" y="3191795"/>
              <a:ext cx="1407018" cy="605206"/>
            </a:xfrm>
            <a:prstGeom prst="roundRect">
              <a:avLst/>
            </a:prstGeom>
            <a:solidFill>
              <a:srgbClr val="D9D9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28600"/>
              <a:r>
                <a:rPr lang="en-US" sz="1400" dirty="0" err="1">
                  <a:solidFill>
                    <a:schemeClr val="tx1"/>
                  </a:solidFill>
                </a:rPr>
                <a:t>CLBTope</a:t>
              </a:r>
              <a:endParaRPr lang="en-US" sz="1400" dirty="0">
                <a:solidFill>
                  <a:schemeClr val="tx1"/>
                </a:solidFill>
              </a:endParaRPr>
            </a:p>
          </p:txBody>
        </p:sp>
        <p:sp>
          <p:nvSpPr>
            <p:cNvPr id="15" name="Rectangle: Rounded Corners 14">
              <a:extLst>
                <a:ext uri="{FF2B5EF4-FFF2-40B4-BE49-F238E27FC236}">
                  <a16:creationId xmlns:a16="http://schemas.microsoft.com/office/drawing/2014/main" id="{C48EB52F-028E-4AE6-A309-760359715E0C}"/>
                </a:ext>
              </a:extLst>
            </p:cNvPr>
            <p:cNvSpPr/>
            <p:nvPr/>
          </p:nvSpPr>
          <p:spPr>
            <a:xfrm>
              <a:off x="3614956" y="4068017"/>
              <a:ext cx="5038288" cy="306202"/>
            </a:xfrm>
            <a:prstGeom prst="roundRect">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Antigenicity (</a:t>
              </a:r>
              <a:r>
                <a:rPr lang="en-US" sz="1400" dirty="0" err="1"/>
                <a:t>Vaxijen</a:t>
              </a:r>
              <a:r>
                <a:rPr lang="en-US" sz="1400" dirty="0"/>
                <a:t> v2.0.) and Allergenicity (</a:t>
              </a:r>
              <a:r>
                <a:rPr lang="en-US" sz="1400" dirty="0" err="1"/>
                <a:t>Algpred</a:t>
              </a:r>
              <a:r>
                <a:rPr lang="en-US" sz="1400" dirty="0"/>
                <a:t>) Testing</a:t>
              </a:r>
            </a:p>
          </p:txBody>
        </p:sp>
        <p:sp>
          <p:nvSpPr>
            <p:cNvPr id="16" name="Rectangle: Rounded Corners 15">
              <a:extLst>
                <a:ext uri="{FF2B5EF4-FFF2-40B4-BE49-F238E27FC236}">
                  <a16:creationId xmlns:a16="http://schemas.microsoft.com/office/drawing/2014/main" id="{DEE60395-B299-CE20-2B4B-5501A3232565}"/>
                </a:ext>
              </a:extLst>
            </p:cNvPr>
            <p:cNvSpPr/>
            <p:nvPr/>
          </p:nvSpPr>
          <p:spPr>
            <a:xfrm>
              <a:off x="4262228" y="4599341"/>
              <a:ext cx="3743744" cy="306202"/>
            </a:xfrm>
            <a:prstGeom prst="roundRect">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Design of Multiepitope peptide construction</a:t>
              </a:r>
            </a:p>
          </p:txBody>
        </p:sp>
        <p:sp>
          <p:nvSpPr>
            <p:cNvPr id="17" name="Rectangle: Rounded Corners 16">
              <a:extLst>
                <a:ext uri="{FF2B5EF4-FFF2-40B4-BE49-F238E27FC236}">
                  <a16:creationId xmlns:a16="http://schemas.microsoft.com/office/drawing/2014/main" id="{EC72A796-04A0-82D4-AC24-89C5DD5A17A5}"/>
                </a:ext>
              </a:extLst>
            </p:cNvPr>
            <p:cNvSpPr/>
            <p:nvPr/>
          </p:nvSpPr>
          <p:spPr>
            <a:xfrm>
              <a:off x="4943161" y="5144624"/>
              <a:ext cx="2377282" cy="306202"/>
            </a:xfrm>
            <a:prstGeom prst="roundRect">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Molecular Docking Analysis</a:t>
              </a:r>
            </a:p>
          </p:txBody>
        </p:sp>
        <p:sp>
          <p:nvSpPr>
            <p:cNvPr id="18" name="Rectangle: Rounded Corners 17">
              <a:extLst>
                <a:ext uri="{FF2B5EF4-FFF2-40B4-BE49-F238E27FC236}">
                  <a16:creationId xmlns:a16="http://schemas.microsoft.com/office/drawing/2014/main" id="{81E04D37-8FD6-511F-6751-405769876CEA}"/>
                </a:ext>
              </a:extLst>
            </p:cNvPr>
            <p:cNvSpPr/>
            <p:nvPr/>
          </p:nvSpPr>
          <p:spPr>
            <a:xfrm>
              <a:off x="3385341" y="6047479"/>
              <a:ext cx="2681554" cy="616730"/>
            </a:xfrm>
            <a:prstGeom prst="roundRect">
              <a:avLst/>
            </a:prstGeom>
            <a:solidFill>
              <a:srgbClr val="D9D9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HLA Class I – Epitopes Docking</a:t>
              </a:r>
            </a:p>
            <a:p>
              <a:pPr algn="ctr"/>
              <a:r>
                <a:rPr lang="en-US" sz="1400" dirty="0">
                  <a:solidFill>
                    <a:schemeClr val="tx1"/>
                  </a:solidFill>
                </a:rPr>
                <a:t>HLA Class II – Peptides Docking</a:t>
              </a:r>
            </a:p>
          </p:txBody>
        </p:sp>
        <p:sp>
          <p:nvSpPr>
            <p:cNvPr id="20" name="Rectangle: Rounded Corners 19">
              <a:extLst>
                <a:ext uri="{FF2B5EF4-FFF2-40B4-BE49-F238E27FC236}">
                  <a16:creationId xmlns:a16="http://schemas.microsoft.com/office/drawing/2014/main" id="{CFFCB3AB-9814-C2CC-2F80-FB2A353974D9}"/>
                </a:ext>
              </a:extLst>
            </p:cNvPr>
            <p:cNvSpPr/>
            <p:nvPr/>
          </p:nvSpPr>
          <p:spPr>
            <a:xfrm>
              <a:off x="6264086" y="6053057"/>
              <a:ext cx="2376749" cy="611152"/>
            </a:xfrm>
            <a:prstGeom prst="roundRect">
              <a:avLst/>
            </a:prstGeom>
            <a:solidFill>
              <a:srgbClr val="D9D9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TLR-4 – Multiepitope peptide constructs Docking</a:t>
              </a:r>
            </a:p>
          </p:txBody>
        </p:sp>
        <p:sp>
          <p:nvSpPr>
            <p:cNvPr id="21" name="Rectangle: Rounded Corners 20">
              <a:extLst>
                <a:ext uri="{FF2B5EF4-FFF2-40B4-BE49-F238E27FC236}">
                  <a16:creationId xmlns:a16="http://schemas.microsoft.com/office/drawing/2014/main" id="{C4F0CA7B-3CFD-27D5-8E69-EAEAA24DC09C}"/>
                </a:ext>
              </a:extLst>
            </p:cNvPr>
            <p:cNvSpPr/>
            <p:nvPr/>
          </p:nvSpPr>
          <p:spPr>
            <a:xfrm>
              <a:off x="3385340" y="5689907"/>
              <a:ext cx="2681553" cy="306202"/>
            </a:xfrm>
            <a:prstGeom prst="roundRect">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err="1"/>
                <a:t>HPEPDock</a:t>
              </a:r>
              <a:r>
                <a:rPr lang="en-US" sz="1400" dirty="0"/>
                <a:t> Docking Analysis</a:t>
              </a:r>
            </a:p>
          </p:txBody>
        </p:sp>
        <p:sp>
          <p:nvSpPr>
            <p:cNvPr id="22" name="Rectangle: Rounded Corners 21">
              <a:extLst>
                <a:ext uri="{FF2B5EF4-FFF2-40B4-BE49-F238E27FC236}">
                  <a16:creationId xmlns:a16="http://schemas.microsoft.com/office/drawing/2014/main" id="{2ABC8617-A9E2-BA1A-041A-FE51B63714B7}"/>
                </a:ext>
              </a:extLst>
            </p:cNvPr>
            <p:cNvSpPr/>
            <p:nvPr/>
          </p:nvSpPr>
          <p:spPr>
            <a:xfrm>
              <a:off x="6261847" y="5675948"/>
              <a:ext cx="2377282" cy="306202"/>
            </a:xfrm>
            <a:prstGeom prst="roundRect">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err="1"/>
                <a:t>HDock</a:t>
              </a:r>
              <a:r>
                <a:rPr lang="en-US" sz="1400" dirty="0"/>
                <a:t> Docking Analysis</a:t>
              </a:r>
            </a:p>
          </p:txBody>
        </p:sp>
        <p:cxnSp>
          <p:nvCxnSpPr>
            <p:cNvPr id="27" name="Straight Arrow Connector 26">
              <a:extLst>
                <a:ext uri="{FF2B5EF4-FFF2-40B4-BE49-F238E27FC236}">
                  <a16:creationId xmlns:a16="http://schemas.microsoft.com/office/drawing/2014/main" id="{AA70D6AB-1352-B0E0-95C6-2D37221C223D}"/>
                </a:ext>
              </a:extLst>
            </p:cNvPr>
            <p:cNvCxnSpPr>
              <a:cxnSpLocks/>
              <a:stCxn id="5" idx="2"/>
              <a:endCxn id="79" idx="0"/>
            </p:cNvCxnSpPr>
            <p:nvPr/>
          </p:nvCxnSpPr>
          <p:spPr>
            <a:xfrm>
              <a:off x="6134100" y="1632408"/>
              <a:ext cx="5502" cy="128462"/>
            </a:xfrm>
            <a:prstGeom prst="straightConnector1">
              <a:avLst/>
            </a:prstGeom>
            <a:ln w="19050">
              <a:solidFill>
                <a:srgbClr val="C0000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31" name="Connector: Elbow 30">
              <a:extLst>
                <a:ext uri="{FF2B5EF4-FFF2-40B4-BE49-F238E27FC236}">
                  <a16:creationId xmlns:a16="http://schemas.microsoft.com/office/drawing/2014/main" id="{353A4AB5-C262-4A48-0324-F613900BE118}"/>
                </a:ext>
              </a:extLst>
            </p:cNvPr>
            <p:cNvCxnSpPr>
              <a:cxnSpLocks/>
              <a:stCxn id="6" idx="2"/>
              <a:endCxn id="7" idx="0"/>
            </p:cNvCxnSpPr>
            <p:nvPr/>
          </p:nvCxnSpPr>
          <p:spPr>
            <a:xfrm rot="5400000">
              <a:off x="4537032" y="1219687"/>
              <a:ext cx="323008" cy="2862919"/>
            </a:xfrm>
            <a:prstGeom prst="bentConnector3">
              <a:avLst/>
            </a:prstGeom>
            <a:ln w="19050">
              <a:solidFill>
                <a:srgbClr val="C0000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33" name="Connector: Elbow 32">
              <a:extLst>
                <a:ext uri="{FF2B5EF4-FFF2-40B4-BE49-F238E27FC236}">
                  <a16:creationId xmlns:a16="http://schemas.microsoft.com/office/drawing/2014/main" id="{A9A0FBA8-F554-0BB3-1C02-7577878A9663}"/>
                </a:ext>
              </a:extLst>
            </p:cNvPr>
            <p:cNvCxnSpPr>
              <a:cxnSpLocks/>
              <a:stCxn id="6" idx="2"/>
              <a:endCxn id="10" idx="0"/>
            </p:cNvCxnSpPr>
            <p:nvPr/>
          </p:nvCxnSpPr>
          <p:spPr>
            <a:xfrm rot="16200000" flipH="1">
              <a:off x="7212016" y="1407621"/>
              <a:ext cx="327430" cy="2491472"/>
            </a:xfrm>
            <a:prstGeom prst="bentConnector3">
              <a:avLst/>
            </a:prstGeom>
            <a:ln w="19050">
              <a:solidFill>
                <a:srgbClr val="C0000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35" name="Connector: Elbow 34">
              <a:extLst>
                <a:ext uri="{FF2B5EF4-FFF2-40B4-BE49-F238E27FC236}">
                  <a16:creationId xmlns:a16="http://schemas.microsoft.com/office/drawing/2014/main" id="{07D34056-4CD8-369C-8A3D-B1B1B03197F5}"/>
                </a:ext>
              </a:extLst>
            </p:cNvPr>
            <p:cNvCxnSpPr>
              <a:cxnSpLocks/>
              <a:stCxn id="6" idx="2"/>
              <a:endCxn id="9" idx="0"/>
            </p:cNvCxnSpPr>
            <p:nvPr/>
          </p:nvCxnSpPr>
          <p:spPr>
            <a:xfrm rot="16200000" flipH="1">
              <a:off x="5971569" y="2648067"/>
              <a:ext cx="320956" cy="4105"/>
            </a:xfrm>
            <a:prstGeom prst="bentConnector3">
              <a:avLst/>
            </a:prstGeom>
            <a:ln w="19050">
              <a:solidFill>
                <a:srgbClr val="C0000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66064202-0D9B-A725-E390-418838FCCF0C}"/>
                </a:ext>
              </a:extLst>
            </p:cNvPr>
            <p:cNvCxnSpPr>
              <a:cxnSpLocks/>
            </p:cNvCxnSpPr>
            <p:nvPr/>
          </p:nvCxnSpPr>
          <p:spPr>
            <a:xfrm>
              <a:off x="6126820" y="3796259"/>
              <a:ext cx="0" cy="284528"/>
            </a:xfrm>
            <a:prstGeom prst="straightConnector1">
              <a:avLst/>
            </a:prstGeom>
            <a:ln w="19050">
              <a:solidFill>
                <a:srgbClr val="C0000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7E718BB7-4E8A-CA74-ED09-077D9CF67149}"/>
                </a:ext>
              </a:extLst>
            </p:cNvPr>
            <p:cNvCxnSpPr>
              <a:cxnSpLocks/>
            </p:cNvCxnSpPr>
            <p:nvPr/>
          </p:nvCxnSpPr>
          <p:spPr>
            <a:xfrm>
              <a:off x="6128134" y="4374782"/>
              <a:ext cx="0" cy="224559"/>
            </a:xfrm>
            <a:prstGeom prst="straightConnector1">
              <a:avLst/>
            </a:prstGeom>
            <a:ln w="19050">
              <a:solidFill>
                <a:srgbClr val="C0000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41A2D282-3C86-094D-9286-7BCA28E80D3D}"/>
                </a:ext>
              </a:extLst>
            </p:cNvPr>
            <p:cNvCxnSpPr>
              <a:cxnSpLocks/>
            </p:cNvCxnSpPr>
            <p:nvPr/>
          </p:nvCxnSpPr>
          <p:spPr>
            <a:xfrm>
              <a:off x="6129338" y="4800384"/>
              <a:ext cx="0" cy="344240"/>
            </a:xfrm>
            <a:prstGeom prst="straightConnector1">
              <a:avLst/>
            </a:prstGeom>
            <a:ln w="19050">
              <a:solidFill>
                <a:srgbClr val="C0000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8" name="Connector: Elbow 47">
              <a:extLst>
                <a:ext uri="{FF2B5EF4-FFF2-40B4-BE49-F238E27FC236}">
                  <a16:creationId xmlns:a16="http://schemas.microsoft.com/office/drawing/2014/main" id="{3B507E7B-DAFE-6D92-BC1B-49B666F6BC0B}"/>
                </a:ext>
              </a:extLst>
            </p:cNvPr>
            <p:cNvCxnSpPr>
              <a:stCxn id="17" idx="2"/>
              <a:endCxn id="21" idx="0"/>
            </p:cNvCxnSpPr>
            <p:nvPr/>
          </p:nvCxnSpPr>
          <p:spPr>
            <a:xfrm rot="5400000">
              <a:off x="5309420" y="4867524"/>
              <a:ext cx="239081" cy="1405685"/>
            </a:xfrm>
            <a:prstGeom prst="bentConnector3">
              <a:avLst/>
            </a:prstGeom>
            <a:ln w="19050">
              <a:solidFill>
                <a:srgbClr val="C0000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50" name="Connector: Elbow 49">
              <a:extLst>
                <a:ext uri="{FF2B5EF4-FFF2-40B4-BE49-F238E27FC236}">
                  <a16:creationId xmlns:a16="http://schemas.microsoft.com/office/drawing/2014/main" id="{2DC6CF42-F22F-56AC-1CE1-C60167708C47}"/>
                </a:ext>
              </a:extLst>
            </p:cNvPr>
            <p:cNvCxnSpPr>
              <a:stCxn id="17" idx="2"/>
              <a:endCxn id="22" idx="0"/>
            </p:cNvCxnSpPr>
            <p:nvPr/>
          </p:nvCxnSpPr>
          <p:spPr>
            <a:xfrm rot="16200000" flipH="1">
              <a:off x="6678584" y="4904044"/>
              <a:ext cx="225122" cy="1318686"/>
            </a:xfrm>
            <a:prstGeom prst="bentConnector3">
              <a:avLst/>
            </a:prstGeom>
            <a:ln w="19050">
              <a:solidFill>
                <a:srgbClr val="C00000"/>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68" name="Oval 67">
              <a:extLst>
                <a:ext uri="{FF2B5EF4-FFF2-40B4-BE49-F238E27FC236}">
                  <a16:creationId xmlns:a16="http://schemas.microsoft.com/office/drawing/2014/main" id="{BB8C1CDF-8FA7-CF01-5AF3-AFD45A0C670F}"/>
                </a:ext>
              </a:extLst>
            </p:cNvPr>
            <p:cNvSpPr/>
            <p:nvPr/>
          </p:nvSpPr>
          <p:spPr>
            <a:xfrm>
              <a:off x="3382527" y="1291874"/>
              <a:ext cx="390525" cy="359719"/>
            </a:xfrm>
            <a:prstGeom prst="ellipse">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C00000"/>
                  </a:solidFill>
                  <a:latin typeface="Times New Roman" panose="02020603050405020304" pitchFamily="18" charset="0"/>
                  <a:cs typeface="Times New Roman" panose="02020603050405020304" pitchFamily="18" charset="0"/>
                </a:rPr>
                <a:t>1</a:t>
              </a:r>
            </a:p>
          </p:txBody>
        </p:sp>
        <p:sp>
          <p:nvSpPr>
            <p:cNvPr id="69" name="Oval 68">
              <a:extLst>
                <a:ext uri="{FF2B5EF4-FFF2-40B4-BE49-F238E27FC236}">
                  <a16:creationId xmlns:a16="http://schemas.microsoft.com/office/drawing/2014/main" id="{521718EE-0FF4-3F8C-97AD-ABCAD2E9F8ED}"/>
                </a:ext>
              </a:extLst>
            </p:cNvPr>
            <p:cNvSpPr/>
            <p:nvPr/>
          </p:nvSpPr>
          <p:spPr>
            <a:xfrm>
              <a:off x="4851183" y="2184262"/>
              <a:ext cx="390525" cy="359719"/>
            </a:xfrm>
            <a:prstGeom prst="ellipse">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C00000"/>
                  </a:solidFill>
                  <a:latin typeface="Times New Roman" panose="02020603050405020304" pitchFamily="18" charset="0"/>
                  <a:cs typeface="Times New Roman" panose="02020603050405020304" pitchFamily="18" charset="0"/>
                </a:rPr>
                <a:t>3</a:t>
              </a:r>
            </a:p>
          </p:txBody>
        </p:sp>
        <p:sp>
          <p:nvSpPr>
            <p:cNvPr id="70" name="Oval 69">
              <a:extLst>
                <a:ext uri="{FF2B5EF4-FFF2-40B4-BE49-F238E27FC236}">
                  <a16:creationId xmlns:a16="http://schemas.microsoft.com/office/drawing/2014/main" id="{D5764BB1-DCB1-D867-D812-58C1948C37E8}"/>
                </a:ext>
              </a:extLst>
            </p:cNvPr>
            <p:cNvSpPr/>
            <p:nvPr/>
          </p:nvSpPr>
          <p:spPr>
            <a:xfrm>
              <a:off x="3219396" y="4041258"/>
              <a:ext cx="390525" cy="359719"/>
            </a:xfrm>
            <a:prstGeom prst="ellipse">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C00000"/>
                  </a:solidFill>
                  <a:latin typeface="Times New Roman" panose="02020603050405020304" pitchFamily="18" charset="0"/>
                  <a:cs typeface="Times New Roman" panose="02020603050405020304" pitchFamily="18" charset="0"/>
                </a:rPr>
                <a:t>4</a:t>
              </a:r>
            </a:p>
          </p:txBody>
        </p:sp>
        <p:sp>
          <p:nvSpPr>
            <p:cNvPr id="71" name="Oval 70">
              <a:extLst>
                <a:ext uri="{FF2B5EF4-FFF2-40B4-BE49-F238E27FC236}">
                  <a16:creationId xmlns:a16="http://schemas.microsoft.com/office/drawing/2014/main" id="{5517FA95-0A3C-0664-191B-69543D291B39}"/>
                </a:ext>
              </a:extLst>
            </p:cNvPr>
            <p:cNvSpPr/>
            <p:nvPr/>
          </p:nvSpPr>
          <p:spPr>
            <a:xfrm>
              <a:off x="3859772" y="4572582"/>
              <a:ext cx="390525" cy="359719"/>
            </a:xfrm>
            <a:prstGeom prst="ellipse">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C00000"/>
                  </a:solidFill>
                  <a:latin typeface="Times New Roman" panose="02020603050405020304" pitchFamily="18" charset="0"/>
                  <a:cs typeface="Times New Roman" panose="02020603050405020304" pitchFamily="18" charset="0"/>
                </a:rPr>
                <a:t>5</a:t>
              </a:r>
            </a:p>
          </p:txBody>
        </p:sp>
        <p:sp>
          <p:nvSpPr>
            <p:cNvPr id="72" name="Oval 71">
              <a:extLst>
                <a:ext uri="{FF2B5EF4-FFF2-40B4-BE49-F238E27FC236}">
                  <a16:creationId xmlns:a16="http://schemas.microsoft.com/office/drawing/2014/main" id="{49E0E9AF-6DC9-8B80-4CB8-70D4892C618A}"/>
                </a:ext>
              </a:extLst>
            </p:cNvPr>
            <p:cNvSpPr/>
            <p:nvPr/>
          </p:nvSpPr>
          <p:spPr>
            <a:xfrm>
              <a:off x="4547709" y="5117865"/>
              <a:ext cx="390525" cy="359719"/>
            </a:xfrm>
            <a:prstGeom prst="ellipse">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C00000"/>
                  </a:solidFill>
                  <a:latin typeface="Times New Roman" panose="02020603050405020304" pitchFamily="18" charset="0"/>
                  <a:cs typeface="Times New Roman" panose="02020603050405020304" pitchFamily="18" charset="0"/>
                </a:rPr>
                <a:t>6</a:t>
              </a:r>
            </a:p>
          </p:txBody>
        </p:sp>
        <p:cxnSp>
          <p:nvCxnSpPr>
            <p:cNvPr id="74" name="Connector: Elbow 73">
              <a:extLst>
                <a:ext uri="{FF2B5EF4-FFF2-40B4-BE49-F238E27FC236}">
                  <a16:creationId xmlns:a16="http://schemas.microsoft.com/office/drawing/2014/main" id="{ECE06DA8-A34E-2E0D-4982-6EEC18C6FC34}"/>
                </a:ext>
              </a:extLst>
            </p:cNvPr>
            <p:cNvCxnSpPr>
              <a:cxnSpLocks/>
            </p:cNvCxnSpPr>
            <p:nvPr/>
          </p:nvCxnSpPr>
          <p:spPr>
            <a:xfrm rot="16200000" flipH="1">
              <a:off x="4552038" y="2500591"/>
              <a:ext cx="282541" cy="2867024"/>
            </a:xfrm>
            <a:prstGeom prst="bentConnector3">
              <a:avLst/>
            </a:prstGeom>
            <a:ln w="19050">
              <a:solidFill>
                <a:srgbClr val="C0000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78" name="Connector: Elbow 77">
              <a:extLst>
                <a:ext uri="{FF2B5EF4-FFF2-40B4-BE49-F238E27FC236}">
                  <a16:creationId xmlns:a16="http://schemas.microsoft.com/office/drawing/2014/main" id="{03A71DB5-D4DC-E25B-9C59-08D1AE6BF9CE}"/>
                </a:ext>
              </a:extLst>
            </p:cNvPr>
            <p:cNvCxnSpPr>
              <a:stCxn id="14" idx="2"/>
              <a:endCxn id="15" idx="0"/>
            </p:cNvCxnSpPr>
            <p:nvPr/>
          </p:nvCxnSpPr>
          <p:spPr>
            <a:xfrm rot="5400000">
              <a:off x="7242276" y="2688826"/>
              <a:ext cx="271016" cy="2487367"/>
            </a:xfrm>
            <a:prstGeom prst="bentConnector3">
              <a:avLst/>
            </a:prstGeom>
            <a:ln w="19050">
              <a:solidFill>
                <a:srgbClr val="C00000"/>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79" name="Rectangle: Rounded Corners 78">
              <a:extLst>
                <a:ext uri="{FF2B5EF4-FFF2-40B4-BE49-F238E27FC236}">
                  <a16:creationId xmlns:a16="http://schemas.microsoft.com/office/drawing/2014/main" id="{06227653-29BB-4500-C230-6B7D0A8D8B88}"/>
                </a:ext>
              </a:extLst>
            </p:cNvPr>
            <p:cNvSpPr/>
            <p:nvPr/>
          </p:nvSpPr>
          <p:spPr>
            <a:xfrm>
              <a:off x="4573479" y="1760870"/>
              <a:ext cx="3132246" cy="306202"/>
            </a:xfrm>
            <a:prstGeom prst="roundRect">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Auto-immunogenic Fragments Removal</a:t>
              </a:r>
            </a:p>
          </p:txBody>
        </p:sp>
        <p:sp>
          <p:nvSpPr>
            <p:cNvPr id="80" name="Oval 79">
              <a:extLst>
                <a:ext uri="{FF2B5EF4-FFF2-40B4-BE49-F238E27FC236}">
                  <a16:creationId xmlns:a16="http://schemas.microsoft.com/office/drawing/2014/main" id="{76C39D09-FD81-47EC-6640-12E0C6E71267}"/>
                </a:ext>
              </a:extLst>
            </p:cNvPr>
            <p:cNvSpPr/>
            <p:nvPr/>
          </p:nvSpPr>
          <p:spPr>
            <a:xfrm>
              <a:off x="4175676" y="1732726"/>
              <a:ext cx="385103" cy="359719"/>
            </a:xfrm>
            <a:prstGeom prst="ellipse">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C00000"/>
                  </a:solidFill>
                  <a:latin typeface="Times New Roman" panose="02020603050405020304" pitchFamily="18" charset="0"/>
                  <a:cs typeface="Times New Roman" panose="02020603050405020304" pitchFamily="18" charset="0"/>
                </a:rPr>
                <a:t>2</a:t>
              </a:r>
            </a:p>
          </p:txBody>
        </p:sp>
        <p:cxnSp>
          <p:nvCxnSpPr>
            <p:cNvPr id="99" name="Straight Arrow Connector 98">
              <a:extLst>
                <a:ext uri="{FF2B5EF4-FFF2-40B4-BE49-F238E27FC236}">
                  <a16:creationId xmlns:a16="http://schemas.microsoft.com/office/drawing/2014/main" id="{A2353AC3-0E24-7A53-E8BD-E3B1E36957C7}"/>
                </a:ext>
              </a:extLst>
            </p:cNvPr>
            <p:cNvCxnSpPr>
              <a:cxnSpLocks/>
            </p:cNvCxnSpPr>
            <p:nvPr/>
          </p:nvCxnSpPr>
          <p:spPr>
            <a:xfrm>
              <a:off x="6134100" y="2057978"/>
              <a:ext cx="0" cy="128462"/>
            </a:xfrm>
            <a:prstGeom prst="straightConnector1">
              <a:avLst/>
            </a:prstGeom>
            <a:ln w="19050">
              <a:solidFill>
                <a:srgbClr val="C00000"/>
              </a:solidFill>
              <a:prstDash val="sysDash"/>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1028302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4BEA735E-53DF-D878-64AC-0ABA8C6FF35E}"/>
              </a:ext>
            </a:extLst>
          </p:cNvPr>
          <p:cNvGrpSpPr/>
          <p:nvPr/>
        </p:nvGrpSpPr>
        <p:grpSpPr>
          <a:xfrm>
            <a:off x="3905988" y="207398"/>
            <a:ext cx="5336056" cy="806213"/>
            <a:chOff x="739737" y="344774"/>
            <a:chExt cx="9439576" cy="1042237"/>
          </a:xfrm>
        </p:grpSpPr>
        <p:sp>
          <p:nvSpPr>
            <p:cNvPr id="5" name="Rectangle: Rounded Corners 4">
              <a:extLst>
                <a:ext uri="{FF2B5EF4-FFF2-40B4-BE49-F238E27FC236}">
                  <a16:creationId xmlns:a16="http://schemas.microsoft.com/office/drawing/2014/main" id="{9A8D4CCB-E61D-E3E7-139D-3069230602C4}"/>
                </a:ext>
              </a:extLst>
            </p:cNvPr>
            <p:cNvSpPr/>
            <p:nvPr/>
          </p:nvSpPr>
          <p:spPr>
            <a:xfrm>
              <a:off x="739739" y="344774"/>
              <a:ext cx="8311794" cy="1042237"/>
            </a:xfrm>
            <a:prstGeom prst="roundRect">
              <a:avLst/>
            </a:prstGeom>
            <a:solidFill>
              <a:schemeClr val="bg1">
                <a:lumMod val="85000"/>
              </a:schemeClr>
            </a:solidFill>
            <a:ln>
              <a:no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en-US" dirty="0"/>
            </a:p>
          </p:txBody>
        </p:sp>
        <p:sp>
          <p:nvSpPr>
            <p:cNvPr id="6" name="Title 1">
              <a:extLst>
                <a:ext uri="{FF2B5EF4-FFF2-40B4-BE49-F238E27FC236}">
                  <a16:creationId xmlns:a16="http://schemas.microsoft.com/office/drawing/2014/main" id="{BECAD4D5-1EF0-E80B-97B7-11E0CFBA5166}"/>
                </a:ext>
              </a:extLst>
            </p:cNvPr>
            <p:cNvSpPr txBox="1">
              <a:spLocks/>
            </p:cNvSpPr>
            <p:nvPr/>
          </p:nvSpPr>
          <p:spPr>
            <a:xfrm>
              <a:off x="739737" y="344774"/>
              <a:ext cx="9439576" cy="960044"/>
            </a:xfrm>
            <a:prstGeom prst="rect">
              <a:avLst/>
            </a:prstGeom>
            <a:noFill/>
            <a:ln w="12700" cap="flat" cmpd="sng" algn="ctr">
              <a:noFill/>
              <a:prstDash val="solid"/>
              <a:miter lim="800000"/>
            </a:ln>
          </p:spPr>
          <p:style>
            <a:lnRef idx="1">
              <a:schemeClr val="accent4"/>
            </a:lnRef>
            <a:fillRef idx="2">
              <a:schemeClr val="accent4"/>
            </a:fillRef>
            <a:effectRef idx="1">
              <a:schemeClr val="accent4"/>
            </a:effectRef>
            <a:fontRef idx="minor">
              <a:schemeClr val="dk1"/>
            </a:fontRef>
          </p:style>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l"/>
              <a:r>
                <a:rPr lang="en-US" sz="4400" dirty="0">
                  <a:solidFill>
                    <a:srgbClr val="C00000"/>
                  </a:solidFill>
                </a:rPr>
                <a:t>Sequences retrieval</a:t>
              </a:r>
            </a:p>
          </p:txBody>
        </p:sp>
      </p:grpSp>
      <p:pic>
        <p:nvPicPr>
          <p:cNvPr id="8" name="Picture 7">
            <a:extLst>
              <a:ext uri="{FF2B5EF4-FFF2-40B4-BE49-F238E27FC236}">
                <a16:creationId xmlns:a16="http://schemas.microsoft.com/office/drawing/2014/main" id="{23D65325-5AC0-903D-F987-AA2C05D80872}"/>
              </a:ext>
            </a:extLst>
          </p:cNvPr>
          <p:cNvPicPr>
            <a:picLocks noChangeAspect="1"/>
          </p:cNvPicPr>
          <p:nvPr/>
        </p:nvPicPr>
        <p:blipFill>
          <a:blip r:embed="rId2"/>
          <a:stretch>
            <a:fillRect/>
          </a:stretch>
        </p:blipFill>
        <p:spPr>
          <a:xfrm>
            <a:off x="192887" y="1363467"/>
            <a:ext cx="6407634" cy="1995424"/>
          </a:xfrm>
          <a:prstGeom prst="rect">
            <a:avLst/>
          </a:prstGeom>
        </p:spPr>
      </p:pic>
      <p:pic>
        <p:nvPicPr>
          <p:cNvPr id="10" name="Picture 9">
            <a:extLst>
              <a:ext uri="{FF2B5EF4-FFF2-40B4-BE49-F238E27FC236}">
                <a16:creationId xmlns:a16="http://schemas.microsoft.com/office/drawing/2014/main" id="{0EAB44B9-D181-EC55-CEB3-A520B7818EA2}"/>
              </a:ext>
            </a:extLst>
          </p:cNvPr>
          <p:cNvPicPr>
            <a:picLocks noChangeAspect="1"/>
          </p:cNvPicPr>
          <p:nvPr/>
        </p:nvPicPr>
        <p:blipFill>
          <a:blip r:embed="rId3"/>
          <a:stretch>
            <a:fillRect/>
          </a:stretch>
        </p:blipFill>
        <p:spPr>
          <a:xfrm>
            <a:off x="8346913" y="1344416"/>
            <a:ext cx="2487255" cy="1995425"/>
          </a:xfrm>
          <a:prstGeom prst="rect">
            <a:avLst/>
          </a:prstGeom>
        </p:spPr>
      </p:pic>
      <p:pic>
        <p:nvPicPr>
          <p:cNvPr id="14" name="Picture 13">
            <a:extLst>
              <a:ext uri="{FF2B5EF4-FFF2-40B4-BE49-F238E27FC236}">
                <a16:creationId xmlns:a16="http://schemas.microsoft.com/office/drawing/2014/main" id="{7F2B6BEF-0E9C-C5EE-A5AA-2580BF2FDE58}"/>
              </a:ext>
            </a:extLst>
          </p:cNvPr>
          <p:cNvPicPr>
            <a:picLocks noChangeAspect="1"/>
          </p:cNvPicPr>
          <p:nvPr/>
        </p:nvPicPr>
        <p:blipFill>
          <a:blip r:embed="rId4"/>
          <a:srcRect b="26384"/>
          <a:stretch>
            <a:fillRect/>
          </a:stretch>
        </p:blipFill>
        <p:spPr>
          <a:xfrm>
            <a:off x="259562" y="3851534"/>
            <a:ext cx="11639550" cy="1764256"/>
          </a:xfrm>
          <a:prstGeom prst="rect">
            <a:avLst/>
          </a:prstGeom>
        </p:spPr>
      </p:pic>
      <p:sp>
        <p:nvSpPr>
          <p:cNvPr id="15" name="Rectangle 14">
            <a:extLst>
              <a:ext uri="{FF2B5EF4-FFF2-40B4-BE49-F238E27FC236}">
                <a16:creationId xmlns:a16="http://schemas.microsoft.com/office/drawing/2014/main" id="{A766888D-E34E-0C3E-C9C5-D5EB60EFA45F}"/>
              </a:ext>
            </a:extLst>
          </p:cNvPr>
          <p:cNvSpPr/>
          <p:nvPr/>
        </p:nvSpPr>
        <p:spPr>
          <a:xfrm>
            <a:off x="161925" y="4152900"/>
            <a:ext cx="11903863" cy="123826"/>
          </a:xfrm>
          <a:prstGeom prst="rect">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p14="http://schemas.microsoft.com/office/powerpoint/2010/main">
        <mc:Choice Requires="p14">
          <p:contentPart p14:bwMode="auto" r:id="rId5">
            <p14:nvContentPartPr>
              <p14:cNvPr id="17" name="Ink 16">
                <a:extLst>
                  <a:ext uri="{FF2B5EF4-FFF2-40B4-BE49-F238E27FC236}">
                    <a16:creationId xmlns:a16="http://schemas.microsoft.com/office/drawing/2014/main" id="{DC1CB92D-841F-948D-EEE8-4E1BF7C95F5D}"/>
                  </a:ext>
                </a:extLst>
              </p14:cNvPr>
              <p14:cNvContentPartPr/>
              <p14:nvPr/>
            </p14:nvContentPartPr>
            <p14:xfrm>
              <a:off x="3657445" y="4194295"/>
              <a:ext cx="515880" cy="41760"/>
            </p14:xfrm>
          </p:contentPart>
        </mc:Choice>
        <mc:Fallback xmlns="">
          <p:pic>
            <p:nvPicPr>
              <p:cNvPr id="17" name="Ink 16">
                <a:extLst>
                  <a:ext uri="{FF2B5EF4-FFF2-40B4-BE49-F238E27FC236}">
                    <a16:creationId xmlns:a16="http://schemas.microsoft.com/office/drawing/2014/main" id="{DC1CB92D-841F-948D-EEE8-4E1BF7C95F5D}"/>
                  </a:ext>
                </a:extLst>
              </p:cNvPr>
              <p:cNvPicPr/>
              <p:nvPr/>
            </p:nvPicPr>
            <p:blipFill>
              <a:blip r:embed="rId6"/>
              <a:stretch>
                <a:fillRect/>
              </a:stretch>
            </p:blipFill>
            <p:spPr>
              <a:xfrm>
                <a:off x="3639445" y="4158295"/>
                <a:ext cx="551520" cy="1134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9" name="Ink 18">
                <a:extLst>
                  <a:ext uri="{FF2B5EF4-FFF2-40B4-BE49-F238E27FC236}">
                    <a16:creationId xmlns:a16="http://schemas.microsoft.com/office/drawing/2014/main" id="{4AC50448-D9AE-56B8-4DAC-DEF935250A30}"/>
                  </a:ext>
                </a:extLst>
              </p14:cNvPr>
              <p14:cNvContentPartPr/>
              <p14:nvPr/>
            </p14:nvContentPartPr>
            <p14:xfrm>
              <a:off x="8124805" y="4216420"/>
              <a:ext cx="2737080" cy="720"/>
            </p14:xfrm>
          </p:contentPart>
        </mc:Choice>
        <mc:Fallback xmlns="">
          <p:pic>
            <p:nvPicPr>
              <p:cNvPr id="19" name="Ink 18">
                <a:extLst>
                  <a:ext uri="{FF2B5EF4-FFF2-40B4-BE49-F238E27FC236}">
                    <a16:creationId xmlns:a16="http://schemas.microsoft.com/office/drawing/2014/main" id="{4AC50448-D9AE-56B8-4DAC-DEF935250A30}"/>
                  </a:ext>
                </a:extLst>
              </p:cNvPr>
              <p:cNvPicPr/>
              <p:nvPr/>
            </p:nvPicPr>
            <p:blipFill>
              <a:blip r:embed="rId8"/>
              <a:stretch>
                <a:fillRect/>
              </a:stretch>
            </p:blipFill>
            <p:spPr>
              <a:xfrm>
                <a:off x="8106805" y="4144420"/>
                <a:ext cx="2772720" cy="1440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21" name="Ink 20">
                <a:extLst>
                  <a:ext uri="{FF2B5EF4-FFF2-40B4-BE49-F238E27FC236}">
                    <a16:creationId xmlns:a16="http://schemas.microsoft.com/office/drawing/2014/main" id="{A62414CB-F9AC-A72B-772A-1FF4B0478DCB}"/>
                  </a:ext>
                </a:extLst>
              </p14:cNvPr>
              <p14:cNvContentPartPr/>
              <p14:nvPr/>
            </p14:nvContentPartPr>
            <p14:xfrm>
              <a:off x="8156485" y="4241455"/>
              <a:ext cx="2702160" cy="720"/>
            </p14:xfrm>
          </p:contentPart>
        </mc:Choice>
        <mc:Fallback xmlns="">
          <p:pic>
            <p:nvPicPr>
              <p:cNvPr id="21" name="Ink 20">
                <a:extLst>
                  <a:ext uri="{FF2B5EF4-FFF2-40B4-BE49-F238E27FC236}">
                    <a16:creationId xmlns:a16="http://schemas.microsoft.com/office/drawing/2014/main" id="{A62414CB-F9AC-A72B-772A-1FF4B0478DCB}"/>
                  </a:ext>
                </a:extLst>
              </p:cNvPr>
              <p:cNvPicPr/>
              <p:nvPr/>
            </p:nvPicPr>
            <p:blipFill>
              <a:blip r:embed="rId10"/>
              <a:stretch>
                <a:fillRect/>
              </a:stretch>
            </p:blipFill>
            <p:spPr>
              <a:xfrm>
                <a:off x="8138485" y="4170175"/>
                <a:ext cx="2737800" cy="1440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23" name="Ink 22">
                <a:extLst>
                  <a:ext uri="{FF2B5EF4-FFF2-40B4-BE49-F238E27FC236}">
                    <a16:creationId xmlns:a16="http://schemas.microsoft.com/office/drawing/2014/main" id="{75DDA6DA-8FA3-50F3-808B-B6FDA808C75E}"/>
                  </a:ext>
                </a:extLst>
              </p14:cNvPr>
              <p14:cNvContentPartPr/>
              <p14:nvPr/>
            </p14:nvContentPartPr>
            <p14:xfrm>
              <a:off x="11688085" y="4186735"/>
              <a:ext cx="194400" cy="70200"/>
            </p14:xfrm>
          </p:contentPart>
        </mc:Choice>
        <mc:Fallback xmlns="">
          <p:pic>
            <p:nvPicPr>
              <p:cNvPr id="23" name="Ink 22">
                <a:extLst>
                  <a:ext uri="{FF2B5EF4-FFF2-40B4-BE49-F238E27FC236}">
                    <a16:creationId xmlns:a16="http://schemas.microsoft.com/office/drawing/2014/main" id="{75DDA6DA-8FA3-50F3-808B-B6FDA808C75E}"/>
                  </a:ext>
                </a:extLst>
              </p:cNvPr>
              <p:cNvPicPr/>
              <p:nvPr/>
            </p:nvPicPr>
            <p:blipFill>
              <a:blip r:embed="rId12"/>
              <a:stretch>
                <a:fillRect/>
              </a:stretch>
            </p:blipFill>
            <p:spPr>
              <a:xfrm>
                <a:off x="11670085" y="4150735"/>
                <a:ext cx="230040" cy="141840"/>
              </a:xfrm>
              <a:prstGeom prst="rect">
                <a:avLst/>
              </a:prstGeom>
            </p:spPr>
          </p:pic>
        </mc:Fallback>
      </mc:AlternateContent>
      <p:sp>
        <p:nvSpPr>
          <p:cNvPr id="24" name="Rectangle 23">
            <a:extLst>
              <a:ext uri="{FF2B5EF4-FFF2-40B4-BE49-F238E27FC236}">
                <a16:creationId xmlns:a16="http://schemas.microsoft.com/office/drawing/2014/main" id="{33FB716E-5EE5-74FB-81E1-160324B42A55}"/>
              </a:ext>
            </a:extLst>
          </p:cNvPr>
          <p:cNvSpPr/>
          <p:nvPr/>
        </p:nvSpPr>
        <p:spPr>
          <a:xfrm>
            <a:off x="161926" y="4019550"/>
            <a:ext cx="962024" cy="1658208"/>
          </a:xfrm>
          <a:prstGeom prst="rect">
            <a:avLst/>
          </a:prstGeom>
          <a:noFill/>
          <a:ln w="28575">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8" name="Connector: Elbow 27">
            <a:extLst>
              <a:ext uri="{FF2B5EF4-FFF2-40B4-BE49-F238E27FC236}">
                <a16:creationId xmlns:a16="http://schemas.microsoft.com/office/drawing/2014/main" id="{EBB3B47F-5549-5EB9-3F5E-887BBB8D0566}"/>
              </a:ext>
            </a:extLst>
          </p:cNvPr>
          <p:cNvCxnSpPr>
            <a:stCxn id="24" idx="2"/>
          </p:cNvCxnSpPr>
          <p:nvPr/>
        </p:nvCxnSpPr>
        <p:spPr>
          <a:xfrm rot="16200000" flipH="1">
            <a:off x="974360" y="5346335"/>
            <a:ext cx="246792" cy="909637"/>
          </a:xfrm>
          <a:prstGeom prst="bentConnector2">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F5B6E00A-98A5-5FBE-8B8D-4531C13CFD39}"/>
              </a:ext>
            </a:extLst>
          </p:cNvPr>
          <p:cNvSpPr txBox="1"/>
          <p:nvPr/>
        </p:nvSpPr>
        <p:spPr>
          <a:xfrm>
            <a:off x="1654354" y="5749892"/>
            <a:ext cx="9839325" cy="646331"/>
          </a:xfrm>
          <a:prstGeom prst="rect">
            <a:avLst/>
          </a:prstGeom>
          <a:noFill/>
        </p:spPr>
        <p:txBody>
          <a:bodyPr wrap="square" rtlCol="0">
            <a:spAutoFit/>
          </a:bodyPr>
          <a:lstStyle/>
          <a:p>
            <a:r>
              <a:rPr lang="en-US" dirty="0"/>
              <a:t>The filtered 1872 Accession Nos. list was then fed to NCBI’s “Batch Entrez” Web server to retrieve all the sequences in a single FASTA file for further processing</a:t>
            </a:r>
          </a:p>
        </p:txBody>
      </p:sp>
      <p:sp>
        <p:nvSpPr>
          <p:cNvPr id="30" name="Arrow: Right 29">
            <a:extLst>
              <a:ext uri="{FF2B5EF4-FFF2-40B4-BE49-F238E27FC236}">
                <a16:creationId xmlns:a16="http://schemas.microsoft.com/office/drawing/2014/main" id="{798CDCFA-8051-92C6-9B18-0E914E690D78}"/>
              </a:ext>
            </a:extLst>
          </p:cNvPr>
          <p:cNvSpPr/>
          <p:nvPr/>
        </p:nvSpPr>
        <p:spPr>
          <a:xfrm>
            <a:off x="6848475" y="2352675"/>
            <a:ext cx="1241335" cy="159795"/>
          </a:xfrm>
          <a:prstGeom prst="rightArrow">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Arrow: Bent 30">
            <a:extLst>
              <a:ext uri="{FF2B5EF4-FFF2-40B4-BE49-F238E27FC236}">
                <a16:creationId xmlns:a16="http://schemas.microsoft.com/office/drawing/2014/main" id="{9C8057FC-AC89-4FDB-90CA-81147D970402}"/>
              </a:ext>
            </a:extLst>
          </p:cNvPr>
          <p:cNvSpPr/>
          <p:nvPr/>
        </p:nvSpPr>
        <p:spPr>
          <a:xfrm rot="5400000">
            <a:off x="10730579" y="2758156"/>
            <a:ext cx="1031537" cy="310154"/>
          </a:xfrm>
          <a:prstGeom prst="bentArrow">
            <a:avLst>
              <a:gd name="adj1" fmla="val 25000"/>
              <a:gd name="adj2" fmla="val 23538"/>
              <a:gd name="adj3" fmla="val 25000"/>
              <a:gd name="adj4" fmla="val 43750"/>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7" name="Rectangle 36">
            <a:extLst>
              <a:ext uri="{FF2B5EF4-FFF2-40B4-BE49-F238E27FC236}">
                <a16:creationId xmlns:a16="http://schemas.microsoft.com/office/drawing/2014/main" id="{97E4687C-930B-BF3A-7062-2B911A985945}"/>
              </a:ext>
            </a:extLst>
          </p:cNvPr>
          <p:cNvSpPr/>
          <p:nvPr/>
        </p:nvSpPr>
        <p:spPr>
          <a:xfrm>
            <a:off x="0" y="1675"/>
            <a:ext cx="12192000" cy="6858000"/>
          </a:xfrm>
          <a:prstGeom prst="rect">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676912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9"/>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4"/>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8"/>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24" grpId="0" animBg="1"/>
      <p:bldP spid="29" grpId="0"/>
      <p:bldP spid="30" grpId="0" animBg="1"/>
      <p:bldP spid="31"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2FD40F1A-D146-6E3F-FBC9-49D14BC38F53}"/>
              </a:ext>
            </a:extLst>
          </p:cNvPr>
          <p:cNvGrpSpPr/>
          <p:nvPr/>
        </p:nvGrpSpPr>
        <p:grpSpPr>
          <a:xfrm>
            <a:off x="1928203" y="308399"/>
            <a:ext cx="8307782" cy="792022"/>
            <a:chOff x="739739" y="344774"/>
            <a:chExt cx="8311795" cy="1042237"/>
          </a:xfrm>
        </p:grpSpPr>
        <p:sp>
          <p:nvSpPr>
            <p:cNvPr id="3" name="Rectangle: Rounded Corners 2">
              <a:extLst>
                <a:ext uri="{FF2B5EF4-FFF2-40B4-BE49-F238E27FC236}">
                  <a16:creationId xmlns:a16="http://schemas.microsoft.com/office/drawing/2014/main" id="{192A7F7D-0C45-62D1-46CB-C2C447784FCC}"/>
                </a:ext>
              </a:extLst>
            </p:cNvPr>
            <p:cNvSpPr/>
            <p:nvPr/>
          </p:nvSpPr>
          <p:spPr>
            <a:xfrm>
              <a:off x="739739" y="344774"/>
              <a:ext cx="8311794" cy="1042237"/>
            </a:xfrm>
            <a:prstGeom prst="roundRect">
              <a:avLst/>
            </a:prstGeom>
            <a:solidFill>
              <a:schemeClr val="bg1">
                <a:lumMod val="85000"/>
              </a:schemeClr>
            </a:solidFill>
            <a:ln>
              <a:no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en-US" sz="2000" dirty="0"/>
            </a:p>
          </p:txBody>
        </p:sp>
        <p:sp>
          <p:nvSpPr>
            <p:cNvPr id="4" name="Title 1">
              <a:extLst>
                <a:ext uri="{FF2B5EF4-FFF2-40B4-BE49-F238E27FC236}">
                  <a16:creationId xmlns:a16="http://schemas.microsoft.com/office/drawing/2014/main" id="{F99D52A8-5C7A-CDA0-1D1F-5B83899CE904}"/>
                </a:ext>
              </a:extLst>
            </p:cNvPr>
            <p:cNvSpPr txBox="1">
              <a:spLocks/>
            </p:cNvSpPr>
            <p:nvPr/>
          </p:nvSpPr>
          <p:spPr>
            <a:xfrm>
              <a:off x="739739" y="344774"/>
              <a:ext cx="8311795" cy="960043"/>
            </a:xfrm>
            <a:prstGeom prst="rect">
              <a:avLst/>
            </a:prstGeom>
            <a:noFill/>
            <a:ln w="12700" cap="flat" cmpd="sng" algn="ctr">
              <a:noFill/>
              <a:prstDash val="solid"/>
              <a:miter lim="800000"/>
            </a:ln>
          </p:spPr>
          <p:style>
            <a:lnRef idx="1">
              <a:schemeClr val="accent4"/>
            </a:lnRef>
            <a:fillRef idx="2">
              <a:schemeClr val="accent4"/>
            </a:fillRef>
            <a:effectRef idx="1">
              <a:schemeClr val="accent4"/>
            </a:effectRef>
            <a:fontRef idx="minor">
              <a:schemeClr val="dk1"/>
            </a:fontRef>
          </p:style>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l"/>
              <a:r>
                <a:rPr lang="en-US" sz="4400" dirty="0">
                  <a:solidFill>
                    <a:srgbClr val="C00000"/>
                  </a:solidFill>
                </a:rPr>
                <a:t>Conserved sequences identification</a:t>
              </a:r>
            </a:p>
          </p:txBody>
        </p:sp>
      </p:grpSp>
      <p:sp>
        <p:nvSpPr>
          <p:cNvPr id="6" name="Arrow: Right 5">
            <a:extLst>
              <a:ext uri="{FF2B5EF4-FFF2-40B4-BE49-F238E27FC236}">
                <a16:creationId xmlns:a16="http://schemas.microsoft.com/office/drawing/2014/main" id="{B198BF9A-A724-8000-729A-013DEB4F8ABB}"/>
              </a:ext>
            </a:extLst>
          </p:cNvPr>
          <p:cNvSpPr/>
          <p:nvPr/>
        </p:nvSpPr>
        <p:spPr>
          <a:xfrm>
            <a:off x="561975" y="2737849"/>
            <a:ext cx="1009971" cy="167276"/>
          </a:xfrm>
          <a:prstGeom prst="rightArrow">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7" name="Group 26">
            <a:extLst>
              <a:ext uri="{FF2B5EF4-FFF2-40B4-BE49-F238E27FC236}">
                <a16:creationId xmlns:a16="http://schemas.microsoft.com/office/drawing/2014/main" id="{463F3D98-BAC4-A069-AE68-973D2A92E47D}"/>
              </a:ext>
            </a:extLst>
          </p:cNvPr>
          <p:cNvGrpSpPr/>
          <p:nvPr/>
        </p:nvGrpSpPr>
        <p:grpSpPr>
          <a:xfrm>
            <a:off x="7369274" y="1628614"/>
            <a:ext cx="3791408" cy="2814509"/>
            <a:chOff x="1622778" y="1458995"/>
            <a:chExt cx="3791408" cy="2814509"/>
          </a:xfrm>
        </p:grpSpPr>
        <p:pic>
          <p:nvPicPr>
            <p:cNvPr id="8" name="Picture 7">
              <a:extLst>
                <a:ext uri="{FF2B5EF4-FFF2-40B4-BE49-F238E27FC236}">
                  <a16:creationId xmlns:a16="http://schemas.microsoft.com/office/drawing/2014/main" id="{8172CB3D-A40B-2C15-09EC-BDC11FF6ACC6}"/>
                </a:ext>
              </a:extLst>
            </p:cNvPr>
            <p:cNvPicPr>
              <a:picLocks noChangeAspect="1"/>
            </p:cNvPicPr>
            <p:nvPr/>
          </p:nvPicPr>
          <p:blipFill>
            <a:blip r:embed="rId2"/>
            <a:stretch>
              <a:fillRect/>
            </a:stretch>
          </p:blipFill>
          <p:spPr>
            <a:xfrm>
              <a:off x="1693173" y="1458995"/>
              <a:ext cx="3721013" cy="2771775"/>
            </a:xfrm>
            <a:prstGeom prst="rect">
              <a:avLst/>
            </a:prstGeom>
          </p:spPr>
        </p:pic>
        <p:sp>
          <p:nvSpPr>
            <p:cNvPr id="17" name="Rectangle: Rounded Corners 16">
              <a:extLst>
                <a:ext uri="{FF2B5EF4-FFF2-40B4-BE49-F238E27FC236}">
                  <a16:creationId xmlns:a16="http://schemas.microsoft.com/office/drawing/2014/main" id="{342FCF0D-91A3-EA4E-C8A9-43164B0C6D3D}"/>
                </a:ext>
              </a:extLst>
            </p:cNvPr>
            <p:cNvSpPr/>
            <p:nvPr/>
          </p:nvSpPr>
          <p:spPr>
            <a:xfrm>
              <a:off x="1622778" y="4107555"/>
              <a:ext cx="1439828" cy="165949"/>
            </a:xfrm>
            <a:prstGeom prst="roundRect">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2" name="Arrow: Right 11">
            <a:extLst>
              <a:ext uri="{FF2B5EF4-FFF2-40B4-BE49-F238E27FC236}">
                <a16:creationId xmlns:a16="http://schemas.microsoft.com/office/drawing/2014/main" id="{923979E9-E93C-D0ED-EAB4-E8E9BCC5BD6B}"/>
              </a:ext>
            </a:extLst>
          </p:cNvPr>
          <p:cNvSpPr/>
          <p:nvPr/>
        </p:nvSpPr>
        <p:spPr>
          <a:xfrm>
            <a:off x="6172945" y="2739615"/>
            <a:ext cx="998412" cy="165510"/>
          </a:xfrm>
          <a:prstGeom prst="rightArrow">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4">
            <a:extLst>
              <a:ext uri="{FF2B5EF4-FFF2-40B4-BE49-F238E27FC236}">
                <a16:creationId xmlns:a16="http://schemas.microsoft.com/office/drawing/2014/main" id="{DEEC545F-39F9-0DFC-8734-6A2937BD1EB2}"/>
              </a:ext>
            </a:extLst>
          </p:cNvPr>
          <p:cNvPicPr>
            <a:picLocks noChangeAspect="1"/>
          </p:cNvPicPr>
          <p:nvPr/>
        </p:nvPicPr>
        <p:blipFill>
          <a:blip r:embed="rId3"/>
          <a:srcRect r="23571" b="28637"/>
          <a:stretch>
            <a:fillRect/>
          </a:stretch>
        </p:blipFill>
        <p:spPr>
          <a:xfrm>
            <a:off x="1814184" y="1404764"/>
            <a:ext cx="4259275" cy="2730869"/>
          </a:xfrm>
          <a:prstGeom prst="rect">
            <a:avLst/>
          </a:prstGeom>
        </p:spPr>
      </p:pic>
      <p:sp>
        <p:nvSpPr>
          <p:cNvPr id="16" name="Rectangle: Rounded Corners 15">
            <a:extLst>
              <a:ext uri="{FF2B5EF4-FFF2-40B4-BE49-F238E27FC236}">
                <a16:creationId xmlns:a16="http://schemas.microsoft.com/office/drawing/2014/main" id="{FA2F16D2-166E-2D01-F6DF-39CA6D37C5E0}"/>
              </a:ext>
            </a:extLst>
          </p:cNvPr>
          <p:cNvSpPr/>
          <p:nvPr/>
        </p:nvSpPr>
        <p:spPr>
          <a:xfrm>
            <a:off x="3081067" y="1657593"/>
            <a:ext cx="138112" cy="195263"/>
          </a:xfrm>
          <a:prstGeom prst="roundRect">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6" name="Group 25">
            <a:extLst>
              <a:ext uri="{FF2B5EF4-FFF2-40B4-BE49-F238E27FC236}">
                <a16:creationId xmlns:a16="http://schemas.microsoft.com/office/drawing/2014/main" id="{687D4150-3B55-20DE-5575-9693C74A5489}"/>
              </a:ext>
            </a:extLst>
          </p:cNvPr>
          <p:cNvGrpSpPr/>
          <p:nvPr/>
        </p:nvGrpSpPr>
        <p:grpSpPr>
          <a:xfrm>
            <a:off x="7359001" y="1638658"/>
            <a:ext cx="3791407" cy="2814634"/>
            <a:chOff x="1619274" y="1454232"/>
            <a:chExt cx="3791407" cy="2814634"/>
          </a:xfrm>
        </p:grpSpPr>
        <p:pic>
          <p:nvPicPr>
            <p:cNvPr id="10" name="Picture 9">
              <a:extLst>
                <a:ext uri="{FF2B5EF4-FFF2-40B4-BE49-F238E27FC236}">
                  <a16:creationId xmlns:a16="http://schemas.microsoft.com/office/drawing/2014/main" id="{F8188D78-FCB3-2A86-BF49-7298CE3FA5D9}"/>
                </a:ext>
              </a:extLst>
            </p:cNvPr>
            <p:cNvPicPr>
              <a:picLocks noChangeAspect="1"/>
            </p:cNvPicPr>
            <p:nvPr/>
          </p:nvPicPr>
          <p:blipFill>
            <a:blip r:embed="rId4"/>
            <a:stretch>
              <a:fillRect/>
            </a:stretch>
          </p:blipFill>
          <p:spPr>
            <a:xfrm>
              <a:off x="1689668" y="1454232"/>
              <a:ext cx="3721013" cy="2800220"/>
            </a:xfrm>
            <a:prstGeom prst="rect">
              <a:avLst/>
            </a:prstGeom>
          </p:spPr>
        </p:pic>
        <p:sp>
          <p:nvSpPr>
            <p:cNvPr id="18" name="Rectangle: Rounded Corners 17">
              <a:extLst>
                <a:ext uri="{FF2B5EF4-FFF2-40B4-BE49-F238E27FC236}">
                  <a16:creationId xmlns:a16="http://schemas.microsoft.com/office/drawing/2014/main" id="{025A01CD-C45D-E5A6-2036-82D605C520F3}"/>
                </a:ext>
              </a:extLst>
            </p:cNvPr>
            <p:cNvSpPr/>
            <p:nvPr/>
          </p:nvSpPr>
          <p:spPr>
            <a:xfrm>
              <a:off x="1619274" y="4102917"/>
              <a:ext cx="1439828" cy="165949"/>
            </a:xfrm>
            <a:prstGeom prst="roundRect">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29" name="Straight Arrow Connector 28">
            <a:extLst>
              <a:ext uri="{FF2B5EF4-FFF2-40B4-BE49-F238E27FC236}">
                <a16:creationId xmlns:a16="http://schemas.microsoft.com/office/drawing/2014/main" id="{3246B9F4-BAEE-A86E-7383-F34CC742ECA9}"/>
              </a:ext>
            </a:extLst>
          </p:cNvPr>
          <p:cNvCxnSpPr>
            <a:endCxn id="16" idx="0"/>
          </p:cNvCxnSpPr>
          <p:nvPr/>
        </p:nvCxnSpPr>
        <p:spPr>
          <a:xfrm flipH="1">
            <a:off x="3150123" y="1143243"/>
            <a:ext cx="583406" cy="51435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pic>
        <p:nvPicPr>
          <p:cNvPr id="21" name="Picture 20">
            <a:extLst>
              <a:ext uri="{FF2B5EF4-FFF2-40B4-BE49-F238E27FC236}">
                <a16:creationId xmlns:a16="http://schemas.microsoft.com/office/drawing/2014/main" id="{3C088266-3C53-632D-5738-0020116F4E37}"/>
              </a:ext>
            </a:extLst>
          </p:cNvPr>
          <p:cNvPicPr>
            <a:picLocks noChangeAspect="1"/>
          </p:cNvPicPr>
          <p:nvPr/>
        </p:nvPicPr>
        <p:blipFill>
          <a:blip r:embed="rId5"/>
          <a:srcRect r="22877" b="29599"/>
          <a:stretch>
            <a:fillRect/>
          </a:stretch>
        </p:blipFill>
        <p:spPr>
          <a:xfrm>
            <a:off x="1829715" y="1446642"/>
            <a:ext cx="4266285" cy="2726106"/>
          </a:xfrm>
          <a:prstGeom prst="rect">
            <a:avLst/>
          </a:prstGeom>
        </p:spPr>
      </p:pic>
      <p:sp>
        <p:nvSpPr>
          <p:cNvPr id="22" name="Rectangle: Rounded Corners 21">
            <a:extLst>
              <a:ext uri="{FF2B5EF4-FFF2-40B4-BE49-F238E27FC236}">
                <a16:creationId xmlns:a16="http://schemas.microsoft.com/office/drawing/2014/main" id="{A9119F62-2ED7-E3A7-4F8C-5D8DCF9DF422}"/>
              </a:ext>
            </a:extLst>
          </p:cNvPr>
          <p:cNvSpPr/>
          <p:nvPr/>
        </p:nvSpPr>
        <p:spPr>
          <a:xfrm>
            <a:off x="7585752" y="4867231"/>
            <a:ext cx="3562326" cy="795059"/>
          </a:xfrm>
          <a:prstGeom prst="round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28600"/>
            <a:r>
              <a:rPr lang="en-US" sz="1400" dirty="0">
                <a:solidFill>
                  <a:schemeClr val="tx1"/>
                </a:solidFill>
              </a:rPr>
              <a:t>Removes 100 % redundancy from the aligned 1872 sequences leaving only 106 unique sequences.</a:t>
            </a:r>
          </a:p>
        </p:txBody>
      </p:sp>
      <p:pic>
        <p:nvPicPr>
          <p:cNvPr id="23" name="Picture 22">
            <a:extLst>
              <a:ext uri="{FF2B5EF4-FFF2-40B4-BE49-F238E27FC236}">
                <a16:creationId xmlns:a16="http://schemas.microsoft.com/office/drawing/2014/main" id="{C09EFC95-9FE3-A9AB-5E1F-0E8421488FF4}"/>
              </a:ext>
            </a:extLst>
          </p:cNvPr>
          <p:cNvPicPr>
            <a:picLocks noChangeAspect="1"/>
          </p:cNvPicPr>
          <p:nvPr/>
        </p:nvPicPr>
        <p:blipFill>
          <a:blip r:embed="rId6">
            <a:extLst>
              <a:ext uri="{BEBA8EAE-BF5A-486C-A8C5-ECC9F3942E4B}">
                <a14:imgProps xmlns:a14="http://schemas.microsoft.com/office/drawing/2010/main">
                  <a14:imgLayer r:embed="rId7">
                    <a14:imgEffect>
                      <a14:backgroundRemoval t="5618" b="95506" l="277" r="97784">
                        <a14:foregroundMark x1="2948" y1="10929" x2="1662" y2="11236"/>
                        <a14:foregroundMark x1="1923" y1="51421" x2="1939" y2="53933"/>
                        <a14:foregroundMark x1="1662" y1="11236" x2="1704" y2="17646"/>
                        <a14:foregroundMark x1="4155" y1="73034" x2="17729" y2="62921"/>
                        <a14:foregroundMark x1="17729" y1="62921" x2="17729" y2="43820"/>
                        <a14:foregroundMark x1="34903" y1="25843" x2="34903" y2="67416"/>
                        <a14:foregroundMark x1="30471" y1="77528" x2="34903" y2="69663"/>
                        <a14:foregroundMark x1="45000" y1="68539" x2="47091" y2="78652"/>
                        <a14:foregroundMark x1="42377" y1="55855" x2="42836" y2="58075"/>
                        <a14:foregroundMark x1="39889" y1="43820" x2="40510" y2="46824"/>
                        <a14:foregroundMark x1="42463" y1="55255" x2="42659" y2="55056"/>
                        <a14:foregroundMark x1="44686" y1="71504" x2="44875" y2="71910"/>
                        <a14:foregroundMark x1="40740" y1="63083" x2="41191" y2="64045"/>
                        <a14:foregroundMark x1="46814" y1="49326" x2="46814" y2="39326"/>
                        <a14:foregroundMark x1="46814" y1="65169" x2="46814" y2="52869"/>
                        <a14:foregroundMark x1="44165" y1="76170" x2="44321" y2="76404"/>
                        <a14:foregroundMark x1="39058" y1="68539" x2="40664" y2="70939"/>
                        <a14:foregroundMark x1="51524" y1="19101" x2="51524" y2="76404"/>
                        <a14:foregroundMark x1="51524" y1="76404" x2="51524" y2="76404"/>
                        <a14:foregroundMark x1="62676" y1="36235" x2="62779" y2="36207"/>
                        <a14:foregroundMark x1="55402" y1="38202" x2="56084" y2="38018"/>
                        <a14:foregroundMark x1="68144" y1="37079" x2="68144" y2="76404"/>
                        <a14:foregroundMark x1="62085" y1="51586" x2="60111" y2="74157"/>
                        <a14:foregroundMark x1="56978" y1="54749" x2="59003" y2="76404"/>
                        <a14:foregroundMark x1="67590" y1="20225" x2="67590" y2="20225"/>
                        <a14:foregroundMark x1="72853" y1="42697" x2="70637" y2="56180"/>
                        <a14:foregroundMark x1="73130" y1="58427" x2="73130" y2="58427"/>
                        <a14:foregroundMark x1="72576" y1="66292" x2="72576" y2="66292"/>
                        <a14:foregroundMark x1="73684" y1="73034" x2="73684" y2="73034"/>
                        <a14:foregroundMark x1="75346" y1="76404" x2="75346" y2="76404"/>
                        <a14:foregroundMark x1="78116" y1="76404" x2="78116" y2="76404"/>
                        <a14:foregroundMark x1="80332" y1="74157" x2="80332" y2="74157"/>
                        <a14:foregroundMark x1="80332" y1="52809" x2="80332" y2="52809"/>
                        <a14:foregroundMark x1="76177" y1="55056" x2="76177" y2="55056"/>
                        <a14:foregroundMark x1="81163" y1="55056" x2="81163" y2="55056"/>
                        <a14:foregroundMark x1="80609" y1="48315" x2="80609" y2="48315"/>
                        <a14:foregroundMark x1="78947" y1="39326" x2="78947" y2="39326"/>
                        <a14:foregroundMark x1="84488" y1="42697" x2="84488" y2="42697"/>
                        <a14:foregroundMark x1="83657" y1="39326" x2="86704" y2="76404"/>
                        <a14:foregroundMark x1="91136" y1="39326" x2="88366" y2="69663"/>
                        <a14:foregroundMark x1="91690" y1="44944" x2="94460" y2="75281"/>
                        <a14:foregroundMark x1="97784" y1="41573" x2="95291" y2="71910"/>
                        <a14:foregroundMark x1="19825" y1="27176" x2="19945" y2="26966"/>
                        <a14:foregroundMark x1="8633" y1="46758" x2="17023" y2="32078"/>
                        <a14:foregroundMark x1="19945" y1="26966" x2="20499" y2="26966"/>
                        <a14:foregroundMark x1="22992" y1="42697" x2="15789" y2="95506"/>
                        <a14:foregroundMark x1="15789" y1="95506" x2="7479" y2="95506"/>
                        <a14:foregroundMark x1="18283" y1="93258" x2="22992" y2="53933"/>
                        <a14:foregroundMark x1="3324" y1="58427" x2="3878" y2="56180"/>
                        <a14:foregroundMark x1="4709" y1="6742" x2="15789" y2="5618"/>
                        <a14:backgroundMark x1="59557" y1="38202" x2="60111" y2="52809"/>
                        <a14:backgroundMark x1="58726" y1="40449" x2="58449" y2="35955"/>
                        <a14:backgroundMark x1="60388" y1="38202" x2="61773" y2="35955"/>
                        <a14:backgroundMark x1="61773" y1="38202" x2="62050" y2="33708"/>
                        <a14:backgroundMark x1="59834" y1="34831" x2="59834" y2="35955"/>
                        <a14:backgroundMark x1="57064" y1="35955" x2="58172" y2="43820"/>
                        <a14:backgroundMark x1="62327" y1="35955" x2="62050" y2="41573"/>
                        <a14:backgroundMark x1="70360" y1="62921" x2="70360" y2="51685"/>
                        <a14:backgroundMark x1="42105" y1="47191" x2="43767" y2="46067"/>
                        <a14:backgroundMark x1="39889" y1="51685" x2="42105" y2="48315"/>
                        <a14:backgroundMark x1="41828" y1="64045" x2="44321" y2="65169"/>
                        <a14:backgroundMark x1="42936" y1="70787" x2="44598" y2="67416"/>
                        <a14:backgroundMark x1="44044" y1="70787" x2="44875" y2="65169"/>
                        <a14:backgroundMark x1="41274" y1="64045" x2="41274" y2="68539"/>
                        <a14:backgroundMark x1="44044" y1="71910" x2="45152" y2="66292"/>
                        <a14:backgroundMark x1="44321" y1="69663" x2="45152" y2="67416"/>
                        <a14:backgroundMark x1="18006" y1="15730" x2="14179" y2="16041"/>
                        <a14:backgroundMark x1="4116" y1="22741" x2="3878" y2="51685"/>
                      </a14:backgroundRemoval>
                    </a14:imgEffect>
                  </a14:imgLayer>
                </a14:imgProps>
              </a:ext>
            </a:extLst>
          </a:blip>
          <a:stretch>
            <a:fillRect/>
          </a:stretch>
        </p:blipFill>
        <p:spPr>
          <a:xfrm>
            <a:off x="9708250" y="4432744"/>
            <a:ext cx="1439828" cy="354971"/>
          </a:xfrm>
          <a:prstGeom prst="rect">
            <a:avLst/>
          </a:prstGeom>
        </p:spPr>
      </p:pic>
      <p:sp>
        <p:nvSpPr>
          <p:cNvPr id="24" name="Rectangle: Rounded Corners 23">
            <a:extLst>
              <a:ext uri="{FF2B5EF4-FFF2-40B4-BE49-F238E27FC236}">
                <a16:creationId xmlns:a16="http://schemas.microsoft.com/office/drawing/2014/main" id="{582834A8-EA5A-ECE5-5462-46536EAD7DAF}"/>
              </a:ext>
            </a:extLst>
          </p:cNvPr>
          <p:cNvSpPr/>
          <p:nvPr/>
        </p:nvSpPr>
        <p:spPr>
          <a:xfrm>
            <a:off x="2032463" y="4490293"/>
            <a:ext cx="3936822" cy="795059"/>
          </a:xfrm>
          <a:prstGeom prst="round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28600"/>
            <a:r>
              <a:rPr lang="en-US" sz="1400" dirty="0">
                <a:solidFill>
                  <a:schemeClr val="tx1"/>
                </a:solidFill>
              </a:rPr>
              <a:t>Multiple sequence aligns the 1872 sequences using the MUSCLE (MSA) algorithm. </a:t>
            </a:r>
          </a:p>
        </p:txBody>
      </p:sp>
      <p:pic>
        <p:nvPicPr>
          <p:cNvPr id="25" name="Picture 24">
            <a:extLst>
              <a:ext uri="{FF2B5EF4-FFF2-40B4-BE49-F238E27FC236}">
                <a16:creationId xmlns:a16="http://schemas.microsoft.com/office/drawing/2014/main" id="{27067A12-75D2-3F2C-863D-16B36B0F05D6}"/>
              </a:ext>
            </a:extLst>
          </p:cNvPr>
          <p:cNvPicPr>
            <a:picLocks noChangeAspect="1"/>
          </p:cNvPicPr>
          <p:nvPr/>
        </p:nvPicPr>
        <p:blipFill>
          <a:blip r:embed="rId8"/>
          <a:srcRect l="21419" t="32792" r="21181" b="40599"/>
          <a:stretch>
            <a:fillRect/>
          </a:stretch>
        </p:blipFill>
        <p:spPr>
          <a:xfrm>
            <a:off x="4423492" y="4107189"/>
            <a:ext cx="1696521" cy="448282"/>
          </a:xfrm>
          <a:prstGeom prst="rect">
            <a:avLst/>
          </a:prstGeom>
        </p:spPr>
      </p:pic>
      <p:sp>
        <p:nvSpPr>
          <p:cNvPr id="30" name="Rectangle 29">
            <a:extLst>
              <a:ext uri="{FF2B5EF4-FFF2-40B4-BE49-F238E27FC236}">
                <a16:creationId xmlns:a16="http://schemas.microsoft.com/office/drawing/2014/main" id="{0D54067B-C6DA-D746-E5EC-3AE04AEE54C1}"/>
              </a:ext>
            </a:extLst>
          </p:cNvPr>
          <p:cNvSpPr/>
          <p:nvPr/>
        </p:nvSpPr>
        <p:spPr>
          <a:xfrm>
            <a:off x="0" y="1675"/>
            <a:ext cx="12192000" cy="6858000"/>
          </a:xfrm>
          <a:prstGeom prst="rect">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615711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xit" presetSubtype="0" fill="hold" grpId="1" nodeType="clickEffect">
                                  <p:stCondLst>
                                    <p:cond delay="0"/>
                                  </p:stCondLst>
                                  <p:childTnLst>
                                    <p:set>
                                      <p:cBhvr>
                                        <p:cTn id="24" dur="1" fill="hold">
                                          <p:stCondLst>
                                            <p:cond delay="0"/>
                                          </p:stCondLst>
                                        </p:cTn>
                                        <p:tgtEl>
                                          <p:spTgt spid="16"/>
                                        </p:tgtEl>
                                        <p:attrNameLst>
                                          <p:attrName>style.visibility</p:attrName>
                                        </p:attrNameLst>
                                      </p:cBhvr>
                                      <p:to>
                                        <p:strVal val="hidden"/>
                                      </p:to>
                                    </p:set>
                                  </p:childTnLst>
                                </p:cTn>
                              </p:par>
                              <p:par>
                                <p:cTn id="25" presetID="1" presetClass="exit" presetSubtype="0" fill="hold" nodeType="withEffect">
                                  <p:stCondLst>
                                    <p:cond delay="0"/>
                                  </p:stCondLst>
                                  <p:childTnLst>
                                    <p:set>
                                      <p:cBhvr>
                                        <p:cTn id="26" dur="1" fill="hold">
                                          <p:stCondLst>
                                            <p:cond delay="0"/>
                                          </p:stCondLst>
                                        </p:cTn>
                                        <p:tgtEl>
                                          <p:spTgt spid="29"/>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7"/>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2"/>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2" grpId="0" animBg="1"/>
      <p:bldP spid="16" grpId="0" animBg="1"/>
      <p:bldP spid="16" grpId="1" animBg="1"/>
      <p:bldP spid="22" grpId="0"/>
      <p:bldP spid="2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47F8FF8A-BB91-D2EA-5CEC-63829ED7A21A}"/>
              </a:ext>
            </a:extLst>
          </p:cNvPr>
          <p:cNvGrpSpPr/>
          <p:nvPr/>
        </p:nvGrpSpPr>
        <p:grpSpPr>
          <a:xfrm>
            <a:off x="1928199" y="332749"/>
            <a:ext cx="9478256" cy="766815"/>
            <a:chOff x="739738" y="344774"/>
            <a:chExt cx="9439576" cy="1042237"/>
          </a:xfrm>
        </p:grpSpPr>
        <p:sp>
          <p:nvSpPr>
            <p:cNvPr id="3" name="Rectangle: Rounded Corners 2">
              <a:extLst>
                <a:ext uri="{FF2B5EF4-FFF2-40B4-BE49-F238E27FC236}">
                  <a16:creationId xmlns:a16="http://schemas.microsoft.com/office/drawing/2014/main" id="{30CB47E7-957F-A080-DE48-8E65433EED15}"/>
                </a:ext>
              </a:extLst>
            </p:cNvPr>
            <p:cNvSpPr/>
            <p:nvPr/>
          </p:nvSpPr>
          <p:spPr>
            <a:xfrm>
              <a:off x="739739" y="344774"/>
              <a:ext cx="8311794" cy="1042237"/>
            </a:xfrm>
            <a:prstGeom prst="roundRect">
              <a:avLst/>
            </a:prstGeom>
            <a:solidFill>
              <a:schemeClr val="bg1">
                <a:lumMod val="85000"/>
              </a:schemeClr>
            </a:solidFill>
            <a:ln>
              <a:no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en-US" sz="2000" dirty="0"/>
            </a:p>
          </p:txBody>
        </p:sp>
        <p:sp>
          <p:nvSpPr>
            <p:cNvPr id="4" name="Title 1">
              <a:extLst>
                <a:ext uri="{FF2B5EF4-FFF2-40B4-BE49-F238E27FC236}">
                  <a16:creationId xmlns:a16="http://schemas.microsoft.com/office/drawing/2014/main" id="{A1843AA1-9954-22F1-BE47-37016E9B7ED7}"/>
                </a:ext>
              </a:extLst>
            </p:cNvPr>
            <p:cNvSpPr txBox="1">
              <a:spLocks/>
            </p:cNvSpPr>
            <p:nvPr/>
          </p:nvSpPr>
          <p:spPr>
            <a:xfrm>
              <a:off x="739738" y="344774"/>
              <a:ext cx="9439576" cy="960044"/>
            </a:xfrm>
            <a:prstGeom prst="rect">
              <a:avLst/>
            </a:prstGeom>
            <a:noFill/>
            <a:ln w="12700" cap="flat" cmpd="sng" algn="ctr">
              <a:noFill/>
              <a:prstDash val="solid"/>
              <a:miter lim="800000"/>
            </a:ln>
          </p:spPr>
          <p:style>
            <a:lnRef idx="1">
              <a:schemeClr val="accent4"/>
            </a:lnRef>
            <a:fillRef idx="2">
              <a:schemeClr val="accent4"/>
            </a:fillRef>
            <a:effectRef idx="1">
              <a:schemeClr val="accent4"/>
            </a:effectRef>
            <a:fontRef idx="minor">
              <a:schemeClr val="dk1"/>
            </a:fontRef>
          </p:style>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l"/>
              <a:r>
                <a:rPr lang="en-US" sz="4400" dirty="0">
                  <a:solidFill>
                    <a:srgbClr val="C00000"/>
                  </a:solidFill>
                </a:rPr>
                <a:t>Conserved sequences identification</a:t>
              </a:r>
            </a:p>
          </p:txBody>
        </p:sp>
      </p:grpSp>
      <p:graphicFrame>
        <p:nvGraphicFramePr>
          <p:cNvPr id="5" name="Table 4">
            <a:extLst>
              <a:ext uri="{FF2B5EF4-FFF2-40B4-BE49-F238E27FC236}">
                <a16:creationId xmlns:a16="http://schemas.microsoft.com/office/drawing/2014/main" id="{15503F69-DBF3-063D-1427-3D765B83B328}"/>
              </a:ext>
            </a:extLst>
          </p:cNvPr>
          <p:cNvGraphicFramePr>
            <a:graphicFrameLocks noGrp="1"/>
          </p:cNvGraphicFramePr>
          <p:nvPr>
            <p:extLst>
              <p:ext uri="{D42A27DB-BD31-4B8C-83A1-F6EECF244321}">
                <p14:modId xmlns:p14="http://schemas.microsoft.com/office/powerpoint/2010/main" val="2918612231"/>
              </p:ext>
            </p:extLst>
          </p:nvPr>
        </p:nvGraphicFramePr>
        <p:xfrm>
          <a:off x="1292942" y="3129732"/>
          <a:ext cx="9089966" cy="3106992"/>
        </p:xfrm>
        <a:graphic>
          <a:graphicData uri="http://schemas.openxmlformats.org/drawingml/2006/table">
            <a:tbl>
              <a:tblPr>
                <a:tableStyleId>{0505E3EF-67EA-436B-97B2-0124C06EBD24}</a:tableStyleId>
              </a:tblPr>
              <a:tblGrid>
                <a:gridCol w="1194574">
                  <a:extLst>
                    <a:ext uri="{9D8B030D-6E8A-4147-A177-3AD203B41FA5}">
                      <a16:colId xmlns:a16="http://schemas.microsoft.com/office/drawing/2014/main" val="1555394066"/>
                    </a:ext>
                  </a:extLst>
                </a:gridCol>
                <a:gridCol w="5506244">
                  <a:extLst>
                    <a:ext uri="{9D8B030D-6E8A-4147-A177-3AD203B41FA5}">
                      <a16:colId xmlns:a16="http://schemas.microsoft.com/office/drawing/2014/main" val="1971467261"/>
                    </a:ext>
                  </a:extLst>
                </a:gridCol>
                <a:gridCol w="1194574">
                  <a:extLst>
                    <a:ext uri="{9D8B030D-6E8A-4147-A177-3AD203B41FA5}">
                      <a16:colId xmlns:a16="http://schemas.microsoft.com/office/drawing/2014/main" val="2542621002"/>
                    </a:ext>
                  </a:extLst>
                </a:gridCol>
                <a:gridCol w="1194574">
                  <a:extLst>
                    <a:ext uri="{9D8B030D-6E8A-4147-A177-3AD203B41FA5}">
                      <a16:colId xmlns:a16="http://schemas.microsoft.com/office/drawing/2014/main" val="1842568047"/>
                    </a:ext>
                  </a:extLst>
                </a:gridCol>
              </a:tblGrid>
              <a:tr h="398332">
                <a:tc>
                  <a:txBody>
                    <a:bodyPr/>
                    <a:lstStyle/>
                    <a:p>
                      <a:pPr algn="ctr" fontAlgn="b"/>
                      <a:r>
                        <a:rPr lang="en-US" sz="1600" b="1" u="none" strike="noStrike" dirty="0">
                          <a:solidFill>
                            <a:srgbClr val="D9D9D9"/>
                          </a:solidFill>
                          <a:effectLst/>
                        </a:rPr>
                        <a:t>S.no.</a:t>
                      </a:r>
                      <a:endParaRPr lang="en-US" sz="1600" b="1" i="0" u="none" strike="noStrike" dirty="0">
                        <a:solidFill>
                          <a:srgbClr val="D9D9D9"/>
                        </a:solidFill>
                        <a:effectLst/>
                        <a:latin typeface="Calibri" panose="020F0502020204030204" pitchFamily="34" charset="0"/>
                      </a:endParaRPr>
                    </a:p>
                  </a:txBody>
                  <a:tcPr marL="9525" marR="9525" marT="9525" marB="0" anchor="ct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00000"/>
                    </a:solidFill>
                  </a:tcPr>
                </a:tc>
                <a:tc>
                  <a:txBody>
                    <a:bodyPr/>
                    <a:lstStyle/>
                    <a:p>
                      <a:pPr algn="ctr" fontAlgn="b"/>
                      <a:r>
                        <a:rPr lang="en-US" sz="1600" b="1" u="none" strike="noStrike" dirty="0">
                          <a:solidFill>
                            <a:srgbClr val="D9D9D9"/>
                          </a:solidFill>
                          <a:effectLst/>
                        </a:rPr>
                        <a:t>Conserved Sequence</a:t>
                      </a:r>
                      <a:endParaRPr lang="en-US" sz="1600" b="1" i="0" u="none" strike="noStrike" dirty="0">
                        <a:solidFill>
                          <a:srgbClr val="D9D9D9"/>
                        </a:solidFill>
                        <a:effectLst/>
                        <a:latin typeface="Calibri" panose="020F0502020204030204" pitchFamily="34" charset="0"/>
                      </a:endParaRPr>
                    </a:p>
                  </a:txBody>
                  <a:tcPr marL="9525" marR="9525" marT="9525" marB="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00000"/>
                    </a:solidFill>
                  </a:tcPr>
                </a:tc>
                <a:tc>
                  <a:txBody>
                    <a:bodyPr/>
                    <a:lstStyle/>
                    <a:p>
                      <a:pPr algn="ctr" fontAlgn="b"/>
                      <a:r>
                        <a:rPr lang="en-US" sz="1600" b="1" i="0" u="none" strike="noStrike" dirty="0">
                          <a:solidFill>
                            <a:srgbClr val="D9D9D9"/>
                          </a:solidFill>
                          <a:effectLst/>
                          <a:latin typeface="Calibri" panose="020F0502020204030204" pitchFamily="34" charset="0"/>
                        </a:rPr>
                        <a:t>Location</a:t>
                      </a:r>
                    </a:p>
                  </a:txBody>
                  <a:tcPr marL="9525" marR="9525" marT="9525" marB="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00000"/>
                    </a:solidFill>
                  </a:tcPr>
                </a:tc>
                <a:tc>
                  <a:txBody>
                    <a:bodyPr/>
                    <a:lstStyle/>
                    <a:p>
                      <a:pPr algn="ctr" fontAlgn="b"/>
                      <a:r>
                        <a:rPr lang="en-US" sz="1600" b="1" u="none" strike="noStrike" dirty="0">
                          <a:solidFill>
                            <a:srgbClr val="D9D9D9"/>
                          </a:solidFill>
                          <a:effectLst/>
                        </a:rPr>
                        <a:t>Length</a:t>
                      </a:r>
                      <a:endParaRPr lang="en-US" sz="1600" b="1" i="0" u="none" strike="noStrike" dirty="0">
                        <a:solidFill>
                          <a:srgbClr val="D9D9D9"/>
                        </a:solidFill>
                        <a:effectLst/>
                        <a:latin typeface="Calibri" panose="020F0502020204030204" pitchFamily="34" charset="0"/>
                      </a:endParaRPr>
                    </a:p>
                  </a:txBody>
                  <a:tcPr marL="9525" marR="9525" marT="9525" marB="0"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00000"/>
                    </a:solidFill>
                  </a:tcPr>
                </a:tc>
                <a:extLst>
                  <a:ext uri="{0D108BD9-81ED-4DB2-BD59-A6C34878D82A}">
                    <a16:rowId xmlns:a16="http://schemas.microsoft.com/office/drawing/2014/main" val="3368415706"/>
                  </a:ext>
                </a:extLst>
              </a:tr>
              <a:tr h="677166">
                <a:tc>
                  <a:txBody>
                    <a:bodyPr/>
                    <a:lstStyle/>
                    <a:p>
                      <a:pPr algn="ctr" fontAlgn="b"/>
                      <a:r>
                        <a:rPr lang="en-US" sz="1800" b="0" u="none" strike="noStrike" dirty="0">
                          <a:solidFill>
                            <a:srgbClr val="000000"/>
                          </a:solidFill>
                          <a:effectLst/>
                        </a:rPr>
                        <a:t>1</a:t>
                      </a:r>
                      <a:endParaRPr lang="en-US" sz="1800" b="0" i="0" u="none" strike="noStrike" dirty="0">
                        <a:solidFill>
                          <a:srgbClr val="000000"/>
                        </a:solidFill>
                        <a:effectLst/>
                        <a:latin typeface="Calibri" panose="020F0502020204030204" pitchFamily="34" charset="0"/>
                      </a:endParaRPr>
                    </a:p>
                  </a:txBody>
                  <a:tcPr marL="9525" marR="9525" marT="9525" marB="0" anchor="ct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D9D9D9"/>
                    </a:solidFill>
                  </a:tcPr>
                </a:tc>
                <a:tc>
                  <a:txBody>
                    <a:bodyPr/>
                    <a:lstStyle/>
                    <a:p>
                      <a:pPr algn="l" fontAlgn="ctr"/>
                      <a:r>
                        <a:rPr lang="en-US" sz="1400" b="0" u="none" strike="noStrike" dirty="0">
                          <a:solidFill>
                            <a:srgbClr val="000000"/>
                          </a:solidFill>
                          <a:effectLst/>
                        </a:rPr>
                        <a:t>MSEWSRIAVEFGEQQLNLTELEDFARELAYEGLDPALIIKKLKETGGDDWV</a:t>
                      </a:r>
                      <a:endParaRPr lang="en-US" sz="1400" b="0" i="0" u="none" strike="noStrike" dirty="0">
                        <a:solidFill>
                          <a:srgbClr val="000000"/>
                        </a:solidFill>
                        <a:effectLst/>
                        <a:latin typeface="Consolas" panose="020B0609020204030204" pitchFamily="49" charset="0"/>
                      </a:endParaRPr>
                    </a:p>
                  </a:txBody>
                  <a:tcPr marL="9525" marR="9525" marT="9525" marB="0" anchor="ct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D9D9D9"/>
                    </a:solidFill>
                  </a:tcPr>
                </a:tc>
                <a:tc>
                  <a:txBody>
                    <a:bodyPr/>
                    <a:lstStyle/>
                    <a:p>
                      <a:pPr lvl="0" algn="ctr" fontAlgn="b"/>
                      <a:r>
                        <a:rPr lang="en-US" sz="1800" b="0" u="none" strike="noStrike" dirty="0">
                          <a:solidFill>
                            <a:srgbClr val="000000"/>
                          </a:solidFill>
                          <a:effectLst/>
                        </a:rPr>
                        <a:t>1-51</a:t>
                      </a:r>
                      <a:endParaRPr lang="en-US" sz="1800" b="0" i="0" u="none" strike="noStrike" dirty="0">
                        <a:solidFill>
                          <a:srgbClr val="000000"/>
                        </a:solidFill>
                        <a:effectLst/>
                        <a:latin typeface="Calibri" panose="020F0502020204030204" pitchFamily="34" charset="0"/>
                      </a:endParaRPr>
                    </a:p>
                  </a:txBody>
                  <a:tcPr marL="9525" marR="9525" marT="9525" marB="0" anchor="ct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D9D9D9"/>
                    </a:solidFill>
                  </a:tcPr>
                </a:tc>
                <a:tc>
                  <a:txBody>
                    <a:bodyPr/>
                    <a:lstStyle/>
                    <a:p>
                      <a:pPr lvl="0" algn="ctr" fontAlgn="b"/>
                      <a:r>
                        <a:rPr lang="en-US" sz="1800" b="0" u="none" strike="noStrike">
                          <a:solidFill>
                            <a:srgbClr val="000000"/>
                          </a:solidFill>
                          <a:effectLst/>
                        </a:rPr>
                        <a:t>51</a:t>
                      </a:r>
                      <a:endParaRPr lang="en-US" sz="1800" b="0" i="0" u="none" strike="noStrike">
                        <a:solidFill>
                          <a:srgbClr val="000000"/>
                        </a:solidFill>
                        <a:effectLst/>
                        <a:latin typeface="Calibri" panose="020F0502020204030204" pitchFamily="34" charset="0"/>
                      </a:endParaRPr>
                    </a:p>
                  </a:txBody>
                  <a:tcPr marL="9525" marR="9525" marT="9525" marB="0"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2594231721"/>
                  </a:ext>
                </a:extLst>
              </a:tr>
              <a:tr h="1015747">
                <a:tc>
                  <a:txBody>
                    <a:bodyPr/>
                    <a:lstStyle/>
                    <a:p>
                      <a:pPr algn="ctr" fontAlgn="b"/>
                      <a:r>
                        <a:rPr lang="en-US" sz="1800" b="0" u="none" strike="noStrike" dirty="0">
                          <a:solidFill>
                            <a:srgbClr val="000000"/>
                          </a:solidFill>
                          <a:effectLst/>
                        </a:rPr>
                        <a:t>2</a:t>
                      </a:r>
                      <a:endParaRPr lang="en-US" sz="1800" b="0" i="0" u="none" strike="noStrike" dirty="0">
                        <a:solidFill>
                          <a:srgbClr val="000000"/>
                        </a:solidFill>
                        <a:effectLst/>
                        <a:latin typeface="Calibri" panose="020F0502020204030204" pitchFamily="34" charset="0"/>
                      </a:endParaRPr>
                    </a:p>
                  </a:txBody>
                  <a:tcPr marL="9525" marR="9525" marT="9525" marB="0" anchor="ctr">
                    <a:lnL w="12700"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rgbClr val="D9D9D9"/>
                    </a:solidFill>
                  </a:tcPr>
                </a:tc>
                <a:tc>
                  <a:txBody>
                    <a:bodyPr/>
                    <a:lstStyle/>
                    <a:p>
                      <a:pPr algn="l" fontAlgn="ctr"/>
                      <a:r>
                        <a:rPr lang="en-US" sz="1400" b="0" u="none" strike="noStrike" dirty="0">
                          <a:solidFill>
                            <a:srgbClr val="000000"/>
                          </a:solidFill>
                          <a:effectLst/>
                        </a:rPr>
                        <a:t>DTKFIIVFALTRGNKIVKASGKMSNSGSKRLMALQEKYGLVERAETRLSITPVRVAQSLPTWTCAAAAALKEYLPVGPAVMNLKVENYPPEMMCMAFGSLIPT</a:t>
                      </a:r>
                      <a:endParaRPr lang="en-US" sz="1400" b="0" i="0" u="none" strike="noStrike" dirty="0">
                        <a:solidFill>
                          <a:srgbClr val="000000"/>
                        </a:solidFill>
                        <a:effectLst/>
                        <a:latin typeface="Consolas" panose="020B0609020204030204" pitchFamily="49" charset="0"/>
                      </a:endParaRP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9D9D9"/>
                    </a:solidFill>
                  </a:tcPr>
                </a:tc>
                <a:tc>
                  <a:txBody>
                    <a:bodyPr/>
                    <a:lstStyle/>
                    <a:p>
                      <a:pPr lvl="0" algn="ctr" fontAlgn="b"/>
                      <a:r>
                        <a:rPr lang="en-US" sz="1800" b="0" u="none" strike="noStrike" dirty="0">
                          <a:solidFill>
                            <a:srgbClr val="000000"/>
                          </a:solidFill>
                          <a:effectLst/>
                        </a:rPr>
                        <a:t>53-155</a:t>
                      </a:r>
                      <a:endParaRPr lang="en-US" sz="1800" b="0" i="0" u="none" strike="noStrike" dirty="0">
                        <a:solidFill>
                          <a:srgbClr val="000000"/>
                        </a:solidFill>
                        <a:effectLst/>
                        <a:latin typeface="Calibri" panose="020F0502020204030204" pitchFamily="34" charset="0"/>
                      </a:endParaRP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9D9D9"/>
                    </a:solidFill>
                  </a:tcPr>
                </a:tc>
                <a:tc>
                  <a:txBody>
                    <a:bodyPr/>
                    <a:lstStyle/>
                    <a:p>
                      <a:pPr lvl="0" algn="ctr" fontAlgn="b"/>
                      <a:r>
                        <a:rPr lang="en-US" sz="1800" b="0" u="none" strike="noStrike" dirty="0">
                          <a:solidFill>
                            <a:srgbClr val="000000"/>
                          </a:solidFill>
                          <a:effectLst/>
                        </a:rPr>
                        <a:t>103</a:t>
                      </a:r>
                      <a:endParaRPr lang="en-US" sz="1800" b="0" i="0" u="none" strike="noStrike" dirty="0">
                        <a:solidFill>
                          <a:srgbClr val="000000"/>
                        </a:solidFill>
                        <a:effectLst/>
                        <a:latin typeface="Calibri" panose="020F0502020204030204" pitchFamily="34" charset="0"/>
                      </a:endParaRPr>
                    </a:p>
                  </a:txBody>
                  <a:tcPr marL="9525" marR="9525" marT="9525" marB="0" anchor="ct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487282390"/>
                  </a:ext>
                </a:extLst>
              </a:tr>
              <a:tr h="1015747">
                <a:tc>
                  <a:txBody>
                    <a:bodyPr/>
                    <a:lstStyle/>
                    <a:p>
                      <a:pPr algn="ctr" fontAlgn="b"/>
                      <a:r>
                        <a:rPr lang="en-US" sz="1800" b="0" u="none" strike="noStrike" dirty="0">
                          <a:solidFill>
                            <a:srgbClr val="000000"/>
                          </a:solidFill>
                          <a:effectLst/>
                        </a:rPr>
                        <a:t>3</a:t>
                      </a:r>
                      <a:endParaRPr lang="en-US" sz="1800" b="0" i="0" u="none" strike="noStrike" dirty="0">
                        <a:solidFill>
                          <a:srgbClr val="000000"/>
                        </a:solidFill>
                        <a:effectLst/>
                        <a:latin typeface="Calibri" panose="020F0502020204030204" pitchFamily="34" charset="0"/>
                      </a:endParaRPr>
                    </a:p>
                  </a:txBody>
                  <a:tcPr marL="9525" marR="9525" marT="9525" marB="0" anchor="ctr">
                    <a:lnL w="12700" cap="flat" cmpd="sng" algn="ctr">
                      <a:noFill/>
                      <a:prstDash val="solid"/>
                      <a:round/>
                      <a:headEnd type="none" w="med" len="med"/>
                      <a:tailEnd type="none" w="med" len="med"/>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l" fontAlgn="ctr"/>
                      <a:r>
                        <a:rPr lang="en-US" sz="1400" b="0" u="none" strike="noStrike" dirty="0">
                          <a:solidFill>
                            <a:srgbClr val="000000"/>
                          </a:solidFill>
                          <a:effectLst/>
                        </a:rPr>
                        <a:t>GVSEATTKTLMEAYSLWQDAFTKTINVKMRGASKTEVYNSFRDPLHAAVNSVFFPNDVRVKWLKAKGILGPDGVPSRAAEVAAAAYRNL</a:t>
                      </a:r>
                      <a:endParaRPr lang="en-US" sz="1400" b="0" i="0" u="none" strike="noStrike" dirty="0">
                        <a:solidFill>
                          <a:srgbClr val="000000"/>
                        </a:solidFill>
                        <a:effectLst/>
                        <a:latin typeface="Consolas" panose="020B0609020204030204" pitchFamily="49" charset="0"/>
                      </a:endParaRPr>
                    </a:p>
                  </a:txBody>
                  <a:tcPr marL="9525" marR="9525" marT="9525" marB="0"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lvl="0" algn="ctr" fontAlgn="b"/>
                      <a:r>
                        <a:rPr lang="en-US" sz="1800" b="0" u="none" strike="noStrike" dirty="0">
                          <a:solidFill>
                            <a:srgbClr val="000000"/>
                          </a:solidFill>
                          <a:effectLst/>
                        </a:rPr>
                        <a:t>157-245</a:t>
                      </a:r>
                      <a:endParaRPr lang="en-US" sz="1800" b="0" i="0" u="none" strike="noStrike" dirty="0">
                        <a:solidFill>
                          <a:srgbClr val="000000"/>
                        </a:solidFill>
                        <a:effectLst/>
                        <a:latin typeface="Calibri" panose="020F0502020204030204" pitchFamily="34" charset="0"/>
                      </a:endParaRPr>
                    </a:p>
                  </a:txBody>
                  <a:tcPr marL="9525" marR="9525" marT="9525" marB="0"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lvl="0" algn="ctr" fontAlgn="b"/>
                      <a:r>
                        <a:rPr lang="en-US" sz="1800" b="0" u="none" strike="noStrike" dirty="0">
                          <a:solidFill>
                            <a:srgbClr val="000000"/>
                          </a:solidFill>
                          <a:effectLst/>
                        </a:rPr>
                        <a:t>89</a:t>
                      </a:r>
                      <a:endParaRPr lang="en-US" sz="1800" b="0" i="0" u="none" strike="noStrike" dirty="0">
                        <a:solidFill>
                          <a:srgbClr val="000000"/>
                        </a:solidFill>
                        <a:effectLst/>
                        <a:latin typeface="Calibri" panose="020F0502020204030204" pitchFamily="34" charset="0"/>
                      </a:endParaRPr>
                    </a:p>
                  </a:txBody>
                  <a:tcPr marL="9525" marR="9525" marT="9525" marB="0" anchor="ctr">
                    <a:lnL w="12700" cmpd="sng">
                      <a:noFill/>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1849674128"/>
                  </a:ext>
                </a:extLst>
              </a:tr>
            </a:tbl>
          </a:graphicData>
        </a:graphic>
      </p:graphicFrame>
      <p:sp>
        <p:nvSpPr>
          <p:cNvPr id="6" name="Rectangle 5">
            <a:extLst>
              <a:ext uri="{FF2B5EF4-FFF2-40B4-BE49-F238E27FC236}">
                <a16:creationId xmlns:a16="http://schemas.microsoft.com/office/drawing/2014/main" id="{316ED914-FC09-9674-786A-CBD2A8D8FBEB}"/>
              </a:ext>
            </a:extLst>
          </p:cNvPr>
          <p:cNvSpPr/>
          <p:nvPr/>
        </p:nvSpPr>
        <p:spPr>
          <a:xfrm>
            <a:off x="0" y="1675"/>
            <a:ext cx="12192000" cy="6858000"/>
          </a:xfrm>
          <a:prstGeom prst="rect">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800" dirty="0">
              <a:latin typeface="Arial" panose="020B0604020202020204" pitchFamily="34" charset="0"/>
              <a:cs typeface="Arial" panose="020B0604020202020204" pitchFamily="34" charset="0"/>
            </a:endParaRPr>
          </a:p>
        </p:txBody>
      </p:sp>
      <p:sp>
        <p:nvSpPr>
          <p:cNvPr id="7" name="Google Shape;267;p5">
            <a:extLst>
              <a:ext uri="{FF2B5EF4-FFF2-40B4-BE49-F238E27FC236}">
                <a16:creationId xmlns:a16="http://schemas.microsoft.com/office/drawing/2014/main" id="{ABAD8F94-6DB0-721D-1E94-26F16F65EDAD}"/>
              </a:ext>
            </a:extLst>
          </p:cNvPr>
          <p:cNvSpPr txBox="1">
            <a:spLocks/>
          </p:cNvSpPr>
          <p:nvPr/>
        </p:nvSpPr>
        <p:spPr>
          <a:xfrm>
            <a:off x="341422" y="1494340"/>
            <a:ext cx="11368797" cy="1612654"/>
          </a:xfrm>
          <a:prstGeom prst="rect">
            <a:avLst/>
          </a:prstGeom>
          <a:noFill/>
          <a:ln>
            <a:noFill/>
          </a:ln>
        </p:spPr>
        <p:txBody>
          <a:bodyPr spcFirstLastPara="1" vert="horz" wrap="square" lIns="91425" tIns="45700" rIns="91425" bIns="45700" rtlCol="0" anchor="t" anchorCtr="0">
            <a:normAutofit/>
          </a:bodyPr>
          <a:lstStyle>
            <a:lvl1pPr marL="182880" indent="-182880" algn="l" defTabSz="914400" rtl="0" eaLnBrk="1" latinLnBrk="0" hangingPunct="1">
              <a:lnSpc>
                <a:spcPct val="100000"/>
              </a:lnSpc>
              <a:spcBef>
                <a:spcPts val="900"/>
              </a:spcBef>
              <a:spcAft>
                <a:spcPts val="0"/>
              </a:spcAft>
              <a:buClr>
                <a:schemeClr val="tx1">
                  <a:lumMod val="85000"/>
                  <a:lumOff val="15000"/>
                </a:schemeClr>
              </a:buClr>
              <a:buFont typeface="Garamond" pitchFamily="18" charset="0"/>
              <a:buChar char="◦"/>
              <a:defRPr sz="18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6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a:lstStyle>
          <a:p>
            <a:pPr marL="0" marR="0" lvl="0" indent="0" algn="just" defTabSz="914400" rtl="0" eaLnBrk="1" fontAlgn="auto" latinLnBrk="0" hangingPunct="1">
              <a:lnSpc>
                <a:spcPct val="120000"/>
              </a:lnSpc>
              <a:spcBef>
                <a:spcPts val="1000"/>
              </a:spcBef>
              <a:spcAft>
                <a:spcPts val="0"/>
              </a:spcAft>
              <a:buClrTx/>
              <a:buSzPts val="3000"/>
              <a:buNone/>
              <a:tabLst/>
              <a:defRPr/>
            </a:pPr>
            <a:r>
              <a:rPr kumimoji="0" lang="en-IN" sz="1800" b="0" i="0" u="none" strike="noStrike" kern="1200" cap="none" spc="0" normalizeH="0" baseline="0" noProof="0" dirty="0">
                <a:ln>
                  <a:noFill/>
                </a:ln>
                <a:solidFill>
                  <a:srgbClr val="000000"/>
                </a:solidFill>
                <a:effectLst/>
                <a:uLnTx/>
                <a:uFillTx/>
                <a:latin typeface="Gill Sans MT" panose="020B0502020104020203"/>
                <a:ea typeface="+mn-ea"/>
                <a:cs typeface="+mn-cs"/>
              </a:rPr>
              <a:t>The aligned sequences were then loaded on to </a:t>
            </a:r>
            <a:r>
              <a:rPr lang="en-IN" dirty="0">
                <a:solidFill>
                  <a:srgbClr val="000000"/>
                </a:solidFill>
                <a:latin typeface="Gill Sans MT" panose="020B0502020104020203"/>
              </a:rPr>
              <a:t>AVANA</a:t>
            </a:r>
            <a:r>
              <a:rPr kumimoji="0" lang="en-IN" sz="1800" b="0" i="0" u="none" strike="noStrike" kern="1200" cap="none" spc="0" normalizeH="0" baseline="0" noProof="0" dirty="0">
                <a:ln>
                  <a:noFill/>
                </a:ln>
                <a:solidFill>
                  <a:srgbClr val="000000"/>
                </a:solidFill>
                <a:effectLst/>
                <a:uLnTx/>
                <a:uFillTx/>
                <a:latin typeface="Gill Sans MT" panose="020B0502020104020203"/>
                <a:ea typeface="+mn-ea"/>
                <a:cs typeface="+mn-cs"/>
              </a:rPr>
              <a:t> software to identify conserved regions.</a:t>
            </a:r>
          </a:p>
          <a:p>
            <a:pPr marL="0" marR="0" lvl="0" indent="0" algn="just" defTabSz="914400" rtl="0" eaLnBrk="1" fontAlgn="auto" latinLnBrk="0" hangingPunct="1">
              <a:lnSpc>
                <a:spcPct val="120000"/>
              </a:lnSpc>
              <a:spcBef>
                <a:spcPts val="1000"/>
              </a:spcBef>
              <a:spcAft>
                <a:spcPts val="0"/>
              </a:spcAft>
              <a:buClrTx/>
              <a:buSzPts val="3000"/>
              <a:buNone/>
              <a:tabLst/>
              <a:defRPr/>
            </a:pPr>
            <a:r>
              <a:rPr lang="en-IN" dirty="0">
                <a:solidFill>
                  <a:srgbClr val="000000"/>
                </a:solidFill>
                <a:latin typeface="Gill Sans MT" panose="020B0502020104020203"/>
              </a:rPr>
              <a:t>P</a:t>
            </a:r>
            <a:r>
              <a:rPr kumimoji="0" lang="en-IN" sz="1800" b="0" i="0" u="none" strike="noStrike" kern="1200" cap="none" spc="0" normalizeH="0" baseline="0" noProof="0" dirty="0" err="1">
                <a:ln>
                  <a:noFill/>
                </a:ln>
                <a:solidFill>
                  <a:srgbClr val="000000"/>
                </a:solidFill>
                <a:effectLst/>
                <a:uLnTx/>
                <a:uFillTx/>
                <a:latin typeface="Gill Sans MT" panose="020B0502020104020203"/>
                <a:ea typeface="+mn-ea"/>
                <a:cs typeface="+mn-cs"/>
              </a:rPr>
              <a:t>arameters</a:t>
            </a:r>
            <a:r>
              <a:rPr kumimoji="0" lang="en-IN" sz="1800" b="0" i="0" u="none" strike="noStrike" kern="1200" cap="none" spc="0" normalizeH="0" baseline="0" noProof="0" dirty="0">
                <a:ln>
                  <a:noFill/>
                </a:ln>
                <a:solidFill>
                  <a:srgbClr val="000000"/>
                </a:solidFill>
                <a:effectLst/>
                <a:uLnTx/>
                <a:uFillTx/>
                <a:latin typeface="Gill Sans MT" panose="020B0502020104020203"/>
                <a:ea typeface="+mn-ea"/>
                <a:cs typeface="+mn-cs"/>
              </a:rPr>
              <a:t> used was ≥90% conservancy with conserved sequence length ranging from min = “9” and max = “</a:t>
            </a:r>
            <a:r>
              <a:rPr lang="en-IN" dirty="0">
                <a:solidFill>
                  <a:srgbClr val="000000"/>
                </a:solidFill>
                <a:latin typeface="Gill Sans MT" panose="020B0502020104020203"/>
              </a:rPr>
              <a:t>245</a:t>
            </a:r>
            <a:r>
              <a:rPr kumimoji="0" lang="en-IN" sz="1800" b="0" i="0" u="none" strike="noStrike" kern="1200" cap="none" spc="0" normalizeH="0" baseline="0" noProof="0" dirty="0">
                <a:ln>
                  <a:noFill/>
                </a:ln>
                <a:solidFill>
                  <a:srgbClr val="000000"/>
                </a:solidFill>
                <a:effectLst/>
                <a:uLnTx/>
                <a:uFillTx/>
                <a:latin typeface="Gill Sans MT" panose="020B0502020104020203"/>
                <a:ea typeface="+mn-ea"/>
                <a:cs typeface="+mn-cs"/>
              </a:rPr>
              <a:t>”.</a:t>
            </a:r>
          </a:p>
          <a:p>
            <a:pPr marL="228600" marR="0" lvl="0" indent="-228600" algn="l" defTabSz="914400" rtl="0" eaLnBrk="1" fontAlgn="auto" latinLnBrk="0" hangingPunct="1">
              <a:lnSpc>
                <a:spcPct val="120000"/>
              </a:lnSpc>
              <a:spcBef>
                <a:spcPts val="1000"/>
              </a:spcBef>
              <a:spcAft>
                <a:spcPts val="0"/>
              </a:spcAft>
              <a:buClr>
                <a:srgbClr val="FFFFFF"/>
              </a:buClr>
              <a:buSzPts val="3000"/>
              <a:buFont typeface="Garamond" pitchFamily="18" charset="0"/>
              <a:buChar char="•"/>
              <a:tabLst/>
              <a:defRPr/>
            </a:pPr>
            <a:endParaRPr kumimoji="0" lang="en-IN" sz="1800" b="0" i="0" u="none" strike="noStrike" kern="1200" cap="none" spc="0" normalizeH="0" baseline="0" noProof="0" dirty="0">
              <a:ln>
                <a:noFill/>
              </a:ln>
              <a:solidFill>
                <a:srgbClr val="000000"/>
              </a:solidFill>
              <a:effectLst/>
              <a:uLnTx/>
              <a:uFillTx/>
              <a:latin typeface="Gill Sans MT" panose="020B0502020104020203"/>
              <a:ea typeface="+mn-ea"/>
              <a:cs typeface="+mn-cs"/>
            </a:endParaRPr>
          </a:p>
        </p:txBody>
      </p:sp>
    </p:spTree>
    <p:extLst>
      <p:ext uri="{BB962C8B-B14F-4D97-AF65-F5344CB8AC3E}">
        <p14:creationId xmlns:p14="http://schemas.microsoft.com/office/powerpoint/2010/main" val="29360403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6436F293-640C-5BB4-1408-210919B6C99F}"/>
              </a:ext>
            </a:extLst>
          </p:cNvPr>
          <p:cNvGrpSpPr/>
          <p:nvPr/>
        </p:nvGrpSpPr>
        <p:grpSpPr>
          <a:xfrm>
            <a:off x="1371148" y="202976"/>
            <a:ext cx="10373606" cy="848154"/>
            <a:chOff x="739738" y="344774"/>
            <a:chExt cx="9439576" cy="1042237"/>
          </a:xfrm>
        </p:grpSpPr>
        <p:sp>
          <p:nvSpPr>
            <p:cNvPr id="3" name="Rectangle: Rounded Corners 2">
              <a:extLst>
                <a:ext uri="{FF2B5EF4-FFF2-40B4-BE49-F238E27FC236}">
                  <a16:creationId xmlns:a16="http://schemas.microsoft.com/office/drawing/2014/main" id="{099373B6-BD58-B898-B288-CBDCD363D5D4}"/>
                </a:ext>
              </a:extLst>
            </p:cNvPr>
            <p:cNvSpPr/>
            <p:nvPr/>
          </p:nvSpPr>
          <p:spPr>
            <a:xfrm>
              <a:off x="739739" y="344774"/>
              <a:ext cx="8311794" cy="1042237"/>
            </a:xfrm>
            <a:prstGeom prst="roundRect">
              <a:avLst/>
            </a:prstGeom>
            <a:solidFill>
              <a:schemeClr val="bg1">
                <a:lumMod val="85000"/>
              </a:schemeClr>
            </a:solidFill>
            <a:ln>
              <a:no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en-US" sz="2000" dirty="0"/>
            </a:p>
          </p:txBody>
        </p:sp>
        <p:sp>
          <p:nvSpPr>
            <p:cNvPr id="4" name="Title 1">
              <a:extLst>
                <a:ext uri="{FF2B5EF4-FFF2-40B4-BE49-F238E27FC236}">
                  <a16:creationId xmlns:a16="http://schemas.microsoft.com/office/drawing/2014/main" id="{2EEA23AD-7264-76FE-8B90-1444D24A55DB}"/>
                </a:ext>
              </a:extLst>
            </p:cNvPr>
            <p:cNvSpPr txBox="1">
              <a:spLocks/>
            </p:cNvSpPr>
            <p:nvPr/>
          </p:nvSpPr>
          <p:spPr>
            <a:xfrm>
              <a:off x="739738" y="344774"/>
              <a:ext cx="9439576" cy="960044"/>
            </a:xfrm>
            <a:prstGeom prst="rect">
              <a:avLst/>
            </a:prstGeom>
            <a:noFill/>
            <a:ln w="12700" cap="flat" cmpd="sng" algn="ctr">
              <a:noFill/>
              <a:prstDash val="solid"/>
              <a:miter lim="800000"/>
            </a:ln>
          </p:spPr>
          <p:style>
            <a:lnRef idx="1">
              <a:schemeClr val="accent4"/>
            </a:lnRef>
            <a:fillRef idx="2">
              <a:schemeClr val="accent4"/>
            </a:fillRef>
            <a:effectRef idx="1">
              <a:schemeClr val="accent4"/>
            </a:effectRef>
            <a:fontRef idx="minor">
              <a:schemeClr val="dk1"/>
            </a:fontRef>
          </p:style>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l"/>
              <a:r>
                <a:rPr lang="en-US" sz="4400" dirty="0">
                  <a:solidFill>
                    <a:srgbClr val="C00000"/>
                  </a:solidFill>
                </a:rPr>
                <a:t>Auto-immunogenic fragments removal </a:t>
              </a:r>
            </a:p>
          </p:txBody>
        </p:sp>
      </p:grpSp>
      <p:sp>
        <p:nvSpPr>
          <p:cNvPr id="5" name="Rectangle 4">
            <a:extLst>
              <a:ext uri="{FF2B5EF4-FFF2-40B4-BE49-F238E27FC236}">
                <a16:creationId xmlns:a16="http://schemas.microsoft.com/office/drawing/2014/main" id="{D93E6E6D-C072-18EC-F313-23D6180C09AE}"/>
              </a:ext>
            </a:extLst>
          </p:cNvPr>
          <p:cNvSpPr/>
          <p:nvPr/>
        </p:nvSpPr>
        <p:spPr>
          <a:xfrm>
            <a:off x="0" y="1675"/>
            <a:ext cx="12192000" cy="6858000"/>
          </a:xfrm>
          <a:prstGeom prst="rect">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800" dirty="0">
              <a:latin typeface="Arial" panose="020B0604020202020204" pitchFamily="34" charset="0"/>
              <a:cs typeface="Arial" panose="020B0604020202020204" pitchFamily="34" charset="0"/>
            </a:endParaRPr>
          </a:p>
        </p:txBody>
      </p:sp>
      <p:pic>
        <p:nvPicPr>
          <p:cNvPr id="7" name="Picture 6">
            <a:extLst>
              <a:ext uri="{FF2B5EF4-FFF2-40B4-BE49-F238E27FC236}">
                <a16:creationId xmlns:a16="http://schemas.microsoft.com/office/drawing/2014/main" id="{C65AA8B2-8991-AB75-1685-E250EA7842E9}"/>
              </a:ext>
            </a:extLst>
          </p:cNvPr>
          <p:cNvPicPr>
            <a:picLocks noChangeAspect="1"/>
          </p:cNvPicPr>
          <p:nvPr/>
        </p:nvPicPr>
        <p:blipFill>
          <a:blip r:embed="rId2"/>
          <a:stretch>
            <a:fillRect/>
          </a:stretch>
        </p:blipFill>
        <p:spPr>
          <a:xfrm>
            <a:off x="7861887" y="1757350"/>
            <a:ext cx="2996613" cy="2576758"/>
          </a:xfrm>
          <a:prstGeom prst="rect">
            <a:avLst/>
          </a:prstGeom>
        </p:spPr>
      </p:pic>
      <p:pic>
        <p:nvPicPr>
          <p:cNvPr id="9" name="Picture 8">
            <a:extLst>
              <a:ext uri="{FF2B5EF4-FFF2-40B4-BE49-F238E27FC236}">
                <a16:creationId xmlns:a16="http://schemas.microsoft.com/office/drawing/2014/main" id="{849E0C88-3FA4-8CC4-A48A-86EEB90C9B8C}"/>
              </a:ext>
            </a:extLst>
          </p:cNvPr>
          <p:cNvPicPr>
            <a:picLocks noChangeAspect="1"/>
          </p:cNvPicPr>
          <p:nvPr/>
        </p:nvPicPr>
        <p:blipFill>
          <a:blip r:embed="rId3"/>
          <a:stretch>
            <a:fillRect/>
          </a:stretch>
        </p:blipFill>
        <p:spPr>
          <a:xfrm>
            <a:off x="4256330" y="1709815"/>
            <a:ext cx="2529232" cy="2671829"/>
          </a:xfrm>
          <a:prstGeom prst="rect">
            <a:avLst/>
          </a:prstGeom>
        </p:spPr>
      </p:pic>
      <p:pic>
        <p:nvPicPr>
          <p:cNvPr id="13" name="Picture 12">
            <a:extLst>
              <a:ext uri="{FF2B5EF4-FFF2-40B4-BE49-F238E27FC236}">
                <a16:creationId xmlns:a16="http://schemas.microsoft.com/office/drawing/2014/main" id="{984DEE60-9836-7BBA-2FDD-DFF3E0C99634}"/>
              </a:ext>
            </a:extLst>
          </p:cNvPr>
          <p:cNvPicPr>
            <a:picLocks noChangeAspect="1"/>
          </p:cNvPicPr>
          <p:nvPr/>
        </p:nvPicPr>
        <p:blipFill>
          <a:blip r:embed="rId4"/>
          <a:stretch>
            <a:fillRect/>
          </a:stretch>
        </p:blipFill>
        <p:spPr>
          <a:xfrm>
            <a:off x="371035" y="4718432"/>
            <a:ext cx="11525690" cy="1804455"/>
          </a:xfrm>
          <a:prstGeom prst="rect">
            <a:avLst/>
          </a:prstGeom>
        </p:spPr>
      </p:pic>
      <p:sp>
        <p:nvSpPr>
          <p:cNvPr id="15" name="TextBox 14">
            <a:extLst>
              <a:ext uri="{FF2B5EF4-FFF2-40B4-BE49-F238E27FC236}">
                <a16:creationId xmlns:a16="http://schemas.microsoft.com/office/drawing/2014/main" id="{5EC62D66-BBEF-3639-2702-DBD8EB894A02}"/>
              </a:ext>
            </a:extLst>
          </p:cNvPr>
          <p:cNvSpPr txBox="1"/>
          <p:nvPr/>
        </p:nvSpPr>
        <p:spPr>
          <a:xfrm>
            <a:off x="371035" y="1658142"/>
            <a:ext cx="2915090" cy="2723502"/>
          </a:xfrm>
          <a:prstGeom prst="rect">
            <a:avLst/>
          </a:prstGeom>
          <a:noFill/>
        </p:spPr>
        <p:txBody>
          <a:bodyPr wrap="square">
            <a:spAutoFit/>
          </a:bodyPr>
          <a:lstStyle/>
          <a:p>
            <a:pPr marR="0" lvl="0" algn="l" defTabSz="914400" rtl="0" eaLnBrk="1" fontAlgn="auto" latinLnBrk="0" hangingPunct="1">
              <a:lnSpc>
                <a:spcPct val="120000"/>
              </a:lnSpc>
              <a:spcBef>
                <a:spcPts val="1000"/>
              </a:spcBef>
              <a:spcAft>
                <a:spcPts val="0"/>
              </a:spcAft>
              <a:buClrTx/>
              <a:buSzPts val="3000"/>
              <a:tabLst/>
              <a:defRPr/>
            </a:pPr>
            <a:r>
              <a:rPr kumimoji="0" lang="en-IN" sz="1800" b="0" i="0" u="none" strike="noStrike" kern="1200" cap="none" spc="0" normalizeH="0" baseline="0" noProof="0" dirty="0">
                <a:ln>
                  <a:noFill/>
                </a:ln>
                <a:solidFill>
                  <a:srgbClr val="000000"/>
                </a:solidFill>
                <a:effectLst/>
                <a:uLnTx/>
                <a:uFillTx/>
                <a:latin typeface="Gill Sans MT" panose="020B0502020104020203"/>
                <a:ea typeface="+mn-ea"/>
                <a:cs typeface="+mn-cs"/>
              </a:rPr>
              <a:t>Each sequence was converted to overlapping 15 </a:t>
            </a:r>
            <a:r>
              <a:rPr kumimoji="0" lang="en-IN" sz="1800" b="0" i="0" u="none" strike="noStrike" kern="1200" cap="none" spc="0" normalizeH="0" baseline="0" noProof="0" dirty="0" err="1">
                <a:ln>
                  <a:noFill/>
                </a:ln>
                <a:solidFill>
                  <a:srgbClr val="000000"/>
                </a:solidFill>
                <a:effectLst/>
                <a:uLnTx/>
                <a:uFillTx/>
                <a:latin typeface="Gill Sans MT" panose="020B0502020104020203"/>
                <a:ea typeface="+mn-ea"/>
                <a:cs typeface="+mn-cs"/>
              </a:rPr>
              <a:t>mers</a:t>
            </a:r>
            <a:r>
              <a:rPr kumimoji="0" lang="en-IN" sz="1800" b="0" i="0" u="none" strike="noStrike" kern="1200" cap="none" spc="0" normalizeH="0" baseline="0" noProof="0" dirty="0">
                <a:ln>
                  <a:noFill/>
                </a:ln>
                <a:solidFill>
                  <a:srgbClr val="000000"/>
                </a:solidFill>
                <a:effectLst/>
                <a:uLnTx/>
                <a:uFillTx/>
                <a:latin typeface="Gill Sans MT" panose="020B0502020104020203"/>
                <a:ea typeface="+mn-ea"/>
                <a:cs typeface="+mn-cs"/>
              </a:rPr>
              <a:t> fragments and then given to NCBI’s </a:t>
            </a:r>
            <a:r>
              <a:rPr kumimoji="0" lang="en-IN" sz="1800" b="0" i="0" u="none" strike="noStrike" kern="1200" cap="none" spc="0" normalizeH="0" baseline="0" noProof="0" dirty="0" err="1">
                <a:ln>
                  <a:noFill/>
                </a:ln>
                <a:solidFill>
                  <a:srgbClr val="000000"/>
                </a:solidFill>
                <a:effectLst/>
                <a:uLnTx/>
                <a:uFillTx/>
                <a:latin typeface="Gill Sans MT" panose="020B0502020104020203"/>
                <a:ea typeface="+mn-ea"/>
                <a:cs typeface="+mn-cs"/>
              </a:rPr>
              <a:t>BLASTp</a:t>
            </a:r>
            <a:r>
              <a:rPr kumimoji="0" lang="en-IN" sz="1800" b="0" i="0" u="none" strike="noStrike" kern="1200" cap="none" spc="0" normalizeH="0" baseline="0" noProof="0" dirty="0">
                <a:ln>
                  <a:noFill/>
                </a:ln>
                <a:solidFill>
                  <a:srgbClr val="000000"/>
                </a:solidFill>
                <a:effectLst/>
                <a:uLnTx/>
                <a:uFillTx/>
                <a:latin typeface="Gill Sans MT" panose="020B0502020104020203"/>
                <a:ea typeface="+mn-ea"/>
                <a:cs typeface="+mn-cs"/>
              </a:rPr>
              <a:t> server with option short query settings (used when sequence are less than 30 aa long) ON. </a:t>
            </a:r>
          </a:p>
        </p:txBody>
      </p:sp>
      <p:sp>
        <p:nvSpPr>
          <p:cNvPr id="16" name="Arrow: Right 15">
            <a:extLst>
              <a:ext uri="{FF2B5EF4-FFF2-40B4-BE49-F238E27FC236}">
                <a16:creationId xmlns:a16="http://schemas.microsoft.com/office/drawing/2014/main" id="{7D7503F5-2522-E43B-7223-C75B01E3931C}"/>
              </a:ext>
            </a:extLst>
          </p:cNvPr>
          <p:cNvSpPr/>
          <p:nvPr/>
        </p:nvSpPr>
        <p:spPr>
          <a:xfrm>
            <a:off x="3362325" y="2847975"/>
            <a:ext cx="742950" cy="180975"/>
          </a:xfrm>
          <a:prstGeom prst="rightArrow">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Arrow: Right 16">
            <a:extLst>
              <a:ext uri="{FF2B5EF4-FFF2-40B4-BE49-F238E27FC236}">
                <a16:creationId xmlns:a16="http://schemas.microsoft.com/office/drawing/2014/main" id="{FE8C0221-F125-B5F5-506D-3DF572A24540}"/>
              </a:ext>
            </a:extLst>
          </p:cNvPr>
          <p:cNvSpPr/>
          <p:nvPr/>
        </p:nvSpPr>
        <p:spPr>
          <a:xfrm>
            <a:off x="6936617" y="2867025"/>
            <a:ext cx="742950" cy="180975"/>
          </a:xfrm>
          <a:prstGeom prst="rightArrow">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Arrow: Bent 17">
            <a:extLst>
              <a:ext uri="{FF2B5EF4-FFF2-40B4-BE49-F238E27FC236}">
                <a16:creationId xmlns:a16="http://schemas.microsoft.com/office/drawing/2014/main" id="{F438B6F5-1CF6-BA33-43BD-DEFA4148A8C5}"/>
              </a:ext>
            </a:extLst>
          </p:cNvPr>
          <p:cNvSpPr/>
          <p:nvPr/>
        </p:nvSpPr>
        <p:spPr>
          <a:xfrm rot="5400000">
            <a:off x="10674876" y="3369950"/>
            <a:ext cx="1190920" cy="370699"/>
          </a:xfrm>
          <a:prstGeom prst="bentArrow">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9" name="Rectangle: Rounded Corners 18">
            <a:extLst>
              <a:ext uri="{FF2B5EF4-FFF2-40B4-BE49-F238E27FC236}">
                <a16:creationId xmlns:a16="http://schemas.microsoft.com/office/drawing/2014/main" id="{56722CC0-2FD4-5CE3-4639-23F23A7F7233}"/>
              </a:ext>
            </a:extLst>
          </p:cNvPr>
          <p:cNvSpPr/>
          <p:nvPr/>
        </p:nvSpPr>
        <p:spPr>
          <a:xfrm>
            <a:off x="267128" y="5081379"/>
            <a:ext cx="11743362" cy="333102"/>
          </a:xfrm>
          <a:prstGeom prst="round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p14="http://schemas.microsoft.com/office/powerpoint/2010/main">
        <mc:Choice Requires="p14">
          <p:contentPart p14:bwMode="auto" r:id="rId5">
            <p14:nvContentPartPr>
              <p14:cNvPr id="23" name="Ink 22">
                <a:extLst>
                  <a:ext uri="{FF2B5EF4-FFF2-40B4-BE49-F238E27FC236}">
                    <a16:creationId xmlns:a16="http://schemas.microsoft.com/office/drawing/2014/main" id="{D9975C64-638C-4879-FFC9-E3DA31DDD0BF}"/>
                  </a:ext>
                </a:extLst>
              </p14:cNvPr>
              <p14:cNvContentPartPr/>
              <p14:nvPr/>
            </p14:nvContentPartPr>
            <p14:xfrm>
              <a:off x="10120037" y="5260138"/>
              <a:ext cx="976680" cy="720"/>
            </p14:xfrm>
          </p:contentPart>
        </mc:Choice>
        <mc:Fallback xmlns="">
          <p:pic>
            <p:nvPicPr>
              <p:cNvPr id="23" name="Ink 22">
                <a:extLst>
                  <a:ext uri="{FF2B5EF4-FFF2-40B4-BE49-F238E27FC236}">
                    <a16:creationId xmlns:a16="http://schemas.microsoft.com/office/drawing/2014/main" id="{D9975C64-638C-4879-FFC9-E3DA31DDD0BF}"/>
                  </a:ext>
                </a:extLst>
              </p:cNvPr>
              <p:cNvPicPr/>
              <p:nvPr/>
            </p:nvPicPr>
            <p:blipFill>
              <a:blip r:embed="rId6"/>
              <a:stretch>
                <a:fillRect/>
              </a:stretch>
            </p:blipFill>
            <p:spPr>
              <a:xfrm>
                <a:off x="10102037" y="5188138"/>
                <a:ext cx="1012320" cy="1440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25" name="Ink 24">
                <a:extLst>
                  <a:ext uri="{FF2B5EF4-FFF2-40B4-BE49-F238E27FC236}">
                    <a16:creationId xmlns:a16="http://schemas.microsoft.com/office/drawing/2014/main" id="{CB8C5A57-5E05-8EBC-2D8A-815222BEC088}"/>
                  </a:ext>
                </a:extLst>
              </p14:cNvPr>
              <p14:cNvContentPartPr/>
              <p14:nvPr/>
            </p14:nvContentPartPr>
            <p14:xfrm>
              <a:off x="10130117" y="5322058"/>
              <a:ext cx="965880" cy="10440"/>
            </p14:xfrm>
          </p:contentPart>
        </mc:Choice>
        <mc:Fallback xmlns="">
          <p:pic>
            <p:nvPicPr>
              <p:cNvPr id="25" name="Ink 24">
                <a:extLst>
                  <a:ext uri="{FF2B5EF4-FFF2-40B4-BE49-F238E27FC236}">
                    <a16:creationId xmlns:a16="http://schemas.microsoft.com/office/drawing/2014/main" id="{CB8C5A57-5E05-8EBC-2D8A-815222BEC088}"/>
                  </a:ext>
                </a:extLst>
              </p:cNvPr>
              <p:cNvPicPr/>
              <p:nvPr/>
            </p:nvPicPr>
            <p:blipFill>
              <a:blip r:embed="rId8"/>
              <a:stretch>
                <a:fillRect/>
              </a:stretch>
            </p:blipFill>
            <p:spPr>
              <a:xfrm>
                <a:off x="10112117" y="5286058"/>
                <a:ext cx="1001520" cy="8208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27" name="Ink 26">
                <a:extLst>
                  <a:ext uri="{FF2B5EF4-FFF2-40B4-BE49-F238E27FC236}">
                    <a16:creationId xmlns:a16="http://schemas.microsoft.com/office/drawing/2014/main" id="{EEDD63C4-52EB-464F-979A-E1207376B8D8}"/>
                  </a:ext>
                </a:extLst>
              </p14:cNvPr>
              <p14:cNvContentPartPr/>
              <p14:nvPr/>
            </p14:nvContentPartPr>
            <p14:xfrm>
              <a:off x="11198597" y="5290738"/>
              <a:ext cx="360000" cy="720"/>
            </p14:xfrm>
          </p:contentPart>
        </mc:Choice>
        <mc:Fallback xmlns="">
          <p:pic>
            <p:nvPicPr>
              <p:cNvPr id="27" name="Ink 26">
                <a:extLst>
                  <a:ext uri="{FF2B5EF4-FFF2-40B4-BE49-F238E27FC236}">
                    <a16:creationId xmlns:a16="http://schemas.microsoft.com/office/drawing/2014/main" id="{EEDD63C4-52EB-464F-979A-E1207376B8D8}"/>
                  </a:ext>
                </a:extLst>
              </p:cNvPr>
              <p:cNvPicPr/>
              <p:nvPr/>
            </p:nvPicPr>
            <p:blipFill>
              <a:blip r:embed="rId10"/>
              <a:stretch>
                <a:fillRect/>
              </a:stretch>
            </p:blipFill>
            <p:spPr>
              <a:xfrm>
                <a:off x="11180597" y="5218738"/>
                <a:ext cx="395640" cy="1440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28" name="Ink 27">
                <a:extLst>
                  <a:ext uri="{FF2B5EF4-FFF2-40B4-BE49-F238E27FC236}">
                    <a16:creationId xmlns:a16="http://schemas.microsoft.com/office/drawing/2014/main" id="{3FCBE543-C1CB-E7AE-6F27-E5CB55885236}"/>
                  </a:ext>
                </a:extLst>
              </p14:cNvPr>
              <p14:cNvContentPartPr/>
              <p14:nvPr/>
            </p14:nvContentPartPr>
            <p14:xfrm>
              <a:off x="11157557" y="5301178"/>
              <a:ext cx="399600" cy="64800"/>
            </p14:xfrm>
          </p:contentPart>
        </mc:Choice>
        <mc:Fallback xmlns="">
          <p:pic>
            <p:nvPicPr>
              <p:cNvPr id="28" name="Ink 27">
                <a:extLst>
                  <a:ext uri="{FF2B5EF4-FFF2-40B4-BE49-F238E27FC236}">
                    <a16:creationId xmlns:a16="http://schemas.microsoft.com/office/drawing/2014/main" id="{3FCBE543-C1CB-E7AE-6F27-E5CB55885236}"/>
                  </a:ext>
                </a:extLst>
              </p:cNvPr>
              <p:cNvPicPr/>
              <p:nvPr/>
            </p:nvPicPr>
            <p:blipFill>
              <a:blip r:embed="rId12"/>
              <a:stretch>
                <a:fillRect/>
              </a:stretch>
            </p:blipFill>
            <p:spPr>
              <a:xfrm>
                <a:off x="11139557" y="5265538"/>
                <a:ext cx="435240" cy="13644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30" name="Ink 29">
                <a:extLst>
                  <a:ext uri="{FF2B5EF4-FFF2-40B4-BE49-F238E27FC236}">
                    <a16:creationId xmlns:a16="http://schemas.microsoft.com/office/drawing/2014/main" id="{EA2FE0EB-3AFE-4FFF-48D0-BD376A38C006}"/>
                  </a:ext>
                </a:extLst>
              </p14:cNvPr>
              <p14:cNvContentPartPr/>
              <p14:nvPr/>
            </p14:nvContentPartPr>
            <p14:xfrm>
              <a:off x="9493277" y="5280658"/>
              <a:ext cx="380520" cy="10440"/>
            </p14:xfrm>
          </p:contentPart>
        </mc:Choice>
        <mc:Fallback xmlns="">
          <p:pic>
            <p:nvPicPr>
              <p:cNvPr id="30" name="Ink 29">
                <a:extLst>
                  <a:ext uri="{FF2B5EF4-FFF2-40B4-BE49-F238E27FC236}">
                    <a16:creationId xmlns:a16="http://schemas.microsoft.com/office/drawing/2014/main" id="{EA2FE0EB-3AFE-4FFF-48D0-BD376A38C006}"/>
                  </a:ext>
                </a:extLst>
              </p:cNvPr>
              <p:cNvPicPr/>
              <p:nvPr/>
            </p:nvPicPr>
            <p:blipFill>
              <a:blip r:embed="rId14"/>
              <a:stretch>
                <a:fillRect/>
              </a:stretch>
            </p:blipFill>
            <p:spPr>
              <a:xfrm>
                <a:off x="9475277" y="5244658"/>
                <a:ext cx="416160" cy="8208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32" name="Ink 31">
                <a:extLst>
                  <a:ext uri="{FF2B5EF4-FFF2-40B4-BE49-F238E27FC236}">
                    <a16:creationId xmlns:a16="http://schemas.microsoft.com/office/drawing/2014/main" id="{8F4898AA-65E4-0D00-CE92-C0BFA5E88AD4}"/>
                  </a:ext>
                </a:extLst>
              </p14:cNvPr>
              <p14:cNvContentPartPr/>
              <p14:nvPr/>
            </p14:nvContentPartPr>
            <p14:xfrm>
              <a:off x="9513797" y="5342578"/>
              <a:ext cx="339480" cy="20880"/>
            </p14:xfrm>
          </p:contentPart>
        </mc:Choice>
        <mc:Fallback xmlns="">
          <p:pic>
            <p:nvPicPr>
              <p:cNvPr id="32" name="Ink 31">
                <a:extLst>
                  <a:ext uri="{FF2B5EF4-FFF2-40B4-BE49-F238E27FC236}">
                    <a16:creationId xmlns:a16="http://schemas.microsoft.com/office/drawing/2014/main" id="{8F4898AA-65E4-0D00-CE92-C0BFA5E88AD4}"/>
                  </a:ext>
                </a:extLst>
              </p:cNvPr>
              <p:cNvPicPr/>
              <p:nvPr/>
            </p:nvPicPr>
            <p:blipFill>
              <a:blip r:embed="rId16"/>
              <a:stretch>
                <a:fillRect/>
              </a:stretch>
            </p:blipFill>
            <p:spPr>
              <a:xfrm>
                <a:off x="9495797" y="5306578"/>
                <a:ext cx="375120" cy="9252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33" name="Ink 32">
                <a:extLst>
                  <a:ext uri="{FF2B5EF4-FFF2-40B4-BE49-F238E27FC236}">
                    <a16:creationId xmlns:a16="http://schemas.microsoft.com/office/drawing/2014/main" id="{1F0F0667-E547-7090-4996-697B5F3F6976}"/>
                  </a:ext>
                </a:extLst>
              </p14:cNvPr>
              <p14:cNvContentPartPr/>
              <p14:nvPr/>
            </p14:nvContentPartPr>
            <p14:xfrm>
              <a:off x="9493277" y="5268778"/>
              <a:ext cx="10800" cy="53280"/>
            </p14:xfrm>
          </p:contentPart>
        </mc:Choice>
        <mc:Fallback xmlns="">
          <p:pic>
            <p:nvPicPr>
              <p:cNvPr id="33" name="Ink 32">
                <a:extLst>
                  <a:ext uri="{FF2B5EF4-FFF2-40B4-BE49-F238E27FC236}">
                    <a16:creationId xmlns:a16="http://schemas.microsoft.com/office/drawing/2014/main" id="{1F0F0667-E547-7090-4996-697B5F3F6976}"/>
                  </a:ext>
                </a:extLst>
              </p:cNvPr>
              <p:cNvPicPr/>
              <p:nvPr/>
            </p:nvPicPr>
            <p:blipFill>
              <a:blip r:embed="rId18"/>
              <a:stretch>
                <a:fillRect/>
              </a:stretch>
            </p:blipFill>
            <p:spPr>
              <a:xfrm>
                <a:off x="9475277" y="5233138"/>
                <a:ext cx="46440" cy="12492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34" name="Ink 33">
                <a:extLst>
                  <a:ext uri="{FF2B5EF4-FFF2-40B4-BE49-F238E27FC236}">
                    <a16:creationId xmlns:a16="http://schemas.microsoft.com/office/drawing/2014/main" id="{A3023B42-0409-AA15-79A5-97096E78C780}"/>
                  </a:ext>
                </a:extLst>
              </p14:cNvPr>
              <p14:cNvContentPartPr/>
              <p14:nvPr/>
            </p14:nvContentPartPr>
            <p14:xfrm>
              <a:off x="8763557" y="5301178"/>
              <a:ext cx="317880" cy="31680"/>
            </p14:xfrm>
          </p:contentPart>
        </mc:Choice>
        <mc:Fallback xmlns="">
          <p:pic>
            <p:nvPicPr>
              <p:cNvPr id="34" name="Ink 33">
                <a:extLst>
                  <a:ext uri="{FF2B5EF4-FFF2-40B4-BE49-F238E27FC236}">
                    <a16:creationId xmlns:a16="http://schemas.microsoft.com/office/drawing/2014/main" id="{A3023B42-0409-AA15-79A5-97096E78C780}"/>
                  </a:ext>
                </a:extLst>
              </p:cNvPr>
              <p:cNvPicPr/>
              <p:nvPr/>
            </p:nvPicPr>
            <p:blipFill>
              <a:blip r:embed="rId20"/>
              <a:stretch>
                <a:fillRect/>
              </a:stretch>
            </p:blipFill>
            <p:spPr>
              <a:xfrm>
                <a:off x="8745557" y="5265538"/>
                <a:ext cx="353520" cy="10332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35" name="Ink 34">
                <a:extLst>
                  <a:ext uri="{FF2B5EF4-FFF2-40B4-BE49-F238E27FC236}">
                    <a16:creationId xmlns:a16="http://schemas.microsoft.com/office/drawing/2014/main" id="{B9C1ABA2-5DA2-0B2C-CF89-BC372EE3BFE9}"/>
                  </a:ext>
                </a:extLst>
              </p14:cNvPr>
              <p14:cNvContentPartPr/>
              <p14:nvPr/>
            </p14:nvContentPartPr>
            <p14:xfrm>
              <a:off x="8763557" y="5342578"/>
              <a:ext cx="338760" cy="360"/>
            </p14:xfrm>
          </p:contentPart>
        </mc:Choice>
        <mc:Fallback xmlns="">
          <p:pic>
            <p:nvPicPr>
              <p:cNvPr id="35" name="Ink 34">
                <a:extLst>
                  <a:ext uri="{FF2B5EF4-FFF2-40B4-BE49-F238E27FC236}">
                    <a16:creationId xmlns:a16="http://schemas.microsoft.com/office/drawing/2014/main" id="{B9C1ABA2-5DA2-0B2C-CF89-BC372EE3BFE9}"/>
                  </a:ext>
                </a:extLst>
              </p:cNvPr>
              <p:cNvPicPr/>
              <p:nvPr/>
            </p:nvPicPr>
            <p:blipFill>
              <a:blip r:embed="rId22"/>
              <a:stretch>
                <a:fillRect/>
              </a:stretch>
            </p:blipFill>
            <p:spPr>
              <a:xfrm>
                <a:off x="8745557" y="5306578"/>
                <a:ext cx="3744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36" name="Ink 35">
                <a:extLst>
                  <a:ext uri="{FF2B5EF4-FFF2-40B4-BE49-F238E27FC236}">
                    <a16:creationId xmlns:a16="http://schemas.microsoft.com/office/drawing/2014/main" id="{DEEA6544-888D-4CCA-BD4A-674AED8B96A3}"/>
                  </a:ext>
                </a:extLst>
              </p14:cNvPr>
              <p14:cNvContentPartPr/>
              <p14:nvPr/>
            </p14:nvContentPartPr>
            <p14:xfrm>
              <a:off x="8815037" y="5270218"/>
              <a:ext cx="353880" cy="21960"/>
            </p14:xfrm>
          </p:contentPart>
        </mc:Choice>
        <mc:Fallback xmlns="">
          <p:pic>
            <p:nvPicPr>
              <p:cNvPr id="36" name="Ink 35">
                <a:extLst>
                  <a:ext uri="{FF2B5EF4-FFF2-40B4-BE49-F238E27FC236}">
                    <a16:creationId xmlns:a16="http://schemas.microsoft.com/office/drawing/2014/main" id="{DEEA6544-888D-4CCA-BD4A-674AED8B96A3}"/>
                  </a:ext>
                </a:extLst>
              </p:cNvPr>
              <p:cNvPicPr/>
              <p:nvPr/>
            </p:nvPicPr>
            <p:blipFill>
              <a:blip r:embed="rId24"/>
              <a:stretch>
                <a:fillRect/>
              </a:stretch>
            </p:blipFill>
            <p:spPr>
              <a:xfrm>
                <a:off x="8797397" y="5234578"/>
                <a:ext cx="389520" cy="9360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37" name="Ink 36">
                <a:extLst>
                  <a:ext uri="{FF2B5EF4-FFF2-40B4-BE49-F238E27FC236}">
                    <a16:creationId xmlns:a16="http://schemas.microsoft.com/office/drawing/2014/main" id="{3923BE90-84EB-E953-0782-FAAB1BEC6AB4}"/>
                  </a:ext>
                </a:extLst>
              </p14:cNvPr>
              <p14:cNvContentPartPr/>
              <p14:nvPr/>
            </p14:nvContentPartPr>
            <p14:xfrm>
              <a:off x="9164237" y="5272738"/>
              <a:ext cx="17640" cy="59400"/>
            </p14:xfrm>
          </p:contentPart>
        </mc:Choice>
        <mc:Fallback xmlns="">
          <p:pic>
            <p:nvPicPr>
              <p:cNvPr id="37" name="Ink 36">
                <a:extLst>
                  <a:ext uri="{FF2B5EF4-FFF2-40B4-BE49-F238E27FC236}">
                    <a16:creationId xmlns:a16="http://schemas.microsoft.com/office/drawing/2014/main" id="{3923BE90-84EB-E953-0782-FAAB1BEC6AB4}"/>
                  </a:ext>
                </a:extLst>
              </p:cNvPr>
              <p:cNvPicPr/>
              <p:nvPr/>
            </p:nvPicPr>
            <p:blipFill>
              <a:blip r:embed="rId26"/>
              <a:stretch>
                <a:fillRect/>
              </a:stretch>
            </p:blipFill>
            <p:spPr>
              <a:xfrm>
                <a:off x="9146597" y="5237098"/>
                <a:ext cx="53280" cy="13104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38" name="Ink 37">
                <a:extLst>
                  <a:ext uri="{FF2B5EF4-FFF2-40B4-BE49-F238E27FC236}">
                    <a16:creationId xmlns:a16="http://schemas.microsoft.com/office/drawing/2014/main" id="{412FA4C4-F664-79AE-30AB-583A7B8DC40A}"/>
                  </a:ext>
                </a:extLst>
              </p14:cNvPr>
              <p14:cNvContentPartPr/>
              <p14:nvPr/>
            </p14:nvContentPartPr>
            <p14:xfrm>
              <a:off x="9105557" y="5280658"/>
              <a:ext cx="48960" cy="360"/>
            </p14:xfrm>
          </p:contentPart>
        </mc:Choice>
        <mc:Fallback xmlns="">
          <p:pic>
            <p:nvPicPr>
              <p:cNvPr id="38" name="Ink 37">
                <a:extLst>
                  <a:ext uri="{FF2B5EF4-FFF2-40B4-BE49-F238E27FC236}">
                    <a16:creationId xmlns:a16="http://schemas.microsoft.com/office/drawing/2014/main" id="{412FA4C4-F664-79AE-30AB-583A7B8DC40A}"/>
                  </a:ext>
                </a:extLst>
              </p:cNvPr>
              <p:cNvPicPr/>
              <p:nvPr/>
            </p:nvPicPr>
            <p:blipFill>
              <a:blip r:embed="rId28"/>
              <a:stretch>
                <a:fillRect/>
              </a:stretch>
            </p:blipFill>
            <p:spPr>
              <a:xfrm>
                <a:off x="9087917" y="5245018"/>
                <a:ext cx="846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39" name="Ink 38">
                <a:extLst>
                  <a:ext uri="{FF2B5EF4-FFF2-40B4-BE49-F238E27FC236}">
                    <a16:creationId xmlns:a16="http://schemas.microsoft.com/office/drawing/2014/main" id="{0B3259D3-0C4F-35BF-3891-F1E48DE407A5}"/>
                  </a:ext>
                </a:extLst>
              </p14:cNvPr>
              <p14:cNvContentPartPr/>
              <p14:nvPr/>
            </p14:nvContentPartPr>
            <p14:xfrm>
              <a:off x="9126077" y="5310538"/>
              <a:ext cx="48960" cy="21960"/>
            </p14:xfrm>
          </p:contentPart>
        </mc:Choice>
        <mc:Fallback xmlns="">
          <p:pic>
            <p:nvPicPr>
              <p:cNvPr id="39" name="Ink 38">
                <a:extLst>
                  <a:ext uri="{FF2B5EF4-FFF2-40B4-BE49-F238E27FC236}">
                    <a16:creationId xmlns:a16="http://schemas.microsoft.com/office/drawing/2014/main" id="{0B3259D3-0C4F-35BF-3891-F1E48DE407A5}"/>
                  </a:ext>
                </a:extLst>
              </p:cNvPr>
              <p:cNvPicPr/>
              <p:nvPr/>
            </p:nvPicPr>
            <p:blipFill>
              <a:blip r:embed="rId30"/>
              <a:stretch>
                <a:fillRect/>
              </a:stretch>
            </p:blipFill>
            <p:spPr>
              <a:xfrm>
                <a:off x="9108437" y="5274898"/>
                <a:ext cx="84600" cy="9360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40" name="Ink 39">
                <a:extLst>
                  <a:ext uri="{FF2B5EF4-FFF2-40B4-BE49-F238E27FC236}">
                    <a16:creationId xmlns:a16="http://schemas.microsoft.com/office/drawing/2014/main" id="{452A822E-CE00-F635-D281-92C638823937}"/>
                  </a:ext>
                </a:extLst>
              </p14:cNvPr>
              <p14:cNvContentPartPr/>
              <p14:nvPr/>
            </p14:nvContentPartPr>
            <p14:xfrm>
              <a:off x="9095837" y="5336098"/>
              <a:ext cx="38160" cy="6840"/>
            </p14:xfrm>
          </p:contentPart>
        </mc:Choice>
        <mc:Fallback xmlns="">
          <p:pic>
            <p:nvPicPr>
              <p:cNvPr id="40" name="Ink 39">
                <a:extLst>
                  <a:ext uri="{FF2B5EF4-FFF2-40B4-BE49-F238E27FC236}">
                    <a16:creationId xmlns:a16="http://schemas.microsoft.com/office/drawing/2014/main" id="{452A822E-CE00-F635-D281-92C638823937}"/>
                  </a:ext>
                </a:extLst>
              </p:cNvPr>
              <p:cNvPicPr/>
              <p:nvPr/>
            </p:nvPicPr>
            <p:blipFill>
              <a:blip r:embed="rId32"/>
              <a:stretch>
                <a:fillRect/>
              </a:stretch>
            </p:blipFill>
            <p:spPr>
              <a:xfrm>
                <a:off x="9077837" y="5300098"/>
                <a:ext cx="73800" cy="7848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41" name="Ink 40">
                <a:extLst>
                  <a:ext uri="{FF2B5EF4-FFF2-40B4-BE49-F238E27FC236}">
                    <a16:creationId xmlns:a16="http://schemas.microsoft.com/office/drawing/2014/main" id="{F877A0E9-2664-D956-E4F2-1A3EA6791892}"/>
                  </a:ext>
                </a:extLst>
              </p14:cNvPr>
              <p14:cNvContentPartPr/>
              <p14:nvPr/>
            </p14:nvContentPartPr>
            <p14:xfrm>
              <a:off x="9143717" y="5311618"/>
              <a:ext cx="360" cy="360"/>
            </p14:xfrm>
          </p:contentPart>
        </mc:Choice>
        <mc:Fallback xmlns="">
          <p:pic>
            <p:nvPicPr>
              <p:cNvPr id="41" name="Ink 40">
                <a:extLst>
                  <a:ext uri="{FF2B5EF4-FFF2-40B4-BE49-F238E27FC236}">
                    <a16:creationId xmlns:a16="http://schemas.microsoft.com/office/drawing/2014/main" id="{F877A0E9-2664-D956-E4F2-1A3EA6791892}"/>
                  </a:ext>
                </a:extLst>
              </p:cNvPr>
              <p:cNvPicPr/>
              <p:nvPr/>
            </p:nvPicPr>
            <p:blipFill>
              <a:blip r:embed="rId34"/>
              <a:stretch>
                <a:fillRect/>
              </a:stretch>
            </p:blipFill>
            <p:spPr>
              <a:xfrm>
                <a:off x="9125717" y="5275618"/>
                <a:ext cx="36000" cy="72000"/>
              </a:xfrm>
              <a:prstGeom prst="rect">
                <a:avLst/>
              </a:prstGeom>
            </p:spPr>
          </p:pic>
        </mc:Fallback>
      </mc:AlternateContent>
    </p:spTree>
    <p:extLst>
      <p:ext uri="{BB962C8B-B14F-4D97-AF65-F5344CB8AC3E}">
        <p14:creationId xmlns:p14="http://schemas.microsoft.com/office/powerpoint/2010/main" val="18642886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3"/>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5"/>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7"/>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8"/>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0"/>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2"/>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3"/>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34"/>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35"/>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36"/>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37"/>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38"/>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39"/>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40"/>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P spid="18" grpId="0" animBg="1"/>
      <p:bldP spid="19"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6F7269-0740-B375-D9D8-A88D32909CA0}"/>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79CA9830-37E7-2825-4127-49F2E3B09F9E}"/>
              </a:ext>
            </a:extLst>
          </p:cNvPr>
          <p:cNvSpPr/>
          <p:nvPr/>
        </p:nvSpPr>
        <p:spPr>
          <a:xfrm>
            <a:off x="0" y="1675"/>
            <a:ext cx="12192000" cy="6858000"/>
          </a:xfrm>
          <a:prstGeom prst="rect">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800" dirty="0">
              <a:latin typeface="Arial" panose="020B0604020202020204" pitchFamily="34" charset="0"/>
              <a:cs typeface="Arial" panose="020B0604020202020204" pitchFamily="34" charset="0"/>
            </a:endParaRPr>
          </a:p>
        </p:txBody>
      </p:sp>
      <p:graphicFrame>
        <p:nvGraphicFramePr>
          <p:cNvPr id="6" name="Table 5">
            <a:extLst>
              <a:ext uri="{FF2B5EF4-FFF2-40B4-BE49-F238E27FC236}">
                <a16:creationId xmlns:a16="http://schemas.microsoft.com/office/drawing/2014/main" id="{F85F2B7E-63C5-C48C-BC55-CA8E7D768983}"/>
              </a:ext>
            </a:extLst>
          </p:cNvPr>
          <p:cNvGraphicFramePr>
            <a:graphicFrameLocks noGrp="1"/>
          </p:cNvGraphicFramePr>
          <p:nvPr>
            <p:extLst>
              <p:ext uri="{D42A27DB-BD31-4B8C-83A1-F6EECF244321}">
                <p14:modId xmlns:p14="http://schemas.microsoft.com/office/powerpoint/2010/main" val="1411862008"/>
              </p:ext>
            </p:extLst>
          </p:nvPr>
        </p:nvGraphicFramePr>
        <p:xfrm>
          <a:off x="421239" y="2551629"/>
          <a:ext cx="5434887" cy="2264728"/>
        </p:xfrm>
        <a:graphic>
          <a:graphicData uri="http://schemas.openxmlformats.org/drawingml/2006/table">
            <a:tbl>
              <a:tblPr>
                <a:tableStyleId>{0505E3EF-67EA-436B-97B2-0124C06EBD24}</a:tableStyleId>
              </a:tblPr>
              <a:tblGrid>
                <a:gridCol w="583203">
                  <a:extLst>
                    <a:ext uri="{9D8B030D-6E8A-4147-A177-3AD203B41FA5}">
                      <a16:colId xmlns:a16="http://schemas.microsoft.com/office/drawing/2014/main" val="3018628187"/>
                    </a:ext>
                  </a:extLst>
                </a:gridCol>
                <a:gridCol w="3391826">
                  <a:extLst>
                    <a:ext uri="{9D8B030D-6E8A-4147-A177-3AD203B41FA5}">
                      <a16:colId xmlns:a16="http://schemas.microsoft.com/office/drawing/2014/main" val="1296777072"/>
                    </a:ext>
                  </a:extLst>
                </a:gridCol>
                <a:gridCol w="761358">
                  <a:extLst>
                    <a:ext uri="{9D8B030D-6E8A-4147-A177-3AD203B41FA5}">
                      <a16:colId xmlns:a16="http://schemas.microsoft.com/office/drawing/2014/main" val="2607073152"/>
                    </a:ext>
                  </a:extLst>
                </a:gridCol>
                <a:gridCol w="698500">
                  <a:extLst>
                    <a:ext uri="{9D8B030D-6E8A-4147-A177-3AD203B41FA5}">
                      <a16:colId xmlns:a16="http://schemas.microsoft.com/office/drawing/2014/main" val="553328375"/>
                    </a:ext>
                  </a:extLst>
                </a:gridCol>
              </a:tblGrid>
              <a:tr h="410686">
                <a:tc>
                  <a:txBody>
                    <a:bodyPr/>
                    <a:lstStyle/>
                    <a:p>
                      <a:pPr algn="ctr" fontAlgn="b"/>
                      <a:r>
                        <a:rPr lang="en-US" sz="1400" b="1" u="none" strike="noStrike" dirty="0">
                          <a:solidFill>
                            <a:srgbClr val="D9D9D9"/>
                          </a:solidFill>
                          <a:effectLst/>
                        </a:rPr>
                        <a:t>S.no.</a:t>
                      </a:r>
                      <a:endParaRPr lang="en-US" sz="1400" b="1" i="0" u="none" strike="noStrike" dirty="0">
                        <a:solidFill>
                          <a:srgbClr val="D9D9D9"/>
                        </a:solidFill>
                        <a:effectLst/>
                        <a:latin typeface="Calibri" panose="020F0502020204030204" pitchFamily="34" charset="0"/>
                      </a:endParaRPr>
                    </a:p>
                  </a:txBody>
                  <a:tcPr marL="9525" marR="9525" marT="9525" marB="0" anchor="ct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00000"/>
                    </a:solidFill>
                  </a:tcPr>
                </a:tc>
                <a:tc>
                  <a:txBody>
                    <a:bodyPr/>
                    <a:lstStyle/>
                    <a:p>
                      <a:pPr algn="ctr" fontAlgn="b"/>
                      <a:r>
                        <a:rPr lang="en-US" sz="1400" b="1" u="none" strike="noStrike" dirty="0">
                          <a:solidFill>
                            <a:srgbClr val="D9D9D9"/>
                          </a:solidFill>
                          <a:effectLst/>
                        </a:rPr>
                        <a:t>Sequence</a:t>
                      </a:r>
                      <a:endParaRPr lang="en-US" sz="1400" b="1" i="0" u="none" strike="noStrike" dirty="0">
                        <a:solidFill>
                          <a:srgbClr val="D9D9D9"/>
                        </a:solidFill>
                        <a:effectLst/>
                        <a:latin typeface="Calibri" panose="020F0502020204030204" pitchFamily="34" charset="0"/>
                      </a:endParaRPr>
                    </a:p>
                  </a:txBody>
                  <a:tcPr marL="9525" marR="9525" marT="9525" marB="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00000"/>
                    </a:solidFill>
                  </a:tcPr>
                </a:tc>
                <a:tc>
                  <a:txBody>
                    <a:bodyPr/>
                    <a:lstStyle/>
                    <a:p>
                      <a:pPr algn="ctr" fontAlgn="b"/>
                      <a:r>
                        <a:rPr lang="en-US" sz="1400" b="1" i="0" u="none" strike="noStrike" dirty="0">
                          <a:solidFill>
                            <a:srgbClr val="D9D9D9"/>
                          </a:solidFill>
                          <a:effectLst/>
                          <a:latin typeface="Calibri" panose="020F0502020204030204" pitchFamily="34" charset="0"/>
                        </a:rPr>
                        <a:t>Location</a:t>
                      </a:r>
                    </a:p>
                  </a:txBody>
                  <a:tcPr marL="9525" marR="9525" marT="9525" marB="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00000"/>
                    </a:solidFill>
                  </a:tcPr>
                </a:tc>
                <a:tc>
                  <a:txBody>
                    <a:bodyPr/>
                    <a:lstStyle/>
                    <a:p>
                      <a:pPr algn="ctr" fontAlgn="b"/>
                      <a:r>
                        <a:rPr lang="en-US" sz="1400" b="1" u="none" strike="noStrike" dirty="0">
                          <a:solidFill>
                            <a:srgbClr val="D9D9D9"/>
                          </a:solidFill>
                          <a:effectLst/>
                        </a:rPr>
                        <a:t>Length</a:t>
                      </a:r>
                      <a:endParaRPr lang="en-US" sz="1400" b="1" i="0" u="none" strike="noStrike" dirty="0">
                        <a:solidFill>
                          <a:srgbClr val="D9D9D9"/>
                        </a:solidFill>
                        <a:effectLst/>
                        <a:latin typeface="Calibri" panose="020F0502020204030204" pitchFamily="34" charset="0"/>
                      </a:endParaRPr>
                    </a:p>
                  </a:txBody>
                  <a:tcPr marL="9525" marR="9525" marT="9525" marB="0"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00000"/>
                    </a:solidFill>
                  </a:tcPr>
                </a:tc>
                <a:extLst>
                  <a:ext uri="{0D108BD9-81ED-4DB2-BD59-A6C34878D82A}">
                    <a16:rowId xmlns:a16="http://schemas.microsoft.com/office/drawing/2014/main" val="1115189519"/>
                  </a:ext>
                </a:extLst>
              </a:tr>
              <a:tr h="457706">
                <a:tc>
                  <a:txBody>
                    <a:bodyPr/>
                    <a:lstStyle/>
                    <a:p>
                      <a:pPr algn="ctr" fontAlgn="b"/>
                      <a:r>
                        <a:rPr lang="en-US" sz="1400" b="0" u="none" strike="noStrike" dirty="0">
                          <a:solidFill>
                            <a:srgbClr val="000000"/>
                          </a:solidFill>
                          <a:effectLst/>
                        </a:rPr>
                        <a:t>1.</a:t>
                      </a:r>
                      <a:endParaRPr lang="en-US" sz="1400" b="0" i="0" u="none" strike="noStrike" dirty="0">
                        <a:solidFill>
                          <a:srgbClr val="000000"/>
                        </a:solidFill>
                        <a:effectLst/>
                        <a:latin typeface="Calibri" panose="020F0502020204030204" pitchFamily="34" charset="0"/>
                      </a:endParaRPr>
                    </a:p>
                  </a:txBody>
                  <a:tcPr marL="9525" marR="9525" marT="9525" marB="0" anchor="ct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D9D9D9"/>
                    </a:solidFill>
                  </a:tcPr>
                </a:tc>
                <a:tc>
                  <a:txBody>
                    <a:bodyPr/>
                    <a:lstStyle/>
                    <a:p>
                      <a:pPr algn="l" fontAlgn="ctr"/>
                      <a:r>
                        <a:rPr lang="en-US" sz="1200" b="0" u="none" strike="noStrike" dirty="0">
                          <a:solidFill>
                            <a:srgbClr val="000000"/>
                          </a:solidFill>
                          <a:effectLst/>
                        </a:rPr>
                        <a:t>MSEWS</a:t>
                      </a:r>
                      <a:r>
                        <a:rPr lang="en-US" sz="1200" b="0" u="none" strike="noStrike" dirty="0">
                          <a:solidFill>
                            <a:srgbClr val="FF0000"/>
                          </a:solidFill>
                          <a:effectLst/>
                        </a:rPr>
                        <a:t>RIAVEFG</a:t>
                      </a:r>
                      <a:r>
                        <a:rPr lang="en-US" sz="1200" b="0" u="none" strike="noStrike" dirty="0">
                          <a:solidFill>
                            <a:srgbClr val="000000"/>
                          </a:solidFill>
                          <a:effectLst/>
                        </a:rPr>
                        <a:t>EQQL</a:t>
                      </a:r>
                      <a:r>
                        <a:rPr lang="en-US" sz="1200" b="0" u="none" strike="noStrike" dirty="0">
                          <a:solidFill>
                            <a:srgbClr val="FF0000"/>
                          </a:solidFill>
                          <a:effectLst/>
                        </a:rPr>
                        <a:t>NLTELED</a:t>
                      </a:r>
                      <a:r>
                        <a:rPr lang="en-US" sz="1200" b="0" u="none" strike="noStrike" dirty="0">
                          <a:solidFill>
                            <a:srgbClr val="000000"/>
                          </a:solidFill>
                          <a:effectLst/>
                        </a:rPr>
                        <a:t>FARELAYEGLDPALIIKKLKETGGDDWV</a:t>
                      </a:r>
                      <a:endParaRPr lang="en-US" sz="1200" b="0" i="0" u="none" strike="noStrike" dirty="0">
                        <a:solidFill>
                          <a:srgbClr val="000000"/>
                        </a:solidFill>
                        <a:effectLst/>
                        <a:latin typeface="Consolas" panose="020B0609020204030204" pitchFamily="49" charset="0"/>
                      </a:endParaRPr>
                    </a:p>
                  </a:txBody>
                  <a:tcPr marL="9525" marR="9525" marT="9525" marB="0" anchor="ct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D9D9D9"/>
                    </a:solidFill>
                  </a:tcPr>
                </a:tc>
                <a:tc>
                  <a:txBody>
                    <a:bodyPr/>
                    <a:lstStyle/>
                    <a:p>
                      <a:pPr algn="ctr" fontAlgn="b"/>
                      <a:r>
                        <a:rPr lang="en-US" sz="1400" b="0" u="none" strike="noStrike" dirty="0">
                          <a:solidFill>
                            <a:srgbClr val="000000"/>
                          </a:solidFill>
                          <a:effectLst/>
                        </a:rPr>
                        <a:t>1-51</a:t>
                      </a:r>
                      <a:endParaRPr lang="en-US" sz="1400" b="0" i="0" u="none" strike="noStrike" dirty="0">
                        <a:solidFill>
                          <a:srgbClr val="000000"/>
                        </a:solidFill>
                        <a:effectLst/>
                        <a:latin typeface="Calibri" panose="020F0502020204030204" pitchFamily="34" charset="0"/>
                      </a:endParaRPr>
                    </a:p>
                  </a:txBody>
                  <a:tcPr marL="9525" marR="9525" marT="9525" marB="0" anchor="ct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D9D9D9"/>
                    </a:solidFill>
                  </a:tcPr>
                </a:tc>
                <a:tc>
                  <a:txBody>
                    <a:bodyPr/>
                    <a:lstStyle/>
                    <a:p>
                      <a:pPr algn="ctr" fontAlgn="b"/>
                      <a:r>
                        <a:rPr lang="en-US" sz="1400" b="0" u="none" strike="noStrike" dirty="0">
                          <a:solidFill>
                            <a:srgbClr val="000000"/>
                          </a:solidFill>
                          <a:effectLst/>
                        </a:rPr>
                        <a:t>51</a:t>
                      </a:r>
                      <a:endParaRPr lang="en-US" sz="1400" b="0" i="0" u="none" strike="noStrike" dirty="0">
                        <a:solidFill>
                          <a:srgbClr val="000000"/>
                        </a:solidFill>
                        <a:effectLst/>
                        <a:latin typeface="Calibri" panose="020F0502020204030204" pitchFamily="34" charset="0"/>
                      </a:endParaRPr>
                    </a:p>
                  </a:txBody>
                  <a:tcPr marL="9525" marR="9525" marT="9525" marB="0"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1873219805"/>
                  </a:ext>
                </a:extLst>
              </a:tr>
              <a:tr h="698168">
                <a:tc>
                  <a:txBody>
                    <a:bodyPr/>
                    <a:lstStyle/>
                    <a:p>
                      <a:pPr algn="ctr" fontAlgn="b"/>
                      <a:r>
                        <a:rPr lang="en-US" sz="1400" b="0" u="none" strike="noStrike" dirty="0">
                          <a:solidFill>
                            <a:srgbClr val="000000"/>
                          </a:solidFill>
                          <a:effectLst/>
                        </a:rPr>
                        <a:t>2.</a:t>
                      </a:r>
                      <a:endParaRPr lang="en-US" sz="1400" b="0" i="0" u="none" strike="noStrike" dirty="0">
                        <a:solidFill>
                          <a:srgbClr val="000000"/>
                        </a:solidFill>
                        <a:effectLst/>
                        <a:latin typeface="Calibri" panose="020F0502020204030204" pitchFamily="34" charset="0"/>
                      </a:endParaRPr>
                    </a:p>
                  </a:txBody>
                  <a:tcPr marL="9525" marR="9525" marT="9525" marB="0" anchor="ctr">
                    <a:lnL w="12700"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rgbClr val="D9D9D9"/>
                    </a:solidFill>
                  </a:tcPr>
                </a:tc>
                <a:tc>
                  <a:txBody>
                    <a:bodyPr/>
                    <a:lstStyle/>
                    <a:p>
                      <a:pPr algn="l" fontAlgn="ctr"/>
                      <a:r>
                        <a:rPr lang="en-US" sz="1200" b="0" u="none" strike="noStrike" dirty="0">
                          <a:solidFill>
                            <a:srgbClr val="000000"/>
                          </a:solidFill>
                          <a:effectLst/>
                        </a:rPr>
                        <a:t>DTKFIIVFALTRGNKIVKASGKMSNSGSK</a:t>
                      </a:r>
                      <a:r>
                        <a:rPr lang="en-US" sz="1200" b="0" u="none" strike="noStrike" dirty="0">
                          <a:solidFill>
                            <a:srgbClr val="FF0000"/>
                          </a:solidFill>
                          <a:effectLst/>
                        </a:rPr>
                        <a:t>RLMALQEKYG</a:t>
                      </a:r>
                      <a:r>
                        <a:rPr lang="en-US" sz="1200" b="0" u="none" strike="noStrike" dirty="0">
                          <a:solidFill>
                            <a:srgbClr val="000000"/>
                          </a:solidFill>
                          <a:effectLst/>
                        </a:rPr>
                        <a:t>LVERAETRLSITP</a:t>
                      </a:r>
                      <a:r>
                        <a:rPr lang="en-US" sz="1200" b="0" u="none" strike="noStrike" dirty="0">
                          <a:solidFill>
                            <a:srgbClr val="FF0000"/>
                          </a:solidFill>
                          <a:effectLst/>
                        </a:rPr>
                        <a:t>VRVAQSL</a:t>
                      </a:r>
                      <a:r>
                        <a:rPr lang="en-US" sz="1200" b="0" u="none" strike="noStrike" dirty="0">
                          <a:solidFill>
                            <a:srgbClr val="000000"/>
                          </a:solidFill>
                          <a:effectLst/>
                        </a:rPr>
                        <a:t>PTW</a:t>
                      </a:r>
                      <a:r>
                        <a:rPr lang="en-US" sz="1200" b="0" u="none" strike="noStrike" dirty="0">
                          <a:solidFill>
                            <a:srgbClr val="FF0000"/>
                          </a:solidFill>
                          <a:effectLst/>
                        </a:rPr>
                        <a:t>TCAAAAAL</a:t>
                      </a:r>
                      <a:r>
                        <a:rPr lang="en-US" sz="1200" b="0" u="none" strike="noStrike" dirty="0">
                          <a:solidFill>
                            <a:srgbClr val="000000"/>
                          </a:solidFill>
                          <a:effectLst/>
                        </a:rPr>
                        <a:t>KEYLPVGPAVMNLKVENYPPEMMCMAFGSLIPT</a:t>
                      </a:r>
                      <a:endParaRPr lang="en-US" sz="1200" b="0" i="0" u="none" strike="noStrike" dirty="0">
                        <a:solidFill>
                          <a:srgbClr val="000000"/>
                        </a:solidFill>
                        <a:effectLst/>
                        <a:latin typeface="Consolas" panose="020B0609020204030204" pitchFamily="49" charset="0"/>
                      </a:endParaRP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9D9D9"/>
                    </a:solidFill>
                  </a:tcPr>
                </a:tc>
                <a:tc>
                  <a:txBody>
                    <a:bodyPr/>
                    <a:lstStyle/>
                    <a:p>
                      <a:pPr algn="ctr" fontAlgn="b"/>
                      <a:r>
                        <a:rPr lang="en-US" sz="1400" b="0" u="none" strike="noStrike" dirty="0">
                          <a:solidFill>
                            <a:srgbClr val="000000"/>
                          </a:solidFill>
                          <a:effectLst/>
                        </a:rPr>
                        <a:t>53-155</a:t>
                      </a:r>
                      <a:endParaRPr lang="en-US" sz="1400" b="0" i="0" u="none" strike="noStrike" dirty="0">
                        <a:solidFill>
                          <a:srgbClr val="000000"/>
                        </a:solidFill>
                        <a:effectLst/>
                        <a:latin typeface="Calibri" panose="020F0502020204030204" pitchFamily="34" charset="0"/>
                      </a:endParaRP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9D9D9"/>
                    </a:solidFill>
                  </a:tcPr>
                </a:tc>
                <a:tc>
                  <a:txBody>
                    <a:bodyPr/>
                    <a:lstStyle/>
                    <a:p>
                      <a:pPr algn="ctr" fontAlgn="b"/>
                      <a:r>
                        <a:rPr lang="en-US" sz="1400" b="0" u="none" strike="noStrike" dirty="0">
                          <a:solidFill>
                            <a:srgbClr val="000000"/>
                          </a:solidFill>
                          <a:effectLst/>
                        </a:rPr>
                        <a:t>103</a:t>
                      </a:r>
                      <a:endParaRPr lang="en-US" sz="1400" b="0" i="0" u="none" strike="noStrike" dirty="0">
                        <a:solidFill>
                          <a:srgbClr val="000000"/>
                        </a:solidFill>
                        <a:effectLst/>
                        <a:latin typeface="Calibri" panose="020F0502020204030204" pitchFamily="34" charset="0"/>
                      </a:endParaRPr>
                    </a:p>
                  </a:txBody>
                  <a:tcPr marL="9525" marR="9525" marT="9525" marB="0" anchor="ct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503364610"/>
                  </a:ext>
                </a:extLst>
              </a:tr>
              <a:tr h="698168">
                <a:tc>
                  <a:txBody>
                    <a:bodyPr/>
                    <a:lstStyle/>
                    <a:p>
                      <a:pPr algn="ctr" fontAlgn="b"/>
                      <a:r>
                        <a:rPr lang="en-US" sz="1400" b="0" u="none" strike="noStrike" dirty="0">
                          <a:solidFill>
                            <a:srgbClr val="000000"/>
                          </a:solidFill>
                          <a:effectLst/>
                        </a:rPr>
                        <a:t>3.</a:t>
                      </a:r>
                      <a:endParaRPr lang="en-US" sz="1400" b="0" i="0" u="none" strike="noStrike" dirty="0">
                        <a:solidFill>
                          <a:srgbClr val="000000"/>
                        </a:solidFill>
                        <a:effectLst/>
                        <a:latin typeface="Calibri" panose="020F0502020204030204" pitchFamily="34" charset="0"/>
                      </a:endParaRPr>
                    </a:p>
                  </a:txBody>
                  <a:tcPr marL="9525" marR="9525" marT="9525" marB="0" anchor="ctr">
                    <a:lnL w="12700" cap="flat" cmpd="sng" algn="ctr">
                      <a:noFill/>
                      <a:prstDash val="solid"/>
                      <a:round/>
                      <a:headEnd type="none" w="med" len="med"/>
                      <a:tailEnd type="none" w="med" len="med"/>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l" fontAlgn="ctr"/>
                      <a:r>
                        <a:rPr lang="en-US" sz="1200" b="0" u="none" strike="noStrike" dirty="0">
                          <a:solidFill>
                            <a:srgbClr val="000000"/>
                          </a:solidFill>
                          <a:effectLst/>
                        </a:rPr>
                        <a:t>GVSEATTKT</a:t>
                      </a:r>
                      <a:r>
                        <a:rPr lang="en-US" sz="1200" b="0" u="none" strike="noStrike" dirty="0">
                          <a:solidFill>
                            <a:srgbClr val="FF0000"/>
                          </a:solidFill>
                          <a:effectLst/>
                        </a:rPr>
                        <a:t>LMEAYSL</a:t>
                      </a:r>
                      <a:r>
                        <a:rPr lang="en-US" sz="1200" b="0" u="none" strike="noStrike" dirty="0">
                          <a:solidFill>
                            <a:srgbClr val="000000"/>
                          </a:solidFill>
                          <a:effectLst/>
                        </a:rPr>
                        <a:t>WQDAFTKTIN</a:t>
                      </a:r>
                      <a:r>
                        <a:rPr lang="en-US" sz="1200" b="0" u="none" strike="noStrike" dirty="0">
                          <a:solidFill>
                            <a:srgbClr val="FF0000"/>
                          </a:solidFill>
                          <a:effectLst/>
                        </a:rPr>
                        <a:t>VKMRGAS</a:t>
                      </a:r>
                      <a:r>
                        <a:rPr lang="en-US" sz="1200" b="0" u="none" strike="noStrike" dirty="0">
                          <a:solidFill>
                            <a:srgbClr val="000000"/>
                          </a:solidFill>
                          <a:effectLst/>
                        </a:rPr>
                        <a:t>KTEVYNSFRDPLHAAVNSVFFPNDVRVKW</a:t>
                      </a:r>
                      <a:r>
                        <a:rPr lang="en-US" sz="1200" b="0" u="none" strike="noStrike" dirty="0">
                          <a:solidFill>
                            <a:srgbClr val="FF0000"/>
                          </a:solidFill>
                          <a:effectLst/>
                        </a:rPr>
                        <a:t>LKAKGILGPDG</a:t>
                      </a:r>
                      <a:r>
                        <a:rPr lang="en-US" sz="1200" b="0" u="none" strike="noStrike" dirty="0">
                          <a:solidFill>
                            <a:srgbClr val="000000"/>
                          </a:solidFill>
                          <a:effectLst/>
                        </a:rPr>
                        <a:t>V</a:t>
                      </a:r>
                      <a:r>
                        <a:rPr lang="en-US" sz="1200" b="0" u="none" strike="noStrike" dirty="0">
                          <a:solidFill>
                            <a:srgbClr val="FF0000"/>
                          </a:solidFill>
                          <a:effectLst/>
                        </a:rPr>
                        <a:t>PSRAAEVAAAAYR</a:t>
                      </a:r>
                      <a:r>
                        <a:rPr lang="en-US" sz="1200" b="0" u="none" strike="noStrike" dirty="0">
                          <a:solidFill>
                            <a:srgbClr val="000000"/>
                          </a:solidFill>
                          <a:effectLst/>
                        </a:rPr>
                        <a:t>NL</a:t>
                      </a:r>
                      <a:endParaRPr lang="en-US" sz="1200" b="0" i="0" u="none" strike="noStrike" dirty="0">
                        <a:solidFill>
                          <a:srgbClr val="000000"/>
                        </a:solidFill>
                        <a:effectLst/>
                        <a:latin typeface="Consolas" panose="020B0609020204030204" pitchFamily="49" charset="0"/>
                      </a:endParaRPr>
                    </a:p>
                  </a:txBody>
                  <a:tcPr marL="9525" marR="9525" marT="9525" marB="0"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fontAlgn="b"/>
                      <a:r>
                        <a:rPr lang="en-US" sz="1400" b="0" u="none" strike="noStrike" dirty="0">
                          <a:solidFill>
                            <a:srgbClr val="000000"/>
                          </a:solidFill>
                          <a:effectLst/>
                        </a:rPr>
                        <a:t>157-245</a:t>
                      </a:r>
                      <a:endParaRPr lang="en-US" sz="1400" b="0" i="0" u="none" strike="noStrike" dirty="0">
                        <a:solidFill>
                          <a:srgbClr val="000000"/>
                        </a:solidFill>
                        <a:effectLst/>
                        <a:latin typeface="Calibri" panose="020F0502020204030204" pitchFamily="34" charset="0"/>
                      </a:endParaRPr>
                    </a:p>
                  </a:txBody>
                  <a:tcPr marL="9525" marR="9525" marT="9525" marB="0"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fontAlgn="b"/>
                      <a:r>
                        <a:rPr lang="en-US" sz="1400" b="0" u="none" strike="noStrike" dirty="0">
                          <a:solidFill>
                            <a:srgbClr val="000000"/>
                          </a:solidFill>
                          <a:effectLst/>
                        </a:rPr>
                        <a:t>89</a:t>
                      </a:r>
                      <a:endParaRPr lang="en-US" sz="1400" b="0" i="0" u="none" strike="noStrike" dirty="0">
                        <a:solidFill>
                          <a:srgbClr val="000000"/>
                        </a:solidFill>
                        <a:effectLst/>
                        <a:latin typeface="Calibri" panose="020F0502020204030204" pitchFamily="34" charset="0"/>
                      </a:endParaRPr>
                    </a:p>
                  </a:txBody>
                  <a:tcPr marL="9525" marR="9525" marT="9525" marB="0" anchor="ctr">
                    <a:lnL w="12700" cmpd="sng">
                      <a:noFill/>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4176044265"/>
                  </a:ext>
                </a:extLst>
              </a:tr>
            </a:tbl>
          </a:graphicData>
        </a:graphic>
      </p:graphicFrame>
      <p:graphicFrame>
        <p:nvGraphicFramePr>
          <p:cNvPr id="7" name="Table 6">
            <a:extLst>
              <a:ext uri="{FF2B5EF4-FFF2-40B4-BE49-F238E27FC236}">
                <a16:creationId xmlns:a16="http://schemas.microsoft.com/office/drawing/2014/main" id="{B317FA91-7037-5AC1-4EC0-5640B1215CD6}"/>
              </a:ext>
            </a:extLst>
          </p:cNvPr>
          <p:cNvGraphicFramePr>
            <a:graphicFrameLocks noGrp="1"/>
          </p:cNvGraphicFramePr>
          <p:nvPr>
            <p:extLst>
              <p:ext uri="{D42A27DB-BD31-4B8C-83A1-F6EECF244321}">
                <p14:modId xmlns:p14="http://schemas.microsoft.com/office/powerpoint/2010/main" val="2274754054"/>
              </p:ext>
            </p:extLst>
          </p:nvPr>
        </p:nvGraphicFramePr>
        <p:xfrm>
          <a:off x="6709344" y="2541353"/>
          <a:ext cx="5052245" cy="2229510"/>
        </p:xfrm>
        <a:graphic>
          <a:graphicData uri="http://schemas.openxmlformats.org/drawingml/2006/table">
            <a:tbl>
              <a:tblPr>
                <a:tableStyleId>{0505E3EF-67EA-436B-97B2-0124C06EBD24}</a:tableStyleId>
              </a:tblPr>
              <a:tblGrid>
                <a:gridCol w="562285">
                  <a:extLst>
                    <a:ext uri="{9D8B030D-6E8A-4147-A177-3AD203B41FA5}">
                      <a16:colId xmlns:a16="http://schemas.microsoft.com/office/drawing/2014/main" val="1226525902"/>
                    </a:ext>
                  </a:extLst>
                </a:gridCol>
                <a:gridCol w="3094995">
                  <a:extLst>
                    <a:ext uri="{9D8B030D-6E8A-4147-A177-3AD203B41FA5}">
                      <a16:colId xmlns:a16="http://schemas.microsoft.com/office/drawing/2014/main" val="4028036023"/>
                    </a:ext>
                  </a:extLst>
                </a:gridCol>
                <a:gridCol w="693454">
                  <a:extLst>
                    <a:ext uri="{9D8B030D-6E8A-4147-A177-3AD203B41FA5}">
                      <a16:colId xmlns:a16="http://schemas.microsoft.com/office/drawing/2014/main" val="741034977"/>
                    </a:ext>
                  </a:extLst>
                </a:gridCol>
                <a:gridCol w="701511">
                  <a:extLst>
                    <a:ext uri="{9D8B030D-6E8A-4147-A177-3AD203B41FA5}">
                      <a16:colId xmlns:a16="http://schemas.microsoft.com/office/drawing/2014/main" val="1346081377"/>
                    </a:ext>
                  </a:extLst>
                </a:gridCol>
              </a:tblGrid>
              <a:tr h="445902">
                <a:tc>
                  <a:txBody>
                    <a:bodyPr/>
                    <a:lstStyle/>
                    <a:p>
                      <a:pPr algn="ctr" fontAlgn="b"/>
                      <a:r>
                        <a:rPr lang="en-US" sz="1400" b="1" u="none" strike="noStrike" dirty="0">
                          <a:solidFill>
                            <a:srgbClr val="D9D9D9"/>
                          </a:solidFill>
                          <a:effectLst/>
                        </a:rPr>
                        <a:t>S.no.</a:t>
                      </a:r>
                      <a:endParaRPr lang="en-US" sz="1400" b="1" i="0" u="none" strike="noStrike" dirty="0">
                        <a:solidFill>
                          <a:srgbClr val="D9D9D9"/>
                        </a:solidFill>
                        <a:effectLst/>
                        <a:latin typeface="Calibri" panose="020F0502020204030204" pitchFamily="34" charset="0"/>
                      </a:endParaRPr>
                    </a:p>
                  </a:txBody>
                  <a:tcPr marL="9525" marR="9525" marT="9525" marB="0" anchor="ct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00000"/>
                    </a:solidFill>
                  </a:tcPr>
                </a:tc>
                <a:tc>
                  <a:txBody>
                    <a:bodyPr/>
                    <a:lstStyle/>
                    <a:p>
                      <a:pPr algn="ctr" fontAlgn="b"/>
                      <a:r>
                        <a:rPr lang="en-US" sz="1400" b="1" u="none" strike="noStrike" dirty="0">
                          <a:solidFill>
                            <a:srgbClr val="D9D9D9"/>
                          </a:solidFill>
                          <a:effectLst/>
                        </a:rPr>
                        <a:t>Peptides</a:t>
                      </a:r>
                      <a:endParaRPr lang="en-US" sz="1400" b="1" i="0" u="none" strike="noStrike" dirty="0">
                        <a:solidFill>
                          <a:srgbClr val="D9D9D9"/>
                        </a:solidFill>
                        <a:effectLst/>
                        <a:latin typeface="Calibri" panose="020F0502020204030204" pitchFamily="34" charset="0"/>
                      </a:endParaRPr>
                    </a:p>
                  </a:txBody>
                  <a:tcPr marL="9525" marR="9525" marT="9525" marB="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00000"/>
                    </a:solidFill>
                  </a:tcPr>
                </a:tc>
                <a:tc>
                  <a:txBody>
                    <a:bodyPr/>
                    <a:lstStyle/>
                    <a:p>
                      <a:pPr algn="ctr" fontAlgn="b"/>
                      <a:r>
                        <a:rPr lang="en-US" sz="1400" b="1" i="0" u="none" strike="noStrike" dirty="0">
                          <a:solidFill>
                            <a:srgbClr val="D9D9D9"/>
                          </a:solidFill>
                          <a:effectLst/>
                          <a:latin typeface="Calibri" panose="020F0502020204030204" pitchFamily="34" charset="0"/>
                        </a:rPr>
                        <a:t>Location</a:t>
                      </a:r>
                    </a:p>
                  </a:txBody>
                  <a:tcPr marL="9525" marR="9525" marT="9525" marB="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00000"/>
                    </a:solidFill>
                  </a:tcPr>
                </a:tc>
                <a:tc>
                  <a:txBody>
                    <a:bodyPr/>
                    <a:lstStyle/>
                    <a:p>
                      <a:pPr algn="ctr" fontAlgn="b"/>
                      <a:r>
                        <a:rPr lang="en-US" sz="1400" b="1" u="none" strike="noStrike" dirty="0">
                          <a:solidFill>
                            <a:srgbClr val="D9D9D9"/>
                          </a:solidFill>
                          <a:effectLst/>
                        </a:rPr>
                        <a:t>Length</a:t>
                      </a:r>
                      <a:endParaRPr lang="en-US" sz="1400" b="1" i="0" u="none" strike="noStrike" dirty="0">
                        <a:solidFill>
                          <a:srgbClr val="D9D9D9"/>
                        </a:solidFill>
                        <a:effectLst/>
                        <a:latin typeface="Calibri" panose="020F0502020204030204" pitchFamily="34" charset="0"/>
                      </a:endParaRPr>
                    </a:p>
                  </a:txBody>
                  <a:tcPr marL="9525" marR="9525" marT="9525" marB="0"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00000"/>
                    </a:solidFill>
                  </a:tcPr>
                </a:tc>
                <a:extLst>
                  <a:ext uri="{0D108BD9-81ED-4DB2-BD59-A6C34878D82A}">
                    <a16:rowId xmlns:a16="http://schemas.microsoft.com/office/drawing/2014/main" val="1771370815"/>
                  </a:ext>
                </a:extLst>
              </a:tr>
              <a:tr h="445902">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libri" panose="020F0502020204030204" pitchFamily="34" charset="0"/>
                      </a:endParaRPr>
                    </a:p>
                  </a:txBody>
                  <a:tcPr marL="9525" marR="9525" marT="9525" marB="0" anchor="ct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D9D9D9"/>
                    </a:solidFill>
                  </a:tcPr>
                </a:tc>
                <a:tc>
                  <a:txBody>
                    <a:bodyPr/>
                    <a:lstStyle/>
                    <a:p>
                      <a:pPr algn="l" fontAlgn="b"/>
                      <a:r>
                        <a:rPr lang="en-US" sz="1200" b="0" u="none" strike="noStrike" dirty="0">
                          <a:solidFill>
                            <a:srgbClr val="000000"/>
                          </a:solidFill>
                          <a:effectLst/>
                        </a:rPr>
                        <a:t>FARELAYEGLDPALIIKKLKETGGDDWV</a:t>
                      </a:r>
                      <a:endParaRPr lang="en-US" sz="1200" b="0" i="0" u="none" strike="noStrike" dirty="0">
                        <a:solidFill>
                          <a:srgbClr val="000000"/>
                        </a:solidFill>
                        <a:effectLst/>
                        <a:latin typeface="Calibri" panose="020F0502020204030204" pitchFamily="34" charset="0"/>
                      </a:endParaRPr>
                    </a:p>
                  </a:txBody>
                  <a:tcPr marL="9525" marR="9525" marT="9525" marB="0" anchor="ct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D9D9D9"/>
                    </a:solidFill>
                  </a:tcPr>
                </a:tc>
                <a:tc>
                  <a:txBody>
                    <a:bodyPr/>
                    <a:lstStyle/>
                    <a:p>
                      <a:pPr algn="ctr" fontAlgn="b"/>
                      <a:r>
                        <a:rPr lang="en-US" sz="1200" b="0" u="none" strike="noStrike" dirty="0">
                          <a:solidFill>
                            <a:srgbClr val="000000"/>
                          </a:solidFill>
                          <a:effectLst/>
                        </a:rPr>
                        <a:t>24-51</a:t>
                      </a:r>
                      <a:endParaRPr lang="en-US" sz="1200" b="0" i="0" u="none" strike="noStrike" dirty="0">
                        <a:solidFill>
                          <a:srgbClr val="000000"/>
                        </a:solidFill>
                        <a:effectLst/>
                        <a:latin typeface="Calibri" panose="020F0502020204030204" pitchFamily="34" charset="0"/>
                      </a:endParaRPr>
                    </a:p>
                  </a:txBody>
                  <a:tcPr marL="9525" marR="9525" marT="9525" marB="0" anchor="ct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D9D9D9"/>
                    </a:solidFill>
                  </a:tcPr>
                </a:tc>
                <a:tc>
                  <a:txBody>
                    <a:bodyPr/>
                    <a:lstStyle/>
                    <a:p>
                      <a:pPr algn="ctr" fontAlgn="b"/>
                      <a:r>
                        <a:rPr lang="en-US" sz="1200" b="0" u="none" strike="noStrike">
                          <a:solidFill>
                            <a:srgbClr val="000000"/>
                          </a:solidFill>
                          <a:effectLst/>
                        </a:rPr>
                        <a:t>28</a:t>
                      </a:r>
                      <a:endParaRPr lang="en-US" sz="1200" b="0" i="0" u="none" strike="noStrike">
                        <a:solidFill>
                          <a:srgbClr val="000000"/>
                        </a:solidFill>
                        <a:effectLst/>
                        <a:latin typeface="Calibri" panose="020F0502020204030204" pitchFamily="34" charset="0"/>
                      </a:endParaRPr>
                    </a:p>
                  </a:txBody>
                  <a:tcPr marL="9525" marR="9525" marT="9525" marB="0"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3034033405"/>
                  </a:ext>
                </a:extLst>
              </a:tr>
              <a:tr h="445902">
                <a:tc>
                  <a:txBody>
                    <a:bodyPr/>
                    <a:lstStyle/>
                    <a:p>
                      <a:pPr algn="ctr" fontAlgn="b"/>
                      <a:r>
                        <a:rPr lang="en-US" sz="1200" b="0" u="none" strike="noStrike" dirty="0">
                          <a:solidFill>
                            <a:srgbClr val="000000"/>
                          </a:solidFill>
                          <a:effectLst/>
                        </a:rPr>
                        <a:t>2</a:t>
                      </a:r>
                      <a:endParaRPr lang="en-US" sz="1200" b="0" i="0" u="none" strike="noStrike" dirty="0">
                        <a:solidFill>
                          <a:srgbClr val="000000"/>
                        </a:solidFill>
                        <a:effectLst/>
                        <a:latin typeface="Calibri" panose="020F0502020204030204" pitchFamily="34" charset="0"/>
                      </a:endParaRPr>
                    </a:p>
                  </a:txBody>
                  <a:tcPr marL="9525" marR="9525" marT="9525" marB="0" anchor="ctr">
                    <a:lnL w="12700"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rgbClr val="D9D9D9"/>
                    </a:solidFill>
                  </a:tcPr>
                </a:tc>
                <a:tc>
                  <a:txBody>
                    <a:bodyPr/>
                    <a:lstStyle/>
                    <a:p>
                      <a:pPr algn="l" fontAlgn="b"/>
                      <a:r>
                        <a:rPr lang="en-US" sz="1200" b="0" u="none" strike="noStrike" dirty="0">
                          <a:solidFill>
                            <a:srgbClr val="000000"/>
                          </a:solidFill>
                          <a:effectLst/>
                        </a:rPr>
                        <a:t>DTKFIIVFALTRGNKIVKASGKMSNSGSK</a:t>
                      </a:r>
                      <a:endParaRPr lang="en-US" sz="1200" b="0" i="0" u="none" strike="noStrike" dirty="0">
                        <a:solidFill>
                          <a:srgbClr val="000000"/>
                        </a:solidFill>
                        <a:effectLst/>
                        <a:latin typeface="Calibri" panose="020F0502020204030204" pitchFamily="34" charset="0"/>
                      </a:endParaRP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9D9D9"/>
                    </a:solidFill>
                  </a:tcPr>
                </a:tc>
                <a:tc>
                  <a:txBody>
                    <a:bodyPr/>
                    <a:lstStyle/>
                    <a:p>
                      <a:pPr algn="ctr" fontAlgn="b"/>
                      <a:r>
                        <a:rPr lang="en-US" sz="1200" b="0" u="none" strike="noStrike" dirty="0">
                          <a:solidFill>
                            <a:srgbClr val="000000"/>
                          </a:solidFill>
                          <a:effectLst/>
                        </a:rPr>
                        <a:t>53-81</a:t>
                      </a:r>
                      <a:endParaRPr lang="en-US" sz="1200" b="0" i="0" u="none" strike="noStrike" dirty="0">
                        <a:solidFill>
                          <a:srgbClr val="000000"/>
                        </a:solidFill>
                        <a:effectLst/>
                        <a:latin typeface="Calibri" panose="020F0502020204030204" pitchFamily="34" charset="0"/>
                      </a:endParaRP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9D9D9"/>
                    </a:solidFill>
                  </a:tcPr>
                </a:tc>
                <a:tc>
                  <a:txBody>
                    <a:bodyPr/>
                    <a:lstStyle/>
                    <a:p>
                      <a:pPr algn="ctr" fontAlgn="b"/>
                      <a:r>
                        <a:rPr lang="en-US" sz="1200" b="0" u="none" strike="noStrike" dirty="0">
                          <a:solidFill>
                            <a:srgbClr val="000000"/>
                          </a:solidFill>
                          <a:effectLst/>
                        </a:rPr>
                        <a:t>29</a:t>
                      </a:r>
                      <a:endParaRPr lang="en-US" sz="1200" b="0" i="0" u="none" strike="noStrike" dirty="0">
                        <a:solidFill>
                          <a:srgbClr val="000000"/>
                        </a:solidFill>
                        <a:effectLst/>
                        <a:latin typeface="Calibri" panose="020F0502020204030204" pitchFamily="34" charset="0"/>
                      </a:endParaRPr>
                    </a:p>
                  </a:txBody>
                  <a:tcPr marL="9525" marR="9525" marT="9525" marB="0" anchor="ct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1324915574"/>
                  </a:ext>
                </a:extLst>
              </a:tr>
              <a:tr h="445902">
                <a:tc>
                  <a:txBody>
                    <a:bodyPr/>
                    <a:lstStyle/>
                    <a:p>
                      <a:pPr algn="ctr" fontAlgn="b"/>
                      <a:r>
                        <a:rPr lang="en-US" sz="1200" b="0" u="none" strike="noStrike" dirty="0">
                          <a:solidFill>
                            <a:srgbClr val="000000"/>
                          </a:solidFill>
                          <a:effectLst/>
                        </a:rPr>
                        <a:t>3</a:t>
                      </a:r>
                      <a:endParaRPr lang="en-US" sz="1200" b="0" i="0" u="none" strike="noStrike" dirty="0">
                        <a:solidFill>
                          <a:srgbClr val="000000"/>
                        </a:solidFill>
                        <a:effectLst/>
                        <a:latin typeface="Calibri" panose="020F0502020204030204" pitchFamily="34" charset="0"/>
                      </a:endParaRPr>
                    </a:p>
                  </a:txBody>
                  <a:tcPr marL="9525" marR="9525" marT="9525" marB="0" anchor="ctr">
                    <a:lnL w="12700"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rgbClr val="D9D9D9"/>
                    </a:solidFill>
                  </a:tcPr>
                </a:tc>
                <a:tc>
                  <a:txBody>
                    <a:bodyPr/>
                    <a:lstStyle/>
                    <a:p>
                      <a:pPr algn="l" fontAlgn="b"/>
                      <a:r>
                        <a:rPr lang="en-US" sz="1200" b="0" u="none" strike="noStrike" dirty="0">
                          <a:solidFill>
                            <a:srgbClr val="000000"/>
                          </a:solidFill>
                          <a:effectLst/>
                        </a:rPr>
                        <a:t>KEYLPVGPAVMNLKVENYPPEMMCMAFGSLIPT</a:t>
                      </a:r>
                      <a:endParaRPr lang="en-US" sz="1200" b="0" i="0" u="none" strike="noStrike" dirty="0">
                        <a:solidFill>
                          <a:srgbClr val="000000"/>
                        </a:solidFill>
                        <a:effectLst/>
                        <a:latin typeface="Calibri" panose="020F0502020204030204" pitchFamily="34" charset="0"/>
                      </a:endParaRP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9D9D9"/>
                    </a:solidFill>
                  </a:tcPr>
                </a:tc>
                <a:tc>
                  <a:txBody>
                    <a:bodyPr/>
                    <a:lstStyle/>
                    <a:p>
                      <a:pPr algn="ctr" fontAlgn="b"/>
                      <a:r>
                        <a:rPr lang="en-US" sz="1200" b="0" u="none" strike="noStrike" dirty="0">
                          <a:solidFill>
                            <a:srgbClr val="000000"/>
                          </a:solidFill>
                          <a:effectLst/>
                        </a:rPr>
                        <a:t>123-155</a:t>
                      </a:r>
                      <a:endParaRPr lang="en-US" sz="1200" b="0" i="0" u="none" strike="noStrike" dirty="0">
                        <a:solidFill>
                          <a:srgbClr val="000000"/>
                        </a:solidFill>
                        <a:effectLst/>
                        <a:latin typeface="Calibri" panose="020F0502020204030204" pitchFamily="34" charset="0"/>
                      </a:endParaRP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9D9D9"/>
                    </a:solidFill>
                  </a:tcPr>
                </a:tc>
                <a:tc>
                  <a:txBody>
                    <a:bodyPr/>
                    <a:lstStyle/>
                    <a:p>
                      <a:pPr algn="ctr" fontAlgn="b"/>
                      <a:r>
                        <a:rPr lang="en-US" sz="1200" b="0" u="none" strike="noStrike" dirty="0">
                          <a:solidFill>
                            <a:srgbClr val="000000"/>
                          </a:solidFill>
                          <a:effectLst/>
                        </a:rPr>
                        <a:t>33</a:t>
                      </a:r>
                      <a:endParaRPr lang="en-US" sz="1200" b="0" i="0" u="none" strike="noStrike" dirty="0">
                        <a:solidFill>
                          <a:srgbClr val="000000"/>
                        </a:solidFill>
                        <a:effectLst/>
                        <a:latin typeface="Calibri" panose="020F0502020204030204" pitchFamily="34" charset="0"/>
                      </a:endParaRPr>
                    </a:p>
                  </a:txBody>
                  <a:tcPr marL="9525" marR="9525" marT="9525" marB="0" anchor="ct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2594438129"/>
                  </a:ext>
                </a:extLst>
              </a:tr>
              <a:tr h="445902">
                <a:tc>
                  <a:txBody>
                    <a:bodyPr/>
                    <a:lstStyle/>
                    <a:p>
                      <a:pPr algn="ctr" fontAlgn="b"/>
                      <a:r>
                        <a:rPr lang="en-US" sz="1200" b="0" u="none" strike="noStrike" dirty="0">
                          <a:solidFill>
                            <a:srgbClr val="000000"/>
                          </a:solidFill>
                          <a:effectLst/>
                        </a:rPr>
                        <a:t>4</a:t>
                      </a:r>
                      <a:endParaRPr lang="en-US" sz="1200" b="0" i="0" u="none" strike="noStrike" dirty="0">
                        <a:solidFill>
                          <a:srgbClr val="000000"/>
                        </a:solidFill>
                        <a:effectLst/>
                        <a:latin typeface="Calibri" panose="020F0502020204030204" pitchFamily="34" charset="0"/>
                      </a:endParaRPr>
                    </a:p>
                  </a:txBody>
                  <a:tcPr marL="9525" marR="9525" marT="9525" marB="0" anchor="ctr">
                    <a:lnL w="12700" cap="flat" cmpd="sng" algn="ctr">
                      <a:noFill/>
                      <a:prstDash val="solid"/>
                      <a:round/>
                      <a:headEnd type="none" w="med" len="med"/>
                      <a:tailEnd type="none" w="med" len="med"/>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l" fontAlgn="b"/>
                      <a:r>
                        <a:rPr lang="en-US" sz="1200" b="0" u="none" strike="noStrike" dirty="0">
                          <a:solidFill>
                            <a:srgbClr val="000000"/>
                          </a:solidFill>
                          <a:effectLst/>
                        </a:rPr>
                        <a:t>KTEVYNSFRDPLHAAVNSVFFPNDVRVKW</a:t>
                      </a:r>
                      <a:endParaRPr lang="en-US" sz="1200" b="0" i="0" u="none" strike="noStrike" dirty="0">
                        <a:solidFill>
                          <a:srgbClr val="000000"/>
                        </a:solidFill>
                        <a:effectLst/>
                        <a:latin typeface="Calibri" panose="020F0502020204030204" pitchFamily="34" charset="0"/>
                      </a:endParaRPr>
                    </a:p>
                  </a:txBody>
                  <a:tcPr marL="9525" marR="9525" marT="9525" marB="0"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fontAlgn="b"/>
                      <a:r>
                        <a:rPr lang="en-US" sz="1200" b="0" u="none" strike="noStrike" dirty="0">
                          <a:solidFill>
                            <a:srgbClr val="000000"/>
                          </a:solidFill>
                          <a:effectLst/>
                        </a:rPr>
                        <a:t>190-218</a:t>
                      </a:r>
                      <a:endParaRPr lang="en-US" sz="1200" b="0" i="0" u="none" strike="noStrike" dirty="0">
                        <a:solidFill>
                          <a:srgbClr val="000000"/>
                        </a:solidFill>
                        <a:effectLst/>
                        <a:latin typeface="Calibri" panose="020F0502020204030204" pitchFamily="34" charset="0"/>
                      </a:endParaRPr>
                    </a:p>
                  </a:txBody>
                  <a:tcPr marL="9525" marR="9525" marT="9525" marB="0"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fontAlgn="b"/>
                      <a:r>
                        <a:rPr lang="en-US" sz="1200" b="0" u="none" strike="noStrike" dirty="0">
                          <a:solidFill>
                            <a:srgbClr val="000000"/>
                          </a:solidFill>
                          <a:effectLst/>
                        </a:rPr>
                        <a:t>29</a:t>
                      </a:r>
                      <a:endParaRPr lang="en-US" sz="1200" b="0" i="0" u="none" strike="noStrike" dirty="0">
                        <a:solidFill>
                          <a:srgbClr val="000000"/>
                        </a:solidFill>
                        <a:effectLst/>
                        <a:latin typeface="Calibri" panose="020F0502020204030204" pitchFamily="34" charset="0"/>
                      </a:endParaRPr>
                    </a:p>
                  </a:txBody>
                  <a:tcPr marL="9525" marR="9525" marT="9525" marB="0" anchor="ctr">
                    <a:lnL w="12700" cmpd="sng">
                      <a:noFill/>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1093317347"/>
                  </a:ext>
                </a:extLst>
              </a:tr>
            </a:tbl>
          </a:graphicData>
        </a:graphic>
      </p:graphicFrame>
      <p:sp>
        <p:nvSpPr>
          <p:cNvPr id="8" name="Arrow: U-Turn 7">
            <a:extLst>
              <a:ext uri="{FF2B5EF4-FFF2-40B4-BE49-F238E27FC236}">
                <a16:creationId xmlns:a16="http://schemas.microsoft.com/office/drawing/2014/main" id="{A52434C4-AC40-7D78-59EB-E47CA0D1E7D4}"/>
              </a:ext>
            </a:extLst>
          </p:cNvPr>
          <p:cNvSpPr/>
          <p:nvPr/>
        </p:nvSpPr>
        <p:spPr>
          <a:xfrm>
            <a:off x="5476126" y="1774795"/>
            <a:ext cx="1777429" cy="563474"/>
          </a:xfrm>
          <a:prstGeom prst="uturnArrow">
            <a:avLst>
              <a:gd name="adj1" fmla="val 15883"/>
              <a:gd name="adj2" fmla="val 24088"/>
              <a:gd name="adj3" fmla="val 26823"/>
              <a:gd name="adj4" fmla="val 43750"/>
              <a:gd name="adj5" fmla="val 100000"/>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9" name="Group 8">
            <a:extLst>
              <a:ext uri="{FF2B5EF4-FFF2-40B4-BE49-F238E27FC236}">
                <a16:creationId xmlns:a16="http://schemas.microsoft.com/office/drawing/2014/main" id="{22DA5170-D5E5-1039-40E8-C6CF5E983DD6}"/>
              </a:ext>
            </a:extLst>
          </p:cNvPr>
          <p:cNvGrpSpPr/>
          <p:nvPr/>
        </p:nvGrpSpPr>
        <p:grpSpPr>
          <a:xfrm>
            <a:off x="1371148" y="202976"/>
            <a:ext cx="10373606" cy="848154"/>
            <a:chOff x="739738" y="344774"/>
            <a:chExt cx="9439576" cy="1042237"/>
          </a:xfrm>
        </p:grpSpPr>
        <p:sp>
          <p:nvSpPr>
            <p:cNvPr id="10" name="Rectangle: Rounded Corners 9">
              <a:extLst>
                <a:ext uri="{FF2B5EF4-FFF2-40B4-BE49-F238E27FC236}">
                  <a16:creationId xmlns:a16="http://schemas.microsoft.com/office/drawing/2014/main" id="{227C5FA6-BFCF-5B75-E6BC-5DBE5EC1D715}"/>
                </a:ext>
              </a:extLst>
            </p:cNvPr>
            <p:cNvSpPr/>
            <p:nvPr/>
          </p:nvSpPr>
          <p:spPr>
            <a:xfrm>
              <a:off x="739739" y="344774"/>
              <a:ext cx="8311794" cy="1042237"/>
            </a:xfrm>
            <a:prstGeom prst="roundRect">
              <a:avLst/>
            </a:prstGeom>
            <a:solidFill>
              <a:schemeClr val="bg1">
                <a:lumMod val="85000"/>
              </a:schemeClr>
            </a:solidFill>
            <a:ln>
              <a:no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en-US" sz="2000" dirty="0"/>
            </a:p>
          </p:txBody>
        </p:sp>
        <p:sp>
          <p:nvSpPr>
            <p:cNvPr id="11" name="Title 1">
              <a:extLst>
                <a:ext uri="{FF2B5EF4-FFF2-40B4-BE49-F238E27FC236}">
                  <a16:creationId xmlns:a16="http://schemas.microsoft.com/office/drawing/2014/main" id="{810A609C-8D82-AFDB-7839-C8BA25F152AB}"/>
                </a:ext>
              </a:extLst>
            </p:cNvPr>
            <p:cNvSpPr txBox="1">
              <a:spLocks/>
            </p:cNvSpPr>
            <p:nvPr/>
          </p:nvSpPr>
          <p:spPr>
            <a:xfrm>
              <a:off x="739738" y="344774"/>
              <a:ext cx="9439576" cy="960044"/>
            </a:xfrm>
            <a:prstGeom prst="rect">
              <a:avLst/>
            </a:prstGeom>
            <a:noFill/>
            <a:ln w="12700" cap="flat" cmpd="sng" algn="ctr">
              <a:noFill/>
              <a:prstDash val="solid"/>
              <a:miter lim="800000"/>
            </a:ln>
          </p:spPr>
          <p:style>
            <a:lnRef idx="1">
              <a:schemeClr val="accent4"/>
            </a:lnRef>
            <a:fillRef idx="2">
              <a:schemeClr val="accent4"/>
            </a:fillRef>
            <a:effectRef idx="1">
              <a:schemeClr val="accent4"/>
            </a:effectRef>
            <a:fontRef idx="minor">
              <a:schemeClr val="dk1"/>
            </a:fontRef>
          </p:style>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l"/>
              <a:r>
                <a:rPr lang="en-US" sz="4400" dirty="0">
                  <a:solidFill>
                    <a:srgbClr val="C00000"/>
                  </a:solidFill>
                </a:rPr>
                <a:t>Auto-immunogenic fragments removal </a:t>
              </a:r>
            </a:p>
          </p:txBody>
        </p:sp>
      </p:grpSp>
    </p:spTree>
    <p:extLst>
      <p:ext uri="{BB962C8B-B14F-4D97-AF65-F5344CB8AC3E}">
        <p14:creationId xmlns:p14="http://schemas.microsoft.com/office/powerpoint/2010/main" val="11414963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FB5608BD-8262-DBB4-705C-F21C08BDB24D}"/>
              </a:ext>
            </a:extLst>
          </p:cNvPr>
          <p:cNvGrpSpPr/>
          <p:nvPr/>
        </p:nvGrpSpPr>
        <p:grpSpPr>
          <a:xfrm>
            <a:off x="2398565" y="161925"/>
            <a:ext cx="8255737" cy="848154"/>
            <a:chOff x="739738" y="344774"/>
            <a:chExt cx="9439576" cy="1042237"/>
          </a:xfrm>
        </p:grpSpPr>
        <p:sp>
          <p:nvSpPr>
            <p:cNvPr id="3" name="Rectangle: Rounded Corners 2">
              <a:extLst>
                <a:ext uri="{FF2B5EF4-FFF2-40B4-BE49-F238E27FC236}">
                  <a16:creationId xmlns:a16="http://schemas.microsoft.com/office/drawing/2014/main" id="{41822437-9509-1CFB-E602-AB8BF62F2DCB}"/>
                </a:ext>
              </a:extLst>
            </p:cNvPr>
            <p:cNvSpPr/>
            <p:nvPr/>
          </p:nvSpPr>
          <p:spPr>
            <a:xfrm>
              <a:off x="739739" y="344774"/>
              <a:ext cx="8311794" cy="1042237"/>
            </a:xfrm>
            <a:prstGeom prst="roundRect">
              <a:avLst/>
            </a:prstGeom>
            <a:solidFill>
              <a:schemeClr val="bg1">
                <a:lumMod val="85000"/>
              </a:schemeClr>
            </a:solidFill>
            <a:ln>
              <a:no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en-US" sz="2000" dirty="0"/>
            </a:p>
          </p:txBody>
        </p:sp>
        <p:sp>
          <p:nvSpPr>
            <p:cNvPr id="4" name="Title 1">
              <a:extLst>
                <a:ext uri="{FF2B5EF4-FFF2-40B4-BE49-F238E27FC236}">
                  <a16:creationId xmlns:a16="http://schemas.microsoft.com/office/drawing/2014/main" id="{F14E41CF-C03A-23F4-F4D5-2E5C904AC051}"/>
                </a:ext>
              </a:extLst>
            </p:cNvPr>
            <p:cNvSpPr txBox="1">
              <a:spLocks/>
            </p:cNvSpPr>
            <p:nvPr/>
          </p:nvSpPr>
          <p:spPr>
            <a:xfrm>
              <a:off x="739738" y="344774"/>
              <a:ext cx="9439576" cy="960044"/>
            </a:xfrm>
            <a:prstGeom prst="rect">
              <a:avLst/>
            </a:prstGeom>
            <a:noFill/>
            <a:ln w="12700" cap="flat" cmpd="sng" algn="ctr">
              <a:noFill/>
              <a:prstDash val="solid"/>
              <a:miter lim="800000"/>
            </a:ln>
          </p:spPr>
          <p:style>
            <a:lnRef idx="1">
              <a:schemeClr val="accent4"/>
            </a:lnRef>
            <a:fillRef idx="2">
              <a:schemeClr val="accent4"/>
            </a:fillRef>
            <a:effectRef idx="1">
              <a:schemeClr val="accent4"/>
            </a:effectRef>
            <a:fontRef idx="minor">
              <a:schemeClr val="dk1"/>
            </a:fontRef>
          </p:style>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l"/>
              <a:r>
                <a:rPr lang="en-US" sz="4400" dirty="0">
                  <a:solidFill>
                    <a:srgbClr val="C00000"/>
                  </a:solidFill>
                </a:rPr>
                <a:t>CD8</a:t>
              </a:r>
              <a:r>
                <a:rPr lang="en-US" sz="4400" baseline="30000" dirty="0">
                  <a:solidFill>
                    <a:srgbClr val="C00000"/>
                  </a:solidFill>
                </a:rPr>
                <a:t>+</a:t>
              </a:r>
              <a:r>
                <a:rPr lang="en-US" sz="4400" dirty="0">
                  <a:solidFill>
                    <a:srgbClr val="C00000"/>
                  </a:solidFill>
                </a:rPr>
                <a:t>T Cell Epitope prediction</a:t>
              </a:r>
            </a:p>
          </p:txBody>
        </p:sp>
      </p:grpSp>
      <p:sp>
        <p:nvSpPr>
          <p:cNvPr id="5" name="Rectangle 4">
            <a:extLst>
              <a:ext uri="{FF2B5EF4-FFF2-40B4-BE49-F238E27FC236}">
                <a16:creationId xmlns:a16="http://schemas.microsoft.com/office/drawing/2014/main" id="{640265E3-ED63-B8FA-7019-A76C19482BF1}"/>
              </a:ext>
            </a:extLst>
          </p:cNvPr>
          <p:cNvSpPr/>
          <p:nvPr/>
        </p:nvSpPr>
        <p:spPr>
          <a:xfrm>
            <a:off x="0" y="1675"/>
            <a:ext cx="12192000" cy="6858000"/>
          </a:xfrm>
          <a:prstGeom prst="rect">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800" dirty="0">
              <a:latin typeface="Arial" panose="020B0604020202020204" pitchFamily="34" charset="0"/>
              <a:cs typeface="Arial" panose="020B0604020202020204" pitchFamily="34" charset="0"/>
            </a:endParaRPr>
          </a:p>
        </p:txBody>
      </p:sp>
      <p:sp>
        <p:nvSpPr>
          <p:cNvPr id="7" name="Google Shape;267;p5">
            <a:extLst>
              <a:ext uri="{FF2B5EF4-FFF2-40B4-BE49-F238E27FC236}">
                <a16:creationId xmlns:a16="http://schemas.microsoft.com/office/drawing/2014/main" id="{A046D554-A46A-7054-4776-EC4B8A3AB5E9}"/>
              </a:ext>
            </a:extLst>
          </p:cNvPr>
          <p:cNvSpPr txBox="1">
            <a:spLocks/>
          </p:cNvSpPr>
          <p:nvPr/>
        </p:nvSpPr>
        <p:spPr>
          <a:xfrm>
            <a:off x="243099" y="1543032"/>
            <a:ext cx="11368797" cy="1612654"/>
          </a:xfrm>
          <a:prstGeom prst="rect">
            <a:avLst/>
          </a:prstGeom>
          <a:noFill/>
          <a:ln>
            <a:noFill/>
          </a:ln>
        </p:spPr>
        <p:txBody>
          <a:bodyPr spcFirstLastPara="1" vert="horz" wrap="square" lIns="91425" tIns="45700" rIns="91425" bIns="45700" rtlCol="0" anchor="t" anchorCtr="0">
            <a:normAutofit/>
          </a:bodyPr>
          <a:lstStyle>
            <a:lvl1pPr marL="182880" indent="-182880" algn="l" defTabSz="914400" rtl="0" eaLnBrk="1" latinLnBrk="0" hangingPunct="1">
              <a:lnSpc>
                <a:spcPct val="100000"/>
              </a:lnSpc>
              <a:spcBef>
                <a:spcPts val="900"/>
              </a:spcBef>
              <a:spcAft>
                <a:spcPts val="0"/>
              </a:spcAft>
              <a:buClr>
                <a:schemeClr val="tx1">
                  <a:lumMod val="85000"/>
                  <a:lumOff val="15000"/>
                </a:schemeClr>
              </a:buClr>
              <a:buFont typeface="Garamond" pitchFamily="18" charset="0"/>
              <a:buChar char="◦"/>
              <a:defRPr sz="18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6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a:lstStyle>
          <a:p>
            <a:pPr marL="285750" marR="0" lvl="0" indent="-285750" algn="l" defTabSz="914400" rtl="0" eaLnBrk="1" fontAlgn="auto" latinLnBrk="0" hangingPunct="1">
              <a:lnSpc>
                <a:spcPct val="100000"/>
              </a:lnSpc>
              <a:spcBef>
                <a:spcPts val="900"/>
              </a:spcBef>
              <a:spcAft>
                <a:spcPts val="0"/>
              </a:spcAft>
              <a:buClr>
                <a:srgbClr val="000000">
                  <a:lumMod val="85000"/>
                  <a:lumOff val="15000"/>
                </a:srgbClr>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Gill Sans MT" panose="020B0502020104020203"/>
                <a:ea typeface="+mn-ea"/>
                <a:cs typeface="+mn-cs"/>
              </a:rPr>
              <a:t>4 Conserved sequences were divided into 9 </a:t>
            </a:r>
            <a:r>
              <a:rPr kumimoji="0" lang="en-US" sz="1800" b="0" i="0" u="none" strike="noStrike" kern="1200" cap="none" spc="0" normalizeH="0" baseline="0" noProof="0" dirty="0" err="1">
                <a:ln>
                  <a:noFill/>
                </a:ln>
                <a:solidFill>
                  <a:srgbClr val="000000"/>
                </a:solidFill>
                <a:effectLst/>
                <a:uLnTx/>
                <a:uFillTx/>
                <a:latin typeface="Gill Sans MT" panose="020B0502020104020203"/>
                <a:ea typeface="+mn-ea"/>
                <a:cs typeface="+mn-cs"/>
              </a:rPr>
              <a:t>mer</a:t>
            </a:r>
            <a:r>
              <a:rPr kumimoji="0" lang="en-US" sz="1800" b="0" i="0" u="none" strike="noStrike" kern="1200" cap="none" spc="0" normalizeH="0" baseline="0" noProof="0" dirty="0">
                <a:ln>
                  <a:noFill/>
                </a:ln>
                <a:solidFill>
                  <a:srgbClr val="000000"/>
                </a:solidFill>
                <a:effectLst/>
                <a:uLnTx/>
                <a:uFillTx/>
                <a:latin typeface="Gill Sans MT" panose="020B0502020104020203"/>
                <a:ea typeface="+mn-ea"/>
                <a:cs typeface="+mn-cs"/>
              </a:rPr>
              <a:t> (for HLA Class I) Epitopes each.</a:t>
            </a:r>
          </a:p>
          <a:p>
            <a:pPr marL="285750" marR="0" lvl="0" indent="-285750" algn="l" defTabSz="914400" rtl="0" eaLnBrk="1" fontAlgn="auto" latinLnBrk="0" hangingPunct="1">
              <a:lnSpc>
                <a:spcPct val="100000"/>
              </a:lnSpc>
              <a:spcBef>
                <a:spcPts val="900"/>
              </a:spcBef>
              <a:spcAft>
                <a:spcPts val="0"/>
              </a:spcAft>
              <a:buClr>
                <a:srgbClr val="000000">
                  <a:lumMod val="85000"/>
                  <a:lumOff val="15000"/>
                </a:srgbClr>
              </a:buClr>
              <a:buSzTx/>
              <a:buFont typeface="Arial" panose="020B0604020202020204" pitchFamily="34" charset="0"/>
              <a:buChar char="•"/>
              <a:tabLst/>
              <a:defRPr/>
            </a:pPr>
            <a:r>
              <a:rPr lang="en-US" dirty="0">
                <a:solidFill>
                  <a:srgbClr val="000000"/>
                </a:solidFill>
                <a:latin typeface="Gill Sans MT" panose="020B0502020104020203"/>
              </a:rPr>
              <a:t>Epitopes</a:t>
            </a:r>
            <a:r>
              <a:rPr kumimoji="0" lang="en-US" sz="1800" b="0" i="0" u="none" strike="noStrike" kern="1200" cap="none" spc="0" normalizeH="0" baseline="0" noProof="0" dirty="0">
                <a:ln>
                  <a:noFill/>
                </a:ln>
                <a:solidFill>
                  <a:srgbClr val="000000"/>
                </a:solidFill>
                <a:effectLst/>
                <a:uLnTx/>
                <a:uFillTx/>
                <a:latin typeface="Gill Sans MT" panose="020B0502020104020203"/>
                <a:ea typeface="+mn-ea"/>
                <a:cs typeface="+mn-cs"/>
              </a:rPr>
              <a:t> predictions done using deep learning based different computational packages.</a:t>
            </a:r>
          </a:p>
          <a:p>
            <a:pPr marL="285750" marR="0" lvl="0" indent="-285750" algn="l" defTabSz="914400" rtl="0" eaLnBrk="1" fontAlgn="auto" latinLnBrk="0" hangingPunct="1">
              <a:lnSpc>
                <a:spcPct val="100000"/>
              </a:lnSpc>
              <a:spcBef>
                <a:spcPts val="900"/>
              </a:spcBef>
              <a:spcAft>
                <a:spcPts val="0"/>
              </a:spcAft>
              <a:buClr>
                <a:srgbClr val="000000">
                  <a:lumMod val="85000"/>
                  <a:lumOff val="15000"/>
                </a:srgbClr>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Gill Sans MT" panose="020B0502020104020203"/>
                <a:ea typeface="+mn-ea"/>
                <a:cs typeface="+mn-cs"/>
              </a:rPr>
              <a:t>Each peptide was subjected to 11576 alleles for HLA Class I (CD</a:t>
            </a:r>
            <a:r>
              <a:rPr kumimoji="0" lang="en-US" sz="1800" b="0" i="0" u="none" strike="noStrike" kern="1200" cap="none" spc="0" normalizeH="0" noProof="0" dirty="0">
                <a:ln>
                  <a:noFill/>
                </a:ln>
                <a:solidFill>
                  <a:srgbClr val="000000"/>
                </a:solidFill>
                <a:effectLst/>
                <a:uLnTx/>
                <a:uFillTx/>
                <a:latin typeface="Gill Sans MT" panose="020B0502020104020203"/>
                <a:ea typeface="+mn-ea"/>
                <a:cs typeface="+mn-cs"/>
              </a:rPr>
              <a:t>8</a:t>
            </a:r>
            <a:r>
              <a:rPr kumimoji="0" lang="en-US" sz="1800" b="0" i="0" u="none" strike="noStrike" kern="1200" cap="none" spc="0" normalizeH="0" baseline="30000" noProof="0" dirty="0">
                <a:ln>
                  <a:noFill/>
                </a:ln>
                <a:solidFill>
                  <a:srgbClr val="000000"/>
                </a:solidFill>
                <a:effectLst/>
                <a:uLnTx/>
                <a:uFillTx/>
                <a:latin typeface="Gill Sans MT" panose="020B0502020104020203"/>
                <a:ea typeface="+mn-ea"/>
                <a:cs typeface="+mn-cs"/>
              </a:rPr>
              <a:t>+ </a:t>
            </a:r>
            <a:r>
              <a:rPr kumimoji="0" lang="en-US" sz="1800" b="0" i="0" u="none" strike="noStrike" kern="1200" cap="none" spc="0" normalizeH="0" baseline="0" noProof="0" dirty="0">
                <a:ln>
                  <a:noFill/>
                </a:ln>
                <a:solidFill>
                  <a:srgbClr val="000000"/>
                </a:solidFill>
                <a:effectLst/>
                <a:uLnTx/>
                <a:uFillTx/>
                <a:latin typeface="Gill Sans MT" panose="020B0502020104020203"/>
                <a:ea typeface="+mn-ea"/>
                <a:cs typeface="+mn-cs"/>
              </a:rPr>
              <a:t>T Cell).</a:t>
            </a:r>
          </a:p>
          <a:p>
            <a:pPr marL="228600" marR="0" lvl="0" indent="-228600" algn="l" defTabSz="914400" rtl="0" eaLnBrk="1" fontAlgn="auto" latinLnBrk="0" hangingPunct="1">
              <a:lnSpc>
                <a:spcPct val="120000"/>
              </a:lnSpc>
              <a:spcBef>
                <a:spcPts val="1000"/>
              </a:spcBef>
              <a:spcAft>
                <a:spcPts val="0"/>
              </a:spcAft>
              <a:buClr>
                <a:srgbClr val="FFFFFF"/>
              </a:buClr>
              <a:buSzPts val="3000"/>
              <a:buFont typeface="Garamond" pitchFamily="18" charset="0"/>
              <a:buChar char="•"/>
              <a:tabLst/>
              <a:defRPr/>
            </a:pPr>
            <a:endParaRPr kumimoji="0" lang="en-IN" sz="1800" b="0" i="0" u="none" strike="noStrike" kern="1200" cap="none" spc="0" normalizeH="0" baseline="0" noProof="0" dirty="0">
              <a:ln>
                <a:noFill/>
              </a:ln>
              <a:solidFill>
                <a:srgbClr val="000000"/>
              </a:solidFill>
              <a:effectLst/>
              <a:uLnTx/>
              <a:uFillTx/>
              <a:latin typeface="Gill Sans MT" panose="020B0502020104020203"/>
              <a:ea typeface="+mn-ea"/>
              <a:cs typeface="+mn-cs"/>
            </a:endParaRPr>
          </a:p>
        </p:txBody>
      </p:sp>
      <p:sp>
        <p:nvSpPr>
          <p:cNvPr id="8" name="TextBox 7">
            <a:extLst>
              <a:ext uri="{FF2B5EF4-FFF2-40B4-BE49-F238E27FC236}">
                <a16:creationId xmlns:a16="http://schemas.microsoft.com/office/drawing/2014/main" id="{D36BFB38-35E8-2150-AAF0-7C6275DC0B75}"/>
              </a:ext>
            </a:extLst>
          </p:cNvPr>
          <p:cNvSpPr txBox="1"/>
          <p:nvPr/>
        </p:nvSpPr>
        <p:spPr>
          <a:xfrm>
            <a:off x="630705" y="3575587"/>
            <a:ext cx="10593583" cy="2585323"/>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Gill Sans MT" panose="020B0502020104020203"/>
                <a:ea typeface="+mn-ea"/>
                <a:cs typeface="+mn-cs"/>
              </a:rPr>
              <a:t>HLA Class I Prediction Tools:</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Gill Sans MT" panose="020B0502020104020203"/>
              <a:ea typeface="+mn-ea"/>
              <a:cs typeface="+mn-cs"/>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1" i="0" u="none" strike="noStrike" kern="1200" cap="none" spc="0" normalizeH="0" baseline="0" noProof="0" dirty="0" err="1">
                <a:ln>
                  <a:noFill/>
                </a:ln>
                <a:solidFill>
                  <a:srgbClr val="000000"/>
                </a:solidFill>
                <a:effectLst/>
                <a:uLnTx/>
                <a:uFillTx/>
                <a:latin typeface="Gill Sans MT" panose="020B0502020104020203"/>
                <a:ea typeface="+mn-ea"/>
                <a:cs typeface="+mn-cs"/>
              </a:rPr>
              <a:t>NetMHCpan</a:t>
            </a:r>
            <a:r>
              <a:rPr kumimoji="0" lang="en-US" sz="1800" b="1" i="0" u="none" strike="noStrike" kern="1200" cap="none" spc="0" normalizeH="0" baseline="0" noProof="0" dirty="0">
                <a:ln>
                  <a:noFill/>
                </a:ln>
                <a:solidFill>
                  <a:srgbClr val="000000"/>
                </a:solidFill>
                <a:effectLst/>
                <a:uLnTx/>
                <a:uFillTx/>
                <a:latin typeface="Gill Sans MT" panose="020B0502020104020203"/>
                <a:ea typeface="+mn-ea"/>
                <a:cs typeface="+mn-cs"/>
              </a:rPr>
              <a:t> v4.1.</a:t>
            </a:r>
            <a:r>
              <a:rPr kumimoji="0" lang="en-US" sz="1800" b="0" i="0" u="none" strike="noStrike" kern="1200" cap="none" spc="0" normalizeH="0" baseline="0" noProof="0" dirty="0">
                <a:ln>
                  <a:noFill/>
                </a:ln>
                <a:solidFill>
                  <a:srgbClr val="000000"/>
                </a:solidFill>
                <a:effectLst/>
                <a:uLnTx/>
                <a:uFillTx/>
                <a:latin typeface="Gill Sans MT" panose="020B0502020104020203"/>
                <a:ea typeface="+mn-ea"/>
                <a:cs typeface="+mn-cs"/>
              </a:rPr>
              <a:t> – Uses </a:t>
            </a:r>
            <a:r>
              <a:rPr kumimoji="0" lang="en-US" sz="1800" b="1" i="0" u="none" strike="noStrike" kern="1200" cap="none" spc="0" normalizeH="0" baseline="0" noProof="0" dirty="0" err="1">
                <a:ln>
                  <a:noFill/>
                </a:ln>
                <a:solidFill>
                  <a:srgbClr val="000000"/>
                </a:solidFill>
                <a:effectLst/>
                <a:uLnTx/>
                <a:uFillTx/>
                <a:latin typeface="Gill Sans MT" panose="020B0502020104020203"/>
                <a:ea typeface="+mn-ea"/>
                <a:cs typeface="+mn-cs"/>
              </a:rPr>
              <a:t>NNAlign</a:t>
            </a:r>
            <a:r>
              <a:rPr kumimoji="0" lang="en-US" sz="1800" b="1" i="0" u="none" strike="noStrike" kern="1200" cap="none" spc="0" normalizeH="0" baseline="0" noProof="0" dirty="0">
                <a:ln>
                  <a:noFill/>
                </a:ln>
                <a:solidFill>
                  <a:srgbClr val="000000"/>
                </a:solidFill>
                <a:effectLst/>
                <a:uLnTx/>
                <a:uFillTx/>
                <a:latin typeface="Gill Sans MT" panose="020B0502020104020203"/>
                <a:ea typeface="+mn-ea"/>
                <a:cs typeface="+mn-cs"/>
              </a:rPr>
              <a:t> (Neural Network) framework</a:t>
            </a:r>
            <a:r>
              <a:rPr kumimoji="0" lang="en-US" sz="1800" b="0" i="0" u="none" strike="noStrike" kern="1200" cap="none" spc="0" normalizeH="0" baseline="0" noProof="0" dirty="0">
                <a:ln>
                  <a:noFill/>
                </a:ln>
                <a:solidFill>
                  <a:srgbClr val="000000"/>
                </a:solidFill>
                <a:effectLst/>
                <a:uLnTx/>
                <a:uFillTx/>
                <a:latin typeface="Gill Sans MT" panose="020B0502020104020203"/>
                <a:ea typeface="+mn-ea"/>
                <a:cs typeface="+mn-cs"/>
              </a:rPr>
              <a:t>, trained on </a:t>
            </a:r>
            <a:r>
              <a:rPr kumimoji="0" lang="en-US" sz="1800" b="1" i="0" u="none" strike="noStrike" kern="1200" cap="none" spc="0" normalizeH="0" baseline="0" noProof="0" dirty="0">
                <a:ln>
                  <a:noFill/>
                </a:ln>
                <a:solidFill>
                  <a:srgbClr val="000000"/>
                </a:solidFill>
                <a:effectLst/>
                <a:uLnTx/>
                <a:uFillTx/>
                <a:latin typeface="Gill Sans MT" panose="020B0502020104020203"/>
                <a:ea typeface="+mn-ea"/>
                <a:cs typeface="+mn-cs"/>
              </a:rPr>
              <a:t>binding affinity &amp; MS ligand data</a:t>
            </a:r>
            <a:r>
              <a:rPr kumimoji="0" lang="en-US" sz="1800" b="0" i="0" u="none" strike="noStrike" kern="1200" cap="none" spc="0" normalizeH="0" baseline="0" noProof="0" dirty="0">
                <a:ln>
                  <a:noFill/>
                </a:ln>
                <a:solidFill>
                  <a:srgbClr val="000000"/>
                </a:solidFill>
                <a:effectLst/>
                <a:uLnTx/>
                <a:uFillTx/>
                <a:latin typeface="Gill Sans MT" panose="020B0502020104020203"/>
                <a:ea typeface="+mn-ea"/>
                <a:cs typeface="+mn-cs"/>
              </a:rPr>
              <a:t>. </a:t>
            </a:r>
            <a:r>
              <a:rPr kumimoji="0" lang="en-US" sz="1800" b="0" i="1" u="none" strike="noStrike" kern="1200" cap="none" spc="0" normalizeH="0" baseline="0" noProof="0" dirty="0">
                <a:ln>
                  <a:noFill/>
                </a:ln>
                <a:solidFill>
                  <a:srgbClr val="000000"/>
                </a:solidFill>
                <a:effectLst/>
                <a:uLnTx/>
                <a:uFillTx/>
                <a:latin typeface="Gill Sans MT" panose="020B0502020104020203"/>
                <a:ea typeface="+mn-ea"/>
                <a:cs typeface="+mn-cs"/>
              </a:rPr>
              <a:t>(Pan-specific prediction model) strong and weak binders based on EL Rank values as suggested by the paper (Binders &lt;2) .</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00000"/>
              </a:solidFill>
              <a:effectLst/>
              <a:uLnTx/>
              <a:uFillTx/>
              <a:latin typeface="Gill Sans MT" panose="020B0502020104020203"/>
              <a:ea typeface="+mn-ea"/>
              <a:cs typeface="+mn-cs"/>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1" i="0" u="none" strike="noStrike" kern="1200" cap="none" spc="0" normalizeH="0" baseline="0" noProof="0" dirty="0" err="1">
                <a:ln>
                  <a:noFill/>
                </a:ln>
                <a:solidFill>
                  <a:srgbClr val="000000"/>
                </a:solidFill>
                <a:effectLst/>
                <a:uLnTx/>
                <a:uFillTx/>
                <a:latin typeface="Gill Sans MT" panose="020B0502020104020203"/>
                <a:ea typeface="+mn-ea"/>
                <a:cs typeface="+mn-cs"/>
              </a:rPr>
              <a:t>MHCflurry</a:t>
            </a:r>
            <a:r>
              <a:rPr kumimoji="0" lang="en-US" sz="1800" b="1" i="0" u="none" strike="noStrike" kern="1200" cap="none" spc="0" normalizeH="0" baseline="0" noProof="0" dirty="0">
                <a:ln>
                  <a:noFill/>
                </a:ln>
                <a:solidFill>
                  <a:srgbClr val="000000"/>
                </a:solidFill>
                <a:effectLst/>
                <a:uLnTx/>
                <a:uFillTx/>
                <a:latin typeface="Gill Sans MT" panose="020B0502020104020203"/>
                <a:ea typeface="+mn-ea"/>
                <a:cs typeface="+mn-cs"/>
              </a:rPr>
              <a:t> v2.0.</a:t>
            </a:r>
            <a:r>
              <a:rPr kumimoji="0" lang="en-US" sz="1800" b="0" i="0" u="none" strike="noStrike" kern="1200" cap="none" spc="0" normalizeH="0" baseline="0" noProof="0" dirty="0">
                <a:ln>
                  <a:noFill/>
                </a:ln>
                <a:solidFill>
                  <a:srgbClr val="000000"/>
                </a:solidFill>
                <a:effectLst/>
                <a:uLnTx/>
                <a:uFillTx/>
                <a:latin typeface="Gill Sans MT" panose="020B0502020104020203"/>
                <a:ea typeface="+mn-ea"/>
                <a:cs typeface="+mn-cs"/>
              </a:rPr>
              <a:t> – Uses </a:t>
            </a:r>
            <a:r>
              <a:rPr kumimoji="0" lang="en-US" sz="1800" b="1" i="0" u="none" strike="noStrike" kern="1200" cap="none" spc="0" normalizeH="0" baseline="0" noProof="0" dirty="0">
                <a:ln>
                  <a:noFill/>
                </a:ln>
                <a:solidFill>
                  <a:srgbClr val="000000"/>
                </a:solidFill>
                <a:effectLst/>
                <a:uLnTx/>
                <a:uFillTx/>
                <a:latin typeface="Gill Sans MT" panose="020B0502020104020203"/>
                <a:ea typeface="+mn-ea"/>
                <a:cs typeface="+mn-cs"/>
              </a:rPr>
              <a:t>Allele-specific Neural Networks</a:t>
            </a:r>
            <a:r>
              <a:rPr kumimoji="0" lang="en-US" sz="1800" b="0" i="0" u="none" strike="noStrike" kern="1200" cap="none" spc="0" normalizeH="0" baseline="0" noProof="0" dirty="0">
                <a:ln>
                  <a:noFill/>
                </a:ln>
                <a:solidFill>
                  <a:srgbClr val="000000"/>
                </a:solidFill>
                <a:effectLst/>
                <a:uLnTx/>
                <a:uFillTx/>
                <a:latin typeface="Gill Sans MT" panose="020B0502020104020203"/>
                <a:ea typeface="+mn-ea"/>
                <a:cs typeface="+mn-cs"/>
              </a:rPr>
              <a:t>, optimizing </a:t>
            </a:r>
            <a:r>
              <a:rPr kumimoji="0" lang="en-US" sz="1800" b="1" i="0" u="none" strike="noStrike" kern="1200" cap="none" spc="0" normalizeH="0" baseline="0" noProof="0" dirty="0">
                <a:ln>
                  <a:noFill/>
                </a:ln>
                <a:solidFill>
                  <a:srgbClr val="000000"/>
                </a:solidFill>
                <a:effectLst/>
                <a:uLnTx/>
                <a:uFillTx/>
                <a:latin typeface="Gill Sans MT" panose="020B0502020104020203"/>
                <a:ea typeface="+mn-ea"/>
                <a:cs typeface="+mn-cs"/>
              </a:rPr>
              <a:t>binding affinity data</a:t>
            </a:r>
            <a:r>
              <a:rPr kumimoji="0" lang="en-US" sz="1800" b="0" i="0" u="none" strike="noStrike" kern="1200" cap="none" spc="0" normalizeH="0" baseline="0" noProof="0" dirty="0">
                <a:ln>
                  <a:noFill/>
                </a:ln>
                <a:solidFill>
                  <a:srgbClr val="000000"/>
                </a:solidFill>
                <a:effectLst/>
                <a:uLnTx/>
                <a:uFillTx/>
                <a:latin typeface="Gill Sans MT" panose="020B0502020104020203"/>
                <a:ea typeface="+mn-ea"/>
                <a:cs typeface="+mn-cs"/>
              </a:rPr>
              <a:t>. Strong and weak binders based on binding affinity (</a:t>
            </a:r>
            <a:r>
              <a:rPr kumimoji="0" lang="en-US" sz="1800" b="0" i="0" u="none" strike="noStrike" kern="1200" cap="none" spc="0" normalizeH="0" baseline="0" noProof="0" dirty="0" err="1">
                <a:ln>
                  <a:noFill/>
                </a:ln>
                <a:solidFill>
                  <a:srgbClr val="000000"/>
                </a:solidFill>
                <a:effectLst/>
                <a:uLnTx/>
                <a:uFillTx/>
                <a:latin typeface="Gill Sans MT" panose="020B0502020104020203"/>
                <a:ea typeface="+mn-ea"/>
                <a:cs typeface="+mn-cs"/>
              </a:rPr>
              <a:t>nM</a:t>
            </a:r>
            <a:r>
              <a:rPr kumimoji="0" lang="en-US" sz="1800" b="0" i="0" u="none" strike="noStrike" kern="1200" cap="none" spc="0" normalizeH="0" baseline="0" noProof="0" dirty="0">
                <a:ln>
                  <a:noFill/>
                </a:ln>
                <a:solidFill>
                  <a:srgbClr val="000000"/>
                </a:solidFill>
                <a:effectLst/>
                <a:uLnTx/>
                <a:uFillTx/>
                <a:latin typeface="Gill Sans MT" panose="020B0502020104020203"/>
                <a:ea typeface="+mn-ea"/>
                <a:cs typeface="+mn-cs"/>
              </a:rPr>
              <a:t>) value.(Binders </a:t>
            </a:r>
            <a:r>
              <a:rPr kumimoji="0" lang="en-US" sz="1800" b="0" i="1" u="none" strike="noStrike" kern="1200" cap="none" spc="0" normalizeH="0" baseline="0" noProof="0" dirty="0">
                <a:ln>
                  <a:noFill/>
                </a:ln>
                <a:solidFill>
                  <a:srgbClr val="000000"/>
                </a:solidFill>
                <a:effectLst/>
                <a:uLnTx/>
                <a:uFillTx/>
                <a:latin typeface="Gill Sans MT" panose="020B0502020104020203"/>
                <a:ea typeface="+mn-ea"/>
                <a:cs typeface="+mn-cs"/>
              </a:rPr>
              <a:t>&lt;500nM</a:t>
            </a:r>
            <a:r>
              <a:rPr kumimoji="0" lang="en-US" sz="1800" b="0" i="0" u="none" strike="noStrike" kern="1200" cap="none" spc="0" normalizeH="0" baseline="0" noProof="0" dirty="0">
                <a:ln>
                  <a:noFill/>
                </a:ln>
                <a:solidFill>
                  <a:srgbClr val="000000"/>
                </a:solidFill>
                <a:effectLst/>
                <a:uLnTx/>
                <a:uFillTx/>
                <a:latin typeface="Gill Sans MT" panose="020B0502020104020203"/>
                <a:ea typeface="+mn-ea"/>
                <a:cs typeface="+mn-cs"/>
              </a:rPr>
              <a:t>).  </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Gill Sans MT" panose="020B0502020104020203"/>
              <a:ea typeface="+mn-ea"/>
              <a:cs typeface="+mn-cs"/>
            </a:endParaRPr>
          </a:p>
        </p:txBody>
      </p:sp>
    </p:spTree>
    <p:extLst>
      <p:ext uri="{BB962C8B-B14F-4D97-AF65-F5344CB8AC3E}">
        <p14:creationId xmlns:p14="http://schemas.microsoft.com/office/powerpoint/2010/main" val="11923365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9EC17B-D6E7-8856-8143-966EFE1BABE9}"/>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D56E1AA6-0191-4AE6-4163-C11515DB8F5F}"/>
              </a:ext>
            </a:extLst>
          </p:cNvPr>
          <p:cNvSpPr/>
          <p:nvPr/>
        </p:nvSpPr>
        <p:spPr>
          <a:xfrm>
            <a:off x="0" y="1675"/>
            <a:ext cx="12192000" cy="6858000"/>
          </a:xfrm>
          <a:prstGeom prst="rect">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800" dirty="0">
              <a:latin typeface="Arial" panose="020B0604020202020204" pitchFamily="34" charset="0"/>
              <a:cs typeface="Arial" panose="020B0604020202020204" pitchFamily="34" charset="0"/>
            </a:endParaRPr>
          </a:p>
        </p:txBody>
      </p:sp>
      <p:cxnSp>
        <p:nvCxnSpPr>
          <p:cNvPr id="17" name="Straight Arrow Connector 16">
            <a:extLst>
              <a:ext uri="{FF2B5EF4-FFF2-40B4-BE49-F238E27FC236}">
                <a16:creationId xmlns:a16="http://schemas.microsoft.com/office/drawing/2014/main" id="{67A45359-5164-6C6F-DA8E-9A816E9021B1}"/>
              </a:ext>
            </a:extLst>
          </p:cNvPr>
          <p:cNvCxnSpPr/>
          <p:nvPr/>
        </p:nvCxnSpPr>
        <p:spPr>
          <a:xfrm>
            <a:off x="4223640" y="2761963"/>
            <a:ext cx="608516" cy="0"/>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0F4A18E1-48D6-4018-C06A-513297E5CF56}"/>
              </a:ext>
            </a:extLst>
          </p:cNvPr>
          <p:cNvCxnSpPr/>
          <p:nvPr/>
        </p:nvCxnSpPr>
        <p:spPr>
          <a:xfrm>
            <a:off x="6216820" y="2761963"/>
            <a:ext cx="608516" cy="0"/>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CA1D7B8C-7247-287D-E4F1-33FD1C612694}"/>
              </a:ext>
            </a:extLst>
          </p:cNvPr>
          <p:cNvCxnSpPr/>
          <p:nvPr/>
        </p:nvCxnSpPr>
        <p:spPr>
          <a:xfrm>
            <a:off x="8321313" y="2760253"/>
            <a:ext cx="608516" cy="0"/>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57403582-E1C3-A4C9-0A11-F8C7A1101421}"/>
              </a:ext>
            </a:extLst>
          </p:cNvPr>
          <p:cNvSpPr txBox="1"/>
          <p:nvPr/>
        </p:nvSpPr>
        <p:spPr>
          <a:xfrm>
            <a:off x="1018106" y="2348857"/>
            <a:ext cx="1579652" cy="923330"/>
          </a:xfrm>
          <a:prstGeom prst="rect">
            <a:avLst/>
          </a:prstGeom>
          <a:noFill/>
        </p:spPr>
        <p:txBody>
          <a:bodyPr wrap="square" rtlCol="0">
            <a:spAutoFit/>
          </a:bodyPr>
          <a:lstStyle/>
          <a:p>
            <a:pPr algn="ctr"/>
            <a:r>
              <a:rPr lang="en-US" dirty="0"/>
              <a:t>Epitope</a:t>
            </a:r>
          </a:p>
          <a:p>
            <a:pPr algn="ctr"/>
            <a:r>
              <a:rPr lang="en-US" dirty="0"/>
              <a:t>  X</a:t>
            </a:r>
          </a:p>
          <a:p>
            <a:pPr algn="ctr"/>
            <a:r>
              <a:rPr lang="en-US" dirty="0"/>
              <a:t>11576 Alleles</a:t>
            </a:r>
          </a:p>
        </p:txBody>
      </p:sp>
      <p:cxnSp>
        <p:nvCxnSpPr>
          <p:cNvPr id="21" name="Straight Arrow Connector 20">
            <a:extLst>
              <a:ext uri="{FF2B5EF4-FFF2-40B4-BE49-F238E27FC236}">
                <a16:creationId xmlns:a16="http://schemas.microsoft.com/office/drawing/2014/main" id="{58A4F55D-4660-F3C1-DF41-DF17F370C87E}"/>
              </a:ext>
            </a:extLst>
          </p:cNvPr>
          <p:cNvCxnSpPr/>
          <p:nvPr/>
        </p:nvCxnSpPr>
        <p:spPr>
          <a:xfrm>
            <a:off x="2485598" y="2760253"/>
            <a:ext cx="608516" cy="0"/>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nvGrpSpPr>
          <p:cNvPr id="45" name="Group 44">
            <a:extLst>
              <a:ext uri="{FF2B5EF4-FFF2-40B4-BE49-F238E27FC236}">
                <a16:creationId xmlns:a16="http://schemas.microsoft.com/office/drawing/2014/main" id="{C77BBFD5-C904-2E72-BCA8-3FC55FF2FA7E}"/>
              </a:ext>
            </a:extLst>
          </p:cNvPr>
          <p:cNvGrpSpPr/>
          <p:nvPr/>
        </p:nvGrpSpPr>
        <p:grpSpPr>
          <a:xfrm>
            <a:off x="2781834" y="2348857"/>
            <a:ext cx="1810818" cy="1544320"/>
            <a:chOff x="2781834" y="2253607"/>
            <a:chExt cx="1810818" cy="1544320"/>
          </a:xfrm>
        </p:grpSpPr>
        <p:pic>
          <p:nvPicPr>
            <p:cNvPr id="1026" name="Picture 2">
              <a:extLst>
                <a:ext uri="{FF2B5EF4-FFF2-40B4-BE49-F238E27FC236}">
                  <a16:creationId xmlns:a16="http://schemas.microsoft.com/office/drawing/2014/main" id="{0D43E866-3BFB-644A-90BC-7E277B14946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74137" y="2253607"/>
              <a:ext cx="826213" cy="826213"/>
            </a:xfrm>
            <a:prstGeom prst="rect">
              <a:avLst/>
            </a:prstGeom>
            <a:noFill/>
            <a:extLst>
              <a:ext uri="{909E8E84-426E-40DD-AFC4-6F175D3DCCD1}">
                <a14:hiddenFill xmlns:a14="http://schemas.microsoft.com/office/drawing/2010/main">
                  <a:solidFill>
                    <a:srgbClr val="FFFFFF"/>
                  </a:solidFill>
                </a14:hiddenFill>
              </a:ext>
            </a:extLst>
          </p:spPr>
        </p:pic>
        <p:sp>
          <p:nvSpPr>
            <p:cNvPr id="22" name="TextBox 21">
              <a:extLst>
                <a:ext uri="{FF2B5EF4-FFF2-40B4-BE49-F238E27FC236}">
                  <a16:creationId xmlns:a16="http://schemas.microsoft.com/office/drawing/2014/main" id="{2E4CE385-7F2C-0AF8-98E7-38BDF3192107}"/>
                </a:ext>
              </a:extLst>
            </p:cNvPr>
            <p:cNvSpPr txBox="1"/>
            <p:nvPr/>
          </p:nvSpPr>
          <p:spPr>
            <a:xfrm>
              <a:off x="2781834" y="3151596"/>
              <a:ext cx="1810818" cy="646331"/>
            </a:xfrm>
            <a:prstGeom prst="rect">
              <a:avLst/>
            </a:prstGeom>
            <a:noFill/>
          </p:spPr>
          <p:txBody>
            <a:bodyPr wrap="square" rtlCol="0">
              <a:spAutoFit/>
            </a:bodyPr>
            <a:lstStyle/>
            <a:p>
              <a:pPr algn="ctr"/>
              <a:r>
                <a:rPr lang="en-US" dirty="0" err="1"/>
                <a:t>NetMHCpan</a:t>
              </a:r>
              <a:r>
                <a:rPr lang="en-US" dirty="0"/>
                <a:t> v4.1.</a:t>
              </a:r>
            </a:p>
          </p:txBody>
        </p:sp>
      </p:grpSp>
      <p:grpSp>
        <p:nvGrpSpPr>
          <p:cNvPr id="46" name="Group 45">
            <a:extLst>
              <a:ext uri="{FF2B5EF4-FFF2-40B4-BE49-F238E27FC236}">
                <a16:creationId xmlns:a16="http://schemas.microsoft.com/office/drawing/2014/main" id="{2C695D7C-FBCC-335D-C106-6F70EC71DB87}"/>
              </a:ext>
            </a:extLst>
          </p:cNvPr>
          <p:cNvGrpSpPr/>
          <p:nvPr/>
        </p:nvGrpSpPr>
        <p:grpSpPr>
          <a:xfrm>
            <a:off x="4605497" y="2088255"/>
            <a:ext cx="1810818" cy="2082182"/>
            <a:chOff x="4605497" y="1993005"/>
            <a:chExt cx="1810818" cy="2082182"/>
          </a:xfrm>
        </p:grpSpPr>
        <p:grpSp>
          <p:nvGrpSpPr>
            <p:cNvPr id="15" name="Group 14">
              <a:extLst>
                <a:ext uri="{FF2B5EF4-FFF2-40B4-BE49-F238E27FC236}">
                  <a16:creationId xmlns:a16="http://schemas.microsoft.com/office/drawing/2014/main" id="{8188D1A0-67D9-B34F-5DD2-C37B8D6099A8}"/>
                </a:ext>
              </a:extLst>
            </p:cNvPr>
            <p:cNvGrpSpPr/>
            <p:nvPr/>
          </p:nvGrpSpPr>
          <p:grpSpPr>
            <a:xfrm>
              <a:off x="4982214" y="1993005"/>
              <a:ext cx="1057383" cy="1367318"/>
              <a:chOff x="4149047" y="2407255"/>
              <a:chExt cx="1057383" cy="1367318"/>
            </a:xfrm>
          </p:grpSpPr>
          <p:pic>
            <p:nvPicPr>
              <p:cNvPr id="10" name="Graphic 9" descr="Document with solid fill">
                <a:extLst>
                  <a:ext uri="{FF2B5EF4-FFF2-40B4-BE49-F238E27FC236}">
                    <a16:creationId xmlns:a16="http://schemas.microsoft.com/office/drawing/2014/main" id="{AFAE50D6-3660-B0E6-6EDA-17348955469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149047" y="2407255"/>
                <a:ext cx="464904" cy="464904"/>
              </a:xfrm>
              <a:prstGeom prst="rect">
                <a:avLst/>
              </a:prstGeom>
            </p:spPr>
          </p:pic>
          <p:pic>
            <p:nvPicPr>
              <p:cNvPr id="11" name="Graphic 10" descr="Document with solid fill">
                <a:extLst>
                  <a:ext uri="{FF2B5EF4-FFF2-40B4-BE49-F238E27FC236}">
                    <a16:creationId xmlns:a16="http://schemas.microsoft.com/office/drawing/2014/main" id="{157DE129-7185-3179-614C-9CB5210565E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741526" y="3272748"/>
                <a:ext cx="464904" cy="464904"/>
              </a:xfrm>
              <a:prstGeom prst="rect">
                <a:avLst/>
              </a:prstGeom>
            </p:spPr>
          </p:pic>
          <p:pic>
            <p:nvPicPr>
              <p:cNvPr id="12" name="Graphic 11" descr="Document with solid fill">
                <a:extLst>
                  <a:ext uri="{FF2B5EF4-FFF2-40B4-BE49-F238E27FC236}">
                    <a16:creationId xmlns:a16="http://schemas.microsoft.com/office/drawing/2014/main" id="{80384EDB-9469-BD54-2A91-8AD3DB309BA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741526" y="2424275"/>
                <a:ext cx="464904" cy="464904"/>
              </a:xfrm>
              <a:prstGeom prst="rect">
                <a:avLst/>
              </a:prstGeom>
            </p:spPr>
          </p:pic>
          <p:pic>
            <p:nvPicPr>
              <p:cNvPr id="13" name="Graphic 12" descr="Document with solid fill">
                <a:extLst>
                  <a:ext uri="{FF2B5EF4-FFF2-40B4-BE49-F238E27FC236}">
                    <a16:creationId xmlns:a16="http://schemas.microsoft.com/office/drawing/2014/main" id="{A770408E-47AD-9044-81C0-D0A3762D691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445287" y="2848512"/>
                <a:ext cx="464904" cy="464904"/>
              </a:xfrm>
              <a:prstGeom prst="rect">
                <a:avLst/>
              </a:prstGeom>
            </p:spPr>
          </p:pic>
          <p:pic>
            <p:nvPicPr>
              <p:cNvPr id="14" name="Graphic 13" descr="Document with solid fill">
                <a:extLst>
                  <a:ext uri="{FF2B5EF4-FFF2-40B4-BE49-F238E27FC236}">
                    <a16:creationId xmlns:a16="http://schemas.microsoft.com/office/drawing/2014/main" id="{891A730F-825B-EF8D-A4A4-A76CA8EB4A5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149047" y="3309669"/>
                <a:ext cx="464904" cy="464904"/>
              </a:xfrm>
              <a:prstGeom prst="rect">
                <a:avLst/>
              </a:prstGeom>
            </p:spPr>
          </p:pic>
        </p:grpSp>
        <p:sp>
          <p:nvSpPr>
            <p:cNvPr id="23" name="TextBox 22">
              <a:extLst>
                <a:ext uri="{FF2B5EF4-FFF2-40B4-BE49-F238E27FC236}">
                  <a16:creationId xmlns:a16="http://schemas.microsoft.com/office/drawing/2014/main" id="{1166CFD8-FFD8-68A3-C647-7AB7A22137D3}"/>
                </a:ext>
              </a:extLst>
            </p:cNvPr>
            <p:cNvSpPr txBox="1"/>
            <p:nvPr/>
          </p:nvSpPr>
          <p:spPr>
            <a:xfrm>
              <a:off x="4605497" y="3428856"/>
              <a:ext cx="1810818" cy="646331"/>
            </a:xfrm>
            <a:prstGeom prst="rect">
              <a:avLst/>
            </a:prstGeom>
            <a:noFill/>
          </p:spPr>
          <p:txBody>
            <a:bodyPr wrap="square" rtlCol="0">
              <a:spAutoFit/>
            </a:bodyPr>
            <a:lstStyle/>
            <a:p>
              <a:pPr algn="ctr"/>
              <a:r>
                <a:rPr lang="en-US" dirty="0"/>
                <a:t>Multiple resulted files</a:t>
              </a:r>
            </a:p>
          </p:txBody>
        </p:sp>
      </p:grpSp>
      <p:grpSp>
        <p:nvGrpSpPr>
          <p:cNvPr id="47" name="Group 46">
            <a:extLst>
              <a:ext uri="{FF2B5EF4-FFF2-40B4-BE49-F238E27FC236}">
                <a16:creationId xmlns:a16="http://schemas.microsoft.com/office/drawing/2014/main" id="{F247A0AE-A74C-0D75-85A8-55ADB4DF8853}"/>
              </a:ext>
            </a:extLst>
          </p:cNvPr>
          <p:cNvGrpSpPr/>
          <p:nvPr/>
        </p:nvGrpSpPr>
        <p:grpSpPr>
          <a:xfrm>
            <a:off x="6668032" y="2210585"/>
            <a:ext cx="1810818" cy="1608870"/>
            <a:chOff x="6668032" y="2115335"/>
            <a:chExt cx="1810818" cy="1608870"/>
          </a:xfrm>
        </p:grpSpPr>
        <p:pic>
          <p:nvPicPr>
            <p:cNvPr id="6" name="Picture 5">
              <a:extLst>
                <a:ext uri="{FF2B5EF4-FFF2-40B4-BE49-F238E27FC236}">
                  <a16:creationId xmlns:a16="http://schemas.microsoft.com/office/drawing/2014/main" id="{04640040-60D3-5F2F-F1FB-2A61E62482CB}"/>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10000" b="90000" l="10000" r="90000">
                          <a14:foregroundMark x1="38281" y1="31055" x2="58105" y2="33594"/>
                          <a14:foregroundMark x1="58105" y1="33594" x2="60059" y2="42090"/>
                          <a14:foregroundMark x1="60059" y1="42090" x2="55957" y2="47852"/>
                          <a14:foregroundMark x1="55957" y1="47852" x2="58594" y2="56543"/>
                          <a14:foregroundMark x1="58594" y1="56543" x2="63477" y2="64160"/>
                          <a14:foregroundMark x1="63477" y1="64160" x2="67188" y2="64746"/>
                          <a14:foregroundMark x1="38867" y1="64746" x2="46875" y2="64453"/>
                          <a14:foregroundMark x1="46875" y1="64453" x2="43066" y2="55469"/>
                          <a14:foregroundMark x1="43066" y1="55469" x2="42480" y2="37695"/>
                          <a14:foregroundMark x1="42480" y1="37695" x2="42188" y2="47266"/>
                          <a14:foregroundMark x1="42188" y1="47266" x2="51563" y2="47656"/>
                          <a14:foregroundMark x1="51563" y1="47656" x2="55957" y2="53809"/>
                        </a14:backgroundRemoval>
                      </a14:imgEffect>
                    </a14:imgLayer>
                  </a14:imgProps>
                </a:ext>
              </a:extLst>
            </a:blip>
            <a:stretch>
              <a:fillRect/>
            </a:stretch>
          </p:blipFill>
          <p:spPr>
            <a:xfrm>
              <a:off x="7018641" y="2115335"/>
              <a:ext cx="1099335" cy="1099335"/>
            </a:xfrm>
            <a:prstGeom prst="rect">
              <a:avLst/>
            </a:prstGeom>
          </p:spPr>
        </p:pic>
        <p:sp>
          <p:nvSpPr>
            <p:cNvPr id="24" name="TextBox 23">
              <a:extLst>
                <a:ext uri="{FF2B5EF4-FFF2-40B4-BE49-F238E27FC236}">
                  <a16:creationId xmlns:a16="http://schemas.microsoft.com/office/drawing/2014/main" id="{ED30BDC5-C81B-34FA-4271-D592319D5855}"/>
                </a:ext>
              </a:extLst>
            </p:cNvPr>
            <p:cNvSpPr txBox="1"/>
            <p:nvPr/>
          </p:nvSpPr>
          <p:spPr>
            <a:xfrm>
              <a:off x="6668032" y="3077874"/>
              <a:ext cx="1810818" cy="646331"/>
            </a:xfrm>
            <a:prstGeom prst="rect">
              <a:avLst/>
            </a:prstGeom>
            <a:noFill/>
          </p:spPr>
          <p:txBody>
            <a:bodyPr wrap="square" rtlCol="0">
              <a:spAutoFit/>
            </a:bodyPr>
            <a:lstStyle/>
            <a:p>
              <a:pPr algn="ctr"/>
              <a:r>
                <a:rPr lang="en-US" dirty="0"/>
                <a:t>Data cleaning using R Script</a:t>
              </a:r>
            </a:p>
          </p:txBody>
        </p:sp>
      </p:grpSp>
      <p:grpSp>
        <p:nvGrpSpPr>
          <p:cNvPr id="48" name="Group 47">
            <a:extLst>
              <a:ext uri="{FF2B5EF4-FFF2-40B4-BE49-F238E27FC236}">
                <a16:creationId xmlns:a16="http://schemas.microsoft.com/office/drawing/2014/main" id="{0BC85F3F-D523-029A-DF77-5224621C7906}"/>
              </a:ext>
            </a:extLst>
          </p:cNvPr>
          <p:cNvGrpSpPr/>
          <p:nvPr/>
        </p:nvGrpSpPr>
        <p:grpSpPr>
          <a:xfrm>
            <a:off x="8788038" y="2337727"/>
            <a:ext cx="1810818" cy="1681089"/>
            <a:chOff x="8788038" y="2242477"/>
            <a:chExt cx="1810818" cy="1681089"/>
          </a:xfrm>
        </p:grpSpPr>
        <p:pic>
          <p:nvPicPr>
            <p:cNvPr id="25" name="Graphic 24" descr="Document with solid fill">
              <a:extLst>
                <a:ext uri="{FF2B5EF4-FFF2-40B4-BE49-F238E27FC236}">
                  <a16:creationId xmlns:a16="http://schemas.microsoft.com/office/drawing/2014/main" id="{E935482D-4CF4-3A4D-B352-1D1E62D6457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303443" y="2242477"/>
              <a:ext cx="780009" cy="780009"/>
            </a:xfrm>
            <a:prstGeom prst="rect">
              <a:avLst/>
            </a:prstGeom>
          </p:spPr>
        </p:pic>
        <p:sp>
          <p:nvSpPr>
            <p:cNvPr id="26" name="TextBox 25">
              <a:extLst>
                <a:ext uri="{FF2B5EF4-FFF2-40B4-BE49-F238E27FC236}">
                  <a16:creationId xmlns:a16="http://schemas.microsoft.com/office/drawing/2014/main" id="{F6874CEC-0E31-172E-B398-9B375808512B}"/>
                </a:ext>
              </a:extLst>
            </p:cNvPr>
            <p:cNvSpPr txBox="1"/>
            <p:nvPr/>
          </p:nvSpPr>
          <p:spPr>
            <a:xfrm>
              <a:off x="8788038" y="3000236"/>
              <a:ext cx="1810818" cy="923330"/>
            </a:xfrm>
            <a:prstGeom prst="rect">
              <a:avLst/>
            </a:prstGeom>
            <a:noFill/>
          </p:spPr>
          <p:txBody>
            <a:bodyPr wrap="square" rtlCol="0">
              <a:spAutoFit/>
            </a:bodyPr>
            <a:lstStyle/>
            <a:p>
              <a:pPr algn="ctr"/>
              <a:r>
                <a:rPr lang="en-US" dirty="0"/>
                <a:t>Predicted strong binding epitopes</a:t>
              </a:r>
            </a:p>
            <a:p>
              <a:pPr algn="ctr"/>
              <a:r>
                <a:rPr lang="en-US" dirty="0"/>
                <a:t>(EL Rank &lt; 0.5%)</a:t>
              </a:r>
            </a:p>
          </p:txBody>
        </p:sp>
      </p:grpSp>
      <p:grpSp>
        <p:nvGrpSpPr>
          <p:cNvPr id="38" name="Group 37">
            <a:extLst>
              <a:ext uri="{FF2B5EF4-FFF2-40B4-BE49-F238E27FC236}">
                <a16:creationId xmlns:a16="http://schemas.microsoft.com/office/drawing/2014/main" id="{A28F0126-5F14-DFE2-DB51-75E2F0B4BF4D}"/>
              </a:ext>
            </a:extLst>
          </p:cNvPr>
          <p:cNvGrpSpPr/>
          <p:nvPr/>
        </p:nvGrpSpPr>
        <p:grpSpPr>
          <a:xfrm>
            <a:off x="793708" y="1605464"/>
            <a:ext cx="2834933" cy="456846"/>
            <a:chOff x="357966" y="2951177"/>
            <a:chExt cx="3656550" cy="1092351"/>
          </a:xfrm>
        </p:grpSpPr>
        <p:sp>
          <p:nvSpPr>
            <p:cNvPr id="39" name="Rectangle: Rounded Corners 38">
              <a:extLst>
                <a:ext uri="{FF2B5EF4-FFF2-40B4-BE49-F238E27FC236}">
                  <a16:creationId xmlns:a16="http://schemas.microsoft.com/office/drawing/2014/main" id="{87659853-7D7F-563A-EF1F-E9B00956054D}"/>
                </a:ext>
              </a:extLst>
            </p:cNvPr>
            <p:cNvSpPr/>
            <p:nvPr/>
          </p:nvSpPr>
          <p:spPr>
            <a:xfrm>
              <a:off x="357966" y="2951177"/>
              <a:ext cx="3656550" cy="1092351"/>
            </a:xfrm>
            <a:prstGeom prst="roundRect">
              <a:avLst>
                <a:gd name="adj" fmla="val 10000"/>
              </a:avLst>
            </a:prstGeom>
            <a:solidFill>
              <a:srgbClr val="C00000"/>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en-US"/>
            </a:p>
          </p:txBody>
        </p:sp>
        <p:sp>
          <p:nvSpPr>
            <p:cNvPr id="40" name="Rectangle: Rounded Corners 4">
              <a:extLst>
                <a:ext uri="{FF2B5EF4-FFF2-40B4-BE49-F238E27FC236}">
                  <a16:creationId xmlns:a16="http://schemas.microsoft.com/office/drawing/2014/main" id="{39004CED-F33A-C5B1-9597-D349984D7A82}"/>
                </a:ext>
              </a:extLst>
            </p:cNvPr>
            <p:cNvSpPr txBox="1"/>
            <p:nvPr/>
          </p:nvSpPr>
          <p:spPr>
            <a:xfrm>
              <a:off x="389960" y="2983171"/>
              <a:ext cx="3592562" cy="102836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34290" tIns="22860" rIns="34290" bIns="22860" numCol="1" spcCol="1270" anchor="ctr" anchorCtr="0">
              <a:noAutofit/>
            </a:bodyPr>
            <a:lstStyle/>
            <a:p>
              <a:pPr marL="0" lvl="0" indent="0" algn="ctr" defTabSz="800100">
                <a:lnSpc>
                  <a:spcPct val="150000"/>
                </a:lnSpc>
                <a:spcBef>
                  <a:spcPct val="0"/>
                </a:spcBef>
                <a:spcAft>
                  <a:spcPct val="35000"/>
                </a:spcAft>
                <a:buNone/>
              </a:pPr>
              <a:r>
                <a:rPr lang="en-US" sz="1800" kern="1200" dirty="0" err="1"/>
                <a:t>NetMHCpan</a:t>
              </a:r>
              <a:r>
                <a:rPr lang="en-US" sz="1800" kern="1200" dirty="0"/>
                <a:t> v4.1.  </a:t>
              </a:r>
              <a:r>
                <a:rPr lang="en-US" dirty="0"/>
                <a:t>W</a:t>
              </a:r>
              <a:r>
                <a:rPr lang="en-US" sz="1800" kern="1200" dirty="0"/>
                <a:t>orkflow</a:t>
              </a:r>
            </a:p>
          </p:txBody>
        </p:sp>
      </p:grpSp>
      <p:sp>
        <p:nvSpPr>
          <p:cNvPr id="28" name="TextBox 27">
            <a:extLst>
              <a:ext uri="{FF2B5EF4-FFF2-40B4-BE49-F238E27FC236}">
                <a16:creationId xmlns:a16="http://schemas.microsoft.com/office/drawing/2014/main" id="{7A018434-1EE9-9CFF-20D2-5FBD28ECD129}"/>
              </a:ext>
            </a:extLst>
          </p:cNvPr>
          <p:cNvSpPr txBox="1"/>
          <p:nvPr/>
        </p:nvSpPr>
        <p:spPr>
          <a:xfrm>
            <a:off x="4098737" y="4669675"/>
            <a:ext cx="1579652" cy="923330"/>
          </a:xfrm>
          <a:prstGeom prst="rect">
            <a:avLst/>
          </a:prstGeom>
          <a:noFill/>
        </p:spPr>
        <p:txBody>
          <a:bodyPr wrap="square" rtlCol="0">
            <a:spAutoFit/>
          </a:bodyPr>
          <a:lstStyle/>
          <a:p>
            <a:pPr algn="ctr"/>
            <a:r>
              <a:rPr lang="en-US" dirty="0"/>
              <a:t>Epitope</a:t>
            </a:r>
          </a:p>
          <a:p>
            <a:pPr algn="ctr"/>
            <a:r>
              <a:rPr lang="en-US" dirty="0"/>
              <a:t>  X</a:t>
            </a:r>
          </a:p>
          <a:p>
            <a:pPr algn="ctr"/>
            <a:r>
              <a:rPr lang="en-US" dirty="0"/>
              <a:t>11576 Alleles</a:t>
            </a:r>
          </a:p>
        </p:txBody>
      </p:sp>
      <p:cxnSp>
        <p:nvCxnSpPr>
          <p:cNvPr id="29" name="Straight Arrow Connector 28">
            <a:extLst>
              <a:ext uri="{FF2B5EF4-FFF2-40B4-BE49-F238E27FC236}">
                <a16:creationId xmlns:a16="http://schemas.microsoft.com/office/drawing/2014/main" id="{3F5DABB6-05CE-FBC9-DAF8-50AE8ECCEEB9}"/>
              </a:ext>
            </a:extLst>
          </p:cNvPr>
          <p:cNvCxnSpPr/>
          <p:nvPr/>
        </p:nvCxnSpPr>
        <p:spPr>
          <a:xfrm>
            <a:off x="5538289" y="5131340"/>
            <a:ext cx="608516" cy="0"/>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nvGrpSpPr>
          <p:cNvPr id="33" name="Group 32">
            <a:extLst>
              <a:ext uri="{FF2B5EF4-FFF2-40B4-BE49-F238E27FC236}">
                <a16:creationId xmlns:a16="http://schemas.microsoft.com/office/drawing/2014/main" id="{089278EF-BD4A-5DF1-A183-2E6B245AD654}"/>
              </a:ext>
            </a:extLst>
          </p:cNvPr>
          <p:cNvGrpSpPr/>
          <p:nvPr/>
        </p:nvGrpSpPr>
        <p:grpSpPr>
          <a:xfrm>
            <a:off x="6279430" y="4669675"/>
            <a:ext cx="914400" cy="914400"/>
            <a:chOff x="3328825" y="5124871"/>
            <a:chExt cx="914400" cy="914400"/>
          </a:xfrm>
          <a:solidFill>
            <a:srgbClr val="C00000"/>
          </a:solidFill>
        </p:grpSpPr>
        <p:pic>
          <p:nvPicPr>
            <p:cNvPr id="31" name="Graphic 30" descr="Paper outline">
              <a:extLst>
                <a:ext uri="{FF2B5EF4-FFF2-40B4-BE49-F238E27FC236}">
                  <a16:creationId xmlns:a16="http://schemas.microsoft.com/office/drawing/2014/main" id="{2BC3778B-5D86-1CFF-271E-4D8CE22FAF64}"/>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328825" y="5124871"/>
              <a:ext cx="914400" cy="914400"/>
            </a:xfrm>
            <a:prstGeom prst="rect">
              <a:avLst/>
            </a:prstGeom>
          </p:spPr>
        </p:pic>
        <p:sp>
          <p:nvSpPr>
            <p:cNvPr id="32" name="TextBox 31">
              <a:extLst>
                <a:ext uri="{FF2B5EF4-FFF2-40B4-BE49-F238E27FC236}">
                  <a16:creationId xmlns:a16="http://schemas.microsoft.com/office/drawing/2014/main" id="{817CAABC-0BE7-BE60-D45B-2B336C3B9286}"/>
                </a:ext>
              </a:extLst>
            </p:cNvPr>
            <p:cNvSpPr txBox="1"/>
            <p:nvPr/>
          </p:nvSpPr>
          <p:spPr>
            <a:xfrm>
              <a:off x="3428009" y="5310275"/>
              <a:ext cx="697367" cy="646331"/>
            </a:xfrm>
            <a:prstGeom prst="rect">
              <a:avLst/>
            </a:prstGeom>
            <a:noFill/>
          </p:spPr>
          <p:txBody>
            <a:bodyPr wrap="square" rtlCol="0">
              <a:spAutoFit/>
            </a:bodyPr>
            <a:lstStyle/>
            <a:p>
              <a:pPr algn="ctr"/>
              <a:r>
                <a:rPr lang="en-US" dirty="0">
                  <a:solidFill>
                    <a:srgbClr val="C00000"/>
                  </a:solidFill>
                </a:rPr>
                <a:t>&lt;/&gt;</a:t>
              </a:r>
            </a:p>
            <a:p>
              <a:pPr algn="ctr"/>
              <a:r>
                <a:rPr lang="en-US" dirty="0">
                  <a:solidFill>
                    <a:srgbClr val="C00000"/>
                  </a:solidFill>
                </a:rPr>
                <a:t>.py</a:t>
              </a:r>
            </a:p>
          </p:txBody>
        </p:sp>
      </p:grpSp>
      <p:sp>
        <p:nvSpPr>
          <p:cNvPr id="34" name="TextBox 33">
            <a:extLst>
              <a:ext uri="{FF2B5EF4-FFF2-40B4-BE49-F238E27FC236}">
                <a16:creationId xmlns:a16="http://schemas.microsoft.com/office/drawing/2014/main" id="{DE9D2918-693A-D348-ED78-987DE9AFB663}"/>
              </a:ext>
            </a:extLst>
          </p:cNvPr>
          <p:cNvSpPr txBox="1"/>
          <p:nvPr/>
        </p:nvSpPr>
        <p:spPr>
          <a:xfrm>
            <a:off x="5903974" y="5592958"/>
            <a:ext cx="1810818" cy="369332"/>
          </a:xfrm>
          <a:prstGeom prst="rect">
            <a:avLst/>
          </a:prstGeom>
          <a:noFill/>
        </p:spPr>
        <p:txBody>
          <a:bodyPr wrap="square" rtlCol="0">
            <a:spAutoFit/>
          </a:bodyPr>
          <a:lstStyle/>
          <a:p>
            <a:pPr algn="ctr"/>
            <a:r>
              <a:rPr lang="en-US" dirty="0" err="1"/>
              <a:t>MHCFlurry</a:t>
            </a:r>
            <a:r>
              <a:rPr lang="en-US" dirty="0"/>
              <a:t> v2.0.</a:t>
            </a:r>
          </a:p>
        </p:txBody>
      </p:sp>
      <p:cxnSp>
        <p:nvCxnSpPr>
          <p:cNvPr id="35" name="Straight Arrow Connector 34">
            <a:extLst>
              <a:ext uri="{FF2B5EF4-FFF2-40B4-BE49-F238E27FC236}">
                <a16:creationId xmlns:a16="http://schemas.microsoft.com/office/drawing/2014/main" id="{4FF2A0DF-CE24-D87D-3055-2B8B48A0E9A4}"/>
              </a:ext>
            </a:extLst>
          </p:cNvPr>
          <p:cNvCxnSpPr/>
          <p:nvPr/>
        </p:nvCxnSpPr>
        <p:spPr>
          <a:xfrm>
            <a:off x="7355890" y="5136112"/>
            <a:ext cx="608516" cy="0"/>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pic>
        <p:nvPicPr>
          <p:cNvPr id="36" name="Graphic 35" descr="Document with solid fill">
            <a:extLst>
              <a:ext uri="{FF2B5EF4-FFF2-40B4-BE49-F238E27FC236}">
                <a16:creationId xmlns:a16="http://schemas.microsoft.com/office/drawing/2014/main" id="{EC0435CA-F298-4A7A-8D01-E329E11520E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407025" y="4550686"/>
            <a:ext cx="780009" cy="780009"/>
          </a:xfrm>
          <a:prstGeom prst="rect">
            <a:avLst/>
          </a:prstGeom>
        </p:spPr>
      </p:pic>
      <p:sp>
        <p:nvSpPr>
          <p:cNvPr id="37" name="TextBox 36">
            <a:extLst>
              <a:ext uri="{FF2B5EF4-FFF2-40B4-BE49-F238E27FC236}">
                <a16:creationId xmlns:a16="http://schemas.microsoft.com/office/drawing/2014/main" id="{F23482F4-C7AE-9862-98AF-5A7185BD7A94}"/>
              </a:ext>
            </a:extLst>
          </p:cNvPr>
          <p:cNvSpPr txBox="1"/>
          <p:nvPr/>
        </p:nvSpPr>
        <p:spPr>
          <a:xfrm>
            <a:off x="7891620" y="5308445"/>
            <a:ext cx="1810818" cy="923330"/>
          </a:xfrm>
          <a:prstGeom prst="rect">
            <a:avLst/>
          </a:prstGeom>
          <a:noFill/>
        </p:spPr>
        <p:txBody>
          <a:bodyPr wrap="square" rtlCol="0">
            <a:spAutoFit/>
          </a:bodyPr>
          <a:lstStyle/>
          <a:p>
            <a:pPr algn="ctr"/>
            <a:r>
              <a:rPr lang="en-US" dirty="0"/>
              <a:t>Predicted strong binding epitopes</a:t>
            </a:r>
          </a:p>
          <a:p>
            <a:pPr algn="ctr"/>
            <a:r>
              <a:rPr lang="en-US" dirty="0"/>
              <a:t>(BA &lt; 50nM)</a:t>
            </a:r>
          </a:p>
        </p:txBody>
      </p:sp>
      <p:grpSp>
        <p:nvGrpSpPr>
          <p:cNvPr id="41" name="Group 40">
            <a:extLst>
              <a:ext uri="{FF2B5EF4-FFF2-40B4-BE49-F238E27FC236}">
                <a16:creationId xmlns:a16="http://schemas.microsoft.com/office/drawing/2014/main" id="{3B144479-D579-5DC7-3B23-B2CA4141A8FA}"/>
              </a:ext>
            </a:extLst>
          </p:cNvPr>
          <p:cNvGrpSpPr/>
          <p:nvPr/>
        </p:nvGrpSpPr>
        <p:grpSpPr>
          <a:xfrm>
            <a:off x="1134299" y="4979080"/>
            <a:ext cx="2834933" cy="456846"/>
            <a:chOff x="1672" y="3793852"/>
            <a:chExt cx="3656550" cy="1092351"/>
          </a:xfrm>
        </p:grpSpPr>
        <p:sp>
          <p:nvSpPr>
            <p:cNvPr id="42" name="Rectangle: Rounded Corners 41">
              <a:extLst>
                <a:ext uri="{FF2B5EF4-FFF2-40B4-BE49-F238E27FC236}">
                  <a16:creationId xmlns:a16="http://schemas.microsoft.com/office/drawing/2014/main" id="{93DFBA5C-84E9-933D-6391-5F5968D50B81}"/>
                </a:ext>
              </a:extLst>
            </p:cNvPr>
            <p:cNvSpPr/>
            <p:nvPr/>
          </p:nvSpPr>
          <p:spPr>
            <a:xfrm>
              <a:off x="1672" y="3793852"/>
              <a:ext cx="3656550" cy="1092351"/>
            </a:xfrm>
            <a:prstGeom prst="roundRect">
              <a:avLst>
                <a:gd name="adj" fmla="val 10000"/>
              </a:avLst>
            </a:prstGeom>
            <a:solidFill>
              <a:srgbClr val="C00000"/>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en-US"/>
            </a:p>
          </p:txBody>
        </p:sp>
        <p:sp>
          <p:nvSpPr>
            <p:cNvPr id="43" name="Rectangle: Rounded Corners 4">
              <a:extLst>
                <a:ext uri="{FF2B5EF4-FFF2-40B4-BE49-F238E27FC236}">
                  <a16:creationId xmlns:a16="http://schemas.microsoft.com/office/drawing/2014/main" id="{8A1823F1-FA4E-72E6-100D-88087691AB03}"/>
                </a:ext>
              </a:extLst>
            </p:cNvPr>
            <p:cNvSpPr txBox="1"/>
            <p:nvPr/>
          </p:nvSpPr>
          <p:spPr>
            <a:xfrm>
              <a:off x="33666" y="3803084"/>
              <a:ext cx="3592562" cy="102836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34290" tIns="22860" rIns="34290" bIns="22860" numCol="1" spcCol="1270" anchor="ctr" anchorCtr="0">
              <a:noAutofit/>
            </a:bodyPr>
            <a:lstStyle/>
            <a:p>
              <a:pPr marL="0" lvl="0" indent="0" algn="ctr" defTabSz="800100">
                <a:lnSpc>
                  <a:spcPct val="150000"/>
                </a:lnSpc>
                <a:spcBef>
                  <a:spcPct val="0"/>
                </a:spcBef>
                <a:spcAft>
                  <a:spcPct val="35000"/>
                </a:spcAft>
                <a:buNone/>
              </a:pPr>
              <a:r>
                <a:rPr lang="en-US" dirty="0" err="1"/>
                <a:t>MHCFlurry</a:t>
              </a:r>
              <a:r>
                <a:rPr lang="en-US" sz="1800" kern="1200" dirty="0"/>
                <a:t> v2.0.  </a:t>
              </a:r>
              <a:r>
                <a:rPr lang="en-US" dirty="0"/>
                <a:t>W</a:t>
              </a:r>
              <a:r>
                <a:rPr lang="en-US" sz="1800" kern="1200" dirty="0"/>
                <a:t>orkflow</a:t>
              </a:r>
            </a:p>
          </p:txBody>
        </p:sp>
      </p:grpSp>
      <p:grpSp>
        <p:nvGrpSpPr>
          <p:cNvPr id="7" name="Group 6">
            <a:extLst>
              <a:ext uri="{FF2B5EF4-FFF2-40B4-BE49-F238E27FC236}">
                <a16:creationId xmlns:a16="http://schemas.microsoft.com/office/drawing/2014/main" id="{4E29DE7B-4C7F-3883-BDCA-2DA9A9E6EB3C}"/>
              </a:ext>
            </a:extLst>
          </p:cNvPr>
          <p:cNvGrpSpPr/>
          <p:nvPr/>
        </p:nvGrpSpPr>
        <p:grpSpPr>
          <a:xfrm>
            <a:off x="2398565" y="161925"/>
            <a:ext cx="8255737" cy="848154"/>
            <a:chOff x="739738" y="344774"/>
            <a:chExt cx="9439576" cy="1042237"/>
          </a:xfrm>
        </p:grpSpPr>
        <p:sp>
          <p:nvSpPr>
            <p:cNvPr id="8" name="Rectangle: Rounded Corners 7">
              <a:extLst>
                <a:ext uri="{FF2B5EF4-FFF2-40B4-BE49-F238E27FC236}">
                  <a16:creationId xmlns:a16="http://schemas.microsoft.com/office/drawing/2014/main" id="{E16F1620-D939-82B6-F931-A78EF3CC9379}"/>
                </a:ext>
              </a:extLst>
            </p:cNvPr>
            <p:cNvSpPr/>
            <p:nvPr/>
          </p:nvSpPr>
          <p:spPr>
            <a:xfrm>
              <a:off x="739739" y="344774"/>
              <a:ext cx="8311794" cy="1042237"/>
            </a:xfrm>
            <a:prstGeom prst="roundRect">
              <a:avLst/>
            </a:prstGeom>
            <a:solidFill>
              <a:schemeClr val="bg1">
                <a:lumMod val="85000"/>
              </a:schemeClr>
            </a:solidFill>
            <a:ln>
              <a:no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en-US" sz="2000" dirty="0"/>
            </a:p>
          </p:txBody>
        </p:sp>
        <p:sp>
          <p:nvSpPr>
            <p:cNvPr id="9" name="Title 1">
              <a:extLst>
                <a:ext uri="{FF2B5EF4-FFF2-40B4-BE49-F238E27FC236}">
                  <a16:creationId xmlns:a16="http://schemas.microsoft.com/office/drawing/2014/main" id="{AB13DDE5-8CBF-CD9F-C764-98933EE9659B}"/>
                </a:ext>
              </a:extLst>
            </p:cNvPr>
            <p:cNvSpPr txBox="1">
              <a:spLocks/>
            </p:cNvSpPr>
            <p:nvPr/>
          </p:nvSpPr>
          <p:spPr>
            <a:xfrm>
              <a:off x="739738" y="344774"/>
              <a:ext cx="9439576" cy="960044"/>
            </a:xfrm>
            <a:prstGeom prst="rect">
              <a:avLst/>
            </a:prstGeom>
            <a:noFill/>
            <a:ln w="12700" cap="flat" cmpd="sng" algn="ctr">
              <a:noFill/>
              <a:prstDash val="solid"/>
              <a:miter lim="800000"/>
            </a:ln>
          </p:spPr>
          <p:style>
            <a:lnRef idx="1">
              <a:schemeClr val="accent4"/>
            </a:lnRef>
            <a:fillRef idx="2">
              <a:schemeClr val="accent4"/>
            </a:fillRef>
            <a:effectRef idx="1">
              <a:schemeClr val="accent4"/>
            </a:effectRef>
            <a:fontRef idx="minor">
              <a:schemeClr val="dk1"/>
            </a:fontRef>
          </p:style>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l"/>
              <a:r>
                <a:rPr lang="en-US" sz="4400" dirty="0">
                  <a:solidFill>
                    <a:srgbClr val="C00000"/>
                  </a:solidFill>
                </a:rPr>
                <a:t>CD8</a:t>
              </a:r>
              <a:r>
                <a:rPr lang="en-US" sz="4400" baseline="30000" dirty="0">
                  <a:solidFill>
                    <a:srgbClr val="C00000"/>
                  </a:solidFill>
                </a:rPr>
                <a:t>+</a:t>
              </a:r>
              <a:r>
                <a:rPr lang="en-US" sz="4400" dirty="0">
                  <a:solidFill>
                    <a:srgbClr val="C00000"/>
                  </a:solidFill>
                </a:rPr>
                <a:t>T Cell Epitope prediction</a:t>
              </a:r>
            </a:p>
          </p:txBody>
        </p:sp>
      </p:grpSp>
    </p:spTree>
    <p:extLst>
      <p:ext uri="{BB962C8B-B14F-4D97-AF65-F5344CB8AC3E}">
        <p14:creationId xmlns:p14="http://schemas.microsoft.com/office/powerpoint/2010/main" val="35278001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7"/>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9"/>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4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8"/>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9"/>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33"/>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4"/>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5"/>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36"/>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8" grpId="0"/>
      <p:bldP spid="34" grpId="0"/>
      <p:bldP spid="37"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F49B64-24F8-E3E0-61A1-0F64E41C6D23}"/>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56B18A5D-DB88-E663-48F2-725EA5DE5CFC}"/>
              </a:ext>
            </a:extLst>
          </p:cNvPr>
          <p:cNvSpPr/>
          <p:nvPr/>
        </p:nvSpPr>
        <p:spPr>
          <a:xfrm>
            <a:off x="0" y="1675"/>
            <a:ext cx="12192000" cy="6858000"/>
          </a:xfrm>
          <a:prstGeom prst="rect">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800" dirty="0">
              <a:latin typeface="Arial" panose="020B0604020202020204" pitchFamily="34" charset="0"/>
              <a:cs typeface="Arial" panose="020B0604020202020204" pitchFamily="34" charset="0"/>
            </a:endParaRPr>
          </a:p>
        </p:txBody>
      </p:sp>
      <p:graphicFrame>
        <p:nvGraphicFramePr>
          <p:cNvPr id="7" name="Table 6">
            <a:extLst>
              <a:ext uri="{FF2B5EF4-FFF2-40B4-BE49-F238E27FC236}">
                <a16:creationId xmlns:a16="http://schemas.microsoft.com/office/drawing/2014/main" id="{ECF124F2-FB61-0358-EE03-3BC08F927B10}"/>
              </a:ext>
            </a:extLst>
          </p:cNvPr>
          <p:cNvGraphicFramePr>
            <a:graphicFrameLocks noGrp="1"/>
          </p:cNvGraphicFramePr>
          <p:nvPr>
            <p:extLst>
              <p:ext uri="{D42A27DB-BD31-4B8C-83A1-F6EECF244321}">
                <p14:modId xmlns:p14="http://schemas.microsoft.com/office/powerpoint/2010/main" val="2991665434"/>
              </p:ext>
            </p:extLst>
          </p:nvPr>
        </p:nvGraphicFramePr>
        <p:xfrm>
          <a:off x="565903" y="1604014"/>
          <a:ext cx="10985322" cy="4530590"/>
        </p:xfrm>
        <a:graphic>
          <a:graphicData uri="http://schemas.openxmlformats.org/drawingml/2006/table">
            <a:tbl>
              <a:tblPr>
                <a:tableStyleId>{0505E3EF-67EA-436B-97B2-0124C06EBD24}</a:tableStyleId>
              </a:tblPr>
              <a:tblGrid>
                <a:gridCol w="1171254">
                  <a:extLst>
                    <a:ext uri="{9D8B030D-6E8A-4147-A177-3AD203B41FA5}">
                      <a16:colId xmlns:a16="http://schemas.microsoft.com/office/drawing/2014/main" val="2022474626"/>
                    </a:ext>
                  </a:extLst>
                </a:gridCol>
                <a:gridCol w="873304">
                  <a:extLst>
                    <a:ext uri="{9D8B030D-6E8A-4147-A177-3AD203B41FA5}">
                      <a16:colId xmlns:a16="http://schemas.microsoft.com/office/drawing/2014/main" val="2232439106"/>
                    </a:ext>
                  </a:extLst>
                </a:gridCol>
                <a:gridCol w="863029">
                  <a:extLst>
                    <a:ext uri="{9D8B030D-6E8A-4147-A177-3AD203B41FA5}">
                      <a16:colId xmlns:a16="http://schemas.microsoft.com/office/drawing/2014/main" val="1177018836"/>
                    </a:ext>
                  </a:extLst>
                </a:gridCol>
                <a:gridCol w="462337">
                  <a:extLst>
                    <a:ext uri="{9D8B030D-6E8A-4147-A177-3AD203B41FA5}">
                      <a16:colId xmlns:a16="http://schemas.microsoft.com/office/drawing/2014/main" val="3102538017"/>
                    </a:ext>
                  </a:extLst>
                </a:gridCol>
                <a:gridCol w="2291137">
                  <a:extLst>
                    <a:ext uri="{9D8B030D-6E8A-4147-A177-3AD203B41FA5}">
                      <a16:colId xmlns:a16="http://schemas.microsoft.com/office/drawing/2014/main" val="1233563473"/>
                    </a:ext>
                  </a:extLst>
                </a:gridCol>
                <a:gridCol w="431515">
                  <a:extLst>
                    <a:ext uri="{9D8B030D-6E8A-4147-A177-3AD203B41FA5}">
                      <a16:colId xmlns:a16="http://schemas.microsoft.com/office/drawing/2014/main" val="1648220711"/>
                    </a:ext>
                  </a:extLst>
                </a:gridCol>
                <a:gridCol w="2291137">
                  <a:extLst>
                    <a:ext uri="{9D8B030D-6E8A-4147-A177-3AD203B41FA5}">
                      <a16:colId xmlns:a16="http://schemas.microsoft.com/office/drawing/2014/main" val="1422386337"/>
                    </a:ext>
                  </a:extLst>
                </a:gridCol>
                <a:gridCol w="369869">
                  <a:extLst>
                    <a:ext uri="{9D8B030D-6E8A-4147-A177-3AD203B41FA5}">
                      <a16:colId xmlns:a16="http://schemas.microsoft.com/office/drawing/2014/main" val="481575188"/>
                    </a:ext>
                  </a:extLst>
                </a:gridCol>
                <a:gridCol w="2231740">
                  <a:extLst>
                    <a:ext uri="{9D8B030D-6E8A-4147-A177-3AD203B41FA5}">
                      <a16:colId xmlns:a16="http://schemas.microsoft.com/office/drawing/2014/main" val="4234164263"/>
                    </a:ext>
                  </a:extLst>
                </a:gridCol>
              </a:tblGrid>
              <a:tr h="574364">
                <a:tc>
                  <a:txBody>
                    <a:bodyPr/>
                    <a:lstStyle/>
                    <a:p>
                      <a:pPr algn="ctr" fontAlgn="ctr"/>
                      <a:r>
                        <a:rPr lang="en-US" sz="1600" b="1" i="0" u="none" strike="noStrike" dirty="0">
                          <a:solidFill>
                            <a:srgbClr val="D9D9D9"/>
                          </a:solidFill>
                          <a:effectLst/>
                          <a:latin typeface="Calibri" panose="020F0502020204030204" pitchFamily="34" charset="0"/>
                        </a:rPr>
                        <a:t>Peptide</a:t>
                      </a:r>
                      <a:endParaRPr lang="en-US" sz="1400" b="1" i="0" u="none" strike="noStrike" dirty="0">
                        <a:solidFill>
                          <a:srgbClr val="D9D9D9"/>
                        </a:solidFill>
                        <a:effectLst/>
                        <a:latin typeface="Calibri" panose="020F0502020204030204" pitchFamily="34" charset="0"/>
                      </a:endParaRPr>
                    </a:p>
                  </a:txBody>
                  <a:tcPr anchor="ctr">
                    <a:lnT w="12700" cmpd="sng">
                      <a:noFill/>
                    </a:lnT>
                    <a:lnB w="12700" cap="flat" cmpd="sng" algn="ctr">
                      <a:noFill/>
                      <a:prstDash val="solid"/>
                      <a:round/>
                      <a:headEnd type="none" w="med" len="med"/>
                      <a:tailEnd type="none" w="med" len="med"/>
                    </a:lnB>
                    <a:solidFill>
                      <a:srgbClr val="C00000"/>
                    </a:solidFill>
                  </a:tcPr>
                </a:tc>
                <a:tc>
                  <a:txBody>
                    <a:bodyPr/>
                    <a:lstStyle/>
                    <a:p>
                      <a:pPr algn="ctr" fontAlgn="ctr"/>
                      <a:r>
                        <a:rPr lang="en-US" sz="1800" b="1" i="0" u="none" strike="noStrike" dirty="0">
                          <a:solidFill>
                            <a:srgbClr val="D9D9D9"/>
                          </a:solidFill>
                          <a:effectLst/>
                          <a:latin typeface="Calibri" panose="020F0502020204030204" pitchFamily="34" charset="0"/>
                        </a:rPr>
                        <a:t>Region</a:t>
                      </a:r>
                    </a:p>
                  </a:txBody>
                  <a:tcPr anchor="ctr">
                    <a:lnT w="12700" cmpd="sng">
                      <a:noFill/>
                    </a:lnT>
                    <a:lnB w="12700" cap="flat" cmpd="sng" algn="ctr">
                      <a:noFill/>
                      <a:prstDash val="solid"/>
                      <a:round/>
                      <a:headEnd type="none" w="med" len="med"/>
                      <a:tailEnd type="none" w="med" len="med"/>
                    </a:lnB>
                    <a:solidFill>
                      <a:srgbClr val="C00000"/>
                    </a:solidFill>
                  </a:tcPr>
                </a:tc>
                <a:tc>
                  <a:txBody>
                    <a:bodyPr/>
                    <a:lstStyle/>
                    <a:p>
                      <a:pPr algn="ctr" fontAlgn="ctr"/>
                      <a:r>
                        <a:rPr lang="en-US" sz="1800" b="1" i="0" u="none" strike="noStrike" dirty="0">
                          <a:solidFill>
                            <a:srgbClr val="D9D9D9"/>
                          </a:solidFill>
                          <a:effectLst/>
                          <a:latin typeface="Calibri" panose="020F0502020204030204" pitchFamily="34" charset="0"/>
                        </a:rPr>
                        <a:t>Length</a:t>
                      </a:r>
                    </a:p>
                  </a:txBody>
                  <a:tcPr anchor="ctr">
                    <a:lnT w="12700" cmpd="sng">
                      <a:noFill/>
                    </a:lnT>
                    <a:lnB w="12700" cap="flat" cmpd="sng" algn="ctr">
                      <a:noFill/>
                      <a:prstDash val="solid"/>
                      <a:round/>
                      <a:headEnd type="none" w="med" len="med"/>
                      <a:tailEnd type="none" w="med" len="med"/>
                    </a:lnB>
                    <a:solidFill>
                      <a:srgbClr val="C00000"/>
                    </a:solidFill>
                  </a:tcPr>
                </a:tc>
                <a:tc>
                  <a:txBody>
                    <a:bodyPr/>
                    <a:lstStyle/>
                    <a:p>
                      <a:pPr algn="ctr" fontAlgn="ctr"/>
                      <a:r>
                        <a:rPr lang="en-US" sz="1400" b="1" u="none" strike="noStrike" dirty="0">
                          <a:solidFill>
                            <a:srgbClr val="D9D9D9"/>
                          </a:solidFill>
                          <a:effectLst/>
                        </a:rPr>
                        <a:t>No. </a:t>
                      </a:r>
                      <a:endParaRPr lang="en-US" sz="1400" b="1" i="0" u="none" strike="noStrike" dirty="0">
                        <a:solidFill>
                          <a:srgbClr val="D9D9D9"/>
                        </a:solidFill>
                        <a:effectLst/>
                        <a:latin typeface="Calibri" panose="020F0502020204030204" pitchFamily="34" charset="0"/>
                      </a:endParaRPr>
                    </a:p>
                  </a:txBody>
                  <a:tcPr marL="3712" marR="3712" marT="3712" marB="0" anchor="ctr">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00000"/>
                    </a:solidFill>
                  </a:tcPr>
                </a:tc>
                <a:tc>
                  <a:txBody>
                    <a:bodyPr/>
                    <a:lstStyle/>
                    <a:p>
                      <a:pPr algn="ctr" fontAlgn="ctr"/>
                      <a:r>
                        <a:rPr lang="en-US" sz="1400" b="1" u="none" strike="noStrike" dirty="0" err="1">
                          <a:solidFill>
                            <a:srgbClr val="D9D9D9"/>
                          </a:solidFill>
                          <a:effectLst/>
                        </a:rPr>
                        <a:t>MHCFlurry</a:t>
                      </a:r>
                      <a:r>
                        <a:rPr lang="en-US" sz="1400" b="1" u="none" strike="noStrike" dirty="0">
                          <a:solidFill>
                            <a:srgbClr val="D9D9D9"/>
                          </a:solidFill>
                          <a:effectLst/>
                        </a:rPr>
                        <a:t> Epitopes</a:t>
                      </a:r>
                      <a:endParaRPr lang="en-US" sz="1400" b="1" i="0" u="none" strike="noStrike" dirty="0">
                        <a:solidFill>
                          <a:srgbClr val="D9D9D9"/>
                        </a:solidFill>
                        <a:effectLst/>
                        <a:latin typeface="Calibri" panose="020F0502020204030204" pitchFamily="34" charset="0"/>
                      </a:endParaRPr>
                    </a:p>
                  </a:txBody>
                  <a:tcPr marL="3712" marR="3712" marT="3712" marB="0"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00000"/>
                    </a:solidFill>
                  </a:tcPr>
                </a:tc>
                <a:tc>
                  <a:txBody>
                    <a:bodyPr/>
                    <a:lstStyle/>
                    <a:p>
                      <a:pPr algn="ctr" fontAlgn="ctr"/>
                      <a:r>
                        <a:rPr lang="en-US" sz="1400" b="1" u="none" strike="noStrike" dirty="0">
                          <a:solidFill>
                            <a:srgbClr val="D9D9D9"/>
                          </a:solidFill>
                          <a:effectLst/>
                        </a:rPr>
                        <a:t>No. </a:t>
                      </a:r>
                      <a:endParaRPr lang="en-US" sz="1400" b="1" i="0" u="none" strike="noStrike" dirty="0">
                        <a:solidFill>
                          <a:srgbClr val="D9D9D9"/>
                        </a:solidFill>
                        <a:effectLst/>
                        <a:latin typeface="Calibri" panose="020F0502020204030204" pitchFamily="34" charset="0"/>
                      </a:endParaRPr>
                    </a:p>
                  </a:txBody>
                  <a:tcPr marL="3712" marR="3712" marT="3712" marB="0"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00000"/>
                    </a:solidFill>
                  </a:tcPr>
                </a:tc>
                <a:tc>
                  <a:txBody>
                    <a:bodyPr/>
                    <a:lstStyle/>
                    <a:p>
                      <a:pPr algn="ctr" fontAlgn="ctr"/>
                      <a:r>
                        <a:rPr lang="en-US" sz="1400" b="1" u="none" strike="noStrike" dirty="0" err="1">
                          <a:solidFill>
                            <a:srgbClr val="D9D9D9"/>
                          </a:solidFill>
                          <a:effectLst/>
                        </a:rPr>
                        <a:t>NetMHCpan</a:t>
                      </a:r>
                      <a:r>
                        <a:rPr lang="en-US" sz="1400" b="1" u="none" strike="noStrike" dirty="0">
                          <a:solidFill>
                            <a:srgbClr val="D9D9D9"/>
                          </a:solidFill>
                          <a:effectLst/>
                        </a:rPr>
                        <a:t> Epitopes</a:t>
                      </a:r>
                      <a:endParaRPr lang="en-US" sz="1400" b="1" i="0" u="none" strike="noStrike" dirty="0">
                        <a:solidFill>
                          <a:srgbClr val="D9D9D9"/>
                        </a:solidFill>
                        <a:effectLst/>
                        <a:latin typeface="Calibri" panose="020F0502020204030204" pitchFamily="34" charset="0"/>
                      </a:endParaRPr>
                    </a:p>
                  </a:txBody>
                  <a:tcPr marL="3712" marR="3712" marT="3712" marB="0"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00000"/>
                    </a:solidFill>
                  </a:tcPr>
                </a:tc>
                <a:tc>
                  <a:txBody>
                    <a:bodyPr/>
                    <a:lstStyle/>
                    <a:p>
                      <a:pPr algn="ctr" fontAlgn="ctr"/>
                      <a:r>
                        <a:rPr lang="en-US" sz="1400" b="1" u="none" strike="noStrike" dirty="0">
                          <a:solidFill>
                            <a:srgbClr val="D9D9D9"/>
                          </a:solidFill>
                          <a:effectLst/>
                        </a:rPr>
                        <a:t>No. </a:t>
                      </a:r>
                      <a:endParaRPr lang="en-US" sz="1400" b="1" i="0" u="none" strike="noStrike" dirty="0">
                        <a:solidFill>
                          <a:srgbClr val="D9D9D9"/>
                        </a:solidFill>
                        <a:effectLst/>
                        <a:latin typeface="Calibri" panose="020F0502020204030204" pitchFamily="34" charset="0"/>
                      </a:endParaRPr>
                    </a:p>
                  </a:txBody>
                  <a:tcPr marL="3712" marR="3712" marT="3712" marB="0"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00000"/>
                    </a:solidFill>
                  </a:tcPr>
                </a:tc>
                <a:tc>
                  <a:txBody>
                    <a:bodyPr/>
                    <a:lstStyle/>
                    <a:p>
                      <a:pPr algn="ctr" fontAlgn="ctr"/>
                      <a:r>
                        <a:rPr lang="en-US" sz="1400" b="1" u="none" strike="noStrike" dirty="0">
                          <a:solidFill>
                            <a:srgbClr val="D9D9D9"/>
                          </a:solidFill>
                          <a:effectLst/>
                        </a:rPr>
                        <a:t>Common Epitopes</a:t>
                      </a:r>
                      <a:endParaRPr lang="en-US" sz="1400" b="1" i="0" u="none" strike="noStrike" dirty="0">
                        <a:solidFill>
                          <a:srgbClr val="D9D9D9"/>
                        </a:solidFill>
                        <a:effectLst/>
                        <a:latin typeface="Calibri" panose="020F0502020204030204" pitchFamily="34" charset="0"/>
                      </a:endParaRPr>
                    </a:p>
                  </a:txBody>
                  <a:tcPr marL="3712" marR="3712" marT="3712" marB="0" anchor="ctr">
                    <a:lnL w="12700" cmpd="sng">
                      <a:noFill/>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00000"/>
                    </a:solidFill>
                  </a:tcPr>
                </a:tc>
                <a:extLst>
                  <a:ext uri="{0D108BD9-81ED-4DB2-BD59-A6C34878D82A}">
                    <a16:rowId xmlns:a16="http://schemas.microsoft.com/office/drawing/2014/main" val="3663961328"/>
                  </a:ext>
                </a:extLst>
              </a:tr>
              <a:tr h="955065">
                <a:tc>
                  <a:txBody>
                    <a:bodyPr/>
                    <a:lstStyle/>
                    <a:p>
                      <a:pPr algn="ctr" fontAlgn="ctr"/>
                      <a:r>
                        <a:rPr lang="en-US" sz="1000" b="0" u="none" strike="noStrike" dirty="0">
                          <a:solidFill>
                            <a:srgbClr val="000000"/>
                          </a:solidFill>
                          <a:effectLst/>
                        </a:rPr>
                        <a:t>FARELAYEGLDPALIIKKLKETGGDDWV</a:t>
                      </a:r>
                      <a:endParaRPr lang="en-US" sz="1000" b="0" i="0" u="none" strike="noStrike" dirty="0">
                        <a:solidFill>
                          <a:srgbClr val="000000"/>
                        </a:solidFill>
                        <a:effectLst/>
                        <a:latin typeface="Calibri" panose="020F0502020204030204" pitchFamily="34" charset="0"/>
                      </a:endParaRPr>
                    </a:p>
                  </a:txBody>
                  <a:tcPr marL="3712" marR="3712" marT="3712" marB="0" anchor="ct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D9D9D9"/>
                    </a:solidFill>
                  </a:tcPr>
                </a:tc>
                <a:tc>
                  <a:txBody>
                    <a:bodyPr/>
                    <a:lstStyle/>
                    <a:p>
                      <a:pPr algn="ctr" fontAlgn="ctr"/>
                      <a:r>
                        <a:rPr lang="en-US" sz="1100" b="0" u="none" strike="noStrike" dirty="0">
                          <a:solidFill>
                            <a:srgbClr val="000000"/>
                          </a:solidFill>
                          <a:effectLst/>
                        </a:rPr>
                        <a:t>24-51</a:t>
                      </a:r>
                      <a:endParaRPr lang="en-US" sz="1100" b="0" i="0" u="none" strike="noStrike" dirty="0">
                        <a:solidFill>
                          <a:srgbClr val="000000"/>
                        </a:solidFill>
                        <a:effectLst/>
                        <a:latin typeface="Calibri" panose="020F0502020204030204" pitchFamily="34" charset="0"/>
                      </a:endParaRPr>
                    </a:p>
                  </a:txBody>
                  <a:tcPr marL="3712" marR="3712" marT="3712" marB="0" anchor="ct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D9D9D9"/>
                    </a:solidFill>
                  </a:tcPr>
                </a:tc>
                <a:tc>
                  <a:txBody>
                    <a:bodyPr/>
                    <a:lstStyle/>
                    <a:p>
                      <a:pPr algn="ctr" fontAlgn="ctr"/>
                      <a:r>
                        <a:rPr lang="en-US" sz="1100" b="0" u="none" strike="noStrike" dirty="0">
                          <a:solidFill>
                            <a:srgbClr val="000000"/>
                          </a:solidFill>
                          <a:effectLst/>
                        </a:rPr>
                        <a:t>28</a:t>
                      </a:r>
                      <a:endParaRPr lang="en-US" sz="1100" b="0" i="0" u="none" strike="noStrike" dirty="0">
                        <a:solidFill>
                          <a:srgbClr val="000000"/>
                        </a:solidFill>
                        <a:effectLst/>
                        <a:latin typeface="Calibri" panose="020F0502020204030204" pitchFamily="34" charset="0"/>
                      </a:endParaRPr>
                    </a:p>
                  </a:txBody>
                  <a:tcPr marL="3712" marR="3712" marT="3712" marB="0" anchor="ct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D9D9D9"/>
                    </a:solidFill>
                  </a:tcPr>
                </a:tc>
                <a:tc>
                  <a:txBody>
                    <a:bodyPr/>
                    <a:lstStyle/>
                    <a:p>
                      <a:pPr algn="ctr" fontAlgn="ctr"/>
                      <a:r>
                        <a:rPr lang="en-US" sz="1100" b="0" u="none" strike="noStrike" dirty="0">
                          <a:solidFill>
                            <a:srgbClr val="000000"/>
                          </a:solidFill>
                          <a:effectLst/>
                        </a:rPr>
                        <a:t>13</a:t>
                      </a:r>
                      <a:endParaRPr lang="en-US" sz="1100" b="0" i="0" u="none" strike="noStrike" dirty="0">
                        <a:solidFill>
                          <a:srgbClr val="000000"/>
                        </a:solidFill>
                        <a:effectLst/>
                        <a:latin typeface="Calibri" panose="020F0502020204030204" pitchFamily="34" charset="0"/>
                      </a:endParaRPr>
                    </a:p>
                  </a:txBody>
                  <a:tcPr marL="3712" marR="3712" marT="3712" marB="0" anchor="ct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D9D9D9"/>
                    </a:solidFill>
                  </a:tcPr>
                </a:tc>
                <a:tc>
                  <a:txBody>
                    <a:bodyPr/>
                    <a:lstStyle/>
                    <a:p>
                      <a:pPr algn="ctr" fontAlgn="ctr"/>
                      <a:r>
                        <a:rPr lang="en-US" sz="800" b="0" u="none" strike="noStrike" dirty="0">
                          <a:solidFill>
                            <a:srgbClr val="000000"/>
                          </a:solidFill>
                          <a:effectLst/>
                        </a:rPr>
                        <a:t>LAYEGLDPA ,AYEGLDPAL ,YEGLDPALI ,GLDPALIIK LDPALIIKK ,PALIIKKLK ,DPALIIKKL ,FARELAYEG ARELAYEGL ,EGLDPALII ,LIIKKLKET ,KETGGDDWV RELAYEGLD</a:t>
                      </a:r>
                      <a:endParaRPr lang="en-US" sz="800" b="0" i="0" u="none" strike="noStrike" dirty="0">
                        <a:solidFill>
                          <a:srgbClr val="000000"/>
                        </a:solidFill>
                        <a:effectLst/>
                        <a:latin typeface="Calibri" panose="020F0502020204030204" pitchFamily="34" charset="0"/>
                      </a:endParaRPr>
                    </a:p>
                  </a:txBody>
                  <a:tcPr marL="3712" marR="3712" marT="3712" marB="0" anchor="ct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D9D9D9"/>
                    </a:solidFill>
                  </a:tcPr>
                </a:tc>
                <a:tc>
                  <a:txBody>
                    <a:bodyPr/>
                    <a:lstStyle/>
                    <a:p>
                      <a:pPr algn="ctr" fontAlgn="ctr"/>
                      <a:r>
                        <a:rPr lang="en-US" sz="1100" b="0" u="none" strike="noStrike" dirty="0">
                          <a:solidFill>
                            <a:srgbClr val="000000"/>
                          </a:solidFill>
                          <a:effectLst/>
                        </a:rPr>
                        <a:t>11</a:t>
                      </a:r>
                      <a:endParaRPr lang="en-US" sz="1100" b="0" i="0" u="none" strike="noStrike" dirty="0">
                        <a:solidFill>
                          <a:srgbClr val="000000"/>
                        </a:solidFill>
                        <a:effectLst/>
                        <a:latin typeface="Calibri" panose="020F0502020204030204" pitchFamily="34" charset="0"/>
                      </a:endParaRPr>
                    </a:p>
                  </a:txBody>
                  <a:tcPr marL="3712" marR="3712" marT="3712" marB="0" anchor="ct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D9D9D9"/>
                    </a:solidFill>
                  </a:tcPr>
                </a:tc>
                <a:tc>
                  <a:txBody>
                    <a:bodyPr/>
                    <a:lstStyle/>
                    <a:p>
                      <a:pPr algn="ctr" fontAlgn="ctr"/>
                      <a:r>
                        <a:rPr lang="en-US" sz="800" b="0" u="none" strike="noStrike" dirty="0">
                          <a:solidFill>
                            <a:srgbClr val="000000"/>
                          </a:solidFill>
                          <a:effectLst/>
                        </a:rPr>
                        <a:t>GLDPALIIK ,LAYEGLDPA ,DPALIIKKL ,EGLDPALII AYEGLDPAL ,ARELAYEGL ,YEGLDPALI ,LIIKKLKET FARELAYEG ,LKETGGDDW ,KETGGDDWV</a:t>
                      </a:r>
                      <a:endParaRPr lang="en-US" sz="800" b="0" i="0" u="none" strike="noStrike" dirty="0">
                        <a:solidFill>
                          <a:srgbClr val="000000"/>
                        </a:solidFill>
                        <a:effectLst/>
                        <a:latin typeface="Calibri" panose="020F0502020204030204" pitchFamily="34" charset="0"/>
                      </a:endParaRPr>
                    </a:p>
                  </a:txBody>
                  <a:tcPr marL="3712" marR="3712" marT="3712" marB="0" anchor="ct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D9D9D9"/>
                    </a:solidFill>
                  </a:tcPr>
                </a:tc>
                <a:tc>
                  <a:txBody>
                    <a:bodyPr/>
                    <a:lstStyle/>
                    <a:p>
                      <a:pPr algn="ctr" fontAlgn="ctr"/>
                      <a:r>
                        <a:rPr lang="en-US" sz="1100" b="0" u="none" strike="noStrike" dirty="0">
                          <a:solidFill>
                            <a:srgbClr val="000000"/>
                          </a:solidFill>
                          <a:effectLst/>
                        </a:rPr>
                        <a:t>10</a:t>
                      </a:r>
                      <a:endParaRPr lang="en-US" sz="1100" b="0" i="0" u="none" strike="noStrike" dirty="0">
                        <a:solidFill>
                          <a:srgbClr val="000000"/>
                        </a:solidFill>
                        <a:effectLst/>
                        <a:latin typeface="Calibri" panose="020F0502020204030204" pitchFamily="34" charset="0"/>
                      </a:endParaRPr>
                    </a:p>
                  </a:txBody>
                  <a:tcPr marL="3712" marR="3712" marT="3712" marB="0" anchor="ct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D9D9D9"/>
                    </a:solidFill>
                  </a:tcPr>
                </a:tc>
                <a:tc>
                  <a:txBody>
                    <a:bodyPr/>
                    <a:lstStyle/>
                    <a:p>
                      <a:pPr algn="ctr" fontAlgn="ctr"/>
                      <a:r>
                        <a:rPr lang="en-US" sz="900" dirty="0"/>
                        <a:t>GLDPALIIK ,LAYEGLDPA ,DPALIIKKL EGLDPALII ,AYEGLDPAL ,ARELAYEGL YEGLDPALI ,LIIKKLKET ,FARELAYEG ,KETGGDDWV</a:t>
                      </a:r>
                    </a:p>
                  </a:txBody>
                  <a:tcPr marL="3712" marR="3712" marT="3712" marB="0"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3447140503"/>
                  </a:ext>
                </a:extLst>
              </a:tr>
              <a:tr h="819101">
                <a:tc>
                  <a:txBody>
                    <a:bodyPr/>
                    <a:lstStyle/>
                    <a:p>
                      <a:pPr algn="ctr" fontAlgn="ctr"/>
                      <a:r>
                        <a:rPr lang="en-US" sz="1000" b="0" u="none" strike="noStrike" dirty="0">
                          <a:solidFill>
                            <a:srgbClr val="000000"/>
                          </a:solidFill>
                          <a:effectLst/>
                        </a:rPr>
                        <a:t>DTKFIIVFALTRGNKIVKASGKM</a:t>
                      </a:r>
                      <a:endParaRPr lang="en-US" sz="1000" b="0" i="0" u="none" strike="noStrike" dirty="0">
                        <a:solidFill>
                          <a:srgbClr val="000000"/>
                        </a:solidFill>
                        <a:effectLst/>
                        <a:latin typeface="Calibri" panose="020F0502020204030204" pitchFamily="34" charset="0"/>
                      </a:endParaRPr>
                    </a:p>
                  </a:txBody>
                  <a:tcPr marL="3712" marR="3712" marT="3712"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9D9D9"/>
                    </a:solidFill>
                  </a:tcPr>
                </a:tc>
                <a:tc>
                  <a:txBody>
                    <a:bodyPr/>
                    <a:lstStyle/>
                    <a:p>
                      <a:pPr algn="ctr" fontAlgn="ctr"/>
                      <a:r>
                        <a:rPr lang="en-US" sz="1100" b="0" u="none" strike="noStrike" dirty="0">
                          <a:solidFill>
                            <a:srgbClr val="000000"/>
                          </a:solidFill>
                          <a:effectLst/>
                        </a:rPr>
                        <a:t>53-75</a:t>
                      </a:r>
                      <a:endParaRPr lang="en-US" sz="1100" b="0" i="0" u="none" strike="noStrike" dirty="0">
                        <a:solidFill>
                          <a:srgbClr val="000000"/>
                        </a:solidFill>
                        <a:effectLst/>
                        <a:latin typeface="Calibri" panose="020F0502020204030204" pitchFamily="34" charset="0"/>
                      </a:endParaRPr>
                    </a:p>
                  </a:txBody>
                  <a:tcPr marL="3712" marR="3712" marT="3712"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9D9D9"/>
                    </a:solidFill>
                  </a:tcPr>
                </a:tc>
                <a:tc>
                  <a:txBody>
                    <a:bodyPr/>
                    <a:lstStyle/>
                    <a:p>
                      <a:pPr algn="ctr" fontAlgn="ctr"/>
                      <a:r>
                        <a:rPr lang="en-US" sz="1100" b="0" u="none" strike="noStrike" dirty="0">
                          <a:solidFill>
                            <a:srgbClr val="000000"/>
                          </a:solidFill>
                          <a:effectLst/>
                        </a:rPr>
                        <a:t>23</a:t>
                      </a:r>
                      <a:endParaRPr lang="en-US" sz="1100" b="0" i="0" u="none" strike="noStrike" dirty="0">
                        <a:solidFill>
                          <a:srgbClr val="000000"/>
                        </a:solidFill>
                        <a:effectLst/>
                        <a:latin typeface="Calibri" panose="020F0502020204030204" pitchFamily="34" charset="0"/>
                      </a:endParaRPr>
                    </a:p>
                  </a:txBody>
                  <a:tcPr marL="3712" marR="3712" marT="3712"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9D9D9"/>
                    </a:solidFill>
                  </a:tcPr>
                </a:tc>
                <a:tc>
                  <a:txBody>
                    <a:bodyPr/>
                    <a:lstStyle/>
                    <a:p>
                      <a:pPr algn="ctr" fontAlgn="ctr"/>
                      <a:r>
                        <a:rPr lang="en-US" sz="1100" b="0" u="none" strike="noStrike" dirty="0">
                          <a:solidFill>
                            <a:srgbClr val="000000"/>
                          </a:solidFill>
                          <a:effectLst/>
                        </a:rPr>
                        <a:t>11</a:t>
                      </a:r>
                      <a:endParaRPr lang="en-US" sz="1100" b="0" i="0" u="none" strike="noStrike" dirty="0">
                        <a:solidFill>
                          <a:srgbClr val="000000"/>
                        </a:solidFill>
                        <a:effectLst/>
                        <a:latin typeface="Calibri" panose="020F0502020204030204" pitchFamily="34" charset="0"/>
                      </a:endParaRPr>
                    </a:p>
                  </a:txBody>
                  <a:tcPr marL="3712" marR="3712" marT="3712"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9D9D9"/>
                    </a:solidFill>
                  </a:tcPr>
                </a:tc>
                <a:tc>
                  <a:txBody>
                    <a:bodyPr/>
                    <a:lstStyle/>
                    <a:p>
                      <a:pPr algn="ctr" fontAlgn="ctr"/>
                      <a:r>
                        <a:rPr lang="en-US" sz="800" b="0" u="none" strike="noStrike" dirty="0">
                          <a:solidFill>
                            <a:srgbClr val="000000"/>
                          </a:solidFill>
                          <a:effectLst/>
                        </a:rPr>
                        <a:t>FALTRGNKI ,KIVKASGKM ,LTRGNKIVK ,FIIVFALTR ALTRGNKIV ,VFALTRGNK ,DTKFIIVFA ,TKFIIVFAL TRGNKIVKA ,GKMSNSGSK ,KASGKMSNS</a:t>
                      </a:r>
                      <a:endParaRPr lang="en-US" sz="800" b="0" i="0" u="none" strike="noStrike" dirty="0">
                        <a:solidFill>
                          <a:srgbClr val="000000"/>
                        </a:solidFill>
                        <a:effectLst/>
                        <a:latin typeface="Calibri" panose="020F0502020204030204" pitchFamily="34" charset="0"/>
                      </a:endParaRPr>
                    </a:p>
                  </a:txBody>
                  <a:tcPr marL="3712" marR="3712" marT="3712"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9D9D9"/>
                    </a:solidFill>
                  </a:tcPr>
                </a:tc>
                <a:tc>
                  <a:txBody>
                    <a:bodyPr/>
                    <a:lstStyle/>
                    <a:p>
                      <a:pPr algn="ctr" fontAlgn="ctr"/>
                      <a:r>
                        <a:rPr lang="en-US" sz="1100" b="0" u="none" strike="noStrike" dirty="0">
                          <a:solidFill>
                            <a:srgbClr val="000000"/>
                          </a:solidFill>
                          <a:effectLst/>
                        </a:rPr>
                        <a:t>9</a:t>
                      </a:r>
                      <a:endParaRPr lang="en-US" sz="1100" b="0" i="0" u="none" strike="noStrike" dirty="0">
                        <a:solidFill>
                          <a:srgbClr val="000000"/>
                        </a:solidFill>
                        <a:effectLst/>
                        <a:latin typeface="Calibri" panose="020F0502020204030204" pitchFamily="34" charset="0"/>
                      </a:endParaRPr>
                    </a:p>
                  </a:txBody>
                  <a:tcPr marL="3712" marR="3712" marT="3712"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9D9D9"/>
                    </a:solidFill>
                  </a:tcPr>
                </a:tc>
                <a:tc>
                  <a:txBody>
                    <a:bodyPr/>
                    <a:lstStyle/>
                    <a:p>
                      <a:pPr algn="ctr" fontAlgn="ctr"/>
                      <a:r>
                        <a:rPr lang="en-US" sz="800" b="0" u="none" strike="noStrike" dirty="0">
                          <a:solidFill>
                            <a:srgbClr val="000000"/>
                          </a:solidFill>
                          <a:effectLst/>
                        </a:rPr>
                        <a:t>FIIVFALTR ,DTKFIIVFA ,TKFIIVFAL ,FALTRGNKI TRGNKIVKA ,LTRGNKIVK ,KIVKASGKM VFALTRGNK ,ALTRGNKIV</a:t>
                      </a:r>
                      <a:endParaRPr lang="en-US" sz="800" b="0" i="0" u="none" strike="noStrike" dirty="0">
                        <a:solidFill>
                          <a:srgbClr val="000000"/>
                        </a:solidFill>
                        <a:effectLst/>
                        <a:latin typeface="Calibri" panose="020F0502020204030204" pitchFamily="34" charset="0"/>
                      </a:endParaRPr>
                    </a:p>
                  </a:txBody>
                  <a:tcPr marL="3712" marR="3712" marT="3712"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9D9D9"/>
                    </a:solidFill>
                  </a:tcPr>
                </a:tc>
                <a:tc>
                  <a:txBody>
                    <a:bodyPr/>
                    <a:lstStyle/>
                    <a:p>
                      <a:pPr algn="ctr" fontAlgn="ctr"/>
                      <a:r>
                        <a:rPr lang="en-US" sz="1100" b="0" u="none" strike="noStrike" dirty="0">
                          <a:solidFill>
                            <a:srgbClr val="000000"/>
                          </a:solidFill>
                          <a:effectLst/>
                        </a:rPr>
                        <a:t>9</a:t>
                      </a:r>
                      <a:endParaRPr lang="en-US" sz="1100" b="0" i="0" u="none" strike="noStrike" dirty="0">
                        <a:solidFill>
                          <a:srgbClr val="000000"/>
                        </a:solidFill>
                        <a:effectLst/>
                        <a:latin typeface="Calibri" panose="020F0502020204030204" pitchFamily="34" charset="0"/>
                      </a:endParaRPr>
                    </a:p>
                  </a:txBody>
                  <a:tcPr marL="3712" marR="3712" marT="3712"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9D9D9"/>
                    </a:solidFill>
                  </a:tcPr>
                </a:tc>
                <a:tc>
                  <a:txBody>
                    <a:bodyPr/>
                    <a:lstStyle/>
                    <a:p>
                      <a:pPr algn="ctr" fontAlgn="ctr"/>
                      <a:r>
                        <a:rPr lang="en-US" sz="900" dirty="0"/>
                        <a:t>FIIVFALTR ,DTKFIIVFA ,TKFIIVFAL FALTRGNKI ,TRGNKIVKA ,LTRGNKIVK KIVKASGKM ,VFALTRGNK ,ALTRGNKIV</a:t>
                      </a:r>
                    </a:p>
                  </a:txBody>
                  <a:tcPr marL="3712" marR="3712" marT="3712" marB="0" anchor="ct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2634725607"/>
                  </a:ext>
                </a:extLst>
              </a:tr>
              <a:tr h="1091030">
                <a:tc>
                  <a:txBody>
                    <a:bodyPr/>
                    <a:lstStyle/>
                    <a:p>
                      <a:pPr algn="ctr" fontAlgn="ctr"/>
                      <a:r>
                        <a:rPr lang="en-US" sz="1000" b="0" u="none" strike="noStrike" dirty="0">
                          <a:solidFill>
                            <a:srgbClr val="000000"/>
                          </a:solidFill>
                          <a:effectLst/>
                        </a:rPr>
                        <a:t>KEYLPVGPAVMNLKVENYPPEMMCMAFGSLIPT</a:t>
                      </a:r>
                      <a:endParaRPr lang="en-US" sz="1000" b="0" i="0" u="none" strike="noStrike" dirty="0">
                        <a:solidFill>
                          <a:srgbClr val="000000"/>
                        </a:solidFill>
                        <a:effectLst/>
                        <a:latin typeface="Calibri" panose="020F0502020204030204" pitchFamily="34" charset="0"/>
                      </a:endParaRPr>
                    </a:p>
                  </a:txBody>
                  <a:tcPr marL="3712" marR="3712" marT="3712"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9D9D9"/>
                    </a:solidFill>
                  </a:tcPr>
                </a:tc>
                <a:tc>
                  <a:txBody>
                    <a:bodyPr/>
                    <a:lstStyle/>
                    <a:p>
                      <a:pPr algn="ctr" fontAlgn="ctr"/>
                      <a:r>
                        <a:rPr lang="en-US" sz="1100" b="0" u="none" strike="noStrike" dirty="0">
                          <a:solidFill>
                            <a:srgbClr val="000000"/>
                          </a:solidFill>
                          <a:effectLst/>
                        </a:rPr>
                        <a:t>123-155</a:t>
                      </a:r>
                      <a:endParaRPr lang="en-US" sz="1100" b="0" i="0" u="none" strike="noStrike" dirty="0">
                        <a:solidFill>
                          <a:srgbClr val="000000"/>
                        </a:solidFill>
                        <a:effectLst/>
                        <a:latin typeface="Calibri" panose="020F0502020204030204" pitchFamily="34" charset="0"/>
                      </a:endParaRPr>
                    </a:p>
                  </a:txBody>
                  <a:tcPr marL="3712" marR="3712" marT="3712"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9D9D9"/>
                    </a:solidFill>
                  </a:tcPr>
                </a:tc>
                <a:tc>
                  <a:txBody>
                    <a:bodyPr/>
                    <a:lstStyle/>
                    <a:p>
                      <a:pPr algn="ctr" fontAlgn="ctr"/>
                      <a:r>
                        <a:rPr lang="en-US" sz="1100" b="0" u="none" strike="noStrike" dirty="0">
                          <a:solidFill>
                            <a:srgbClr val="000000"/>
                          </a:solidFill>
                          <a:effectLst/>
                        </a:rPr>
                        <a:t>33</a:t>
                      </a:r>
                      <a:endParaRPr lang="en-US" sz="1100" b="0" i="0" u="none" strike="noStrike" dirty="0">
                        <a:solidFill>
                          <a:srgbClr val="000000"/>
                        </a:solidFill>
                        <a:effectLst/>
                        <a:latin typeface="Calibri" panose="020F0502020204030204" pitchFamily="34" charset="0"/>
                      </a:endParaRPr>
                    </a:p>
                  </a:txBody>
                  <a:tcPr marL="3712" marR="3712" marT="3712"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9D9D9"/>
                    </a:solidFill>
                  </a:tcPr>
                </a:tc>
                <a:tc>
                  <a:txBody>
                    <a:bodyPr/>
                    <a:lstStyle/>
                    <a:p>
                      <a:pPr algn="ctr" fontAlgn="ctr"/>
                      <a:r>
                        <a:rPr lang="en-US" sz="1100" b="0" u="none" strike="noStrike" dirty="0">
                          <a:solidFill>
                            <a:srgbClr val="000000"/>
                          </a:solidFill>
                          <a:effectLst/>
                        </a:rPr>
                        <a:t>16</a:t>
                      </a:r>
                      <a:endParaRPr lang="en-US" sz="1100" b="0" i="0" u="none" strike="noStrike" dirty="0">
                        <a:solidFill>
                          <a:srgbClr val="000000"/>
                        </a:solidFill>
                        <a:effectLst/>
                        <a:latin typeface="Calibri" panose="020F0502020204030204" pitchFamily="34" charset="0"/>
                      </a:endParaRPr>
                    </a:p>
                  </a:txBody>
                  <a:tcPr marL="3712" marR="3712" marT="3712"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9D9D9"/>
                    </a:solidFill>
                  </a:tcPr>
                </a:tc>
                <a:tc>
                  <a:txBody>
                    <a:bodyPr/>
                    <a:lstStyle/>
                    <a:p>
                      <a:pPr algn="ctr" fontAlgn="ctr"/>
                      <a:r>
                        <a:rPr lang="en-US" sz="800" b="0" u="none" strike="noStrike" dirty="0">
                          <a:solidFill>
                            <a:srgbClr val="000000"/>
                          </a:solidFill>
                          <a:effectLst/>
                        </a:rPr>
                        <a:t>VMNLKVENY ,KVENYPPEM ,YLPVGPAVM MMCMAFGSL ,MAFGSLIPT ,EYLPVGPAV NYPPEMMCM ,YPPEMMCMA ,VENYPPEMM KEYLPVGPA ,MCMAFGSLI ,VGPAVMNLK PVGPAVMNL ,GPAVMNLKV ,PPEMMCMAF LPVGPAVMN</a:t>
                      </a:r>
                      <a:endParaRPr lang="en-US" sz="800" b="0" i="0" u="none" strike="noStrike" dirty="0">
                        <a:solidFill>
                          <a:srgbClr val="000000"/>
                        </a:solidFill>
                        <a:effectLst/>
                        <a:latin typeface="Calibri" panose="020F0502020204030204" pitchFamily="34" charset="0"/>
                      </a:endParaRPr>
                    </a:p>
                  </a:txBody>
                  <a:tcPr marL="3712" marR="3712" marT="3712"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9D9D9"/>
                    </a:solidFill>
                  </a:tcPr>
                </a:tc>
                <a:tc>
                  <a:txBody>
                    <a:bodyPr/>
                    <a:lstStyle/>
                    <a:p>
                      <a:pPr algn="ctr" fontAlgn="ctr"/>
                      <a:r>
                        <a:rPr lang="en-US" sz="1100" b="0" u="none" strike="noStrike" dirty="0">
                          <a:solidFill>
                            <a:srgbClr val="000000"/>
                          </a:solidFill>
                          <a:effectLst/>
                        </a:rPr>
                        <a:t>16</a:t>
                      </a:r>
                      <a:endParaRPr lang="en-US" sz="1100" b="0" i="0" u="none" strike="noStrike" dirty="0">
                        <a:solidFill>
                          <a:srgbClr val="000000"/>
                        </a:solidFill>
                        <a:effectLst/>
                        <a:latin typeface="Calibri" panose="020F0502020204030204" pitchFamily="34" charset="0"/>
                      </a:endParaRPr>
                    </a:p>
                  </a:txBody>
                  <a:tcPr marL="3712" marR="3712" marT="3712"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9D9D9"/>
                    </a:solidFill>
                  </a:tcPr>
                </a:tc>
                <a:tc>
                  <a:txBody>
                    <a:bodyPr/>
                    <a:lstStyle/>
                    <a:p>
                      <a:pPr algn="ctr" fontAlgn="ctr"/>
                      <a:r>
                        <a:rPr lang="en-US" sz="800" b="0" u="none" strike="noStrike" dirty="0">
                          <a:solidFill>
                            <a:srgbClr val="000000"/>
                          </a:solidFill>
                          <a:effectLst/>
                        </a:rPr>
                        <a:t>YLPVGPAVM ,VMNLKVENY ,KVENYPPEM KEYLPVGPA ,EYLPVGPAV ,GPAVMNLKV VENYPPEMM ,YPPEMMCMA ,MAFGSLIPT NYPPEMMCM ,VGPAVMNLK ,LPVGPAVMN ENYPPEMMC ,PVGPAVMNL ,PPEMMCMAF ,MCMAFGSLI</a:t>
                      </a:r>
                      <a:endParaRPr lang="en-US" sz="800" b="0" i="0" u="none" strike="noStrike" dirty="0">
                        <a:solidFill>
                          <a:srgbClr val="000000"/>
                        </a:solidFill>
                        <a:effectLst/>
                        <a:latin typeface="Calibri" panose="020F0502020204030204" pitchFamily="34" charset="0"/>
                      </a:endParaRPr>
                    </a:p>
                  </a:txBody>
                  <a:tcPr marL="3712" marR="3712" marT="3712"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9D9D9"/>
                    </a:solidFill>
                  </a:tcPr>
                </a:tc>
                <a:tc>
                  <a:txBody>
                    <a:bodyPr/>
                    <a:lstStyle/>
                    <a:p>
                      <a:pPr algn="ctr" fontAlgn="ctr"/>
                      <a:r>
                        <a:rPr lang="en-US" sz="1100" b="0" u="none" strike="noStrike" dirty="0">
                          <a:solidFill>
                            <a:srgbClr val="000000"/>
                          </a:solidFill>
                          <a:effectLst/>
                        </a:rPr>
                        <a:t>15</a:t>
                      </a:r>
                      <a:endParaRPr lang="en-US" sz="1100" b="0" i="0" u="none" strike="noStrike" dirty="0">
                        <a:solidFill>
                          <a:srgbClr val="000000"/>
                        </a:solidFill>
                        <a:effectLst/>
                        <a:latin typeface="Calibri" panose="020F0502020204030204" pitchFamily="34" charset="0"/>
                      </a:endParaRPr>
                    </a:p>
                  </a:txBody>
                  <a:tcPr marL="3712" marR="3712" marT="3712"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9D9D9"/>
                    </a:solidFill>
                  </a:tcPr>
                </a:tc>
                <a:tc>
                  <a:txBody>
                    <a:bodyPr/>
                    <a:lstStyle/>
                    <a:p>
                      <a:pPr algn="ctr" fontAlgn="ctr"/>
                      <a:r>
                        <a:rPr lang="en-US" sz="900" dirty="0"/>
                        <a:t>YLPVGPAVM ,VMNLKVENY ,KVENYPPEM KEYLPVGPA ,EYLPVGPAV ,GPAVMNLKV VENYPPEMM ,YPPEMMCMA ,MAFGSLIPT NYPPEMMCM ,VGPAVMNLK ,LPVGPAVMN PVGPAVMNL ,PPEMMCMAF ,MCMAFGSLI</a:t>
                      </a:r>
                    </a:p>
                  </a:txBody>
                  <a:tcPr marL="3712" marR="3712" marT="3712" marB="0" anchor="ct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302484213"/>
                  </a:ext>
                </a:extLst>
              </a:tr>
              <a:tr h="1091030">
                <a:tc>
                  <a:txBody>
                    <a:bodyPr/>
                    <a:lstStyle/>
                    <a:p>
                      <a:pPr algn="ctr" fontAlgn="ctr"/>
                      <a:r>
                        <a:rPr lang="en-US" sz="1000" b="0" u="none" strike="noStrike" dirty="0">
                          <a:solidFill>
                            <a:srgbClr val="000000"/>
                          </a:solidFill>
                          <a:effectLst/>
                        </a:rPr>
                        <a:t>KTEVYNSFRDPLHAAVNSVFFPNDVRVKW</a:t>
                      </a:r>
                      <a:endParaRPr lang="en-US" sz="1000" b="0" i="0" u="none" strike="noStrike" dirty="0">
                        <a:solidFill>
                          <a:srgbClr val="000000"/>
                        </a:solidFill>
                        <a:effectLst/>
                        <a:latin typeface="Calibri" panose="020F0502020204030204" pitchFamily="34" charset="0"/>
                      </a:endParaRPr>
                    </a:p>
                  </a:txBody>
                  <a:tcPr marL="3712" marR="3712" marT="3712" marB="0"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fontAlgn="ctr"/>
                      <a:r>
                        <a:rPr lang="en-US" sz="1100" b="0" u="none" strike="noStrike" dirty="0">
                          <a:solidFill>
                            <a:srgbClr val="000000"/>
                          </a:solidFill>
                          <a:effectLst/>
                        </a:rPr>
                        <a:t>190-218</a:t>
                      </a:r>
                      <a:endParaRPr lang="en-US" sz="1100" b="0" i="0" u="none" strike="noStrike" dirty="0">
                        <a:solidFill>
                          <a:srgbClr val="000000"/>
                        </a:solidFill>
                        <a:effectLst/>
                        <a:latin typeface="Calibri" panose="020F0502020204030204" pitchFamily="34" charset="0"/>
                      </a:endParaRPr>
                    </a:p>
                  </a:txBody>
                  <a:tcPr marL="3712" marR="3712" marT="3712" marB="0"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fontAlgn="ctr"/>
                      <a:r>
                        <a:rPr lang="en-US" sz="1100" b="0" u="none" strike="noStrike" dirty="0">
                          <a:solidFill>
                            <a:srgbClr val="000000"/>
                          </a:solidFill>
                          <a:effectLst/>
                        </a:rPr>
                        <a:t>29</a:t>
                      </a:r>
                      <a:endParaRPr lang="en-US" sz="1100" b="0" i="0" u="none" strike="noStrike" dirty="0">
                        <a:solidFill>
                          <a:srgbClr val="000000"/>
                        </a:solidFill>
                        <a:effectLst/>
                        <a:latin typeface="Calibri" panose="020F0502020204030204" pitchFamily="34" charset="0"/>
                      </a:endParaRPr>
                    </a:p>
                  </a:txBody>
                  <a:tcPr marL="3712" marR="3712" marT="3712" marB="0"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fontAlgn="ctr"/>
                      <a:r>
                        <a:rPr lang="en-US" sz="1100" b="0" u="none" strike="noStrike" dirty="0">
                          <a:solidFill>
                            <a:srgbClr val="000000"/>
                          </a:solidFill>
                          <a:effectLst/>
                        </a:rPr>
                        <a:t>16</a:t>
                      </a:r>
                      <a:endParaRPr lang="en-US" sz="1100" b="0" i="0" u="none" strike="noStrike" dirty="0">
                        <a:solidFill>
                          <a:srgbClr val="000000"/>
                        </a:solidFill>
                        <a:effectLst/>
                        <a:latin typeface="Calibri" panose="020F0502020204030204" pitchFamily="34" charset="0"/>
                      </a:endParaRPr>
                    </a:p>
                  </a:txBody>
                  <a:tcPr marL="3712" marR="3712" marT="3712" marB="0"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fontAlgn="ctr"/>
                      <a:r>
                        <a:rPr lang="en-US" sz="800" b="0" u="none" strike="noStrike" dirty="0">
                          <a:solidFill>
                            <a:srgbClr val="000000"/>
                          </a:solidFill>
                          <a:effectLst/>
                        </a:rPr>
                        <a:t>HAAVNSVFF ,FRDPLHAAV ,KTEVYNSFR SVFFPNDVR ,VYNSFRDPL ,LHAAVNSVF FPNDVRVKW ,PLHAAVNSV ,VFFPNDVRV NSVFFPNDV ,SFRDPLHAA ,AVNSVFFPN FFPNDVRVK ,DPLHAAVNS ,NSFRDPLHA YNSFRDPLH</a:t>
                      </a:r>
                      <a:endParaRPr lang="en-US" sz="800" b="0" i="0" u="none" strike="noStrike" dirty="0">
                        <a:solidFill>
                          <a:srgbClr val="000000"/>
                        </a:solidFill>
                        <a:effectLst/>
                        <a:latin typeface="Calibri" panose="020F0502020204030204" pitchFamily="34" charset="0"/>
                      </a:endParaRPr>
                    </a:p>
                  </a:txBody>
                  <a:tcPr marL="3712" marR="3712" marT="3712" marB="0"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fontAlgn="ctr"/>
                      <a:r>
                        <a:rPr lang="en-US" sz="1100" b="0" u="none" strike="noStrike" dirty="0">
                          <a:solidFill>
                            <a:srgbClr val="000000"/>
                          </a:solidFill>
                          <a:effectLst/>
                        </a:rPr>
                        <a:t>14</a:t>
                      </a:r>
                      <a:endParaRPr lang="en-US" sz="1100" b="0" i="0" u="none" strike="noStrike" dirty="0">
                        <a:solidFill>
                          <a:srgbClr val="000000"/>
                        </a:solidFill>
                        <a:effectLst/>
                        <a:latin typeface="Calibri" panose="020F0502020204030204" pitchFamily="34" charset="0"/>
                      </a:endParaRPr>
                    </a:p>
                  </a:txBody>
                  <a:tcPr marL="3712" marR="3712" marT="3712" marB="0"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fontAlgn="ctr"/>
                      <a:r>
                        <a:rPr lang="en-US" sz="800" b="0" u="none" strike="noStrike" dirty="0">
                          <a:solidFill>
                            <a:srgbClr val="000000"/>
                          </a:solidFill>
                          <a:effectLst/>
                        </a:rPr>
                        <a:t>KTEVYNSFR ,HAAVNSVFF ,SVFFPNDVR FPNDVRVKW ,SFRDPLHAA ,FRDPLHAAV VFFPNDVRV ,LHAAVNSVF ,VYNSFRDPL PLHAAVNSV ,NSFRDPLHA ,DPLHAAVNS FFPNDVRVK ,NSVFFPNDV</a:t>
                      </a:r>
                      <a:endParaRPr lang="en-US" sz="800" b="0" i="0" u="none" strike="noStrike" dirty="0">
                        <a:solidFill>
                          <a:srgbClr val="000000"/>
                        </a:solidFill>
                        <a:effectLst/>
                        <a:latin typeface="Calibri" panose="020F0502020204030204" pitchFamily="34" charset="0"/>
                      </a:endParaRPr>
                    </a:p>
                  </a:txBody>
                  <a:tcPr marL="3712" marR="3712" marT="3712" marB="0"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fontAlgn="ctr"/>
                      <a:r>
                        <a:rPr lang="en-US" sz="1100" b="0" u="none" strike="noStrike" dirty="0">
                          <a:solidFill>
                            <a:srgbClr val="000000"/>
                          </a:solidFill>
                          <a:effectLst/>
                        </a:rPr>
                        <a:t>14</a:t>
                      </a:r>
                      <a:endParaRPr lang="en-US" sz="1100" b="0" i="0" u="none" strike="noStrike" dirty="0">
                        <a:solidFill>
                          <a:srgbClr val="000000"/>
                        </a:solidFill>
                        <a:effectLst/>
                        <a:latin typeface="Calibri" panose="020F0502020204030204" pitchFamily="34" charset="0"/>
                      </a:endParaRPr>
                    </a:p>
                  </a:txBody>
                  <a:tcPr marL="3712" marR="3712" marT="3712" marB="0"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fontAlgn="ctr"/>
                      <a:r>
                        <a:rPr lang="en-US" sz="900" dirty="0"/>
                        <a:t>KTEVYNSFR ,HAAVNSVFF ,SVFFPNDVR FPNDVRVKW ,SFRDPLHAA ,FRDPLHAAV VFFPNDVRV ,LHAAVNSVF ,VYNSFRDPL PLHAAVNSV ,NSFRDPLHA ,DPLHAAVNS FFPNDVRVK ,NSVFFPNDV</a:t>
                      </a:r>
                    </a:p>
                  </a:txBody>
                  <a:tcPr marL="3712" marR="3712" marT="3712" marB="0" anchor="ctr">
                    <a:lnL w="12700" cmpd="sng">
                      <a:noFill/>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3684100687"/>
                  </a:ext>
                </a:extLst>
              </a:tr>
            </a:tbl>
          </a:graphicData>
        </a:graphic>
      </p:graphicFrame>
      <p:grpSp>
        <p:nvGrpSpPr>
          <p:cNvPr id="6" name="Group 5">
            <a:extLst>
              <a:ext uri="{FF2B5EF4-FFF2-40B4-BE49-F238E27FC236}">
                <a16:creationId xmlns:a16="http://schemas.microsoft.com/office/drawing/2014/main" id="{BBADFCDD-4271-6BFF-8722-4E6786921E49}"/>
              </a:ext>
            </a:extLst>
          </p:cNvPr>
          <p:cNvGrpSpPr/>
          <p:nvPr/>
        </p:nvGrpSpPr>
        <p:grpSpPr>
          <a:xfrm>
            <a:off x="2398565" y="161925"/>
            <a:ext cx="8255737" cy="848154"/>
            <a:chOff x="739738" y="344774"/>
            <a:chExt cx="9439576" cy="1042237"/>
          </a:xfrm>
        </p:grpSpPr>
        <p:sp>
          <p:nvSpPr>
            <p:cNvPr id="8" name="Rectangle: Rounded Corners 7">
              <a:extLst>
                <a:ext uri="{FF2B5EF4-FFF2-40B4-BE49-F238E27FC236}">
                  <a16:creationId xmlns:a16="http://schemas.microsoft.com/office/drawing/2014/main" id="{64C68FA9-912A-46D7-C5EA-F952F926EABE}"/>
                </a:ext>
              </a:extLst>
            </p:cNvPr>
            <p:cNvSpPr/>
            <p:nvPr/>
          </p:nvSpPr>
          <p:spPr>
            <a:xfrm>
              <a:off x="739739" y="344774"/>
              <a:ext cx="8311794" cy="1042237"/>
            </a:xfrm>
            <a:prstGeom prst="roundRect">
              <a:avLst/>
            </a:prstGeom>
            <a:solidFill>
              <a:schemeClr val="bg1">
                <a:lumMod val="85000"/>
              </a:schemeClr>
            </a:solidFill>
            <a:ln>
              <a:no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en-US" sz="2000" dirty="0"/>
            </a:p>
          </p:txBody>
        </p:sp>
        <p:sp>
          <p:nvSpPr>
            <p:cNvPr id="9" name="Title 1">
              <a:extLst>
                <a:ext uri="{FF2B5EF4-FFF2-40B4-BE49-F238E27FC236}">
                  <a16:creationId xmlns:a16="http://schemas.microsoft.com/office/drawing/2014/main" id="{4364CF6E-BBE6-06C4-0097-5BD9EEAA8FC5}"/>
                </a:ext>
              </a:extLst>
            </p:cNvPr>
            <p:cNvSpPr txBox="1">
              <a:spLocks/>
            </p:cNvSpPr>
            <p:nvPr/>
          </p:nvSpPr>
          <p:spPr>
            <a:xfrm>
              <a:off x="739738" y="344774"/>
              <a:ext cx="9439576" cy="960044"/>
            </a:xfrm>
            <a:prstGeom prst="rect">
              <a:avLst/>
            </a:prstGeom>
            <a:noFill/>
            <a:ln w="12700" cap="flat" cmpd="sng" algn="ctr">
              <a:noFill/>
              <a:prstDash val="solid"/>
              <a:miter lim="800000"/>
            </a:ln>
          </p:spPr>
          <p:style>
            <a:lnRef idx="1">
              <a:schemeClr val="accent4"/>
            </a:lnRef>
            <a:fillRef idx="2">
              <a:schemeClr val="accent4"/>
            </a:fillRef>
            <a:effectRef idx="1">
              <a:schemeClr val="accent4"/>
            </a:effectRef>
            <a:fontRef idx="minor">
              <a:schemeClr val="dk1"/>
            </a:fontRef>
          </p:style>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l"/>
              <a:r>
                <a:rPr lang="en-US" sz="4400" dirty="0">
                  <a:solidFill>
                    <a:srgbClr val="C00000"/>
                  </a:solidFill>
                </a:rPr>
                <a:t>CD8</a:t>
              </a:r>
              <a:r>
                <a:rPr lang="en-US" sz="4400" baseline="30000" dirty="0">
                  <a:solidFill>
                    <a:srgbClr val="C00000"/>
                  </a:solidFill>
                </a:rPr>
                <a:t>+</a:t>
              </a:r>
              <a:r>
                <a:rPr lang="en-US" sz="4400" dirty="0">
                  <a:solidFill>
                    <a:srgbClr val="C00000"/>
                  </a:solidFill>
                </a:rPr>
                <a:t>T Cell Epitope prediction</a:t>
              </a:r>
            </a:p>
          </p:txBody>
        </p:sp>
      </p:grpSp>
    </p:spTree>
    <p:extLst>
      <p:ext uri="{BB962C8B-B14F-4D97-AF65-F5344CB8AC3E}">
        <p14:creationId xmlns:p14="http://schemas.microsoft.com/office/powerpoint/2010/main" val="20787427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207415-06CC-A7BD-1EBA-B7EB964C335C}"/>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CF593215-A7E7-8D6A-EE67-C8FE011939E8}"/>
              </a:ext>
            </a:extLst>
          </p:cNvPr>
          <p:cNvGrpSpPr/>
          <p:nvPr/>
        </p:nvGrpSpPr>
        <p:grpSpPr>
          <a:xfrm>
            <a:off x="2461303" y="226801"/>
            <a:ext cx="7269394" cy="848154"/>
            <a:chOff x="739739" y="344774"/>
            <a:chExt cx="8311795" cy="1042237"/>
          </a:xfrm>
        </p:grpSpPr>
        <p:sp>
          <p:nvSpPr>
            <p:cNvPr id="3" name="Rectangle: Rounded Corners 2">
              <a:extLst>
                <a:ext uri="{FF2B5EF4-FFF2-40B4-BE49-F238E27FC236}">
                  <a16:creationId xmlns:a16="http://schemas.microsoft.com/office/drawing/2014/main" id="{94D65C0B-779C-E2DC-65FA-6A9B4FDDAFB1}"/>
                </a:ext>
              </a:extLst>
            </p:cNvPr>
            <p:cNvSpPr/>
            <p:nvPr/>
          </p:nvSpPr>
          <p:spPr>
            <a:xfrm>
              <a:off x="739739" y="344774"/>
              <a:ext cx="8311794" cy="1042237"/>
            </a:xfrm>
            <a:prstGeom prst="roundRect">
              <a:avLst/>
            </a:prstGeom>
            <a:solidFill>
              <a:schemeClr val="bg1">
                <a:lumMod val="85000"/>
              </a:schemeClr>
            </a:solidFill>
            <a:ln>
              <a:no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en-US" sz="2000" dirty="0"/>
            </a:p>
          </p:txBody>
        </p:sp>
        <p:sp>
          <p:nvSpPr>
            <p:cNvPr id="4" name="Title 1">
              <a:extLst>
                <a:ext uri="{FF2B5EF4-FFF2-40B4-BE49-F238E27FC236}">
                  <a16:creationId xmlns:a16="http://schemas.microsoft.com/office/drawing/2014/main" id="{31DA0DF4-FFD9-834B-DB6E-08E423BE238C}"/>
                </a:ext>
              </a:extLst>
            </p:cNvPr>
            <p:cNvSpPr txBox="1">
              <a:spLocks/>
            </p:cNvSpPr>
            <p:nvPr/>
          </p:nvSpPr>
          <p:spPr>
            <a:xfrm>
              <a:off x="739739" y="344774"/>
              <a:ext cx="8311795" cy="960044"/>
            </a:xfrm>
            <a:prstGeom prst="rect">
              <a:avLst/>
            </a:prstGeom>
            <a:noFill/>
            <a:ln w="12700" cap="flat" cmpd="sng" algn="ctr">
              <a:noFill/>
              <a:prstDash val="solid"/>
              <a:miter lim="800000"/>
            </a:ln>
          </p:spPr>
          <p:style>
            <a:lnRef idx="1">
              <a:schemeClr val="accent4"/>
            </a:lnRef>
            <a:fillRef idx="2">
              <a:schemeClr val="accent4"/>
            </a:fillRef>
            <a:effectRef idx="1">
              <a:schemeClr val="accent4"/>
            </a:effectRef>
            <a:fontRef idx="minor">
              <a:schemeClr val="dk1"/>
            </a:fontRef>
          </p:style>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l"/>
              <a:r>
                <a:rPr lang="en-US" sz="4400" dirty="0">
                  <a:solidFill>
                    <a:srgbClr val="C00000"/>
                  </a:solidFill>
                </a:rPr>
                <a:t>CD4</a:t>
              </a:r>
              <a:r>
                <a:rPr lang="en-US" sz="4400" baseline="30000" dirty="0">
                  <a:solidFill>
                    <a:srgbClr val="C00000"/>
                  </a:solidFill>
                </a:rPr>
                <a:t>+</a:t>
              </a:r>
              <a:r>
                <a:rPr lang="en-US" sz="4400" dirty="0">
                  <a:solidFill>
                    <a:srgbClr val="C00000"/>
                  </a:solidFill>
                </a:rPr>
                <a:t>T Cell Epitope prediction</a:t>
              </a:r>
            </a:p>
          </p:txBody>
        </p:sp>
      </p:grpSp>
      <p:sp>
        <p:nvSpPr>
          <p:cNvPr id="5" name="Rectangle 4">
            <a:extLst>
              <a:ext uri="{FF2B5EF4-FFF2-40B4-BE49-F238E27FC236}">
                <a16:creationId xmlns:a16="http://schemas.microsoft.com/office/drawing/2014/main" id="{B10B4699-8384-4890-635B-D6BACED9D45E}"/>
              </a:ext>
            </a:extLst>
          </p:cNvPr>
          <p:cNvSpPr/>
          <p:nvPr/>
        </p:nvSpPr>
        <p:spPr>
          <a:xfrm>
            <a:off x="0" y="1675"/>
            <a:ext cx="12192000" cy="6858000"/>
          </a:xfrm>
          <a:prstGeom prst="rect">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800" dirty="0">
              <a:latin typeface="Arial" panose="020B0604020202020204" pitchFamily="34" charset="0"/>
              <a:cs typeface="Arial" panose="020B0604020202020204" pitchFamily="34" charset="0"/>
            </a:endParaRPr>
          </a:p>
        </p:txBody>
      </p:sp>
      <p:sp>
        <p:nvSpPr>
          <p:cNvPr id="6" name="Google Shape;267;p5">
            <a:extLst>
              <a:ext uri="{FF2B5EF4-FFF2-40B4-BE49-F238E27FC236}">
                <a16:creationId xmlns:a16="http://schemas.microsoft.com/office/drawing/2014/main" id="{802D4BA6-35F4-382F-8922-17E0D0330B0A}"/>
              </a:ext>
            </a:extLst>
          </p:cNvPr>
          <p:cNvSpPr txBox="1">
            <a:spLocks/>
          </p:cNvSpPr>
          <p:nvPr/>
        </p:nvSpPr>
        <p:spPr>
          <a:xfrm>
            <a:off x="243099" y="1446713"/>
            <a:ext cx="11368797" cy="1612654"/>
          </a:xfrm>
          <a:prstGeom prst="rect">
            <a:avLst/>
          </a:prstGeom>
          <a:noFill/>
          <a:ln>
            <a:noFill/>
          </a:ln>
        </p:spPr>
        <p:txBody>
          <a:bodyPr spcFirstLastPara="1" vert="horz" wrap="square" lIns="91425" tIns="45700" rIns="91425" bIns="45700" rtlCol="0" anchor="t" anchorCtr="0">
            <a:normAutofit/>
          </a:bodyPr>
          <a:lstStyle>
            <a:lvl1pPr marL="182880" indent="-182880" algn="l" defTabSz="914400" rtl="0" eaLnBrk="1" latinLnBrk="0" hangingPunct="1">
              <a:lnSpc>
                <a:spcPct val="100000"/>
              </a:lnSpc>
              <a:spcBef>
                <a:spcPts val="900"/>
              </a:spcBef>
              <a:spcAft>
                <a:spcPts val="0"/>
              </a:spcAft>
              <a:buClr>
                <a:schemeClr val="tx1">
                  <a:lumMod val="85000"/>
                  <a:lumOff val="15000"/>
                </a:schemeClr>
              </a:buClr>
              <a:buFont typeface="Garamond" pitchFamily="18" charset="0"/>
              <a:buChar char="◦"/>
              <a:defRPr sz="18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6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a:lstStyle>
          <a:p>
            <a:pPr marL="285750" marR="0" lvl="0" indent="-285750" algn="l" defTabSz="914400" rtl="0" eaLnBrk="1" fontAlgn="auto" latinLnBrk="0" hangingPunct="1">
              <a:lnSpc>
                <a:spcPct val="100000"/>
              </a:lnSpc>
              <a:spcBef>
                <a:spcPts val="900"/>
              </a:spcBef>
              <a:spcAft>
                <a:spcPts val="0"/>
              </a:spcAft>
              <a:buClr>
                <a:srgbClr val="000000">
                  <a:lumMod val="85000"/>
                  <a:lumOff val="15000"/>
                </a:srgbClr>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Gill Sans MT" panose="020B0502020104020203"/>
                <a:ea typeface="+mn-ea"/>
                <a:cs typeface="+mn-cs"/>
              </a:rPr>
              <a:t>4 Conserved sequences with there autoimmune fragments removed were divided into 15 </a:t>
            </a:r>
            <a:r>
              <a:rPr kumimoji="0" lang="en-US" sz="1800" b="0" i="0" u="none" strike="noStrike" kern="1200" cap="none" spc="0" normalizeH="0" baseline="0" noProof="0" dirty="0" err="1">
                <a:ln>
                  <a:noFill/>
                </a:ln>
                <a:solidFill>
                  <a:srgbClr val="000000"/>
                </a:solidFill>
                <a:effectLst/>
                <a:uLnTx/>
                <a:uFillTx/>
                <a:latin typeface="Gill Sans MT" panose="020B0502020104020203"/>
                <a:ea typeface="+mn-ea"/>
                <a:cs typeface="+mn-cs"/>
              </a:rPr>
              <a:t>mer</a:t>
            </a:r>
            <a:r>
              <a:rPr kumimoji="0" lang="en-US" sz="1800" b="0" i="0" u="none" strike="noStrike" kern="1200" cap="none" spc="0" normalizeH="0" baseline="0" noProof="0" dirty="0">
                <a:ln>
                  <a:noFill/>
                </a:ln>
                <a:solidFill>
                  <a:srgbClr val="000000"/>
                </a:solidFill>
                <a:effectLst/>
                <a:uLnTx/>
                <a:uFillTx/>
                <a:latin typeface="Gill Sans MT" panose="020B0502020104020203"/>
                <a:ea typeface="+mn-ea"/>
                <a:cs typeface="+mn-cs"/>
              </a:rPr>
              <a:t> (for HLA Class II) Epitopes each.</a:t>
            </a:r>
          </a:p>
          <a:p>
            <a:pPr marL="285750" marR="0" lvl="0" indent="-285750" algn="l" defTabSz="914400" rtl="0" eaLnBrk="1" fontAlgn="auto" latinLnBrk="0" hangingPunct="1">
              <a:lnSpc>
                <a:spcPct val="100000"/>
              </a:lnSpc>
              <a:spcBef>
                <a:spcPts val="900"/>
              </a:spcBef>
              <a:spcAft>
                <a:spcPts val="0"/>
              </a:spcAft>
              <a:buClr>
                <a:srgbClr val="000000">
                  <a:lumMod val="85000"/>
                  <a:lumOff val="15000"/>
                </a:srgbClr>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Gill Sans MT" panose="020B0502020104020203"/>
                <a:ea typeface="+mn-ea"/>
                <a:cs typeface="+mn-cs"/>
              </a:rPr>
              <a:t>MHC-peptide binding predictions done using deep learning based different computational packages.</a:t>
            </a:r>
          </a:p>
          <a:p>
            <a:pPr marL="285750" marR="0" lvl="0" indent="-285750" algn="l" defTabSz="914400" rtl="0" eaLnBrk="1" fontAlgn="auto" latinLnBrk="0" hangingPunct="1">
              <a:lnSpc>
                <a:spcPct val="100000"/>
              </a:lnSpc>
              <a:spcBef>
                <a:spcPts val="900"/>
              </a:spcBef>
              <a:spcAft>
                <a:spcPts val="0"/>
              </a:spcAft>
              <a:buClr>
                <a:srgbClr val="000000">
                  <a:lumMod val="85000"/>
                  <a:lumOff val="15000"/>
                </a:srgbClr>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Gill Sans MT" panose="020B0502020104020203"/>
                <a:ea typeface="+mn-ea"/>
                <a:cs typeface="+mn-cs"/>
              </a:rPr>
              <a:t>Each peptide was subjected to 5625 alleles for HLA Class II (CD</a:t>
            </a:r>
            <a:r>
              <a:rPr kumimoji="0" lang="en-US" sz="1800" b="0" i="0" u="none" strike="noStrike" kern="1200" cap="none" spc="0" normalizeH="0" baseline="30000" noProof="0" dirty="0">
                <a:ln>
                  <a:noFill/>
                </a:ln>
                <a:solidFill>
                  <a:srgbClr val="000000"/>
                </a:solidFill>
                <a:effectLst/>
                <a:uLnTx/>
                <a:uFillTx/>
                <a:latin typeface="Gill Sans MT" panose="020B0502020104020203"/>
                <a:ea typeface="+mn-ea"/>
                <a:cs typeface="+mn-cs"/>
              </a:rPr>
              <a:t>4+</a:t>
            </a:r>
            <a:r>
              <a:rPr kumimoji="0" lang="en-US" sz="1800" b="0" i="0" u="none" strike="noStrike" kern="1200" cap="none" spc="0" normalizeH="0" baseline="0" noProof="0" dirty="0">
                <a:ln>
                  <a:noFill/>
                </a:ln>
                <a:solidFill>
                  <a:srgbClr val="000000"/>
                </a:solidFill>
                <a:effectLst/>
                <a:uLnTx/>
                <a:uFillTx/>
                <a:latin typeface="Gill Sans MT" panose="020B0502020104020203"/>
                <a:ea typeface="+mn-ea"/>
                <a:cs typeface="+mn-cs"/>
              </a:rPr>
              <a:t> T Cell).</a:t>
            </a:r>
          </a:p>
          <a:p>
            <a:pPr marL="228600" marR="0" lvl="0" indent="-228600" algn="l" defTabSz="914400" rtl="0" eaLnBrk="1" fontAlgn="auto" latinLnBrk="0" hangingPunct="1">
              <a:lnSpc>
                <a:spcPct val="120000"/>
              </a:lnSpc>
              <a:spcBef>
                <a:spcPts val="1000"/>
              </a:spcBef>
              <a:spcAft>
                <a:spcPts val="0"/>
              </a:spcAft>
              <a:buClr>
                <a:srgbClr val="FFFFFF"/>
              </a:buClr>
              <a:buSzPts val="3000"/>
              <a:buFont typeface="Garamond" pitchFamily="18" charset="0"/>
              <a:buChar char="•"/>
              <a:tabLst/>
              <a:defRPr/>
            </a:pPr>
            <a:endParaRPr kumimoji="0" lang="en-IN" sz="1800" b="0" i="0" u="none" strike="noStrike" kern="1200" cap="none" spc="0" normalizeH="0" baseline="0" noProof="0" dirty="0">
              <a:ln>
                <a:noFill/>
              </a:ln>
              <a:solidFill>
                <a:srgbClr val="000000"/>
              </a:solidFill>
              <a:effectLst/>
              <a:uLnTx/>
              <a:uFillTx/>
              <a:latin typeface="Gill Sans MT" panose="020B0502020104020203"/>
              <a:ea typeface="+mn-ea"/>
              <a:cs typeface="+mn-cs"/>
            </a:endParaRPr>
          </a:p>
        </p:txBody>
      </p:sp>
      <p:sp>
        <p:nvSpPr>
          <p:cNvPr id="7" name="TextBox 6">
            <a:extLst>
              <a:ext uri="{FF2B5EF4-FFF2-40B4-BE49-F238E27FC236}">
                <a16:creationId xmlns:a16="http://schemas.microsoft.com/office/drawing/2014/main" id="{4D68E83A-8BE9-8DA3-8425-54F45B2BA7AF}"/>
              </a:ext>
            </a:extLst>
          </p:cNvPr>
          <p:cNvSpPr txBox="1"/>
          <p:nvPr/>
        </p:nvSpPr>
        <p:spPr>
          <a:xfrm>
            <a:off x="612726" y="3474721"/>
            <a:ext cx="10629542" cy="2308324"/>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Gill Sans MT" panose="020B0502020104020203"/>
                <a:ea typeface="+mn-ea"/>
                <a:cs typeface="+mn-cs"/>
              </a:rPr>
              <a:t>HLA Class II Prediction Tools:</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Gill Sans MT" panose="020B0502020104020203"/>
              <a:ea typeface="+mn-ea"/>
              <a:cs typeface="+mn-cs"/>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tab pos="2792413" algn="l"/>
              </a:tabLst>
              <a:defRPr/>
            </a:pPr>
            <a:r>
              <a:rPr kumimoji="0" lang="en-US" sz="1800" b="1" i="0" u="none" strike="noStrike" kern="1200" cap="none" spc="0" normalizeH="0" baseline="0" noProof="0" dirty="0" err="1">
                <a:ln>
                  <a:noFill/>
                </a:ln>
                <a:solidFill>
                  <a:srgbClr val="000000"/>
                </a:solidFill>
                <a:effectLst/>
                <a:uLnTx/>
                <a:uFillTx/>
                <a:latin typeface="Gill Sans MT" panose="020B0502020104020203"/>
                <a:ea typeface="+mn-ea"/>
                <a:cs typeface="+mn-cs"/>
              </a:rPr>
              <a:t>NetMHCIIpan</a:t>
            </a:r>
            <a:r>
              <a:rPr kumimoji="0" lang="en-US" sz="1800" b="1" i="0" u="none" strike="noStrike" kern="1200" cap="none" spc="0" normalizeH="0" baseline="0" noProof="0" dirty="0">
                <a:ln>
                  <a:noFill/>
                </a:ln>
                <a:solidFill>
                  <a:srgbClr val="000000"/>
                </a:solidFill>
                <a:effectLst/>
                <a:uLnTx/>
                <a:uFillTx/>
                <a:latin typeface="Gill Sans MT" panose="020B0502020104020203"/>
                <a:ea typeface="+mn-ea"/>
                <a:cs typeface="+mn-cs"/>
              </a:rPr>
              <a:t> 4.3</a:t>
            </a:r>
            <a:r>
              <a:rPr kumimoji="0" lang="en-US" sz="1800" b="0" i="0" u="none" strike="noStrike" kern="1200" cap="none" spc="0" normalizeH="0" baseline="0" noProof="0" dirty="0">
                <a:ln>
                  <a:noFill/>
                </a:ln>
                <a:solidFill>
                  <a:srgbClr val="000000"/>
                </a:solidFill>
                <a:effectLst/>
                <a:uLnTx/>
                <a:uFillTx/>
                <a:latin typeface="Gill Sans MT" panose="020B0502020104020203"/>
                <a:ea typeface="+mn-ea"/>
                <a:cs typeface="+mn-cs"/>
              </a:rPr>
              <a:t> – </a:t>
            </a:r>
            <a:r>
              <a:rPr kumimoji="0" lang="en-US" sz="1800" b="1" i="0" u="none" strike="noStrike" kern="1200" cap="none" spc="0" normalizeH="0" baseline="0" noProof="0" dirty="0">
                <a:ln>
                  <a:noFill/>
                </a:ln>
                <a:solidFill>
                  <a:srgbClr val="000000"/>
                </a:solidFill>
                <a:effectLst/>
                <a:uLnTx/>
                <a:uFillTx/>
                <a:latin typeface="Gill Sans MT" panose="020B0502020104020203"/>
                <a:ea typeface="+mn-ea"/>
                <a:cs typeface="+mn-cs"/>
              </a:rPr>
              <a:t>Dual-output </a:t>
            </a:r>
            <a:r>
              <a:rPr kumimoji="0" lang="en-US" sz="1800" b="1" i="0" u="none" strike="noStrike" kern="1200" cap="none" spc="0" normalizeH="0" baseline="0" noProof="0" dirty="0" err="1">
                <a:ln>
                  <a:noFill/>
                </a:ln>
                <a:solidFill>
                  <a:srgbClr val="000000"/>
                </a:solidFill>
                <a:effectLst/>
                <a:uLnTx/>
                <a:uFillTx/>
                <a:latin typeface="Gill Sans MT" panose="020B0502020104020203"/>
                <a:ea typeface="+mn-ea"/>
                <a:cs typeface="+mn-cs"/>
              </a:rPr>
              <a:t>NNAlign</a:t>
            </a:r>
            <a:r>
              <a:rPr kumimoji="0" lang="en-US" sz="1800" b="1" i="0" u="none" strike="noStrike" kern="1200" cap="none" spc="0" normalizeH="0" baseline="0" noProof="0" dirty="0">
                <a:ln>
                  <a:noFill/>
                </a:ln>
                <a:solidFill>
                  <a:srgbClr val="000000"/>
                </a:solidFill>
                <a:effectLst/>
                <a:uLnTx/>
                <a:uFillTx/>
                <a:latin typeface="Gill Sans MT" panose="020B0502020104020203"/>
                <a:ea typeface="+mn-ea"/>
                <a:cs typeface="+mn-cs"/>
              </a:rPr>
              <a:t> framework</a:t>
            </a:r>
            <a:r>
              <a:rPr kumimoji="0" lang="en-US" sz="1800" b="0" i="0" u="none" strike="noStrike" kern="1200" cap="none" spc="0" normalizeH="0" baseline="0" noProof="0" dirty="0">
                <a:ln>
                  <a:noFill/>
                </a:ln>
                <a:solidFill>
                  <a:srgbClr val="000000"/>
                </a:solidFill>
                <a:effectLst/>
                <a:uLnTx/>
                <a:uFillTx/>
                <a:latin typeface="Gill Sans MT" panose="020B0502020104020203"/>
                <a:ea typeface="+mn-ea"/>
                <a:cs typeface="+mn-cs"/>
              </a:rPr>
              <a:t> using </a:t>
            </a:r>
            <a:r>
              <a:rPr kumimoji="0" lang="en-US" sz="1800" b="1" i="0" u="none" strike="noStrike" kern="1200" cap="none" spc="0" normalizeH="0" baseline="0" noProof="0" dirty="0">
                <a:ln>
                  <a:noFill/>
                </a:ln>
                <a:solidFill>
                  <a:srgbClr val="000000"/>
                </a:solidFill>
                <a:effectLst/>
                <a:uLnTx/>
                <a:uFillTx/>
                <a:latin typeface="Gill Sans MT" panose="020B0502020104020203"/>
                <a:ea typeface="+mn-ea"/>
                <a:cs typeface="+mn-cs"/>
              </a:rPr>
              <a:t>affinity &amp; MS Eluted ligand data</a:t>
            </a:r>
            <a:r>
              <a:rPr kumimoji="0" lang="en-US" sz="1800" b="0" i="0" u="none" strike="noStrike" kern="1200" cap="none" spc="0" normalizeH="0" baseline="0" noProof="0" dirty="0">
                <a:ln>
                  <a:noFill/>
                </a:ln>
                <a:solidFill>
                  <a:srgbClr val="000000"/>
                </a:solidFill>
                <a:effectLst/>
                <a:uLnTx/>
                <a:uFillTx/>
                <a:latin typeface="Gill Sans MT" panose="020B0502020104020203"/>
                <a:ea typeface="+mn-ea"/>
                <a:cs typeface="+mn-cs"/>
              </a:rPr>
              <a:t> </a:t>
            </a:r>
            <a:r>
              <a:rPr kumimoji="0" lang="en-US" sz="1800" b="0" i="1" u="none" strike="noStrike" kern="1200" cap="none" spc="0" normalizeH="0" baseline="0" noProof="0" dirty="0">
                <a:ln>
                  <a:noFill/>
                </a:ln>
                <a:solidFill>
                  <a:srgbClr val="000000"/>
                </a:solidFill>
                <a:effectLst/>
                <a:uLnTx/>
                <a:uFillTx/>
                <a:latin typeface="Gill Sans MT" panose="020B0502020104020203"/>
                <a:ea typeface="+mn-ea"/>
                <a:cs typeface="+mn-cs"/>
              </a:rPr>
              <a:t>(Pan-specific) strong and weak binders based on EL Rank values as suggested by the paper (Binders but &lt;5)</a:t>
            </a:r>
            <a:r>
              <a:rPr kumimoji="0" lang="en-US" sz="1800" b="0" i="0" u="none" strike="noStrike" kern="1200" cap="none" spc="0" normalizeH="0" baseline="0" noProof="0" dirty="0">
                <a:ln>
                  <a:noFill/>
                </a:ln>
                <a:solidFill>
                  <a:srgbClr val="000000"/>
                </a:solidFill>
                <a:effectLst/>
                <a:uLnTx/>
                <a:uFillTx/>
                <a:latin typeface="Gill Sans MT" panose="020B0502020104020203"/>
                <a:ea typeface="+mn-ea"/>
                <a:cs typeface="+mn-cs"/>
              </a:rPr>
              <a:t>.</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tab pos="2792413" algn="l"/>
              </a:tabLst>
              <a:defRPr/>
            </a:pPr>
            <a:endParaRPr kumimoji="0" lang="en-US" sz="1800" b="0" i="0" u="none" strike="noStrike" kern="1200" cap="none" spc="0" normalizeH="0" baseline="0" noProof="0" dirty="0">
              <a:ln>
                <a:noFill/>
              </a:ln>
              <a:solidFill>
                <a:srgbClr val="000000"/>
              </a:solidFill>
              <a:effectLst/>
              <a:uLnTx/>
              <a:uFillTx/>
              <a:latin typeface="Gill Sans MT" panose="020B0502020104020203"/>
              <a:ea typeface="+mn-ea"/>
              <a:cs typeface="+mn-cs"/>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tab pos="2792413" algn="l"/>
              </a:tabLst>
              <a:defRPr/>
            </a:pPr>
            <a:r>
              <a:rPr kumimoji="0" lang="en-US" sz="1800" b="1" i="0" u="none" strike="noStrike" kern="1200" cap="none" spc="0" normalizeH="0" baseline="0" noProof="0" dirty="0" err="1">
                <a:ln>
                  <a:noFill/>
                </a:ln>
                <a:solidFill>
                  <a:srgbClr val="000000"/>
                </a:solidFill>
                <a:effectLst/>
                <a:uLnTx/>
                <a:uFillTx/>
                <a:latin typeface="Gill Sans MT" panose="020B0502020104020203"/>
                <a:ea typeface="+mn-ea"/>
                <a:cs typeface="+mn-cs"/>
              </a:rPr>
              <a:t>DeepMHCII</a:t>
            </a:r>
            <a:r>
              <a:rPr kumimoji="0" lang="en-US" sz="1800" b="0" i="0" u="none" strike="noStrike" kern="1200" cap="none" spc="0" normalizeH="0" baseline="0" noProof="0" dirty="0">
                <a:ln>
                  <a:noFill/>
                </a:ln>
                <a:solidFill>
                  <a:srgbClr val="000000"/>
                </a:solidFill>
                <a:effectLst/>
                <a:uLnTx/>
                <a:uFillTx/>
                <a:latin typeface="Gill Sans MT" panose="020B0502020104020203"/>
                <a:ea typeface="+mn-ea"/>
                <a:cs typeface="+mn-cs"/>
              </a:rPr>
              <a:t> – Uses </a:t>
            </a:r>
            <a:r>
              <a:rPr kumimoji="0" lang="en-US" sz="1800" b="1" i="0" u="none" strike="noStrike" kern="1200" cap="none" spc="0" normalizeH="0" baseline="0" noProof="0" dirty="0">
                <a:ln>
                  <a:noFill/>
                </a:ln>
                <a:solidFill>
                  <a:srgbClr val="000000"/>
                </a:solidFill>
                <a:effectLst/>
                <a:uLnTx/>
                <a:uFillTx/>
                <a:latin typeface="Gill Sans MT" panose="020B0502020104020203"/>
                <a:ea typeface="+mn-ea"/>
                <a:cs typeface="+mn-cs"/>
              </a:rPr>
              <a:t>CNN (Convolutional Neural Networks) with BICL</a:t>
            </a:r>
            <a:r>
              <a:rPr kumimoji="0" lang="en-US" sz="1800" b="0" i="0" u="none" strike="noStrike" kern="1200" cap="none" spc="0" normalizeH="0" baseline="0" noProof="0" dirty="0">
                <a:ln>
                  <a:noFill/>
                </a:ln>
                <a:solidFill>
                  <a:srgbClr val="000000"/>
                </a:solidFill>
                <a:effectLst/>
                <a:uLnTx/>
                <a:uFillTx/>
                <a:latin typeface="Gill Sans MT" panose="020B0502020104020203"/>
                <a:ea typeface="+mn-ea"/>
                <a:cs typeface="+mn-cs"/>
              </a:rPr>
              <a:t>, trained on </a:t>
            </a:r>
            <a:r>
              <a:rPr kumimoji="0" lang="en-US" sz="1800" b="1" i="0" u="none" strike="noStrike" kern="1200" cap="none" spc="0" normalizeH="0" baseline="0" noProof="0" dirty="0">
                <a:ln>
                  <a:noFill/>
                </a:ln>
                <a:solidFill>
                  <a:srgbClr val="000000"/>
                </a:solidFill>
                <a:effectLst/>
                <a:uLnTx/>
                <a:uFillTx/>
                <a:latin typeface="Gill Sans MT" panose="020B0502020104020203"/>
                <a:ea typeface="+mn-ea"/>
                <a:cs typeface="+mn-cs"/>
              </a:rPr>
              <a:t>binding affinity data</a:t>
            </a:r>
            <a:r>
              <a:rPr kumimoji="0" lang="en-US" sz="1800" b="0" i="0" u="none" strike="noStrike" kern="1200" cap="none" spc="0" normalizeH="0" baseline="0" noProof="0" dirty="0">
                <a:ln>
                  <a:noFill/>
                </a:ln>
                <a:solidFill>
                  <a:srgbClr val="000000"/>
                </a:solidFill>
                <a:effectLst/>
                <a:uLnTx/>
                <a:uFillTx/>
                <a:latin typeface="Gill Sans MT" panose="020B0502020104020203"/>
                <a:ea typeface="+mn-ea"/>
                <a:cs typeface="+mn-cs"/>
              </a:rPr>
              <a:t> </a:t>
            </a:r>
            <a:r>
              <a:rPr kumimoji="0" lang="en-US" sz="1800" b="0" i="1" u="none" strike="noStrike" kern="1200" cap="none" spc="0" normalizeH="0" baseline="0" noProof="0" dirty="0">
                <a:ln>
                  <a:noFill/>
                </a:ln>
                <a:solidFill>
                  <a:srgbClr val="000000"/>
                </a:solidFill>
                <a:effectLst/>
                <a:uLnTx/>
                <a:uFillTx/>
                <a:latin typeface="Gill Sans MT" panose="020B0502020104020203"/>
                <a:ea typeface="+mn-ea"/>
                <a:cs typeface="+mn-cs"/>
              </a:rPr>
              <a:t>(Pan-specific) </a:t>
            </a:r>
            <a:r>
              <a:rPr kumimoji="0" lang="en-US" sz="1800" b="0" i="0" u="none" strike="noStrike" kern="1200" cap="none" spc="0" normalizeH="0" baseline="0" noProof="0" dirty="0">
                <a:ln>
                  <a:noFill/>
                </a:ln>
                <a:solidFill>
                  <a:srgbClr val="000000"/>
                </a:solidFill>
                <a:effectLst/>
                <a:uLnTx/>
                <a:uFillTx/>
                <a:latin typeface="Gill Sans MT" panose="020B0502020104020203"/>
                <a:ea typeface="+mn-ea"/>
                <a:cs typeface="+mn-cs"/>
              </a:rPr>
              <a:t>Strong and weak binders based on 1-log </a:t>
            </a:r>
            <a:r>
              <a:rPr kumimoji="0" lang="en-US" sz="1800" b="0" i="0" u="none" strike="noStrike" kern="1200" cap="none" spc="0" normalizeH="0" baseline="-25000" noProof="0" dirty="0">
                <a:ln>
                  <a:noFill/>
                </a:ln>
                <a:solidFill>
                  <a:srgbClr val="000000"/>
                </a:solidFill>
                <a:effectLst/>
                <a:uLnTx/>
                <a:uFillTx/>
                <a:latin typeface="Gill Sans MT" panose="020B0502020104020203"/>
                <a:ea typeface="+mn-ea"/>
                <a:cs typeface="+mn-cs"/>
              </a:rPr>
              <a:t>50K</a:t>
            </a:r>
            <a:r>
              <a:rPr kumimoji="0" lang="en-US" sz="1800" b="0" i="0" u="none" strike="noStrike" kern="1200" cap="none" spc="0" normalizeH="0" baseline="0" noProof="0" dirty="0">
                <a:ln>
                  <a:noFill/>
                </a:ln>
                <a:solidFill>
                  <a:srgbClr val="000000"/>
                </a:solidFill>
                <a:effectLst/>
                <a:uLnTx/>
                <a:uFillTx/>
                <a:latin typeface="Gill Sans MT" panose="020B0502020104020203"/>
                <a:ea typeface="+mn-ea"/>
                <a:cs typeface="+mn-cs"/>
              </a:rPr>
              <a:t>(binding affinity) (</a:t>
            </a:r>
            <a:r>
              <a:rPr kumimoji="0" lang="en-US" sz="1800" b="0" i="0" u="none" strike="noStrike" kern="1200" cap="none" spc="0" normalizeH="0" baseline="0" noProof="0" dirty="0" err="1">
                <a:ln>
                  <a:noFill/>
                </a:ln>
                <a:solidFill>
                  <a:srgbClr val="000000"/>
                </a:solidFill>
                <a:effectLst/>
                <a:uLnTx/>
                <a:uFillTx/>
                <a:latin typeface="Gill Sans MT" panose="020B0502020104020203"/>
                <a:ea typeface="+mn-ea"/>
                <a:cs typeface="+mn-cs"/>
              </a:rPr>
              <a:t>logAff</a:t>
            </a:r>
            <a:r>
              <a:rPr kumimoji="0" lang="en-US" sz="1800" b="0" i="0" u="none" strike="noStrike" kern="1200" cap="none" spc="0" normalizeH="0" baseline="0" noProof="0" dirty="0">
                <a:ln>
                  <a:noFill/>
                </a:ln>
                <a:solidFill>
                  <a:srgbClr val="000000"/>
                </a:solidFill>
                <a:effectLst/>
                <a:uLnTx/>
                <a:uFillTx/>
                <a:latin typeface="Gill Sans MT" panose="020B0502020104020203"/>
                <a:ea typeface="+mn-ea"/>
                <a:cs typeface="+mn-cs"/>
              </a:rPr>
              <a:t>) value (Binders </a:t>
            </a:r>
            <a:r>
              <a:rPr kumimoji="0" lang="en-US" sz="1800" b="0" i="1" u="none" strike="noStrike" kern="1200" cap="none" spc="0" normalizeH="0" baseline="0" noProof="0" dirty="0">
                <a:ln>
                  <a:noFill/>
                </a:ln>
                <a:solidFill>
                  <a:srgbClr val="000000"/>
                </a:solidFill>
                <a:effectLst/>
                <a:uLnTx/>
                <a:uFillTx/>
                <a:latin typeface="Gill Sans MT" panose="020B0502020104020203"/>
                <a:ea typeface="+mn-ea"/>
                <a:cs typeface="+mn-cs"/>
              </a:rPr>
              <a:t>&lt;</a:t>
            </a:r>
            <a:r>
              <a:rPr lang="en-US" i="1" dirty="0">
                <a:solidFill>
                  <a:srgbClr val="000000"/>
                </a:solidFill>
                <a:latin typeface="Gill Sans MT" panose="020B0502020104020203"/>
              </a:rPr>
              <a:t>0.638 </a:t>
            </a:r>
            <a:r>
              <a:rPr lang="en-US" i="1" dirty="0" err="1">
                <a:solidFill>
                  <a:srgbClr val="000000"/>
                </a:solidFill>
                <a:latin typeface="Gill Sans MT" panose="020B0502020104020203"/>
              </a:rPr>
              <a:t>logAff</a:t>
            </a:r>
            <a:r>
              <a:rPr kumimoji="0" lang="en-US" sz="1800" b="0" i="0" u="none" strike="noStrike" kern="1200" cap="none" spc="0" normalizeH="0" baseline="0" noProof="0" dirty="0">
                <a:ln>
                  <a:noFill/>
                </a:ln>
                <a:solidFill>
                  <a:srgbClr val="000000"/>
                </a:solidFill>
                <a:effectLst/>
                <a:uLnTx/>
                <a:uFillTx/>
                <a:latin typeface="Gill Sans MT" panose="020B0502020104020203"/>
                <a:ea typeface="+mn-ea"/>
                <a:cs typeface="+mn-cs"/>
              </a:rPr>
              <a:t>).</a:t>
            </a:r>
          </a:p>
        </p:txBody>
      </p:sp>
    </p:spTree>
    <p:extLst>
      <p:ext uri="{BB962C8B-B14F-4D97-AF65-F5344CB8AC3E}">
        <p14:creationId xmlns:p14="http://schemas.microsoft.com/office/powerpoint/2010/main" val="9878888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A7DF55-3BC7-311C-2E59-BC881C276A1A}"/>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19489EAF-82DC-53F0-D693-66B18E0FF2FA}"/>
              </a:ext>
            </a:extLst>
          </p:cNvPr>
          <p:cNvSpPr/>
          <p:nvPr/>
        </p:nvSpPr>
        <p:spPr>
          <a:xfrm>
            <a:off x="0" y="1675"/>
            <a:ext cx="12192000" cy="6858000"/>
          </a:xfrm>
          <a:prstGeom prst="rect">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800" dirty="0">
              <a:latin typeface="Arial" panose="020B0604020202020204" pitchFamily="34" charset="0"/>
              <a:cs typeface="Arial" panose="020B0604020202020204" pitchFamily="34" charset="0"/>
            </a:endParaRPr>
          </a:p>
        </p:txBody>
      </p:sp>
      <p:cxnSp>
        <p:nvCxnSpPr>
          <p:cNvPr id="6" name="Straight Arrow Connector 5">
            <a:extLst>
              <a:ext uri="{FF2B5EF4-FFF2-40B4-BE49-F238E27FC236}">
                <a16:creationId xmlns:a16="http://schemas.microsoft.com/office/drawing/2014/main" id="{7DB3AB32-FE97-803E-EDC0-1EAA5EE1F177}"/>
              </a:ext>
            </a:extLst>
          </p:cNvPr>
          <p:cNvCxnSpPr/>
          <p:nvPr/>
        </p:nvCxnSpPr>
        <p:spPr>
          <a:xfrm>
            <a:off x="4223640" y="2761963"/>
            <a:ext cx="608516" cy="0"/>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25C2035E-AD84-62EB-C4C6-D3AA9E68654F}"/>
              </a:ext>
            </a:extLst>
          </p:cNvPr>
          <p:cNvCxnSpPr/>
          <p:nvPr/>
        </p:nvCxnSpPr>
        <p:spPr>
          <a:xfrm>
            <a:off x="6216820" y="2761963"/>
            <a:ext cx="608516" cy="0"/>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A0AA0758-F359-5751-F4CE-588C18BE9022}"/>
              </a:ext>
            </a:extLst>
          </p:cNvPr>
          <p:cNvCxnSpPr/>
          <p:nvPr/>
        </p:nvCxnSpPr>
        <p:spPr>
          <a:xfrm>
            <a:off x="8321313" y="2760253"/>
            <a:ext cx="608516" cy="0"/>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9B4920DE-DC83-7A80-5348-C77434BDB384}"/>
              </a:ext>
            </a:extLst>
          </p:cNvPr>
          <p:cNvSpPr txBox="1"/>
          <p:nvPr/>
        </p:nvSpPr>
        <p:spPr>
          <a:xfrm>
            <a:off x="1018106" y="2348857"/>
            <a:ext cx="1579652" cy="923330"/>
          </a:xfrm>
          <a:prstGeom prst="rect">
            <a:avLst/>
          </a:prstGeom>
          <a:noFill/>
        </p:spPr>
        <p:txBody>
          <a:bodyPr wrap="square" rtlCol="0">
            <a:spAutoFit/>
          </a:bodyPr>
          <a:lstStyle/>
          <a:p>
            <a:pPr algn="ctr"/>
            <a:r>
              <a:rPr lang="en-US" dirty="0"/>
              <a:t>Epitopes</a:t>
            </a:r>
          </a:p>
          <a:p>
            <a:pPr algn="ctr"/>
            <a:r>
              <a:rPr lang="en-US" dirty="0"/>
              <a:t>  X</a:t>
            </a:r>
          </a:p>
          <a:p>
            <a:pPr algn="ctr"/>
            <a:r>
              <a:rPr lang="en-US" dirty="0"/>
              <a:t>5625 Alleles</a:t>
            </a:r>
          </a:p>
        </p:txBody>
      </p:sp>
      <p:cxnSp>
        <p:nvCxnSpPr>
          <p:cNvPr id="10" name="Straight Arrow Connector 9">
            <a:extLst>
              <a:ext uri="{FF2B5EF4-FFF2-40B4-BE49-F238E27FC236}">
                <a16:creationId xmlns:a16="http://schemas.microsoft.com/office/drawing/2014/main" id="{95E46895-A1A4-C747-D6AE-37E11AC48B85}"/>
              </a:ext>
            </a:extLst>
          </p:cNvPr>
          <p:cNvCxnSpPr/>
          <p:nvPr/>
        </p:nvCxnSpPr>
        <p:spPr>
          <a:xfrm>
            <a:off x="2485598" y="2760253"/>
            <a:ext cx="608516" cy="0"/>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nvGrpSpPr>
          <p:cNvPr id="11" name="Group 10">
            <a:extLst>
              <a:ext uri="{FF2B5EF4-FFF2-40B4-BE49-F238E27FC236}">
                <a16:creationId xmlns:a16="http://schemas.microsoft.com/office/drawing/2014/main" id="{5E3E073A-FBAB-EB67-672A-8374BF5E8C7A}"/>
              </a:ext>
            </a:extLst>
          </p:cNvPr>
          <p:cNvGrpSpPr/>
          <p:nvPr/>
        </p:nvGrpSpPr>
        <p:grpSpPr>
          <a:xfrm>
            <a:off x="2781834" y="2348857"/>
            <a:ext cx="1810818" cy="1544320"/>
            <a:chOff x="2781834" y="2253607"/>
            <a:chExt cx="1810818" cy="1544320"/>
          </a:xfrm>
        </p:grpSpPr>
        <p:pic>
          <p:nvPicPr>
            <p:cNvPr id="12" name="Picture 2">
              <a:extLst>
                <a:ext uri="{FF2B5EF4-FFF2-40B4-BE49-F238E27FC236}">
                  <a16:creationId xmlns:a16="http://schemas.microsoft.com/office/drawing/2014/main" id="{D17BFFE4-A8AF-1C80-C1C8-A82A2EBEA00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74137" y="2253607"/>
              <a:ext cx="826213" cy="826213"/>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66AFB5BA-560A-00FA-4787-C3E7FC32C719}"/>
                </a:ext>
              </a:extLst>
            </p:cNvPr>
            <p:cNvSpPr txBox="1"/>
            <p:nvPr/>
          </p:nvSpPr>
          <p:spPr>
            <a:xfrm>
              <a:off x="2781834" y="3151596"/>
              <a:ext cx="1810818" cy="646331"/>
            </a:xfrm>
            <a:prstGeom prst="rect">
              <a:avLst/>
            </a:prstGeom>
            <a:noFill/>
          </p:spPr>
          <p:txBody>
            <a:bodyPr wrap="square" rtlCol="0">
              <a:spAutoFit/>
            </a:bodyPr>
            <a:lstStyle/>
            <a:p>
              <a:pPr algn="ctr"/>
              <a:r>
                <a:rPr lang="en-US" dirty="0" err="1"/>
                <a:t>NetMHCIIpan</a:t>
              </a:r>
              <a:r>
                <a:rPr lang="en-US" dirty="0"/>
                <a:t> v4.3.</a:t>
              </a:r>
            </a:p>
          </p:txBody>
        </p:sp>
      </p:grpSp>
      <p:grpSp>
        <p:nvGrpSpPr>
          <p:cNvPr id="14" name="Group 13">
            <a:extLst>
              <a:ext uri="{FF2B5EF4-FFF2-40B4-BE49-F238E27FC236}">
                <a16:creationId xmlns:a16="http://schemas.microsoft.com/office/drawing/2014/main" id="{5E910E1A-5AA3-3361-DA4A-B8339DB5E47C}"/>
              </a:ext>
            </a:extLst>
          </p:cNvPr>
          <p:cNvGrpSpPr/>
          <p:nvPr/>
        </p:nvGrpSpPr>
        <p:grpSpPr>
          <a:xfrm>
            <a:off x="4605497" y="2088255"/>
            <a:ext cx="1810818" cy="2082182"/>
            <a:chOff x="4605497" y="1993005"/>
            <a:chExt cx="1810818" cy="2082182"/>
          </a:xfrm>
        </p:grpSpPr>
        <p:grpSp>
          <p:nvGrpSpPr>
            <p:cNvPr id="15" name="Group 14">
              <a:extLst>
                <a:ext uri="{FF2B5EF4-FFF2-40B4-BE49-F238E27FC236}">
                  <a16:creationId xmlns:a16="http://schemas.microsoft.com/office/drawing/2014/main" id="{CCCE7A9C-F498-E75C-D528-2CCDDB3FC33F}"/>
                </a:ext>
              </a:extLst>
            </p:cNvPr>
            <p:cNvGrpSpPr/>
            <p:nvPr/>
          </p:nvGrpSpPr>
          <p:grpSpPr>
            <a:xfrm>
              <a:off x="4982214" y="1993005"/>
              <a:ext cx="1057383" cy="1367318"/>
              <a:chOff x="4149047" y="2407255"/>
              <a:chExt cx="1057383" cy="1367318"/>
            </a:xfrm>
          </p:grpSpPr>
          <p:pic>
            <p:nvPicPr>
              <p:cNvPr id="17" name="Graphic 16" descr="Document with solid fill">
                <a:extLst>
                  <a:ext uri="{FF2B5EF4-FFF2-40B4-BE49-F238E27FC236}">
                    <a16:creationId xmlns:a16="http://schemas.microsoft.com/office/drawing/2014/main" id="{C9D3D95E-CCDA-ED18-5B52-154060920D5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149047" y="2407255"/>
                <a:ext cx="464904" cy="464904"/>
              </a:xfrm>
              <a:prstGeom prst="rect">
                <a:avLst/>
              </a:prstGeom>
            </p:spPr>
          </p:pic>
          <p:pic>
            <p:nvPicPr>
              <p:cNvPr id="18" name="Graphic 17" descr="Document with solid fill">
                <a:extLst>
                  <a:ext uri="{FF2B5EF4-FFF2-40B4-BE49-F238E27FC236}">
                    <a16:creationId xmlns:a16="http://schemas.microsoft.com/office/drawing/2014/main" id="{CBAF64DF-B28F-0C61-70E8-5F4BF7FEE0C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741526" y="3272748"/>
                <a:ext cx="464904" cy="464904"/>
              </a:xfrm>
              <a:prstGeom prst="rect">
                <a:avLst/>
              </a:prstGeom>
            </p:spPr>
          </p:pic>
          <p:pic>
            <p:nvPicPr>
              <p:cNvPr id="19" name="Graphic 18" descr="Document with solid fill">
                <a:extLst>
                  <a:ext uri="{FF2B5EF4-FFF2-40B4-BE49-F238E27FC236}">
                    <a16:creationId xmlns:a16="http://schemas.microsoft.com/office/drawing/2014/main" id="{A93B98E3-9DE0-1F37-FE22-F032FC92E13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741526" y="2424275"/>
                <a:ext cx="464904" cy="464904"/>
              </a:xfrm>
              <a:prstGeom prst="rect">
                <a:avLst/>
              </a:prstGeom>
            </p:spPr>
          </p:pic>
          <p:pic>
            <p:nvPicPr>
              <p:cNvPr id="20" name="Graphic 19" descr="Document with solid fill">
                <a:extLst>
                  <a:ext uri="{FF2B5EF4-FFF2-40B4-BE49-F238E27FC236}">
                    <a16:creationId xmlns:a16="http://schemas.microsoft.com/office/drawing/2014/main" id="{8B05BF79-88FF-21EB-67DC-9B63B1CBAE3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445287" y="2848512"/>
                <a:ext cx="464904" cy="464904"/>
              </a:xfrm>
              <a:prstGeom prst="rect">
                <a:avLst/>
              </a:prstGeom>
            </p:spPr>
          </p:pic>
          <p:pic>
            <p:nvPicPr>
              <p:cNvPr id="21" name="Graphic 20" descr="Document with solid fill">
                <a:extLst>
                  <a:ext uri="{FF2B5EF4-FFF2-40B4-BE49-F238E27FC236}">
                    <a16:creationId xmlns:a16="http://schemas.microsoft.com/office/drawing/2014/main" id="{9742D917-C458-2006-610D-BE970299A49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149047" y="3309669"/>
                <a:ext cx="464904" cy="464904"/>
              </a:xfrm>
              <a:prstGeom prst="rect">
                <a:avLst/>
              </a:prstGeom>
            </p:spPr>
          </p:pic>
        </p:grpSp>
        <p:sp>
          <p:nvSpPr>
            <p:cNvPr id="16" name="TextBox 15">
              <a:extLst>
                <a:ext uri="{FF2B5EF4-FFF2-40B4-BE49-F238E27FC236}">
                  <a16:creationId xmlns:a16="http://schemas.microsoft.com/office/drawing/2014/main" id="{25E98A38-8340-5E72-01A7-7860045B278C}"/>
                </a:ext>
              </a:extLst>
            </p:cNvPr>
            <p:cNvSpPr txBox="1"/>
            <p:nvPr/>
          </p:nvSpPr>
          <p:spPr>
            <a:xfrm>
              <a:off x="4605497" y="3428856"/>
              <a:ext cx="1810818" cy="646331"/>
            </a:xfrm>
            <a:prstGeom prst="rect">
              <a:avLst/>
            </a:prstGeom>
            <a:noFill/>
          </p:spPr>
          <p:txBody>
            <a:bodyPr wrap="square" rtlCol="0">
              <a:spAutoFit/>
            </a:bodyPr>
            <a:lstStyle/>
            <a:p>
              <a:pPr algn="ctr"/>
              <a:r>
                <a:rPr lang="en-US" dirty="0"/>
                <a:t>Multiple resulted files</a:t>
              </a:r>
            </a:p>
          </p:txBody>
        </p:sp>
      </p:grpSp>
      <p:grpSp>
        <p:nvGrpSpPr>
          <p:cNvPr id="22" name="Group 21">
            <a:extLst>
              <a:ext uri="{FF2B5EF4-FFF2-40B4-BE49-F238E27FC236}">
                <a16:creationId xmlns:a16="http://schemas.microsoft.com/office/drawing/2014/main" id="{57480DE9-0231-368B-058E-E74CA5C356BB}"/>
              </a:ext>
            </a:extLst>
          </p:cNvPr>
          <p:cNvGrpSpPr/>
          <p:nvPr/>
        </p:nvGrpSpPr>
        <p:grpSpPr>
          <a:xfrm>
            <a:off x="6668032" y="2210585"/>
            <a:ext cx="1810818" cy="1608870"/>
            <a:chOff x="6668032" y="2115335"/>
            <a:chExt cx="1810818" cy="1608870"/>
          </a:xfrm>
        </p:grpSpPr>
        <p:pic>
          <p:nvPicPr>
            <p:cNvPr id="23" name="Picture 22">
              <a:extLst>
                <a:ext uri="{FF2B5EF4-FFF2-40B4-BE49-F238E27FC236}">
                  <a16:creationId xmlns:a16="http://schemas.microsoft.com/office/drawing/2014/main" id="{2548DF4C-24B6-8763-65BE-3A360F5B5391}"/>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10000" b="90000" l="10000" r="90000">
                          <a14:foregroundMark x1="38281" y1="31055" x2="58105" y2="33594"/>
                          <a14:foregroundMark x1="58105" y1="33594" x2="60059" y2="42090"/>
                          <a14:foregroundMark x1="60059" y1="42090" x2="55957" y2="47852"/>
                          <a14:foregroundMark x1="55957" y1="47852" x2="58594" y2="56543"/>
                          <a14:foregroundMark x1="58594" y1="56543" x2="63477" y2="64160"/>
                          <a14:foregroundMark x1="63477" y1="64160" x2="67188" y2="64746"/>
                          <a14:foregroundMark x1="38867" y1="64746" x2="46875" y2="64453"/>
                          <a14:foregroundMark x1="46875" y1="64453" x2="43066" y2="55469"/>
                          <a14:foregroundMark x1="43066" y1="55469" x2="42480" y2="37695"/>
                          <a14:foregroundMark x1="42480" y1="37695" x2="42188" y2="47266"/>
                          <a14:foregroundMark x1="42188" y1="47266" x2="51563" y2="47656"/>
                          <a14:foregroundMark x1="51563" y1="47656" x2="55957" y2="53809"/>
                        </a14:backgroundRemoval>
                      </a14:imgEffect>
                    </a14:imgLayer>
                  </a14:imgProps>
                </a:ext>
              </a:extLst>
            </a:blip>
            <a:stretch>
              <a:fillRect/>
            </a:stretch>
          </p:blipFill>
          <p:spPr>
            <a:xfrm>
              <a:off x="7018641" y="2115335"/>
              <a:ext cx="1099335" cy="1099335"/>
            </a:xfrm>
            <a:prstGeom prst="rect">
              <a:avLst/>
            </a:prstGeom>
          </p:spPr>
        </p:pic>
        <p:sp>
          <p:nvSpPr>
            <p:cNvPr id="24" name="TextBox 23">
              <a:extLst>
                <a:ext uri="{FF2B5EF4-FFF2-40B4-BE49-F238E27FC236}">
                  <a16:creationId xmlns:a16="http://schemas.microsoft.com/office/drawing/2014/main" id="{B585ED9D-C7E6-9254-046A-59DEE51A941F}"/>
                </a:ext>
              </a:extLst>
            </p:cNvPr>
            <p:cNvSpPr txBox="1"/>
            <p:nvPr/>
          </p:nvSpPr>
          <p:spPr>
            <a:xfrm>
              <a:off x="6668032" y="3077874"/>
              <a:ext cx="1810818" cy="646331"/>
            </a:xfrm>
            <a:prstGeom prst="rect">
              <a:avLst/>
            </a:prstGeom>
            <a:noFill/>
          </p:spPr>
          <p:txBody>
            <a:bodyPr wrap="square" rtlCol="0">
              <a:spAutoFit/>
            </a:bodyPr>
            <a:lstStyle/>
            <a:p>
              <a:pPr algn="ctr"/>
              <a:r>
                <a:rPr lang="en-US" dirty="0"/>
                <a:t>Data cleaning using R Script</a:t>
              </a:r>
            </a:p>
          </p:txBody>
        </p:sp>
      </p:grpSp>
      <p:grpSp>
        <p:nvGrpSpPr>
          <p:cNvPr id="25" name="Group 24">
            <a:extLst>
              <a:ext uri="{FF2B5EF4-FFF2-40B4-BE49-F238E27FC236}">
                <a16:creationId xmlns:a16="http://schemas.microsoft.com/office/drawing/2014/main" id="{377CA67D-F3D5-3016-6705-5DED2E3DC1BC}"/>
              </a:ext>
            </a:extLst>
          </p:cNvPr>
          <p:cNvGrpSpPr/>
          <p:nvPr/>
        </p:nvGrpSpPr>
        <p:grpSpPr>
          <a:xfrm>
            <a:off x="8788038" y="2337727"/>
            <a:ext cx="1810818" cy="1681089"/>
            <a:chOff x="8788038" y="2242477"/>
            <a:chExt cx="1810818" cy="1681089"/>
          </a:xfrm>
        </p:grpSpPr>
        <p:pic>
          <p:nvPicPr>
            <p:cNvPr id="26" name="Graphic 25" descr="Document with solid fill">
              <a:extLst>
                <a:ext uri="{FF2B5EF4-FFF2-40B4-BE49-F238E27FC236}">
                  <a16:creationId xmlns:a16="http://schemas.microsoft.com/office/drawing/2014/main" id="{B127BE3C-C71F-A982-DEA9-1A331A58C84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303443" y="2242477"/>
              <a:ext cx="780009" cy="780009"/>
            </a:xfrm>
            <a:prstGeom prst="rect">
              <a:avLst/>
            </a:prstGeom>
          </p:spPr>
        </p:pic>
        <p:sp>
          <p:nvSpPr>
            <p:cNvPr id="27" name="TextBox 26">
              <a:extLst>
                <a:ext uri="{FF2B5EF4-FFF2-40B4-BE49-F238E27FC236}">
                  <a16:creationId xmlns:a16="http://schemas.microsoft.com/office/drawing/2014/main" id="{F49DB5E7-909F-278E-053A-DAD23D217734}"/>
                </a:ext>
              </a:extLst>
            </p:cNvPr>
            <p:cNvSpPr txBox="1"/>
            <p:nvPr/>
          </p:nvSpPr>
          <p:spPr>
            <a:xfrm>
              <a:off x="8788038" y="3000236"/>
              <a:ext cx="1810818" cy="923330"/>
            </a:xfrm>
            <a:prstGeom prst="rect">
              <a:avLst/>
            </a:prstGeom>
            <a:noFill/>
          </p:spPr>
          <p:txBody>
            <a:bodyPr wrap="square" rtlCol="0">
              <a:spAutoFit/>
            </a:bodyPr>
            <a:lstStyle/>
            <a:p>
              <a:pPr algn="ctr"/>
              <a:r>
                <a:rPr lang="en-US" dirty="0"/>
                <a:t>Predicted strong binding epitopes</a:t>
              </a:r>
            </a:p>
            <a:p>
              <a:pPr algn="ctr"/>
              <a:r>
                <a:rPr lang="en-US" dirty="0"/>
                <a:t>(EL Rank &lt; 1%)</a:t>
              </a:r>
            </a:p>
          </p:txBody>
        </p:sp>
      </p:grpSp>
      <p:grpSp>
        <p:nvGrpSpPr>
          <p:cNvPr id="28" name="Group 27">
            <a:extLst>
              <a:ext uri="{FF2B5EF4-FFF2-40B4-BE49-F238E27FC236}">
                <a16:creationId xmlns:a16="http://schemas.microsoft.com/office/drawing/2014/main" id="{CC17619B-5DBA-E2FF-A894-26E92EC2AAE8}"/>
              </a:ext>
            </a:extLst>
          </p:cNvPr>
          <p:cNvGrpSpPr/>
          <p:nvPr/>
        </p:nvGrpSpPr>
        <p:grpSpPr>
          <a:xfrm>
            <a:off x="793708" y="1605464"/>
            <a:ext cx="3150719" cy="456846"/>
            <a:chOff x="357966" y="2951177"/>
            <a:chExt cx="3656550" cy="1092351"/>
          </a:xfrm>
        </p:grpSpPr>
        <p:sp>
          <p:nvSpPr>
            <p:cNvPr id="29" name="Rectangle: Rounded Corners 28">
              <a:extLst>
                <a:ext uri="{FF2B5EF4-FFF2-40B4-BE49-F238E27FC236}">
                  <a16:creationId xmlns:a16="http://schemas.microsoft.com/office/drawing/2014/main" id="{6411D266-F210-C0CA-DFCD-CAC340FE7C1E}"/>
                </a:ext>
              </a:extLst>
            </p:cNvPr>
            <p:cNvSpPr/>
            <p:nvPr/>
          </p:nvSpPr>
          <p:spPr>
            <a:xfrm>
              <a:off x="357966" y="2951177"/>
              <a:ext cx="3656550" cy="1092351"/>
            </a:xfrm>
            <a:prstGeom prst="roundRect">
              <a:avLst>
                <a:gd name="adj" fmla="val 10000"/>
              </a:avLst>
            </a:prstGeom>
            <a:solidFill>
              <a:srgbClr val="C00000"/>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en-US"/>
            </a:p>
          </p:txBody>
        </p:sp>
        <p:sp>
          <p:nvSpPr>
            <p:cNvPr id="30" name="Rectangle: Rounded Corners 4">
              <a:extLst>
                <a:ext uri="{FF2B5EF4-FFF2-40B4-BE49-F238E27FC236}">
                  <a16:creationId xmlns:a16="http://schemas.microsoft.com/office/drawing/2014/main" id="{864757CE-6E0D-8335-A5CD-079548FF7498}"/>
                </a:ext>
              </a:extLst>
            </p:cNvPr>
            <p:cNvSpPr txBox="1"/>
            <p:nvPr/>
          </p:nvSpPr>
          <p:spPr>
            <a:xfrm>
              <a:off x="389960" y="2983171"/>
              <a:ext cx="3592562" cy="102836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34290" tIns="22860" rIns="34290" bIns="22860" numCol="1" spcCol="1270" anchor="ctr" anchorCtr="0">
              <a:noAutofit/>
            </a:bodyPr>
            <a:lstStyle/>
            <a:p>
              <a:pPr marL="0" lvl="0" indent="0" algn="ctr" defTabSz="800100">
                <a:lnSpc>
                  <a:spcPct val="150000"/>
                </a:lnSpc>
                <a:spcBef>
                  <a:spcPct val="0"/>
                </a:spcBef>
                <a:spcAft>
                  <a:spcPct val="35000"/>
                </a:spcAft>
                <a:buNone/>
              </a:pPr>
              <a:r>
                <a:rPr lang="en-US" sz="1800" kern="1200" dirty="0" err="1"/>
                <a:t>NetMHCIIpan</a:t>
              </a:r>
              <a:r>
                <a:rPr lang="en-US" sz="1800" kern="1200" dirty="0"/>
                <a:t> v4.3.  </a:t>
              </a:r>
              <a:r>
                <a:rPr lang="en-US" dirty="0"/>
                <a:t>W</a:t>
              </a:r>
              <a:r>
                <a:rPr lang="en-US" sz="1800" kern="1200" dirty="0"/>
                <a:t>orkflow</a:t>
              </a:r>
            </a:p>
          </p:txBody>
        </p:sp>
      </p:grpSp>
      <p:sp>
        <p:nvSpPr>
          <p:cNvPr id="31" name="TextBox 30">
            <a:extLst>
              <a:ext uri="{FF2B5EF4-FFF2-40B4-BE49-F238E27FC236}">
                <a16:creationId xmlns:a16="http://schemas.microsoft.com/office/drawing/2014/main" id="{698DF57F-865E-2F52-61D5-AC82BAE369D2}"/>
              </a:ext>
            </a:extLst>
          </p:cNvPr>
          <p:cNvSpPr txBox="1"/>
          <p:nvPr/>
        </p:nvSpPr>
        <p:spPr>
          <a:xfrm>
            <a:off x="4098737" y="4669675"/>
            <a:ext cx="1579652" cy="923330"/>
          </a:xfrm>
          <a:prstGeom prst="rect">
            <a:avLst/>
          </a:prstGeom>
          <a:noFill/>
        </p:spPr>
        <p:txBody>
          <a:bodyPr wrap="square" rtlCol="0">
            <a:spAutoFit/>
          </a:bodyPr>
          <a:lstStyle/>
          <a:p>
            <a:pPr algn="ctr"/>
            <a:r>
              <a:rPr lang="en-US" dirty="0"/>
              <a:t>Epitopes</a:t>
            </a:r>
          </a:p>
          <a:p>
            <a:pPr algn="ctr"/>
            <a:r>
              <a:rPr lang="en-US" dirty="0"/>
              <a:t>  X</a:t>
            </a:r>
          </a:p>
          <a:p>
            <a:pPr algn="ctr"/>
            <a:r>
              <a:rPr lang="en-US" dirty="0"/>
              <a:t>5625 Alleles</a:t>
            </a:r>
          </a:p>
        </p:txBody>
      </p:sp>
      <p:cxnSp>
        <p:nvCxnSpPr>
          <p:cNvPr id="32" name="Straight Arrow Connector 31">
            <a:extLst>
              <a:ext uri="{FF2B5EF4-FFF2-40B4-BE49-F238E27FC236}">
                <a16:creationId xmlns:a16="http://schemas.microsoft.com/office/drawing/2014/main" id="{3262E469-41AF-2CD1-1870-B8C72A13F862}"/>
              </a:ext>
            </a:extLst>
          </p:cNvPr>
          <p:cNvCxnSpPr/>
          <p:nvPr/>
        </p:nvCxnSpPr>
        <p:spPr>
          <a:xfrm>
            <a:off x="5538289" y="5131340"/>
            <a:ext cx="608516" cy="0"/>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nvGrpSpPr>
          <p:cNvPr id="33" name="Group 32">
            <a:extLst>
              <a:ext uri="{FF2B5EF4-FFF2-40B4-BE49-F238E27FC236}">
                <a16:creationId xmlns:a16="http://schemas.microsoft.com/office/drawing/2014/main" id="{640F0FB2-B211-84AF-7FA7-BE3D84937C35}"/>
              </a:ext>
            </a:extLst>
          </p:cNvPr>
          <p:cNvGrpSpPr/>
          <p:nvPr/>
        </p:nvGrpSpPr>
        <p:grpSpPr>
          <a:xfrm>
            <a:off x="6279430" y="4669675"/>
            <a:ext cx="914400" cy="914400"/>
            <a:chOff x="3328825" y="5124871"/>
            <a:chExt cx="914400" cy="914400"/>
          </a:xfrm>
          <a:solidFill>
            <a:srgbClr val="C00000"/>
          </a:solidFill>
        </p:grpSpPr>
        <p:pic>
          <p:nvPicPr>
            <p:cNvPr id="34" name="Graphic 33" descr="Paper outline">
              <a:extLst>
                <a:ext uri="{FF2B5EF4-FFF2-40B4-BE49-F238E27FC236}">
                  <a16:creationId xmlns:a16="http://schemas.microsoft.com/office/drawing/2014/main" id="{39FC8904-B2B3-BE8D-F01F-EF13F6D7721D}"/>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328825" y="5124871"/>
              <a:ext cx="914400" cy="914400"/>
            </a:xfrm>
            <a:prstGeom prst="rect">
              <a:avLst/>
            </a:prstGeom>
          </p:spPr>
        </p:pic>
        <p:sp>
          <p:nvSpPr>
            <p:cNvPr id="35" name="TextBox 34">
              <a:extLst>
                <a:ext uri="{FF2B5EF4-FFF2-40B4-BE49-F238E27FC236}">
                  <a16:creationId xmlns:a16="http://schemas.microsoft.com/office/drawing/2014/main" id="{EC2784E2-C0FD-379A-E544-6B01DE03CC9C}"/>
                </a:ext>
              </a:extLst>
            </p:cNvPr>
            <p:cNvSpPr txBox="1"/>
            <p:nvPr/>
          </p:nvSpPr>
          <p:spPr>
            <a:xfrm>
              <a:off x="3428009" y="5310275"/>
              <a:ext cx="697367" cy="646331"/>
            </a:xfrm>
            <a:prstGeom prst="rect">
              <a:avLst/>
            </a:prstGeom>
            <a:noFill/>
          </p:spPr>
          <p:txBody>
            <a:bodyPr wrap="square" rtlCol="0">
              <a:spAutoFit/>
            </a:bodyPr>
            <a:lstStyle/>
            <a:p>
              <a:pPr algn="ctr"/>
              <a:r>
                <a:rPr lang="en-US" dirty="0">
                  <a:solidFill>
                    <a:srgbClr val="C00000"/>
                  </a:solidFill>
                </a:rPr>
                <a:t>&lt;/&gt;</a:t>
              </a:r>
            </a:p>
            <a:p>
              <a:pPr algn="ctr"/>
              <a:r>
                <a:rPr lang="en-US" dirty="0">
                  <a:solidFill>
                    <a:srgbClr val="C00000"/>
                  </a:solidFill>
                </a:rPr>
                <a:t>.py</a:t>
              </a:r>
            </a:p>
          </p:txBody>
        </p:sp>
      </p:grpSp>
      <p:sp>
        <p:nvSpPr>
          <p:cNvPr id="36" name="TextBox 35">
            <a:extLst>
              <a:ext uri="{FF2B5EF4-FFF2-40B4-BE49-F238E27FC236}">
                <a16:creationId xmlns:a16="http://schemas.microsoft.com/office/drawing/2014/main" id="{625AC768-B453-2445-C239-4DFCC6DE786F}"/>
              </a:ext>
            </a:extLst>
          </p:cNvPr>
          <p:cNvSpPr txBox="1"/>
          <p:nvPr/>
        </p:nvSpPr>
        <p:spPr>
          <a:xfrm>
            <a:off x="5903974" y="5592958"/>
            <a:ext cx="1810818" cy="369332"/>
          </a:xfrm>
          <a:prstGeom prst="rect">
            <a:avLst/>
          </a:prstGeom>
          <a:noFill/>
        </p:spPr>
        <p:txBody>
          <a:bodyPr wrap="square" rtlCol="0">
            <a:spAutoFit/>
          </a:bodyPr>
          <a:lstStyle/>
          <a:p>
            <a:pPr algn="ctr"/>
            <a:r>
              <a:rPr lang="en-US" dirty="0" err="1"/>
              <a:t>DeepMHCII</a:t>
            </a:r>
            <a:endParaRPr lang="en-US" dirty="0"/>
          </a:p>
        </p:txBody>
      </p:sp>
      <p:cxnSp>
        <p:nvCxnSpPr>
          <p:cNvPr id="37" name="Straight Arrow Connector 36">
            <a:extLst>
              <a:ext uri="{FF2B5EF4-FFF2-40B4-BE49-F238E27FC236}">
                <a16:creationId xmlns:a16="http://schemas.microsoft.com/office/drawing/2014/main" id="{EFE82780-B71B-6EFD-28F9-F8E3685E229E}"/>
              </a:ext>
            </a:extLst>
          </p:cNvPr>
          <p:cNvCxnSpPr/>
          <p:nvPr/>
        </p:nvCxnSpPr>
        <p:spPr>
          <a:xfrm>
            <a:off x="7355890" y="5136112"/>
            <a:ext cx="608516" cy="0"/>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pic>
        <p:nvPicPr>
          <p:cNvPr id="38" name="Graphic 37" descr="Document with solid fill">
            <a:extLst>
              <a:ext uri="{FF2B5EF4-FFF2-40B4-BE49-F238E27FC236}">
                <a16:creationId xmlns:a16="http://schemas.microsoft.com/office/drawing/2014/main" id="{9D063A00-F2A3-7996-29BD-2DD4DDA81B8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521325" y="4550686"/>
            <a:ext cx="780009" cy="780009"/>
          </a:xfrm>
          <a:prstGeom prst="rect">
            <a:avLst/>
          </a:prstGeom>
        </p:spPr>
      </p:pic>
      <p:sp>
        <p:nvSpPr>
          <p:cNvPr id="39" name="TextBox 38">
            <a:extLst>
              <a:ext uri="{FF2B5EF4-FFF2-40B4-BE49-F238E27FC236}">
                <a16:creationId xmlns:a16="http://schemas.microsoft.com/office/drawing/2014/main" id="{F0E82032-65D6-748B-15FB-E58045A7354C}"/>
              </a:ext>
            </a:extLst>
          </p:cNvPr>
          <p:cNvSpPr txBox="1"/>
          <p:nvPr/>
        </p:nvSpPr>
        <p:spPr>
          <a:xfrm>
            <a:off x="7891619" y="5308445"/>
            <a:ext cx="2414431" cy="923330"/>
          </a:xfrm>
          <a:prstGeom prst="rect">
            <a:avLst/>
          </a:prstGeom>
          <a:noFill/>
        </p:spPr>
        <p:txBody>
          <a:bodyPr wrap="square" rtlCol="0">
            <a:spAutoFit/>
          </a:bodyPr>
          <a:lstStyle/>
          <a:p>
            <a:pPr algn="ctr"/>
            <a:r>
              <a:rPr lang="en-US" dirty="0"/>
              <a:t>Predicted strong binding epitopes</a:t>
            </a:r>
          </a:p>
          <a:p>
            <a:pPr algn="ctr"/>
            <a:r>
              <a:rPr lang="en-US" dirty="0"/>
              <a:t>(</a:t>
            </a:r>
            <a:r>
              <a:rPr lang="en-US" dirty="0" err="1"/>
              <a:t>logAff</a:t>
            </a:r>
            <a:r>
              <a:rPr lang="en-US" dirty="0"/>
              <a:t> &lt; 0.426 </a:t>
            </a:r>
            <a:r>
              <a:rPr lang="en-US" dirty="0" err="1"/>
              <a:t>logAff</a:t>
            </a:r>
            <a:r>
              <a:rPr lang="en-US" dirty="0"/>
              <a:t>)</a:t>
            </a:r>
          </a:p>
        </p:txBody>
      </p:sp>
      <p:grpSp>
        <p:nvGrpSpPr>
          <p:cNvPr id="40" name="Group 39">
            <a:extLst>
              <a:ext uri="{FF2B5EF4-FFF2-40B4-BE49-F238E27FC236}">
                <a16:creationId xmlns:a16="http://schemas.microsoft.com/office/drawing/2014/main" id="{02C226CF-9656-5B02-E72E-41FE810770A6}"/>
              </a:ext>
            </a:extLst>
          </p:cNvPr>
          <p:cNvGrpSpPr/>
          <p:nvPr/>
        </p:nvGrpSpPr>
        <p:grpSpPr>
          <a:xfrm>
            <a:off x="1134299" y="4979080"/>
            <a:ext cx="2834933" cy="456846"/>
            <a:chOff x="1672" y="3793852"/>
            <a:chExt cx="3656550" cy="1092351"/>
          </a:xfrm>
        </p:grpSpPr>
        <p:sp>
          <p:nvSpPr>
            <p:cNvPr id="41" name="Rectangle: Rounded Corners 40">
              <a:extLst>
                <a:ext uri="{FF2B5EF4-FFF2-40B4-BE49-F238E27FC236}">
                  <a16:creationId xmlns:a16="http://schemas.microsoft.com/office/drawing/2014/main" id="{33F2DFD1-45DC-61A2-0DD8-F6ED0D0DE889}"/>
                </a:ext>
              </a:extLst>
            </p:cNvPr>
            <p:cNvSpPr/>
            <p:nvPr/>
          </p:nvSpPr>
          <p:spPr>
            <a:xfrm>
              <a:off x="1672" y="3793852"/>
              <a:ext cx="3656550" cy="1092351"/>
            </a:xfrm>
            <a:prstGeom prst="roundRect">
              <a:avLst>
                <a:gd name="adj" fmla="val 10000"/>
              </a:avLst>
            </a:prstGeom>
            <a:solidFill>
              <a:srgbClr val="C00000"/>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en-US"/>
            </a:p>
          </p:txBody>
        </p:sp>
        <p:sp>
          <p:nvSpPr>
            <p:cNvPr id="42" name="Rectangle: Rounded Corners 4">
              <a:extLst>
                <a:ext uri="{FF2B5EF4-FFF2-40B4-BE49-F238E27FC236}">
                  <a16:creationId xmlns:a16="http://schemas.microsoft.com/office/drawing/2014/main" id="{EA2E9F21-E764-67EA-E9D7-E82E13EF8F5F}"/>
                </a:ext>
              </a:extLst>
            </p:cNvPr>
            <p:cNvSpPr txBox="1"/>
            <p:nvPr/>
          </p:nvSpPr>
          <p:spPr>
            <a:xfrm>
              <a:off x="33666" y="3803084"/>
              <a:ext cx="3592562" cy="102836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34290" tIns="22860" rIns="34290" bIns="22860" numCol="1" spcCol="1270" anchor="ctr" anchorCtr="0">
              <a:noAutofit/>
            </a:bodyPr>
            <a:lstStyle/>
            <a:p>
              <a:pPr marL="0" lvl="0" indent="0" algn="ctr" defTabSz="800100">
                <a:lnSpc>
                  <a:spcPct val="150000"/>
                </a:lnSpc>
                <a:spcBef>
                  <a:spcPct val="0"/>
                </a:spcBef>
                <a:spcAft>
                  <a:spcPct val="35000"/>
                </a:spcAft>
                <a:buNone/>
              </a:pPr>
              <a:r>
                <a:rPr lang="en-US" sz="1800" kern="1200" dirty="0" err="1"/>
                <a:t>DeepMHCII</a:t>
              </a:r>
              <a:r>
                <a:rPr lang="en-US" sz="1800" kern="1200" dirty="0"/>
                <a:t>  </a:t>
              </a:r>
              <a:r>
                <a:rPr lang="en-US" dirty="0"/>
                <a:t>W</a:t>
              </a:r>
              <a:r>
                <a:rPr lang="en-US" sz="1800" kern="1200" dirty="0"/>
                <a:t>orkflow</a:t>
              </a:r>
            </a:p>
          </p:txBody>
        </p:sp>
      </p:grpSp>
      <p:grpSp>
        <p:nvGrpSpPr>
          <p:cNvPr id="44" name="Group 43">
            <a:extLst>
              <a:ext uri="{FF2B5EF4-FFF2-40B4-BE49-F238E27FC236}">
                <a16:creationId xmlns:a16="http://schemas.microsoft.com/office/drawing/2014/main" id="{4DECA23F-3429-C4FB-A120-FAF9C8D86C07}"/>
              </a:ext>
            </a:extLst>
          </p:cNvPr>
          <p:cNvGrpSpPr/>
          <p:nvPr/>
        </p:nvGrpSpPr>
        <p:grpSpPr>
          <a:xfrm>
            <a:off x="2461303" y="226801"/>
            <a:ext cx="7269394" cy="848154"/>
            <a:chOff x="739739" y="344774"/>
            <a:chExt cx="8311795" cy="1042237"/>
          </a:xfrm>
        </p:grpSpPr>
        <p:sp>
          <p:nvSpPr>
            <p:cNvPr id="45" name="Rectangle: Rounded Corners 44">
              <a:extLst>
                <a:ext uri="{FF2B5EF4-FFF2-40B4-BE49-F238E27FC236}">
                  <a16:creationId xmlns:a16="http://schemas.microsoft.com/office/drawing/2014/main" id="{B3D22F13-66CF-912C-CF26-78303FA79305}"/>
                </a:ext>
              </a:extLst>
            </p:cNvPr>
            <p:cNvSpPr/>
            <p:nvPr/>
          </p:nvSpPr>
          <p:spPr>
            <a:xfrm>
              <a:off x="739739" y="344774"/>
              <a:ext cx="8311794" cy="1042237"/>
            </a:xfrm>
            <a:prstGeom prst="roundRect">
              <a:avLst/>
            </a:prstGeom>
            <a:solidFill>
              <a:schemeClr val="bg1">
                <a:lumMod val="85000"/>
              </a:schemeClr>
            </a:solidFill>
            <a:ln>
              <a:no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en-US" sz="2000" dirty="0"/>
            </a:p>
          </p:txBody>
        </p:sp>
        <p:sp>
          <p:nvSpPr>
            <p:cNvPr id="46" name="Title 1">
              <a:extLst>
                <a:ext uri="{FF2B5EF4-FFF2-40B4-BE49-F238E27FC236}">
                  <a16:creationId xmlns:a16="http://schemas.microsoft.com/office/drawing/2014/main" id="{34D7E27C-579A-03B4-86AF-16028F503FEE}"/>
                </a:ext>
              </a:extLst>
            </p:cNvPr>
            <p:cNvSpPr txBox="1">
              <a:spLocks/>
            </p:cNvSpPr>
            <p:nvPr/>
          </p:nvSpPr>
          <p:spPr>
            <a:xfrm>
              <a:off x="739739" y="344774"/>
              <a:ext cx="8311795" cy="960044"/>
            </a:xfrm>
            <a:prstGeom prst="rect">
              <a:avLst/>
            </a:prstGeom>
            <a:noFill/>
            <a:ln w="12700" cap="flat" cmpd="sng" algn="ctr">
              <a:noFill/>
              <a:prstDash val="solid"/>
              <a:miter lim="800000"/>
            </a:ln>
          </p:spPr>
          <p:style>
            <a:lnRef idx="1">
              <a:schemeClr val="accent4"/>
            </a:lnRef>
            <a:fillRef idx="2">
              <a:schemeClr val="accent4"/>
            </a:fillRef>
            <a:effectRef idx="1">
              <a:schemeClr val="accent4"/>
            </a:effectRef>
            <a:fontRef idx="minor">
              <a:schemeClr val="dk1"/>
            </a:fontRef>
          </p:style>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l"/>
              <a:r>
                <a:rPr lang="en-US" sz="4400" dirty="0">
                  <a:solidFill>
                    <a:srgbClr val="C00000"/>
                  </a:solidFill>
                </a:rPr>
                <a:t>CD4</a:t>
              </a:r>
              <a:r>
                <a:rPr lang="en-US" sz="4400" baseline="30000" dirty="0">
                  <a:solidFill>
                    <a:srgbClr val="C00000"/>
                  </a:solidFill>
                </a:rPr>
                <a:t>+</a:t>
              </a:r>
              <a:r>
                <a:rPr lang="en-US" sz="4400" dirty="0">
                  <a:solidFill>
                    <a:srgbClr val="C00000"/>
                  </a:solidFill>
                </a:rPr>
                <a:t>T Cell Epitope prediction</a:t>
              </a:r>
            </a:p>
          </p:txBody>
        </p:sp>
      </p:grpSp>
    </p:spTree>
    <p:extLst>
      <p:ext uri="{BB962C8B-B14F-4D97-AF65-F5344CB8AC3E}">
        <p14:creationId xmlns:p14="http://schemas.microsoft.com/office/powerpoint/2010/main" val="6258332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6"/>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2"/>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8"/>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1"/>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2"/>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33"/>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6"/>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7"/>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38"/>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31" grpId="0"/>
      <p:bldP spid="36" grpId="0"/>
      <p:bldP spid="39"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8EDF5E4-54CC-AB96-BC69-359A1AD2C076}"/>
              </a:ext>
            </a:extLst>
          </p:cNvPr>
          <p:cNvSpPr/>
          <p:nvPr/>
        </p:nvSpPr>
        <p:spPr>
          <a:xfrm>
            <a:off x="0" y="1675"/>
            <a:ext cx="12192000" cy="6858000"/>
          </a:xfrm>
          <a:prstGeom prst="rect">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800" dirty="0">
              <a:latin typeface="Arial" panose="020B0604020202020204" pitchFamily="34" charset="0"/>
              <a:cs typeface="Arial" panose="020B0604020202020204" pitchFamily="34" charset="0"/>
            </a:endParaRPr>
          </a:p>
        </p:txBody>
      </p:sp>
      <p:graphicFrame>
        <p:nvGraphicFramePr>
          <p:cNvPr id="6" name="Table 5">
            <a:extLst>
              <a:ext uri="{FF2B5EF4-FFF2-40B4-BE49-F238E27FC236}">
                <a16:creationId xmlns:a16="http://schemas.microsoft.com/office/drawing/2014/main" id="{34CF4836-00D0-C30F-0270-F7B17724C508}"/>
              </a:ext>
            </a:extLst>
          </p:cNvPr>
          <p:cNvGraphicFramePr>
            <a:graphicFrameLocks noGrp="1"/>
          </p:cNvGraphicFramePr>
          <p:nvPr>
            <p:extLst>
              <p:ext uri="{D42A27DB-BD31-4B8C-83A1-F6EECF244321}">
                <p14:modId xmlns:p14="http://schemas.microsoft.com/office/powerpoint/2010/main" val="1890192149"/>
              </p:ext>
            </p:extLst>
          </p:nvPr>
        </p:nvGraphicFramePr>
        <p:xfrm>
          <a:off x="441789" y="1356404"/>
          <a:ext cx="11275830" cy="5090058"/>
        </p:xfrm>
        <a:graphic>
          <a:graphicData uri="http://schemas.openxmlformats.org/drawingml/2006/table">
            <a:tbl>
              <a:tblPr>
                <a:tableStyleId>{0505E3EF-67EA-436B-97B2-0124C06EBD24}</a:tableStyleId>
              </a:tblPr>
              <a:tblGrid>
                <a:gridCol w="1541123">
                  <a:extLst>
                    <a:ext uri="{9D8B030D-6E8A-4147-A177-3AD203B41FA5}">
                      <a16:colId xmlns:a16="http://schemas.microsoft.com/office/drawing/2014/main" val="494804705"/>
                    </a:ext>
                  </a:extLst>
                </a:gridCol>
                <a:gridCol w="667821">
                  <a:extLst>
                    <a:ext uri="{9D8B030D-6E8A-4147-A177-3AD203B41FA5}">
                      <a16:colId xmlns:a16="http://schemas.microsoft.com/office/drawing/2014/main" val="350813566"/>
                    </a:ext>
                  </a:extLst>
                </a:gridCol>
                <a:gridCol w="863029">
                  <a:extLst>
                    <a:ext uri="{9D8B030D-6E8A-4147-A177-3AD203B41FA5}">
                      <a16:colId xmlns:a16="http://schemas.microsoft.com/office/drawing/2014/main" val="3492794147"/>
                    </a:ext>
                  </a:extLst>
                </a:gridCol>
                <a:gridCol w="554804">
                  <a:extLst>
                    <a:ext uri="{9D8B030D-6E8A-4147-A177-3AD203B41FA5}">
                      <a16:colId xmlns:a16="http://schemas.microsoft.com/office/drawing/2014/main" val="3051183049"/>
                    </a:ext>
                  </a:extLst>
                </a:gridCol>
                <a:gridCol w="2291137">
                  <a:extLst>
                    <a:ext uri="{9D8B030D-6E8A-4147-A177-3AD203B41FA5}">
                      <a16:colId xmlns:a16="http://schemas.microsoft.com/office/drawing/2014/main" val="1000080102"/>
                    </a:ext>
                  </a:extLst>
                </a:gridCol>
                <a:gridCol w="575353">
                  <a:extLst>
                    <a:ext uri="{9D8B030D-6E8A-4147-A177-3AD203B41FA5}">
                      <a16:colId xmlns:a16="http://schemas.microsoft.com/office/drawing/2014/main" val="2829376971"/>
                    </a:ext>
                  </a:extLst>
                </a:gridCol>
                <a:gridCol w="2275667">
                  <a:extLst>
                    <a:ext uri="{9D8B030D-6E8A-4147-A177-3AD203B41FA5}">
                      <a16:colId xmlns:a16="http://schemas.microsoft.com/office/drawing/2014/main" val="1856323400"/>
                    </a:ext>
                  </a:extLst>
                </a:gridCol>
                <a:gridCol w="486649">
                  <a:extLst>
                    <a:ext uri="{9D8B030D-6E8A-4147-A177-3AD203B41FA5}">
                      <a16:colId xmlns:a16="http://schemas.microsoft.com/office/drawing/2014/main" val="691152979"/>
                    </a:ext>
                  </a:extLst>
                </a:gridCol>
                <a:gridCol w="2020247">
                  <a:extLst>
                    <a:ext uri="{9D8B030D-6E8A-4147-A177-3AD203B41FA5}">
                      <a16:colId xmlns:a16="http://schemas.microsoft.com/office/drawing/2014/main" val="578302481"/>
                    </a:ext>
                  </a:extLst>
                </a:gridCol>
              </a:tblGrid>
              <a:tr h="419856">
                <a:tc>
                  <a:txBody>
                    <a:bodyPr/>
                    <a:lstStyle/>
                    <a:p>
                      <a:pPr algn="ctr" fontAlgn="b"/>
                      <a:r>
                        <a:rPr lang="en-US" sz="1400" b="1" u="none" strike="noStrike" dirty="0">
                          <a:solidFill>
                            <a:srgbClr val="D9D9D9"/>
                          </a:solidFill>
                          <a:effectLst/>
                        </a:rPr>
                        <a:t>Peptide</a:t>
                      </a:r>
                      <a:endParaRPr lang="en-US" sz="1400" b="1" i="0" u="none" strike="noStrike" dirty="0">
                        <a:solidFill>
                          <a:srgbClr val="D9D9D9"/>
                        </a:solidFill>
                        <a:effectLst/>
                        <a:latin typeface="Calibri" panose="020F0502020204030204" pitchFamily="34" charset="0"/>
                      </a:endParaRPr>
                    </a:p>
                  </a:txBody>
                  <a:tcPr marL="3712" marR="3712" marT="3712" marB="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00000"/>
                    </a:solidFill>
                  </a:tcPr>
                </a:tc>
                <a:tc>
                  <a:txBody>
                    <a:bodyPr/>
                    <a:lstStyle/>
                    <a:p>
                      <a:pPr algn="ctr" fontAlgn="b"/>
                      <a:r>
                        <a:rPr lang="en-US" sz="1400" b="1" u="none" strike="noStrike" dirty="0">
                          <a:solidFill>
                            <a:srgbClr val="D9D9D9"/>
                          </a:solidFill>
                          <a:effectLst/>
                        </a:rPr>
                        <a:t>Region</a:t>
                      </a:r>
                      <a:endParaRPr lang="en-US" sz="1400" b="1" i="0" u="none" strike="noStrike" dirty="0">
                        <a:solidFill>
                          <a:srgbClr val="D9D9D9"/>
                        </a:solidFill>
                        <a:effectLst/>
                        <a:latin typeface="Calibri" panose="020F0502020204030204" pitchFamily="34" charset="0"/>
                      </a:endParaRPr>
                    </a:p>
                  </a:txBody>
                  <a:tcPr marL="3712" marR="3712" marT="3712" marB="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00000"/>
                    </a:solidFill>
                  </a:tcPr>
                </a:tc>
                <a:tc>
                  <a:txBody>
                    <a:bodyPr/>
                    <a:lstStyle/>
                    <a:p>
                      <a:pPr algn="ctr" fontAlgn="b"/>
                      <a:r>
                        <a:rPr lang="en-US" sz="1400" b="1" u="none" strike="noStrike" dirty="0">
                          <a:solidFill>
                            <a:srgbClr val="D9D9D9"/>
                          </a:solidFill>
                          <a:effectLst/>
                        </a:rPr>
                        <a:t>Length</a:t>
                      </a:r>
                      <a:endParaRPr lang="en-US" sz="1400" b="1" i="0" u="none" strike="noStrike" dirty="0">
                        <a:solidFill>
                          <a:srgbClr val="D9D9D9"/>
                        </a:solidFill>
                        <a:effectLst/>
                        <a:latin typeface="Calibri" panose="020F0502020204030204" pitchFamily="34" charset="0"/>
                      </a:endParaRPr>
                    </a:p>
                  </a:txBody>
                  <a:tcPr marL="3712" marR="3712" marT="3712" marB="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00000"/>
                    </a:solidFill>
                  </a:tcPr>
                </a:tc>
                <a:tc>
                  <a:txBody>
                    <a:bodyPr/>
                    <a:lstStyle/>
                    <a:p>
                      <a:pPr algn="ctr" fontAlgn="ctr"/>
                      <a:r>
                        <a:rPr lang="en-US" sz="1400" b="1" u="none" strike="noStrike" dirty="0">
                          <a:solidFill>
                            <a:srgbClr val="D9D9D9"/>
                          </a:solidFill>
                          <a:effectLst/>
                        </a:rPr>
                        <a:t>No. </a:t>
                      </a:r>
                      <a:endParaRPr lang="en-US" sz="1400" b="1" i="0" u="none" strike="noStrike" dirty="0">
                        <a:solidFill>
                          <a:srgbClr val="D9D9D9"/>
                        </a:solidFill>
                        <a:effectLst/>
                        <a:latin typeface="Calibri" panose="020F0502020204030204" pitchFamily="34" charset="0"/>
                      </a:endParaRPr>
                    </a:p>
                  </a:txBody>
                  <a:tcPr marL="3712" marR="3712" marT="3712" marB="0"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00000"/>
                    </a:solidFill>
                  </a:tcPr>
                </a:tc>
                <a:tc>
                  <a:txBody>
                    <a:bodyPr/>
                    <a:lstStyle/>
                    <a:p>
                      <a:pPr algn="ctr" fontAlgn="ctr"/>
                      <a:r>
                        <a:rPr lang="en-US" sz="1400" b="1" u="none" strike="noStrike" dirty="0" err="1">
                          <a:solidFill>
                            <a:srgbClr val="D9D9D9"/>
                          </a:solidFill>
                          <a:effectLst/>
                        </a:rPr>
                        <a:t>DeepMHCII</a:t>
                      </a:r>
                      <a:r>
                        <a:rPr lang="en-US" sz="1400" b="1" u="none" strike="noStrike" dirty="0">
                          <a:solidFill>
                            <a:srgbClr val="D9D9D9"/>
                          </a:solidFill>
                          <a:effectLst/>
                        </a:rPr>
                        <a:t> Epitopes</a:t>
                      </a:r>
                      <a:endParaRPr lang="en-US" sz="1400" b="1" i="0" u="none" strike="noStrike" dirty="0">
                        <a:solidFill>
                          <a:srgbClr val="D9D9D9"/>
                        </a:solidFill>
                        <a:effectLst/>
                        <a:latin typeface="Calibri" panose="020F0502020204030204" pitchFamily="34" charset="0"/>
                      </a:endParaRPr>
                    </a:p>
                  </a:txBody>
                  <a:tcPr marL="3712" marR="3712" marT="3712" marB="0"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00000"/>
                    </a:solidFill>
                  </a:tcPr>
                </a:tc>
                <a:tc>
                  <a:txBody>
                    <a:bodyPr/>
                    <a:lstStyle/>
                    <a:p>
                      <a:pPr algn="ctr" fontAlgn="ctr"/>
                      <a:r>
                        <a:rPr lang="en-US" sz="1400" b="1" u="none" strike="noStrike" dirty="0">
                          <a:solidFill>
                            <a:srgbClr val="D9D9D9"/>
                          </a:solidFill>
                          <a:effectLst/>
                        </a:rPr>
                        <a:t>No. </a:t>
                      </a:r>
                      <a:endParaRPr lang="en-US" sz="1400" b="1" i="0" u="none" strike="noStrike" dirty="0">
                        <a:solidFill>
                          <a:srgbClr val="D9D9D9"/>
                        </a:solidFill>
                        <a:effectLst/>
                        <a:latin typeface="Calibri" panose="020F0502020204030204" pitchFamily="34" charset="0"/>
                      </a:endParaRPr>
                    </a:p>
                  </a:txBody>
                  <a:tcPr marL="3712" marR="3712" marT="3712" marB="0"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00000"/>
                    </a:solidFill>
                  </a:tcPr>
                </a:tc>
                <a:tc>
                  <a:txBody>
                    <a:bodyPr/>
                    <a:lstStyle/>
                    <a:p>
                      <a:pPr algn="ctr" fontAlgn="ctr"/>
                      <a:r>
                        <a:rPr lang="en-US" sz="1400" b="1" u="none" strike="noStrike" dirty="0" err="1">
                          <a:solidFill>
                            <a:srgbClr val="D9D9D9"/>
                          </a:solidFill>
                          <a:effectLst/>
                        </a:rPr>
                        <a:t>NetMHCIIpan</a:t>
                      </a:r>
                      <a:r>
                        <a:rPr lang="en-US" sz="1400" b="1" u="none" strike="noStrike" dirty="0">
                          <a:solidFill>
                            <a:srgbClr val="D9D9D9"/>
                          </a:solidFill>
                          <a:effectLst/>
                        </a:rPr>
                        <a:t> Epitopes</a:t>
                      </a:r>
                      <a:endParaRPr lang="en-US" sz="1400" b="1" i="0" u="none" strike="noStrike" dirty="0">
                        <a:solidFill>
                          <a:srgbClr val="D9D9D9"/>
                        </a:solidFill>
                        <a:effectLst/>
                        <a:latin typeface="Calibri" panose="020F0502020204030204" pitchFamily="34" charset="0"/>
                      </a:endParaRPr>
                    </a:p>
                  </a:txBody>
                  <a:tcPr marL="3712" marR="3712" marT="3712" marB="0"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00000"/>
                    </a:solidFill>
                  </a:tcPr>
                </a:tc>
                <a:tc>
                  <a:txBody>
                    <a:bodyPr/>
                    <a:lstStyle/>
                    <a:p>
                      <a:pPr algn="ctr" fontAlgn="ctr"/>
                      <a:r>
                        <a:rPr lang="en-US" sz="1400" b="1" u="none" strike="noStrike" dirty="0">
                          <a:solidFill>
                            <a:srgbClr val="D9D9D9"/>
                          </a:solidFill>
                          <a:effectLst/>
                        </a:rPr>
                        <a:t>No</a:t>
                      </a:r>
                      <a:endParaRPr lang="en-US" sz="1400" b="1" i="0" u="none" strike="noStrike" dirty="0">
                        <a:solidFill>
                          <a:srgbClr val="D9D9D9"/>
                        </a:solidFill>
                        <a:effectLst/>
                        <a:latin typeface="Calibri" panose="020F0502020204030204" pitchFamily="34" charset="0"/>
                      </a:endParaRPr>
                    </a:p>
                  </a:txBody>
                  <a:tcPr marL="3712" marR="3712" marT="3712" marB="0"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00000"/>
                    </a:solidFill>
                  </a:tcPr>
                </a:tc>
                <a:tc>
                  <a:txBody>
                    <a:bodyPr/>
                    <a:lstStyle/>
                    <a:p>
                      <a:pPr algn="ctr" fontAlgn="b"/>
                      <a:r>
                        <a:rPr lang="en-US" sz="1400" b="1" u="none" strike="noStrike" dirty="0">
                          <a:solidFill>
                            <a:srgbClr val="D9D9D9"/>
                          </a:solidFill>
                          <a:effectLst/>
                        </a:rPr>
                        <a:t>Common Epitopes</a:t>
                      </a:r>
                      <a:endParaRPr lang="en-US" sz="1400" b="1" i="0" u="none" strike="noStrike" dirty="0">
                        <a:solidFill>
                          <a:srgbClr val="D9D9D9"/>
                        </a:solidFill>
                        <a:effectLst/>
                        <a:latin typeface="Calibri" panose="020F0502020204030204" pitchFamily="34" charset="0"/>
                      </a:endParaRPr>
                    </a:p>
                  </a:txBody>
                  <a:tcPr marL="3712" marR="3712" marT="3712" marB="0" anchor="ctr">
                    <a:lnL w="12700" cmpd="sng">
                      <a:noFill/>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00000"/>
                    </a:solidFill>
                  </a:tcPr>
                </a:tc>
                <a:extLst>
                  <a:ext uri="{0D108BD9-81ED-4DB2-BD59-A6C34878D82A}">
                    <a16:rowId xmlns:a16="http://schemas.microsoft.com/office/drawing/2014/main" val="801886017"/>
                  </a:ext>
                </a:extLst>
              </a:tr>
              <a:tr h="837705">
                <a:tc>
                  <a:txBody>
                    <a:bodyPr/>
                    <a:lstStyle/>
                    <a:p>
                      <a:pPr algn="ctr" fontAlgn="ctr"/>
                      <a:r>
                        <a:rPr lang="en-US" sz="1100" b="0" u="none" strike="noStrike" dirty="0">
                          <a:solidFill>
                            <a:srgbClr val="000000"/>
                          </a:solidFill>
                          <a:effectLst/>
                        </a:rPr>
                        <a:t>FARELAYEGLDPALIIKKLKETGGDDWV</a:t>
                      </a:r>
                      <a:endParaRPr lang="en-US" sz="1100" b="0" i="0" u="none" strike="noStrike" dirty="0">
                        <a:solidFill>
                          <a:srgbClr val="000000"/>
                        </a:solidFill>
                        <a:effectLst/>
                        <a:latin typeface="Calibri" panose="020F0502020204030204" pitchFamily="34" charset="0"/>
                      </a:endParaRPr>
                    </a:p>
                  </a:txBody>
                  <a:tcPr marL="3712" marR="3712" marT="3712" marB="0" anchor="ct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D9D9D9"/>
                    </a:solidFill>
                  </a:tcPr>
                </a:tc>
                <a:tc>
                  <a:txBody>
                    <a:bodyPr/>
                    <a:lstStyle/>
                    <a:p>
                      <a:pPr algn="ctr" fontAlgn="ctr"/>
                      <a:r>
                        <a:rPr lang="en-US" sz="1050" b="0" u="none" strike="noStrike" dirty="0">
                          <a:solidFill>
                            <a:srgbClr val="000000"/>
                          </a:solidFill>
                          <a:effectLst/>
                        </a:rPr>
                        <a:t>24-51</a:t>
                      </a:r>
                      <a:endParaRPr lang="en-US" sz="1050" b="0" i="0" u="none" strike="noStrike" dirty="0">
                        <a:solidFill>
                          <a:srgbClr val="000000"/>
                        </a:solidFill>
                        <a:effectLst/>
                        <a:latin typeface="Calibri" panose="020F0502020204030204" pitchFamily="34" charset="0"/>
                      </a:endParaRPr>
                    </a:p>
                  </a:txBody>
                  <a:tcPr marL="3712" marR="3712" marT="3712" marB="0" anchor="ct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D9D9D9"/>
                    </a:solidFill>
                  </a:tcPr>
                </a:tc>
                <a:tc>
                  <a:txBody>
                    <a:bodyPr/>
                    <a:lstStyle/>
                    <a:p>
                      <a:pPr algn="ctr" fontAlgn="ctr"/>
                      <a:r>
                        <a:rPr lang="en-US" sz="1050" b="0" u="none" strike="noStrike">
                          <a:solidFill>
                            <a:srgbClr val="000000"/>
                          </a:solidFill>
                          <a:effectLst/>
                        </a:rPr>
                        <a:t>28</a:t>
                      </a:r>
                      <a:endParaRPr lang="en-US" sz="1050" b="0" i="0" u="none" strike="noStrike">
                        <a:solidFill>
                          <a:srgbClr val="000000"/>
                        </a:solidFill>
                        <a:effectLst/>
                        <a:latin typeface="Calibri" panose="020F0502020204030204" pitchFamily="34" charset="0"/>
                      </a:endParaRPr>
                    </a:p>
                  </a:txBody>
                  <a:tcPr marL="3712" marR="3712" marT="3712" marB="0" anchor="ct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D9D9D9"/>
                    </a:solidFill>
                  </a:tcPr>
                </a:tc>
                <a:tc>
                  <a:txBody>
                    <a:bodyPr/>
                    <a:lstStyle/>
                    <a:p>
                      <a:pPr algn="ctr" fontAlgn="ctr"/>
                      <a:r>
                        <a:rPr lang="en-US" sz="1050" b="0" u="none" strike="noStrike" dirty="0">
                          <a:solidFill>
                            <a:srgbClr val="000000"/>
                          </a:solidFill>
                          <a:effectLst/>
                        </a:rPr>
                        <a:t>14</a:t>
                      </a:r>
                      <a:endParaRPr lang="en-US" sz="1050" b="0" i="0" u="none" strike="noStrike" dirty="0">
                        <a:solidFill>
                          <a:srgbClr val="000000"/>
                        </a:solidFill>
                        <a:effectLst/>
                        <a:latin typeface="Calibri" panose="020F0502020204030204" pitchFamily="34" charset="0"/>
                      </a:endParaRPr>
                    </a:p>
                  </a:txBody>
                  <a:tcPr marL="3712" marR="3712" marT="3712" marB="0" anchor="ct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D9D9D9"/>
                    </a:solidFill>
                  </a:tcPr>
                </a:tc>
                <a:tc>
                  <a:txBody>
                    <a:bodyPr/>
                    <a:lstStyle/>
                    <a:p>
                      <a:pPr algn="ctr" fontAlgn="ctr"/>
                      <a:r>
                        <a:rPr lang="en-US" sz="700" b="0" u="none" strike="noStrike" dirty="0">
                          <a:solidFill>
                            <a:srgbClr val="000000"/>
                          </a:solidFill>
                          <a:effectLst/>
                        </a:rPr>
                        <a:t>FARELAYEGLDPALI ,ARELAYEGLDPALII ,RELAYEGLDPALIIK ELAYEGLDPALIIKK ,LAYEGLDPALIIKKL, AYEGLDPALIIKKLK ,YEGLDPALIIKKLKE , EGLDPALIIKKLKET ,GLDPALIIKKLKETG , LDPALIIKKLKETGG ,DPALIIKKLKETGGD , PALIIKKLKETGGDD ,ALIIKKLKETGGDDW ,LIIKKLKETGGDDWV</a:t>
                      </a:r>
                      <a:endParaRPr lang="en-US" sz="700" b="0" i="0" u="none" strike="noStrike" dirty="0">
                        <a:solidFill>
                          <a:srgbClr val="000000"/>
                        </a:solidFill>
                        <a:effectLst/>
                        <a:latin typeface="Calibri" panose="020F0502020204030204" pitchFamily="34" charset="0"/>
                      </a:endParaRPr>
                    </a:p>
                  </a:txBody>
                  <a:tcPr marL="3712" marR="3712" marT="3712" marB="0" anchor="ct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D9D9D9"/>
                    </a:solidFill>
                  </a:tcPr>
                </a:tc>
                <a:tc>
                  <a:txBody>
                    <a:bodyPr/>
                    <a:lstStyle/>
                    <a:p>
                      <a:pPr algn="ctr" fontAlgn="ctr"/>
                      <a:r>
                        <a:rPr lang="en-US" sz="1100" b="0" u="none" strike="noStrike" dirty="0">
                          <a:solidFill>
                            <a:srgbClr val="000000"/>
                          </a:solidFill>
                          <a:effectLst/>
                        </a:rPr>
                        <a:t>14</a:t>
                      </a:r>
                      <a:endParaRPr lang="en-US" sz="1100" b="0" i="0" u="none" strike="noStrike" dirty="0">
                        <a:solidFill>
                          <a:srgbClr val="000000"/>
                        </a:solidFill>
                        <a:effectLst/>
                        <a:latin typeface="Calibri" panose="020F0502020204030204" pitchFamily="34" charset="0"/>
                      </a:endParaRPr>
                    </a:p>
                  </a:txBody>
                  <a:tcPr marL="3712" marR="3712" marT="3712" marB="0" anchor="ct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D9D9D9"/>
                    </a:solidFill>
                  </a:tcPr>
                </a:tc>
                <a:tc>
                  <a:txBody>
                    <a:bodyPr/>
                    <a:lstStyle/>
                    <a:p>
                      <a:pPr algn="ctr" fontAlgn="ctr"/>
                      <a:r>
                        <a:rPr lang="en-US" sz="700" b="0" u="none" strike="noStrike" dirty="0">
                          <a:solidFill>
                            <a:srgbClr val="000000"/>
                          </a:solidFill>
                          <a:effectLst/>
                        </a:rPr>
                        <a:t>ARELAYEGLDPALII ,AYEGLDPALIIKKLK, ELAYEGLDPALIIKK ,FARELAYEGLDPALI , LAYEGLDPALIIKKL ,RELAYEGLDPALIIK , ALIIKKLKETGGDDW ,DPALIIKKLKETGGD , GLDPALIIKKLKETG ,LDPALIIKKLKETGG , LIIKKLKETGGDDWV ,PALIIKKLKETGGDD , EGLDPALIIKKLKET ,YEGLDPALIIKKLKE</a:t>
                      </a:r>
                      <a:endParaRPr lang="en-US" sz="700" b="0" i="0" u="none" strike="noStrike" dirty="0">
                        <a:solidFill>
                          <a:srgbClr val="000000"/>
                        </a:solidFill>
                        <a:effectLst/>
                        <a:latin typeface="Calibri" panose="020F0502020204030204" pitchFamily="34" charset="0"/>
                      </a:endParaRPr>
                    </a:p>
                  </a:txBody>
                  <a:tcPr marL="3712" marR="3712" marT="3712" marB="0" anchor="ct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D9D9D9"/>
                    </a:solidFill>
                  </a:tcPr>
                </a:tc>
                <a:tc>
                  <a:txBody>
                    <a:bodyPr/>
                    <a:lstStyle/>
                    <a:p>
                      <a:pPr algn="ctr" fontAlgn="ctr"/>
                      <a:r>
                        <a:rPr lang="en-US" sz="1100" b="0" u="none" strike="noStrike" dirty="0">
                          <a:solidFill>
                            <a:srgbClr val="000000"/>
                          </a:solidFill>
                          <a:effectLst/>
                        </a:rPr>
                        <a:t>14</a:t>
                      </a:r>
                      <a:endParaRPr lang="en-US" sz="1100" b="0" i="0" u="none" strike="noStrike" dirty="0">
                        <a:solidFill>
                          <a:srgbClr val="000000"/>
                        </a:solidFill>
                        <a:effectLst/>
                        <a:latin typeface="Calibri" panose="020F0502020204030204" pitchFamily="34" charset="0"/>
                      </a:endParaRPr>
                    </a:p>
                  </a:txBody>
                  <a:tcPr marL="3712" marR="3712" marT="3712" marB="0" anchor="ct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D9D9D9"/>
                    </a:solidFill>
                  </a:tcPr>
                </a:tc>
                <a:tc>
                  <a:txBody>
                    <a:bodyPr/>
                    <a:lstStyle/>
                    <a:p>
                      <a:pPr algn="ctr" fontAlgn="ctr"/>
                      <a:r>
                        <a:rPr lang="en-US" sz="700" b="0" u="none" strike="noStrike" dirty="0">
                          <a:solidFill>
                            <a:srgbClr val="000000"/>
                          </a:solidFill>
                          <a:effectLst/>
                        </a:rPr>
                        <a:t>FARELAYEGLDPALI ,ARELAYEGLDPALII ,RELAYEGLDPALIIK ,ELAYEGLDPALIIKK ,LAYEGLDPALIIKKL ,AYEGLDPALIIKKLK ,YEGLDPALIIKKLKE ,EGLDPALIIKKLKET ,GLDPALIIKKLKETG ,LDPALIIKKLKETGG ,DPALIIKKLKETGGD ,PALIIKKLKETGGDD ,ALIIKKLKETGGDDW ,LIIKKLKETGGDDWV</a:t>
                      </a:r>
                      <a:endParaRPr lang="en-US" sz="700" b="0" i="0" u="none" strike="noStrike" dirty="0">
                        <a:solidFill>
                          <a:srgbClr val="000000"/>
                        </a:solidFill>
                        <a:effectLst/>
                        <a:latin typeface="Calibri" panose="020F0502020204030204" pitchFamily="34" charset="0"/>
                      </a:endParaRPr>
                    </a:p>
                  </a:txBody>
                  <a:tcPr marL="3712" marR="3712" marT="3712" marB="0"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1445564767"/>
                  </a:ext>
                </a:extLst>
              </a:tr>
              <a:tr h="1105495">
                <a:tc>
                  <a:txBody>
                    <a:bodyPr/>
                    <a:lstStyle/>
                    <a:p>
                      <a:pPr algn="ctr" fontAlgn="ctr"/>
                      <a:r>
                        <a:rPr lang="en-US" sz="1100" b="0" u="none" strike="noStrike" dirty="0">
                          <a:solidFill>
                            <a:srgbClr val="000000"/>
                          </a:solidFill>
                          <a:effectLst/>
                        </a:rPr>
                        <a:t>DTKFIIVFALTRGNKIVKASGKMSNSGSK</a:t>
                      </a:r>
                      <a:endParaRPr lang="en-US" sz="1100" b="0" i="0" u="none" strike="noStrike" dirty="0">
                        <a:solidFill>
                          <a:srgbClr val="000000"/>
                        </a:solidFill>
                        <a:effectLst/>
                        <a:latin typeface="Calibri" panose="020F0502020204030204" pitchFamily="34" charset="0"/>
                      </a:endParaRPr>
                    </a:p>
                  </a:txBody>
                  <a:tcPr marL="3712" marR="3712" marT="3712"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9D9D9"/>
                    </a:solidFill>
                  </a:tcPr>
                </a:tc>
                <a:tc>
                  <a:txBody>
                    <a:bodyPr/>
                    <a:lstStyle/>
                    <a:p>
                      <a:pPr algn="ctr" fontAlgn="ctr"/>
                      <a:r>
                        <a:rPr lang="en-US" sz="1050" b="0" u="none" strike="noStrike" dirty="0">
                          <a:solidFill>
                            <a:srgbClr val="000000"/>
                          </a:solidFill>
                          <a:effectLst/>
                        </a:rPr>
                        <a:t>53-81</a:t>
                      </a:r>
                      <a:endParaRPr lang="en-US" sz="1050" b="0" i="0" u="none" strike="noStrike" dirty="0">
                        <a:solidFill>
                          <a:srgbClr val="000000"/>
                        </a:solidFill>
                        <a:effectLst/>
                        <a:latin typeface="Calibri" panose="020F0502020204030204" pitchFamily="34" charset="0"/>
                      </a:endParaRPr>
                    </a:p>
                  </a:txBody>
                  <a:tcPr marL="3712" marR="3712" marT="3712"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9D9D9"/>
                    </a:solidFill>
                  </a:tcPr>
                </a:tc>
                <a:tc>
                  <a:txBody>
                    <a:bodyPr/>
                    <a:lstStyle/>
                    <a:p>
                      <a:pPr algn="ctr" fontAlgn="ctr"/>
                      <a:r>
                        <a:rPr lang="en-US" sz="1050" b="0" u="none" strike="noStrike">
                          <a:solidFill>
                            <a:srgbClr val="000000"/>
                          </a:solidFill>
                          <a:effectLst/>
                        </a:rPr>
                        <a:t>29</a:t>
                      </a:r>
                      <a:endParaRPr lang="en-US" sz="1050" b="0" i="0" u="none" strike="noStrike">
                        <a:solidFill>
                          <a:srgbClr val="000000"/>
                        </a:solidFill>
                        <a:effectLst/>
                        <a:latin typeface="Calibri" panose="020F0502020204030204" pitchFamily="34" charset="0"/>
                      </a:endParaRPr>
                    </a:p>
                  </a:txBody>
                  <a:tcPr marL="3712" marR="3712" marT="3712"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9D9D9"/>
                    </a:solidFill>
                  </a:tcPr>
                </a:tc>
                <a:tc>
                  <a:txBody>
                    <a:bodyPr/>
                    <a:lstStyle/>
                    <a:p>
                      <a:pPr algn="ctr" fontAlgn="ctr"/>
                      <a:r>
                        <a:rPr lang="en-US" sz="1050" b="0" u="none" strike="noStrike" dirty="0">
                          <a:solidFill>
                            <a:srgbClr val="000000"/>
                          </a:solidFill>
                          <a:effectLst/>
                        </a:rPr>
                        <a:t>15</a:t>
                      </a:r>
                      <a:endParaRPr lang="en-US" sz="1050" b="0" i="0" u="none" strike="noStrike" dirty="0">
                        <a:solidFill>
                          <a:srgbClr val="000000"/>
                        </a:solidFill>
                        <a:effectLst/>
                        <a:latin typeface="Calibri" panose="020F0502020204030204" pitchFamily="34" charset="0"/>
                      </a:endParaRPr>
                    </a:p>
                  </a:txBody>
                  <a:tcPr marL="3712" marR="3712" marT="3712"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9D9D9"/>
                    </a:solidFill>
                  </a:tcPr>
                </a:tc>
                <a:tc>
                  <a:txBody>
                    <a:bodyPr/>
                    <a:lstStyle/>
                    <a:p>
                      <a:pPr algn="ctr" fontAlgn="ctr"/>
                      <a:r>
                        <a:rPr lang="en-US" sz="700" b="0" u="none" strike="noStrike" dirty="0">
                          <a:solidFill>
                            <a:srgbClr val="000000"/>
                          </a:solidFill>
                          <a:effectLst/>
                        </a:rPr>
                        <a:t>DTKFIIVFALTRGNK ,TKFIIVFALTRGNKI , KFIIVFALTRGNKIV ,FIIVFALTRGNKIVK ,IIVFALTRGNKIVKA IVFALTRGNKIVKAS ,VFALTRGNKIVKASG FALTRGNKIVKASGK ,ALTRGNKIVKASGKM LTRGNKIVKASGKMS ,TRGNKIVKASGKMSN RGNKIVKASGKMSNS ,GNKIVKASGKMSNSG NKIVKASGKMSNSGS ,KIVKASGKMSNSGSK</a:t>
                      </a:r>
                      <a:endParaRPr lang="en-US" sz="700" b="0" i="0" u="none" strike="noStrike" dirty="0">
                        <a:solidFill>
                          <a:srgbClr val="000000"/>
                        </a:solidFill>
                        <a:effectLst/>
                        <a:latin typeface="Calibri" panose="020F0502020204030204" pitchFamily="34" charset="0"/>
                      </a:endParaRPr>
                    </a:p>
                  </a:txBody>
                  <a:tcPr marL="3712" marR="3712" marT="3712"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9D9D9"/>
                    </a:solidFill>
                  </a:tcPr>
                </a:tc>
                <a:tc>
                  <a:txBody>
                    <a:bodyPr/>
                    <a:lstStyle/>
                    <a:p>
                      <a:pPr algn="ctr" fontAlgn="ctr"/>
                      <a:r>
                        <a:rPr lang="en-US" sz="1100" b="0" u="none" strike="noStrike" dirty="0">
                          <a:solidFill>
                            <a:srgbClr val="000000"/>
                          </a:solidFill>
                          <a:effectLst/>
                        </a:rPr>
                        <a:t>15</a:t>
                      </a:r>
                      <a:endParaRPr lang="en-US" sz="1100" b="0" i="0" u="none" strike="noStrike" dirty="0">
                        <a:solidFill>
                          <a:srgbClr val="000000"/>
                        </a:solidFill>
                        <a:effectLst/>
                        <a:latin typeface="Calibri" panose="020F0502020204030204" pitchFamily="34" charset="0"/>
                      </a:endParaRPr>
                    </a:p>
                  </a:txBody>
                  <a:tcPr marL="3712" marR="3712" marT="3712"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9D9D9"/>
                    </a:solidFill>
                  </a:tcPr>
                </a:tc>
                <a:tc>
                  <a:txBody>
                    <a:bodyPr/>
                    <a:lstStyle/>
                    <a:p>
                      <a:pPr algn="ctr" fontAlgn="ctr"/>
                      <a:r>
                        <a:rPr lang="en-US" sz="700" b="0" u="none" strike="noStrike" dirty="0">
                          <a:solidFill>
                            <a:srgbClr val="000000"/>
                          </a:solidFill>
                          <a:effectLst/>
                        </a:rPr>
                        <a:t>DTKFIIVFALTRGNK ,FIIVFALTRGNKIVK , GNKIVKASGKMSNSG ,IIVFALTRGNKIVKA , IVFALTRGNKIVKAS ,KFIIVFALTRGNKIV , NKIVKASGKMSNSGS ,RGNKIVKASGKMSNS , TKFIIVFALTRGNKI ,TRGNKIVKASGKMSN , VFALTRGNKIVKASG ,FALTRGNKIVKASGK , ALTRGNKIVKASGKM ,LTRGNKIVKASGKMS , KIVKASGKMSNSGSK</a:t>
                      </a:r>
                      <a:endParaRPr lang="en-US" sz="700" b="0" i="0" u="none" strike="noStrike" dirty="0">
                        <a:solidFill>
                          <a:srgbClr val="000000"/>
                        </a:solidFill>
                        <a:effectLst/>
                        <a:latin typeface="Calibri" panose="020F0502020204030204" pitchFamily="34" charset="0"/>
                      </a:endParaRPr>
                    </a:p>
                  </a:txBody>
                  <a:tcPr marL="3712" marR="3712" marT="3712"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9D9D9"/>
                    </a:solidFill>
                  </a:tcPr>
                </a:tc>
                <a:tc>
                  <a:txBody>
                    <a:bodyPr/>
                    <a:lstStyle/>
                    <a:p>
                      <a:pPr algn="ctr" fontAlgn="ctr"/>
                      <a:r>
                        <a:rPr lang="en-US" sz="1100" b="0" u="none" strike="noStrike" dirty="0">
                          <a:solidFill>
                            <a:srgbClr val="000000"/>
                          </a:solidFill>
                          <a:effectLst/>
                        </a:rPr>
                        <a:t>15</a:t>
                      </a:r>
                      <a:endParaRPr lang="en-US" sz="1100" b="0" i="0" u="none" strike="noStrike" dirty="0">
                        <a:solidFill>
                          <a:srgbClr val="000000"/>
                        </a:solidFill>
                        <a:effectLst/>
                        <a:latin typeface="Calibri" panose="020F0502020204030204" pitchFamily="34" charset="0"/>
                      </a:endParaRPr>
                    </a:p>
                  </a:txBody>
                  <a:tcPr marL="3712" marR="3712" marT="3712"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9D9D9"/>
                    </a:solidFill>
                  </a:tcPr>
                </a:tc>
                <a:tc>
                  <a:txBody>
                    <a:bodyPr/>
                    <a:lstStyle/>
                    <a:p>
                      <a:pPr algn="ctr" fontAlgn="ctr"/>
                      <a:r>
                        <a:rPr lang="en-US" sz="700" b="0" u="none" strike="noStrike" dirty="0">
                          <a:solidFill>
                            <a:srgbClr val="000000"/>
                          </a:solidFill>
                          <a:effectLst/>
                        </a:rPr>
                        <a:t>DTKFIIVFALTRGNK ,TKFIIVFALTRGNKI ,KFIIVFALTRGNKIV ,FIIVFALTRGNKIVK ,IIVFALTRGNKIVKA ,IVFALTRGNKIVKAS ,VFALTRGNKIVKASG ,FALTRGNKIVKASGK ,ALTRGNKIVKASGKM ,LTRGNKIVKASGKMS ,TRGNKIVKASGKMSN ,RGNKIVKASGKMSNS ,GNKIVKASGKMSNSG ,NKIVKASGKMSNSGS ,KIVKASGKMSNSGSK</a:t>
                      </a:r>
                      <a:endParaRPr lang="en-US" sz="700" b="0" i="0" u="none" strike="noStrike" dirty="0">
                        <a:solidFill>
                          <a:srgbClr val="000000"/>
                        </a:solidFill>
                        <a:effectLst/>
                        <a:latin typeface="Calibri" panose="020F0502020204030204" pitchFamily="34" charset="0"/>
                      </a:endParaRPr>
                    </a:p>
                  </a:txBody>
                  <a:tcPr marL="3712" marR="3712" marT="3712" marB="0" anchor="ct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48083591"/>
                  </a:ext>
                </a:extLst>
              </a:tr>
              <a:tr h="1426378">
                <a:tc>
                  <a:txBody>
                    <a:bodyPr/>
                    <a:lstStyle/>
                    <a:p>
                      <a:pPr algn="ctr" fontAlgn="ctr"/>
                      <a:r>
                        <a:rPr lang="en-US" sz="1100" b="0" u="none" strike="noStrike" dirty="0">
                          <a:solidFill>
                            <a:srgbClr val="000000"/>
                          </a:solidFill>
                          <a:effectLst/>
                        </a:rPr>
                        <a:t>KEYLPVGPAVMNLKVENYPPEMMCMA</a:t>
                      </a:r>
                      <a:endParaRPr lang="en-US" sz="1100" b="0" i="0" u="none" strike="noStrike" dirty="0">
                        <a:solidFill>
                          <a:srgbClr val="000000"/>
                        </a:solidFill>
                        <a:effectLst/>
                        <a:latin typeface="Calibri" panose="020F0502020204030204" pitchFamily="34" charset="0"/>
                      </a:endParaRPr>
                    </a:p>
                  </a:txBody>
                  <a:tcPr marL="3712" marR="3712" marT="3712"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9D9D9"/>
                    </a:solidFill>
                  </a:tcPr>
                </a:tc>
                <a:tc>
                  <a:txBody>
                    <a:bodyPr/>
                    <a:lstStyle/>
                    <a:p>
                      <a:pPr algn="ctr" fontAlgn="ctr"/>
                      <a:r>
                        <a:rPr lang="en-US" sz="1050" b="0" u="none" strike="noStrike">
                          <a:solidFill>
                            <a:srgbClr val="000000"/>
                          </a:solidFill>
                          <a:effectLst/>
                        </a:rPr>
                        <a:t>123-148</a:t>
                      </a:r>
                      <a:endParaRPr lang="en-US" sz="1050" b="0" i="0" u="none" strike="noStrike">
                        <a:solidFill>
                          <a:srgbClr val="000000"/>
                        </a:solidFill>
                        <a:effectLst/>
                        <a:latin typeface="Calibri" panose="020F0502020204030204" pitchFamily="34" charset="0"/>
                      </a:endParaRPr>
                    </a:p>
                  </a:txBody>
                  <a:tcPr marL="3712" marR="3712" marT="3712"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9D9D9"/>
                    </a:solidFill>
                  </a:tcPr>
                </a:tc>
                <a:tc>
                  <a:txBody>
                    <a:bodyPr/>
                    <a:lstStyle/>
                    <a:p>
                      <a:pPr algn="ctr" fontAlgn="ctr"/>
                      <a:r>
                        <a:rPr lang="en-US" sz="1050" b="0" u="none" strike="noStrike">
                          <a:solidFill>
                            <a:srgbClr val="000000"/>
                          </a:solidFill>
                          <a:effectLst/>
                        </a:rPr>
                        <a:t>26</a:t>
                      </a:r>
                      <a:endParaRPr lang="en-US" sz="1050" b="0" i="0" u="none" strike="noStrike">
                        <a:solidFill>
                          <a:srgbClr val="000000"/>
                        </a:solidFill>
                        <a:effectLst/>
                        <a:latin typeface="Calibri" panose="020F0502020204030204" pitchFamily="34" charset="0"/>
                      </a:endParaRPr>
                    </a:p>
                  </a:txBody>
                  <a:tcPr marL="3712" marR="3712" marT="3712"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9D9D9"/>
                    </a:solidFill>
                  </a:tcPr>
                </a:tc>
                <a:tc>
                  <a:txBody>
                    <a:bodyPr/>
                    <a:lstStyle/>
                    <a:p>
                      <a:pPr algn="ctr" fontAlgn="ctr"/>
                      <a:r>
                        <a:rPr lang="en-US" sz="1050" b="0" u="none" strike="noStrike" dirty="0">
                          <a:solidFill>
                            <a:srgbClr val="000000"/>
                          </a:solidFill>
                          <a:effectLst/>
                        </a:rPr>
                        <a:t>19</a:t>
                      </a:r>
                      <a:endParaRPr lang="en-US" sz="1050" b="0" i="0" u="none" strike="noStrike" dirty="0">
                        <a:solidFill>
                          <a:srgbClr val="000000"/>
                        </a:solidFill>
                        <a:effectLst/>
                        <a:latin typeface="Calibri" panose="020F0502020204030204" pitchFamily="34" charset="0"/>
                      </a:endParaRPr>
                    </a:p>
                  </a:txBody>
                  <a:tcPr marL="3712" marR="3712" marT="3712"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9D9D9"/>
                    </a:solidFill>
                  </a:tcPr>
                </a:tc>
                <a:tc>
                  <a:txBody>
                    <a:bodyPr/>
                    <a:lstStyle/>
                    <a:p>
                      <a:pPr algn="ctr" fontAlgn="ctr"/>
                      <a:r>
                        <a:rPr lang="en-US" sz="700" b="0" u="none" strike="noStrike" dirty="0">
                          <a:solidFill>
                            <a:srgbClr val="000000"/>
                          </a:solidFill>
                          <a:effectLst/>
                        </a:rPr>
                        <a:t>KEYLPVGPAVMNLKV ,EYLPVGPAVMNLKVE , YLPVGPAVMNLKVEN ,LPVGPAVMNLKVENY , PVGPAVMNLKVENYP ,VGPAVMNLKVENYPP  , GPAVMNLKVENYPPE ,PAVMNLKVENYPPEM , AVMNLKVENYPPEMM ,VMNLKVENYPPEMMC , MNLKVENYPPEMMCM ,NLKVENYPPEMMCMA , LKVENYPPEMMCMAF ,KVENYPPEMMCMAFG , VENYPPEMMCMAFGS ,ENYPPEMMCMAFGSL , NYPPEMMCMAFGSLI ,YPPEMMCMAFGSLIP , PPEMMCMAFGSLIPT</a:t>
                      </a:r>
                      <a:endParaRPr lang="en-US" sz="700" b="0" i="0" u="none" strike="noStrike" dirty="0">
                        <a:solidFill>
                          <a:srgbClr val="000000"/>
                        </a:solidFill>
                        <a:effectLst/>
                        <a:latin typeface="Calibri" panose="020F0502020204030204" pitchFamily="34" charset="0"/>
                      </a:endParaRPr>
                    </a:p>
                  </a:txBody>
                  <a:tcPr marL="3712" marR="3712" marT="3712"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9D9D9"/>
                    </a:solidFill>
                  </a:tcPr>
                </a:tc>
                <a:tc>
                  <a:txBody>
                    <a:bodyPr/>
                    <a:lstStyle/>
                    <a:p>
                      <a:pPr algn="ctr" fontAlgn="ctr"/>
                      <a:r>
                        <a:rPr lang="en-US" sz="1100" b="0" u="none" strike="noStrike" dirty="0">
                          <a:solidFill>
                            <a:srgbClr val="000000"/>
                          </a:solidFill>
                          <a:effectLst/>
                        </a:rPr>
                        <a:t>12</a:t>
                      </a:r>
                      <a:endParaRPr lang="en-US" sz="1100" b="0" i="0" u="none" strike="noStrike" dirty="0">
                        <a:solidFill>
                          <a:srgbClr val="000000"/>
                        </a:solidFill>
                        <a:effectLst/>
                        <a:latin typeface="Calibri" panose="020F0502020204030204" pitchFamily="34" charset="0"/>
                      </a:endParaRPr>
                    </a:p>
                  </a:txBody>
                  <a:tcPr marL="3712" marR="3712" marT="3712"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9D9D9"/>
                    </a:solidFill>
                  </a:tcPr>
                </a:tc>
                <a:tc>
                  <a:txBody>
                    <a:bodyPr/>
                    <a:lstStyle/>
                    <a:p>
                      <a:pPr algn="ctr" fontAlgn="ctr"/>
                      <a:r>
                        <a:rPr lang="en-US" sz="700" b="0" u="none" strike="noStrike" dirty="0">
                          <a:solidFill>
                            <a:srgbClr val="000000"/>
                          </a:solidFill>
                          <a:effectLst/>
                        </a:rPr>
                        <a:t>KEYLPVGPAVMNLKV ,GPAVMNLKVENYPPE , VGPAVMNLKVENYPP ,PVGPAVMNLKVENYP , PAVMNLKVENYPPEM ,NLKVENYPPEMMCMA , MNLKVENYPPEMMCM ,AVMNLKVENYPPEMM , VMNLKVENYPPEMMC ,EYLPVGPAVMNLKVE , LPVGPAVMNLKVENY ,YLPVGPAVMNLKVEN</a:t>
                      </a:r>
                      <a:endParaRPr lang="en-US" sz="700" b="0" i="0" u="none" strike="noStrike" dirty="0">
                        <a:solidFill>
                          <a:srgbClr val="000000"/>
                        </a:solidFill>
                        <a:effectLst/>
                        <a:latin typeface="Calibri" panose="020F0502020204030204" pitchFamily="34" charset="0"/>
                      </a:endParaRPr>
                    </a:p>
                  </a:txBody>
                  <a:tcPr marL="3712" marR="3712" marT="3712"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9D9D9"/>
                    </a:solidFill>
                  </a:tcPr>
                </a:tc>
                <a:tc>
                  <a:txBody>
                    <a:bodyPr/>
                    <a:lstStyle/>
                    <a:p>
                      <a:pPr algn="ctr" fontAlgn="ctr"/>
                      <a:r>
                        <a:rPr lang="en-US" sz="1100" b="0" u="none" strike="noStrike" dirty="0">
                          <a:solidFill>
                            <a:srgbClr val="000000"/>
                          </a:solidFill>
                          <a:effectLst/>
                        </a:rPr>
                        <a:t>12</a:t>
                      </a:r>
                      <a:endParaRPr lang="en-US" sz="1100" b="0" i="0" u="none" strike="noStrike" dirty="0">
                        <a:solidFill>
                          <a:srgbClr val="000000"/>
                        </a:solidFill>
                        <a:effectLst/>
                        <a:latin typeface="Calibri" panose="020F0502020204030204" pitchFamily="34" charset="0"/>
                      </a:endParaRPr>
                    </a:p>
                  </a:txBody>
                  <a:tcPr marL="3712" marR="3712" marT="3712"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9D9D9"/>
                    </a:solidFill>
                  </a:tcPr>
                </a:tc>
                <a:tc>
                  <a:txBody>
                    <a:bodyPr/>
                    <a:lstStyle/>
                    <a:p>
                      <a:pPr algn="ctr" fontAlgn="ctr"/>
                      <a:r>
                        <a:rPr lang="en-US" sz="700" b="0" u="none" strike="noStrike" dirty="0">
                          <a:solidFill>
                            <a:srgbClr val="000000"/>
                          </a:solidFill>
                          <a:effectLst/>
                        </a:rPr>
                        <a:t>KEYLPVGPAVMNLKV ,GPAVMNLKVENYPPE ,VGPAVMNLKVENYPP ,PVGPAVMNLKVENYP ,PAVMNLKVENYPPEM ,NLKVENYPPEMMCMA ,MNLKVENYPPEMMCM ,AVMNLKVENYPPEMM ,VMNLKVENYPPEMMC ,EYLPVGPAVMNLKVE ,LPVGPAVMNLKVENY ,YLPVGPAVMNLKVEN</a:t>
                      </a:r>
                      <a:endParaRPr lang="en-US" sz="700" b="0" i="0" u="none" strike="noStrike" dirty="0">
                        <a:solidFill>
                          <a:srgbClr val="000000"/>
                        </a:solidFill>
                        <a:effectLst/>
                        <a:latin typeface="Calibri" panose="020F0502020204030204" pitchFamily="34" charset="0"/>
                      </a:endParaRPr>
                    </a:p>
                  </a:txBody>
                  <a:tcPr marL="3712" marR="3712" marT="3712" marB="0" anchor="ct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3926912283"/>
                  </a:ext>
                </a:extLst>
              </a:tr>
              <a:tr h="1300624">
                <a:tc>
                  <a:txBody>
                    <a:bodyPr/>
                    <a:lstStyle/>
                    <a:p>
                      <a:pPr algn="ctr" fontAlgn="ctr"/>
                      <a:r>
                        <a:rPr lang="en-US" sz="1100" b="0" u="none" strike="noStrike" dirty="0">
                          <a:solidFill>
                            <a:srgbClr val="000000"/>
                          </a:solidFill>
                          <a:effectLst/>
                        </a:rPr>
                        <a:t>KTEVYNSFRDPLHAAVNSVFFPNDVRVKW</a:t>
                      </a:r>
                      <a:endParaRPr lang="en-US" sz="1100" b="0" i="0" u="none" strike="noStrike" dirty="0">
                        <a:solidFill>
                          <a:srgbClr val="000000"/>
                        </a:solidFill>
                        <a:effectLst/>
                        <a:latin typeface="Calibri" panose="020F0502020204030204" pitchFamily="34" charset="0"/>
                      </a:endParaRPr>
                    </a:p>
                  </a:txBody>
                  <a:tcPr marL="3712" marR="3712" marT="3712" marB="0"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fontAlgn="ctr"/>
                      <a:r>
                        <a:rPr lang="en-US" sz="1050" b="0" u="none" strike="noStrike">
                          <a:solidFill>
                            <a:srgbClr val="000000"/>
                          </a:solidFill>
                          <a:effectLst/>
                        </a:rPr>
                        <a:t>190-218</a:t>
                      </a:r>
                      <a:endParaRPr lang="en-US" sz="1050" b="0" i="0" u="none" strike="noStrike">
                        <a:solidFill>
                          <a:srgbClr val="000000"/>
                        </a:solidFill>
                        <a:effectLst/>
                        <a:latin typeface="Calibri" panose="020F0502020204030204" pitchFamily="34" charset="0"/>
                      </a:endParaRPr>
                    </a:p>
                  </a:txBody>
                  <a:tcPr marL="3712" marR="3712" marT="3712" marB="0"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fontAlgn="ctr"/>
                      <a:r>
                        <a:rPr lang="en-US" sz="1050" b="0" u="none" strike="noStrike">
                          <a:solidFill>
                            <a:srgbClr val="000000"/>
                          </a:solidFill>
                          <a:effectLst/>
                        </a:rPr>
                        <a:t>29</a:t>
                      </a:r>
                      <a:endParaRPr lang="en-US" sz="1050" b="0" i="0" u="none" strike="noStrike">
                        <a:solidFill>
                          <a:srgbClr val="000000"/>
                        </a:solidFill>
                        <a:effectLst/>
                        <a:latin typeface="Calibri" panose="020F0502020204030204" pitchFamily="34" charset="0"/>
                      </a:endParaRPr>
                    </a:p>
                  </a:txBody>
                  <a:tcPr marL="3712" marR="3712" marT="3712" marB="0"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fontAlgn="ctr"/>
                      <a:r>
                        <a:rPr lang="en-US" sz="1050" b="0" u="none" strike="noStrike" dirty="0">
                          <a:solidFill>
                            <a:srgbClr val="000000"/>
                          </a:solidFill>
                          <a:effectLst/>
                        </a:rPr>
                        <a:t>15</a:t>
                      </a:r>
                      <a:endParaRPr lang="en-US" sz="1050" b="0" i="0" u="none" strike="noStrike" dirty="0">
                        <a:solidFill>
                          <a:srgbClr val="000000"/>
                        </a:solidFill>
                        <a:effectLst/>
                        <a:latin typeface="Calibri" panose="020F0502020204030204" pitchFamily="34" charset="0"/>
                      </a:endParaRPr>
                    </a:p>
                  </a:txBody>
                  <a:tcPr marL="3712" marR="3712" marT="3712" marB="0"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fontAlgn="ctr"/>
                      <a:r>
                        <a:rPr lang="en-US" sz="700" b="0" u="none" strike="noStrike" dirty="0">
                          <a:solidFill>
                            <a:srgbClr val="000000"/>
                          </a:solidFill>
                          <a:effectLst/>
                        </a:rPr>
                        <a:t>KTEVYNSFRDPLHAA ,TEVYNSFRDPLHAAV , EVYNSFRDPLHAAVN ,VYNSFRDPLHAAVNS , YNSFRDPLHAAVNSV ,NSFRDPLHAAVNSVF , SFRDPLHAAVNSVFF ,FRDPLHAAVNSVFFP , RDPLHAAVNSVFFPN ,DPLHAAVNSVFFPND , PLHAAVNSVFFPNDV ,LHAAVNSVFFPNDVR , HAAVNSVFFPNDVRV ,AAVNSVFFPNDVRVK ,AVNSVFFPNDVRVKW</a:t>
                      </a:r>
                      <a:endParaRPr lang="en-US" sz="700" b="0" i="0" u="none" strike="noStrike" dirty="0">
                        <a:solidFill>
                          <a:srgbClr val="000000"/>
                        </a:solidFill>
                        <a:effectLst/>
                        <a:latin typeface="Calibri" panose="020F0502020204030204" pitchFamily="34" charset="0"/>
                      </a:endParaRPr>
                    </a:p>
                  </a:txBody>
                  <a:tcPr marL="3712" marR="3712" marT="3712" marB="0"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fontAlgn="ctr"/>
                      <a:r>
                        <a:rPr lang="en-US" sz="1100" b="0" u="none" strike="noStrike" dirty="0">
                          <a:solidFill>
                            <a:srgbClr val="000000"/>
                          </a:solidFill>
                          <a:effectLst/>
                        </a:rPr>
                        <a:t>15</a:t>
                      </a:r>
                      <a:endParaRPr lang="en-US" sz="1100" b="0" i="0" u="none" strike="noStrike" dirty="0">
                        <a:solidFill>
                          <a:srgbClr val="000000"/>
                        </a:solidFill>
                        <a:effectLst/>
                        <a:latin typeface="Calibri" panose="020F0502020204030204" pitchFamily="34" charset="0"/>
                      </a:endParaRPr>
                    </a:p>
                  </a:txBody>
                  <a:tcPr marL="3712" marR="3712" marT="3712" marB="0"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fontAlgn="ctr"/>
                      <a:r>
                        <a:rPr lang="en-US" sz="700" b="0" u="none" strike="noStrike" dirty="0">
                          <a:solidFill>
                            <a:srgbClr val="000000"/>
                          </a:solidFill>
                          <a:effectLst/>
                        </a:rPr>
                        <a:t>AAVNSVFFPNDVRVK ,AVNSVFFPNDVRVKW ,FRDPLHAAVNSVFFP ,EVYNSFRDPLHAAVN ,KTEVYNSFRDPLHAA ,RDPLHAAVNSVFFPN ,SFRDPLHAAVNSVFF ,TEVYNSFRDPLHAAV ,HAAVNSVFFPNDVRV ,LHAAVNSVFFPNDVR ,PLHAAVNSVFFPNDV ,DPLHAAVNSVFFPND ,NSFRDPLHAAVNSVF ,VYNSFRDPLHAAVNS ,YNSFRDPLHAAVNSV</a:t>
                      </a:r>
                      <a:endParaRPr lang="en-US" sz="700" b="0" i="0" u="none" strike="noStrike" dirty="0">
                        <a:solidFill>
                          <a:srgbClr val="000000"/>
                        </a:solidFill>
                        <a:effectLst/>
                        <a:latin typeface="Calibri" panose="020F0502020204030204" pitchFamily="34" charset="0"/>
                      </a:endParaRPr>
                    </a:p>
                  </a:txBody>
                  <a:tcPr marL="3712" marR="3712" marT="3712" marB="0"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fontAlgn="ctr"/>
                      <a:r>
                        <a:rPr lang="en-US" sz="1100" b="0" u="none" strike="noStrike" dirty="0">
                          <a:solidFill>
                            <a:srgbClr val="000000"/>
                          </a:solidFill>
                          <a:effectLst/>
                        </a:rPr>
                        <a:t>15</a:t>
                      </a:r>
                      <a:endParaRPr lang="en-US" sz="1100" b="0" i="0" u="none" strike="noStrike" dirty="0">
                        <a:solidFill>
                          <a:srgbClr val="000000"/>
                        </a:solidFill>
                        <a:effectLst/>
                        <a:latin typeface="Calibri" panose="020F0502020204030204" pitchFamily="34" charset="0"/>
                      </a:endParaRPr>
                    </a:p>
                  </a:txBody>
                  <a:tcPr marL="3712" marR="3712" marT="3712" marB="0"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fontAlgn="ctr"/>
                      <a:r>
                        <a:rPr lang="en-US" sz="700" b="0" u="none" strike="noStrike" dirty="0">
                          <a:solidFill>
                            <a:srgbClr val="000000"/>
                          </a:solidFill>
                          <a:effectLst/>
                        </a:rPr>
                        <a:t>AAVNSVFFPNDVRVK ,AVNSVFFPNDVRVKW ,FRDPLHAAVNSVFFP ,EVYNSFRDPLHAAVN ,KTEVYNSFRDPLHAA ,RDPLHAAVNSVFFPN ,SFRDPLHAAVNSVFF ,TEVYNSFRDPLHAAV ,HAAVNSVFFPNDVRV ,LHAAVNSVFFPNDVR ,PLHAAVNSVFFPNDV ,DPLHAAVNSVFFPND ,NSFRDPLHAAVNSVF ,VYNSFRDPLHAAVNS ,YNSFRDPLHAAVNSV</a:t>
                      </a:r>
                      <a:endParaRPr lang="en-US" sz="700" b="0" i="0" u="none" strike="noStrike" dirty="0">
                        <a:solidFill>
                          <a:srgbClr val="000000"/>
                        </a:solidFill>
                        <a:effectLst/>
                        <a:latin typeface="Calibri" panose="020F0502020204030204" pitchFamily="34" charset="0"/>
                      </a:endParaRPr>
                    </a:p>
                  </a:txBody>
                  <a:tcPr marL="3712" marR="3712" marT="3712" marB="0" anchor="ctr">
                    <a:lnL w="12700" cmpd="sng">
                      <a:noFill/>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1894056533"/>
                  </a:ext>
                </a:extLst>
              </a:tr>
            </a:tbl>
          </a:graphicData>
        </a:graphic>
      </p:graphicFrame>
      <p:grpSp>
        <p:nvGrpSpPr>
          <p:cNvPr id="7" name="Group 6">
            <a:extLst>
              <a:ext uri="{FF2B5EF4-FFF2-40B4-BE49-F238E27FC236}">
                <a16:creationId xmlns:a16="http://schemas.microsoft.com/office/drawing/2014/main" id="{0F3FBE96-3649-C34A-23FE-82EBD4A2B1F5}"/>
              </a:ext>
            </a:extLst>
          </p:cNvPr>
          <p:cNvGrpSpPr/>
          <p:nvPr/>
        </p:nvGrpSpPr>
        <p:grpSpPr>
          <a:xfrm>
            <a:off x="2461303" y="226801"/>
            <a:ext cx="7269394" cy="848154"/>
            <a:chOff x="739739" y="344774"/>
            <a:chExt cx="8311795" cy="1042237"/>
          </a:xfrm>
        </p:grpSpPr>
        <p:sp>
          <p:nvSpPr>
            <p:cNvPr id="8" name="Rectangle: Rounded Corners 7">
              <a:extLst>
                <a:ext uri="{FF2B5EF4-FFF2-40B4-BE49-F238E27FC236}">
                  <a16:creationId xmlns:a16="http://schemas.microsoft.com/office/drawing/2014/main" id="{F61687F3-85D3-0E66-752C-7BBCD7D4C534}"/>
                </a:ext>
              </a:extLst>
            </p:cNvPr>
            <p:cNvSpPr/>
            <p:nvPr/>
          </p:nvSpPr>
          <p:spPr>
            <a:xfrm>
              <a:off x="739739" y="344774"/>
              <a:ext cx="8311794" cy="1042237"/>
            </a:xfrm>
            <a:prstGeom prst="roundRect">
              <a:avLst/>
            </a:prstGeom>
            <a:solidFill>
              <a:schemeClr val="bg1">
                <a:lumMod val="85000"/>
              </a:schemeClr>
            </a:solidFill>
            <a:ln>
              <a:no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en-US" sz="2000" dirty="0"/>
            </a:p>
          </p:txBody>
        </p:sp>
        <p:sp>
          <p:nvSpPr>
            <p:cNvPr id="9" name="Title 1">
              <a:extLst>
                <a:ext uri="{FF2B5EF4-FFF2-40B4-BE49-F238E27FC236}">
                  <a16:creationId xmlns:a16="http://schemas.microsoft.com/office/drawing/2014/main" id="{0BA20AE0-30B5-0471-6826-9A2411F6F53F}"/>
                </a:ext>
              </a:extLst>
            </p:cNvPr>
            <p:cNvSpPr txBox="1">
              <a:spLocks/>
            </p:cNvSpPr>
            <p:nvPr/>
          </p:nvSpPr>
          <p:spPr>
            <a:xfrm>
              <a:off x="739739" y="344774"/>
              <a:ext cx="8311795" cy="960044"/>
            </a:xfrm>
            <a:prstGeom prst="rect">
              <a:avLst/>
            </a:prstGeom>
            <a:noFill/>
            <a:ln w="12700" cap="flat" cmpd="sng" algn="ctr">
              <a:noFill/>
              <a:prstDash val="solid"/>
              <a:miter lim="800000"/>
            </a:ln>
          </p:spPr>
          <p:style>
            <a:lnRef idx="1">
              <a:schemeClr val="accent4"/>
            </a:lnRef>
            <a:fillRef idx="2">
              <a:schemeClr val="accent4"/>
            </a:fillRef>
            <a:effectRef idx="1">
              <a:schemeClr val="accent4"/>
            </a:effectRef>
            <a:fontRef idx="minor">
              <a:schemeClr val="dk1"/>
            </a:fontRef>
          </p:style>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l"/>
              <a:r>
                <a:rPr lang="en-US" sz="4400" dirty="0">
                  <a:solidFill>
                    <a:srgbClr val="C00000"/>
                  </a:solidFill>
                </a:rPr>
                <a:t>CD4</a:t>
              </a:r>
              <a:r>
                <a:rPr lang="en-US" sz="4400" baseline="30000" dirty="0">
                  <a:solidFill>
                    <a:srgbClr val="C00000"/>
                  </a:solidFill>
                </a:rPr>
                <a:t>+</a:t>
              </a:r>
              <a:r>
                <a:rPr lang="en-US" sz="4400" dirty="0">
                  <a:solidFill>
                    <a:srgbClr val="C00000"/>
                  </a:solidFill>
                </a:rPr>
                <a:t>T Cell Epitope prediction</a:t>
              </a:r>
            </a:p>
          </p:txBody>
        </p:sp>
      </p:grpSp>
    </p:spTree>
    <p:extLst>
      <p:ext uri="{BB962C8B-B14F-4D97-AF65-F5344CB8AC3E}">
        <p14:creationId xmlns:p14="http://schemas.microsoft.com/office/powerpoint/2010/main" val="264194670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F15BCF3-BF04-06B6-8346-C66CD021B5B2}"/>
              </a:ext>
            </a:extLst>
          </p:cNvPr>
          <p:cNvSpPr/>
          <p:nvPr/>
        </p:nvSpPr>
        <p:spPr>
          <a:xfrm>
            <a:off x="0" y="1675"/>
            <a:ext cx="12192000" cy="6858000"/>
          </a:xfrm>
          <a:prstGeom prst="rect">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800" dirty="0">
              <a:latin typeface="Arial" panose="020B0604020202020204" pitchFamily="34" charset="0"/>
              <a:cs typeface="Arial" panose="020B0604020202020204" pitchFamily="34" charset="0"/>
            </a:endParaRPr>
          </a:p>
        </p:txBody>
      </p:sp>
      <p:sp>
        <p:nvSpPr>
          <p:cNvPr id="6" name="Google Shape;267;p5">
            <a:extLst>
              <a:ext uri="{FF2B5EF4-FFF2-40B4-BE49-F238E27FC236}">
                <a16:creationId xmlns:a16="http://schemas.microsoft.com/office/drawing/2014/main" id="{24EBAF08-266E-4643-1218-073C253A43E4}"/>
              </a:ext>
            </a:extLst>
          </p:cNvPr>
          <p:cNvSpPr txBox="1">
            <a:spLocks/>
          </p:cNvSpPr>
          <p:nvPr/>
        </p:nvSpPr>
        <p:spPr>
          <a:xfrm>
            <a:off x="212276" y="1281895"/>
            <a:ext cx="11368797" cy="1612654"/>
          </a:xfrm>
          <a:prstGeom prst="rect">
            <a:avLst/>
          </a:prstGeom>
          <a:noFill/>
          <a:ln>
            <a:noFill/>
          </a:ln>
        </p:spPr>
        <p:txBody>
          <a:bodyPr spcFirstLastPara="1" vert="horz" wrap="square" lIns="91425" tIns="45700" rIns="91425" bIns="45700" rtlCol="0" anchor="t" anchorCtr="0">
            <a:normAutofit/>
          </a:bodyPr>
          <a:lstStyle>
            <a:lvl1pPr marL="182880" indent="-182880" algn="l" defTabSz="914400" rtl="0" eaLnBrk="1" latinLnBrk="0" hangingPunct="1">
              <a:lnSpc>
                <a:spcPct val="100000"/>
              </a:lnSpc>
              <a:spcBef>
                <a:spcPts val="900"/>
              </a:spcBef>
              <a:spcAft>
                <a:spcPts val="0"/>
              </a:spcAft>
              <a:buClr>
                <a:schemeClr val="tx1">
                  <a:lumMod val="85000"/>
                  <a:lumOff val="15000"/>
                </a:schemeClr>
              </a:buClr>
              <a:buFont typeface="Garamond" pitchFamily="18" charset="0"/>
              <a:buChar char="◦"/>
              <a:defRPr sz="18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6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900"/>
              </a:spcBef>
              <a:spcAft>
                <a:spcPts val="0"/>
              </a:spcAft>
              <a:buClr>
                <a:srgbClr val="000000">
                  <a:lumMod val="85000"/>
                  <a:lumOff val="15000"/>
                </a:srgbClr>
              </a:buClr>
              <a:buSzTx/>
              <a:buNone/>
              <a:tabLst/>
              <a:defRPr/>
            </a:pPr>
            <a:r>
              <a:rPr kumimoji="0" lang="en-US" sz="1800" b="0" i="0" u="none" strike="noStrike" kern="1200" cap="none" spc="0" normalizeH="0" baseline="0" noProof="0" dirty="0">
                <a:ln>
                  <a:noFill/>
                </a:ln>
                <a:solidFill>
                  <a:srgbClr val="000000"/>
                </a:solidFill>
                <a:effectLst/>
                <a:uLnTx/>
                <a:uFillTx/>
                <a:latin typeface="Gill Sans MT" panose="020B0502020104020203"/>
                <a:ea typeface="+mn-ea"/>
                <a:cs typeface="+mn-cs"/>
              </a:rPr>
              <a:t>The 4 peptide sequences were also subjected to B Cell linear epitope predictions.</a:t>
            </a:r>
          </a:p>
          <a:p>
            <a:pPr marL="0" marR="0" lvl="0" indent="0" algn="l" defTabSz="914400" rtl="0" eaLnBrk="1" fontAlgn="auto" latinLnBrk="0" hangingPunct="1">
              <a:lnSpc>
                <a:spcPct val="100000"/>
              </a:lnSpc>
              <a:spcBef>
                <a:spcPts val="900"/>
              </a:spcBef>
              <a:spcAft>
                <a:spcPts val="0"/>
              </a:spcAft>
              <a:buClr>
                <a:srgbClr val="000000">
                  <a:lumMod val="85000"/>
                  <a:lumOff val="15000"/>
                </a:srgbClr>
              </a:buClr>
              <a:buSzTx/>
              <a:buNone/>
              <a:tabLst/>
              <a:defRPr/>
            </a:pPr>
            <a:r>
              <a:rPr kumimoji="0" lang="en-US" sz="1800" b="0" i="0" u="none" strike="noStrike" kern="1200" cap="none" spc="0" normalizeH="0" baseline="0" noProof="0" dirty="0">
                <a:ln>
                  <a:noFill/>
                </a:ln>
                <a:solidFill>
                  <a:srgbClr val="000000"/>
                </a:solidFill>
                <a:effectLst/>
                <a:uLnTx/>
                <a:uFillTx/>
                <a:latin typeface="Gill Sans MT" panose="020B0502020104020203"/>
                <a:ea typeface="+mn-ea"/>
                <a:cs typeface="+mn-cs"/>
              </a:rPr>
              <a:t>For B Cell linear epitope </a:t>
            </a:r>
            <a:r>
              <a:rPr lang="en-US" dirty="0">
                <a:solidFill>
                  <a:srgbClr val="000000"/>
                </a:solidFill>
                <a:latin typeface="Gill Sans MT" panose="020B0502020104020203"/>
              </a:rPr>
              <a:t>prediction</a:t>
            </a:r>
            <a:r>
              <a:rPr kumimoji="0" lang="en-US" sz="1800" b="0" i="0" u="none" strike="noStrike" kern="1200" cap="none" spc="0" normalizeH="0" baseline="0" noProof="0" dirty="0">
                <a:ln>
                  <a:noFill/>
                </a:ln>
                <a:solidFill>
                  <a:srgbClr val="000000"/>
                </a:solidFill>
                <a:effectLst/>
                <a:uLnTx/>
                <a:uFillTx/>
                <a:latin typeface="Gill Sans MT" panose="020B0502020104020203"/>
                <a:ea typeface="+mn-ea"/>
                <a:cs typeface="+mn-cs"/>
              </a:rPr>
              <a:t> </a:t>
            </a:r>
            <a:r>
              <a:rPr kumimoji="0" lang="en-US" sz="1800" b="0" i="0" u="none" strike="noStrike" kern="1200" cap="none" spc="0" normalizeH="0" baseline="0" noProof="0" dirty="0" err="1">
                <a:ln>
                  <a:noFill/>
                </a:ln>
                <a:solidFill>
                  <a:srgbClr val="000000"/>
                </a:solidFill>
                <a:effectLst/>
                <a:uLnTx/>
                <a:uFillTx/>
                <a:latin typeface="Gill Sans MT" panose="020B0502020104020203"/>
                <a:ea typeface="+mn-ea"/>
                <a:cs typeface="+mn-cs"/>
              </a:rPr>
              <a:t>CLBTope</a:t>
            </a:r>
            <a:r>
              <a:rPr kumimoji="0" lang="en-US" sz="1800" b="0" i="0" u="none" strike="noStrike" kern="1200" cap="none" spc="0" normalizeH="0" baseline="0" noProof="0" dirty="0">
                <a:ln>
                  <a:noFill/>
                </a:ln>
                <a:solidFill>
                  <a:srgbClr val="000000"/>
                </a:solidFill>
                <a:effectLst/>
                <a:uLnTx/>
                <a:uFillTx/>
                <a:latin typeface="Gill Sans MT" panose="020B0502020104020203"/>
                <a:ea typeface="+mn-ea"/>
                <a:cs typeface="+mn-cs"/>
              </a:rPr>
              <a:t> webserver’s Protein Scan option </a:t>
            </a:r>
            <a:r>
              <a:rPr lang="en-US" dirty="0">
                <a:solidFill>
                  <a:srgbClr val="000000"/>
                </a:solidFill>
                <a:latin typeface="Gill Sans MT" panose="020B0502020104020203"/>
              </a:rPr>
              <a:t>was used</a:t>
            </a:r>
            <a:r>
              <a:rPr kumimoji="0" lang="en-US" sz="1800" b="0" i="0" u="none" strike="noStrike" kern="1200" cap="none" spc="0" normalizeH="0" baseline="0" noProof="0" dirty="0">
                <a:ln>
                  <a:noFill/>
                </a:ln>
                <a:solidFill>
                  <a:srgbClr val="000000"/>
                </a:solidFill>
                <a:effectLst/>
                <a:uLnTx/>
                <a:uFillTx/>
                <a:latin typeface="Gill Sans MT" panose="020B0502020104020203"/>
                <a:ea typeface="+mn-ea"/>
                <a:cs typeface="+mn-cs"/>
              </a:rPr>
              <a:t> (as suggested by the server as peptide sequences size was more than 15 amino acid long) with following settings :- </a:t>
            </a:r>
          </a:p>
        </p:txBody>
      </p:sp>
      <p:pic>
        <p:nvPicPr>
          <p:cNvPr id="7" name="Picture 6">
            <a:extLst>
              <a:ext uri="{FF2B5EF4-FFF2-40B4-BE49-F238E27FC236}">
                <a16:creationId xmlns:a16="http://schemas.microsoft.com/office/drawing/2014/main" id="{B9778067-2186-9640-3681-53BAFA633CA0}"/>
              </a:ext>
            </a:extLst>
          </p:cNvPr>
          <p:cNvPicPr>
            <a:picLocks noChangeAspect="1"/>
          </p:cNvPicPr>
          <p:nvPr/>
        </p:nvPicPr>
        <p:blipFill>
          <a:blip r:embed="rId2"/>
          <a:srcRect l="996" t="26248" r="7386" b="5172"/>
          <a:stretch/>
        </p:blipFill>
        <p:spPr>
          <a:xfrm>
            <a:off x="154052" y="2763213"/>
            <a:ext cx="11825672" cy="3830354"/>
          </a:xfrm>
          <a:prstGeom prst="rect">
            <a:avLst/>
          </a:prstGeom>
          <a:ln>
            <a:solidFill>
              <a:schemeClr val="tx1"/>
            </a:solidFill>
          </a:ln>
        </p:spPr>
      </p:pic>
      <p:sp>
        <p:nvSpPr>
          <p:cNvPr id="8" name="Rectangle: Rounded Corners 7">
            <a:extLst>
              <a:ext uri="{FF2B5EF4-FFF2-40B4-BE49-F238E27FC236}">
                <a16:creationId xmlns:a16="http://schemas.microsoft.com/office/drawing/2014/main" id="{F1082420-2E15-E03F-6A7D-FC451D5409EE}"/>
              </a:ext>
            </a:extLst>
          </p:cNvPr>
          <p:cNvSpPr/>
          <p:nvPr/>
        </p:nvSpPr>
        <p:spPr>
          <a:xfrm>
            <a:off x="6219825" y="2638425"/>
            <a:ext cx="5759899" cy="4057650"/>
          </a:xfrm>
          <a:prstGeom prst="roundRect">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a:extLst>
              <a:ext uri="{FF2B5EF4-FFF2-40B4-BE49-F238E27FC236}">
                <a16:creationId xmlns:a16="http://schemas.microsoft.com/office/drawing/2014/main" id="{BAE6A61D-1165-69E9-1BFA-48060619AACC}"/>
              </a:ext>
            </a:extLst>
          </p:cNvPr>
          <p:cNvGrpSpPr/>
          <p:nvPr/>
        </p:nvGrpSpPr>
        <p:grpSpPr>
          <a:xfrm>
            <a:off x="3155331" y="179553"/>
            <a:ext cx="6128988" cy="848154"/>
            <a:chOff x="739738" y="344774"/>
            <a:chExt cx="8433185" cy="1042237"/>
          </a:xfrm>
        </p:grpSpPr>
        <p:sp>
          <p:nvSpPr>
            <p:cNvPr id="10" name="Rectangle: Rounded Corners 9">
              <a:extLst>
                <a:ext uri="{FF2B5EF4-FFF2-40B4-BE49-F238E27FC236}">
                  <a16:creationId xmlns:a16="http://schemas.microsoft.com/office/drawing/2014/main" id="{E15D3A1A-FD13-C004-97E5-E56BCF06CF69}"/>
                </a:ext>
              </a:extLst>
            </p:cNvPr>
            <p:cNvSpPr/>
            <p:nvPr/>
          </p:nvSpPr>
          <p:spPr>
            <a:xfrm>
              <a:off x="739739" y="344774"/>
              <a:ext cx="8311794" cy="1042237"/>
            </a:xfrm>
            <a:prstGeom prst="roundRect">
              <a:avLst/>
            </a:prstGeom>
            <a:solidFill>
              <a:schemeClr val="bg1">
                <a:lumMod val="85000"/>
              </a:schemeClr>
            </a:solidFill>
            <a:ln>
              <a:no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en-US" sz="2000" dirty="0"/>
            </a:p>
          </p:txBody>
        </p:sp>
        <p:sp>
          <p:nvSpPr>
            <p:cNvPr id="11" name="Title 1">
              <a:extLst>
                <a:ext uri="{FF2B5EF4-FFF2-40B4-BE49-F238E27FC236}">
                  <a16:creationId xmlns:a16="http://schemas.microsoft.com/office/drawing/2014/main" id="{B73D363B-D6A9-CAE4-2E20-2C090132F7AC}"/>
                </a:ext>
              </a:extLst>
            </p:cNvPr>
            <p:cNvSpPr txBox="1">
              <a:spLocks/>
            </p:cNvSpPr>
            <p:nvPr/>
          </p:nvSpPr>
          <p:spPr>
            <a:xfrm>
              <a:off x="739738" y="344774"/>
              <a:ext cx="8433185" cy="960044"/>
            </a:xfrm>
            <a:prstGeom prst="rect">
              <a:avLst/>
            </a:prstGeom>
            <a:noFill/>
            <a:ln w="12700" cap="flat" cmpd="sng" algn="ctr">
              <a:noFill/>
              <a:prstDash val="solid"/>
              <a:miter lim="800000"/>
            </a:ln>
          </p:spPr>
          <p:style>
            <a:lnRef idx="1">
              <a:schemeClr val="accent4"/>
            </a:lnRef>
            <a:fillRef idx="2">
              <a:schemeClr val="accent4"/>
            </a:fillRef>
            <a:effectRef idx="1">
              <a:schemeClr val="accent4"/>
            </a:effectRef>
            <a:fontRef idx="minor">
              <a:schemeClr val="dk1"/>
            </a:fontRef>
          </p:style>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l"/>
              <a:r>
                <a:rPr lang="en-US" sz="4400" dirty="0">
                  <a:solidFill>
                    <a:srgbClr val="C00000"/>
                  </a:solidFill>
                </a:rPr>
                <a:t>B Cell Epitope prediction</a:t>
              </a:r>
            </a:p>
          </p:txBody>
        </p:sp>
      </p:grpSp>
    </p:spTree>
    <p:extLst>
      <p:ext uri="{BB962C8B-B14F-4D97-AF65-F5344CB8AC3E}">
        <p14:creationId xmlns:p14="http://schemas.microsoft.com/office/powerpoint/2010/main" val="17474810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BCAE4CE5-EC93-508A-F9C9-4C2C4B2E2E12}"/>
              </a:ext>
            </a:extLst>
          </p:cNvPr>
          <p:cNvGraphicFramePr>
            <a:graphicFrameLocks noGrp="1"/>
          </p:cNvGraphicFramePr>
          <p:nvPr>
            <p:extLst>
              <p:ext uri="{D42A27DB-BD31-4B8C-83A1-F6EECF244321}">
                <p14:modId xmlns:p14="http://schemas.microsoft.com/office/powerpoint/2010/main" val="2614154532"/>
              </p:ext>
            </p:extLst>
          </p:nvPr>
        </p:nvGraphicFramePr>
        <p:xfrm>
          <a:off x="732540" y="1995956"/>
          <a:ext cx="10524935" cy="3749334"/>
        </p:xfrm>
        <a:graphic>
          <a:graphicData uri="http://schemas.openxmlformats.org/drawingml/2006/table">
            <a:tbl>
              <a:tblPr>
                <a:tableStyleId>{0505E3EF-67EA-436B-97B2-0124C06EBD24}</a:tableStyleId>
              </a:tblPr>
              <a:tblGrid>
                <a:gridCol w="3905250">
                  <a:extLst>
                    <a:ext uri="{9D8B030D-6E8A-4147-A177-3AD203B41FA5}">
                      <a16:colId xmlns:a16="http://schemas.microsoft.com/office/drawing/2014/main" val="2629460322"/>
                    </a:ext>
                  </a:extLst>
                </a:gridCol>
                <a:gridCol w="876300">
                  <a:extLst>
                    <a:ext uri="{9D8B030D-6E8A-4147-A177-3AD203B41FA5}">
                      <a16:colId xmlns:a16="http://schemas.microsoft.com/office/drawing/2014/main" val="1798834957"/>
                    </a:ext>
                  </a:extLst>
                </a:gridCol>
                <a:gridCol w="971550">
                  <a:extLst>
                    <a:ext uri="{9D8B030D-6E8A-4147-A177-3AD203B41FA5}">
                      <a16:colId xmlns:a16="http://schemas.microsoft.com/office/drawing/2014/main" val="2359694677"/>
                    </a:ext>
                  </a:extLst>
                </a:gridCol>
                <a:gridCol w="971550">
                  <a:extLst>
                    <a:ext uri="{9D8B030D-6E8A-4147-A177-3AD203B41FA5}">
                      <a16:colId xmlns:a16="http://schemas.microsoft.com/office/drawing/2014/main" val="1721587692"/>
                    </a:ext>
                  </a:extLst>
                </a:gridCol>
                <a:gridCol w="3800285">
                  <a:extLst>
                    <a:ext uri="{9D8B030D-6E8A-4147-A177-3AD203B41FA5}">
                      <a16:colId xmlns:a16="http://schemas.microsoft.com/office/drawing/2014/main" val="1560574771"/>
                    </a:ext>
                  </a:extLst>
                </a:gridCol>
              </a:tblGrid>
              <a:tr h="258890">
                <a:tc>
                  <a:txBody>
                    <a:bodyPr/>
                    <a:lstStyle/>
                    <a:p>
                      <a:pPr algn="ctr" fontAlgn="ctr"/>
                      <a:r>
                        <a:rPr lang="en-US" sz="1600" b="1" u="none" strike="noStrike" dirty="0">
                          <a:solidFill>
                            <a:srgbClr val="D9D9D9"/>
                          </a:solidFill>
                          <a:effectLst/>
                        </a:rPr>
                        <a:t>Peptides</a:t>
                      </a:r>
                      <a:endParaRPr lang="en-US" sz="1600" b="1" i="0" u="none" strike="noStrike" dirty="0">
                        <a:solidFill>
                          <a:srgbClr val="D9D9D9"/>
                        </a:solidFill>
                        <a:effectLst/>
                        <a:latin typeface="Calibri" panose="020F0502020204030204" pitchFamily="34" charset="0"/>
                      </a:endParaRPr>
                    </a:p>
                  </a:txBody>
                  <a:tcPr marL="8628" marR="8628" marT="8628" marB="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00000"/>
                    </a:solidFill>
                  </a:tcPr>
                </a:tc>
                <a:tc>
                  <a:txBody>
                    <a:bodyPr/>
                    <a:lstStyle/>
                    <a:p>
                      <a:pPr algn="ctr" fontAlgn="ctr"/>
                      <a:r>
                        <a:rPr lang="en-US" sz="1600" b="1" u="none" strike="noStrike" dirty="0">
                          <a:solidFill>
                            <a:srgbClr val="D9D9D9"/>
                          </a:solidFill>
                          <a:effectLst/>
                        </a:rPr>
                        <a:t>Region</a:t>
                      </a:r>
                      <a:endParaRPr lang="en-US" sz="1600" b="1" i="0" u="none" strike="noStrike" dirty="0">
                        <a:solidFill>
                          <a:srgbClr val="D9D9D9"/>
                        </a:solidFill>
                        <a:effectLst/>
                        <a:latin typeface="Calibri" panose="020F0502020204030204" pitchFamily="34" charset="0"/>
                      </a:endParaRPr>
                    </a:p>
                  </a:txBody>
                  <a:tcPr marL="8628" marR="8628" marT="8628" marB="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00000"/>
                    </a:solidFill>
                  </a:tcPr>
                </a:tc>
                <a:tc>
                  <a:txBody>
                    <a:bodyPr/>
                    <a:lstStyle/>
                    <a:p>
                      <a:pPr algn="ctr" fontAlgn="ctr"/>
                      <a:r>
                        <a:rPr lang="en-US" sz="1600" b="1" u="none" strike="noStrike" dirty="0">
                          <a:solidFill>
                            <a:srgbClr val="D9D9D9"/>
                          </a:solidFill>
                          <a:effectLst/>
                        </a:rPr>
                        <a:t>Length</a:t>
                      </a:r>
                      <a:endParaRPr lang="en-US" sz="1600" b="1" i="0" u="none" strike="noStrike" dirty="0">
                        <a:solidFill>
                          <a:srgbClr val="D9D9D9"/>
                        </a:solidFill>
                        <a:effectLst/>
                        <a:latin typeface="Calibri" panose="020F0502020204030204" pitchFamily="34" charset="0"/>
                      </a:endParaRPr>
                    </a:p>
                  </a:txBody>
                  <a:tcPr marL="8628" marR="8628" marT="8628" marB="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00000"/>
                    </a:solidFill>
                  </a:tcPr>
                </a:tc>
                <a:tc>
                  <a:txBody>
                    <a:bodyPr/>
                    <a:lstStyle/>
                    <a:p>
                      <a:pPr algn="ctr" fontAlgn="ctr"/>
                      <a:r>
                        <a:rPr lang="en-US" sz="1600" b="1" u="none" strike="noStrike" dirty="0">
                          <a:solidFill>
                            <a:srgbClr val="D9D9D9"/>
                          </a:solidFill>
                          <a:effectLst/>
                        </a:rPr>
                        <a:t>No.</a:t>
                      </a:r>
                      <a:endParaRPr lang="en-US" sz="1600" b="1" i="0" u="none" strike="noStrike" dirty="0">
                        <a:solidFill>
                          <a:srgbClr val="D9D9D9"/>
                        </a:solidFill>
                        <a:effectLst/>
                        <a:latin typeface="Calibri" panose="020F0502020204030204" pitchFamily="34" charset="0"/>
                      </a:endParaRPr>
                    </a:p>
                  </a:txBody>
                  <a:tcPr marL="8628" marR="8628" marT="8628" marB="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00000"/>
                    </a:solidFill>
                  </a:tcPr>
                </a:tc>
                <a:tc>
                  <a:txBody>
                    <a:bodyPr/>
                    <a:lstStyle/>
                    <a:p>
                      <a:pPr algn="ctr" fontAlgn="ctr"/>
                      <a:r>
                        <a:rPr lang="en-US" sz="1600" b="1" u="none" strike="noStrike" dirty="0">
                          <a:solidFill>
                            <a:srgbClr val="D9D9D9"/>
                          </a:solidFill>
                          <a:effectLst/>
                        </a:rPr>
                        <a:t>Epitopes</a:t>
                      </a:r>
                      <a:endParaRPr lang="en-US" sz="1600" b="1" i="0" u="none" strike="noStrike" dirty="0">
                        <a:solidFill>
                          <a:srgbClr val="D9D9D9"/>
                        </a:solidFill>
                        <a:effectLst/>
                        <a:latin typeface="Calibri" panose="020F0502020204030204" pitchFamily="34" charset="0"/>
                      </a:endParaRPr>
                    </a:p>
                  </a:txBody>
                  <a:tcPr marL="8628" marR="8628" marT="8628" marB="0"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00000"/>
                    </a:solidFill>
                  </a:tcPr>
                </a:tc>
                <a:extLst>
                  <a:ext uri="{0D108BD9-81ED-4DB2-BD59-A6C34878D82A}">
                    <a16:rowId xmlns:a16="http://schemas.microsoft.com/office/drawing/2014/main" val="2543039279"/>
                  </a:ext>
                </a:extLst>
              </a:tr>
              <a:tr h="517779">
                <a:tc>
                  <a:txBody>
                    <a:bodyPr/>
                    <a:lstStyle/>
                    <a:p>
                      <a:pPr algn="ctr" fontAlgn="ctr"/>
                      <a:r>
                        <a:rPr lang="en-US" sz="1400" b="0" u="none" strike="noStrike" dirty="0">
                          <a:solidFill>
                            <a:srgbClr val="000000"/>
                          </a:solidFill>
                          <a:effectLst/>
                        </a:rPr>
                        <a:t>LDPALIIKKLKETGGDDWV</a:t>
                      </a:r>
                      <a:endParaRPr lang="en-US" sz="1400" b="0" i="0" u="none" strike="noStrike" dirty="0">
                        <a:solidFill>
                          <a:srgbClr val="000000"/>
                        </a:solidFill>
                        <a:effectLst/>
                        <a:latin typeface="Calibri" panose="020F0502020204030204" pitchFamily="34" charset="0"/>
                      </a:endParaRPr>
                    </a:p>
                  </a:txBody>
                  <a:tcPr marL="8628" marR="8628" marT="8628" marB="0" anchor="ct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D9D9D9"/>
                    </a:solidFill>
                  </a:tcPr>
                </a:tc>
                <a:tc>
                  <a:txBody>
                    <a:bodyPr/>
                    <a:lstStyle/>
                    <a:p>
                      <a:pPr algn="ctr" fontAlgn="ctr"/>
                      <a:r>
                        <a:rPr lang="en-US" sz="1400" b="0" u="none" strike="noStrike" dirty="0">
                          <a:solidFill>
                            <a:srgbClr val="000000"/>
                          </a:solidFill>
                          <a:effectLst/>
                        </a:rPr>
                        <a:t>33-51</a:t>
                      </a:r>
                    </a:p>
                  </a:txBody>
                  <a:tcPr marL="8628" marR="8628" marT="8628" marB="0" anchor="ct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D9D9D9"/>
                    </a:solidFill>
                  </a:tcPr>
                </a:tc>
                <a:tc>
                  <a:txBody>
                    <a:bodyPr/>
                    <a:lstStyle/>
                    <a:p>
                      <a:pPr algn="ctr" fontAlgn="ctr"/>
                      <a:r>
                        <a:rPr lang="en-US" sz="1400" b="0" u="none" strike="noStrike" dirty="0">
                          <a:solidFill>
                            <a:srgbClr val="000000"/>
                          </a:solidFill>
                          <a:effectLst/>
                        </a:rPr>
                        <a:t>19</a:t>
                      </a:r>
                      <a:endParaRPr lang="en-US" sz="1400" b="0" i="0" u="none" strike="noStrike" dirty="0">
                        <a:solidFill>
                          <a:srgbClr val="000000"/>
                        </a:solidFill>
                        <a:effectLst/>
                        <a:latin typeface="Calibri" panose="020F0502020204030204" pitchFamily="34" charset="0"/>
                      </a:endParaRPr>
                    </a:p>
                  </a:txBody>
                  <a:tcPr marL="8628" marR="8628" marT="8628" marB="0" anchor="ct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D9D9D9"/>
                    </a:solidFill>
                  </a:tcPr>
                </a:tc>
                <a:tc>
                  <a:txBody>
                    <a:bodyPr/>
                    <a:lstStyle/>
                    <a:p>
                      <a:pPr algn="ctr" fontAlgn="ctr"/>
                      <a:r>
                        <a:rPr lang="en-US" sz="1400" b="0" u="none" strike="noStrike" dirty="0">
                          <a:solidFill>
                            <a:srgbClr val="000000"/>
                          </a:solidFill>
                          <a:effectLst/>
                        </a:rPr>
                        <a:t>4</a:t>
                      </a:r>
                      <a:endParaRPr lang="en-US" sz="1400" b="0" i="0" u="none" strike="noStrike" dirty="0">
                        <a:solidFill>
                          <a:srgbClr val="000000"/>
                        </a:solidFill>
                        <a:effectLst/>
                        <a:latin typeface="Calibri" panose="020F0502020204030204" pitchFamily="34" charset="0"/>
                      </a:endParaRPr>
                    </a:p>
                  </a:txBody>
                  <a:tcPr marL="8628" marR="8628" marT="8628" marB="0" anchor="ct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D9D9D9"/>
                    </a:solidFill>
                  </a:tcPr>
                </a:tc>
                <a:tc>
                  <a:txBody>
                    <a:bodyPr/>
                    <a:lstStyle/>
                    <a:p>
                      <a:pPr algn="ctr" fontAlgn="ctr"/>
                      <a:r>
                        <a:rPr lang="en-US" sz="1100" b="0" u="none" strike="noStrike" dirty="0">
                          <a:solidFill>
                            <a:srgbClr val="000000"/>
                          </a:solidFill>
                          <a:effectLst/>
                        </a:rPr>
                        <a:t>LDPALIIKKLKETGGD ,DPALIIKKLKETGGDD ,PALIIKKLKETGGDDW ,ALIIKKLKETGGDDWV</a:t>
                      </a:r>
                      <a:endParaRPr lang="en-US" sz="1100" b="0" i="0" u="none" strike="noStrike" dirty="0">
                        <a:solidFill>
                          <a:srgbClr val="000000"/>
                        </a:solidFill>
                        <a:effectLst/>
                        <a:latin typeface="Calibri" panose="020F0502020204030204" pitchFamily="34" charset="0"/>
                      </a:endParaRPr>
                    </a:p>
                  </a:txBody>
                  <a:tcPr marL="8628" marR="8628" marT="8628" marB="0"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2079997092"/>
                  </a:ext>
                </a:extLst>
              </a:tr>
              <a:tr h="776669">
                <a:tc>
                  <a:txBody>
                    <a:bodyPr/>
                    <a:lstStyle/>
                    <a:p>
                      <a:pPr algn="ctr" fontAlgn="ctr"/>
                      <a:r>
                        <a:rPr lang="en-US" sz="1400" b="0" u="none" strike="noStrike" dirty="0">
                          <a:solidFill>
                            <a:srgbClr val="000000"/>
                          </a:solidFill>
                          <a:effectLst/>
                        </a:rPr>
                        <a:t>LTRGNKIVKASGKMSNSGSK</a:t>
                      </a:r>
                      <a:endParaRPr lang="en-US" sz="1400" b="0" i="0" u="none" strike="noStrike" dirty="0">
                        <a:solidFill>
                          <a:srgbClr val="000000"/>
                        </a:solidFill>
                        <a:effectLst/>
                        <a:latin typeface="Calibri" panose="020F0502020204030204" pitchFamily="34" charset="0"/>
                      </a:endParaRPr>
                    </a:p>
                  </a:txBody>
                  <a:tcPr marL="8628" marR="8628" marT="8628"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9D9D9"/>
                    </a:solidFill>
                  </a:tcPr>
                </a:tc>
                <a:tc>
                  <a:txBody>
                    <a:bodyPr/>
                    <a:lstStyle/>
                    <a:p>
                      <a:pPr algn="ctr" fontAlgn="ctr"/>
                      <a:r>
                        <a:rPr lang="en-US" sz="1400" b="0" u="none" strike="noStrike" dirty="0">
                          <a:solidFill>
                            <a:srgbClr val="000000"/>
                          </a:solidFill>
                          <a:effectLst/>
                        </a:rPr>
                        <a:t>62-81</a:t>
                      </a:r>
                      <a:endParaRPr lang="en-US" sz="1400" b="0" i="0" u="none" strike="noStrike" dirty="0">
                        <a:solidFill>
                          <a:srgbClr val="000000"/>
                        </a:solidFill>
                        <a:effectLst/>
                        <a:latin typeface="Calibri" panose="020F0502020204030204" pitchFamily="34" charset="0"/>
                      </a:endParaRPr>
                    </a:p>
                  </a:txBody>
                  <a:tcPr marL="8628" marR="8628" marT="8628"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9D9D9"/>
                    </a:solidFill>
                  </a:tcPr>
                </a:tc>
                <a:tc>
                  <a:txBody>
                    <a:bodyPr/>
                    <a:lstStyle/>
                    <a:p>
                      <a:pPr algn="ctr" fontAlgn="ctr"/>
                      <a:r>
                        <a:rPr lang="en-US" sz="1400" b="0" u="none" strike="noStrike" dirty="0">
                          <a:solidFill>
                            <a:srgbClr val="000000"/>
                          </a:solidFill>
                          <a:effectLst/>
                        </a:rPr>
                        <a:t>20</a:t>
                      </a:r>
                      <a:endParaRPr lang="en-US" sz="1400" b="0" i="0" u="none" strike="noStrike" dirty="0">
                        <a:solidFill>
                          <a:srgbClr val="000000"/>
                        </a:solidFill>
                        <a:effectLst/>
                        <a:latin typeface="Calibri" panose="020F0502020204030204" pitchFamily="34" charset="0"/>
                      </a:endParaRPr>
                    </a:p>
                  </a:txBody>
                  <a:tcPr marL="8628" marR="8628" marT="8628"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9D9D9"/>
                    </a:solidFill>
                  </a:tcPr>
                </a:tc>
                <a:tc>
                  <a:txBody>
                    <a:bodyPr/>
                    <a:lstStyle/>
                    <a:p>
                      <a:pPr algn="ctr" fontAlgn="ctr"/>
                      <a:r>
                        <a:rPr lang="en-US" sz="1400" b="0" u="none" strike="noStrike" dirty="0">
                          <a:solidFill>
                            <a:srgbClr val="000000"/>
                          </a:solidFill>
                          <a:effectLst/>
                        </a:rPr>
                        <a:t>5</a:t>
                      </a:r>
                      <a:endParaRPr lang="en-US" sz="1400" b="0" i="0" u="none" strike="noStrike" dirty="0">
                        <a:solidFill>
                          <a:srgbClr val="000000"/>
                        </a:solidFill>
                        <a:effectLst/>
                        <a:latin typeface="Calibri" panose="020F0502020204030204" pitchFamily="34" charset="0"/>
                      </a:endParaRPr>
                    </a:p>
                  </a:txBody>
                  <a:tcPr marL="8628" marR="8628" marT="8628"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9D9D9"/>
                    </a:solidFill>
                  </a:tcPr>
                </a:tc>
                <a:tc>
                  <a:txBody>
                    <a:bodyPr/>
                    <a:lstStyle/>
                    <a:p>
                      <a:pPr algn="ctr" fontAlgn="ctr"/>
                      <a:r>
                        <a:rPr lang="en-US" sz="1100" b="0" u="none" strike="noStrike" dirty="0">
                          <a:solidFill>
                            <a:srgbClr val="000000"/>
                          </a:solidFill>
                          <a:effectLst/>
                        </a:rPr>
                        <a:t>LTRGNKIVKASGKMSN ,TRGNKIVKASGKMSNS ,RGNKIVKASGKMSNSG ,GNKIVKASGKMSNSGS ,NKIVKASGKMSNSGSK</a:t>
                      </a:r>
                      <a:endParaRPr lang="en-US" sz="1100" b="0" i="0" u="none" strike="noStrike" dirty="0">
                        <a:solidFill>
                          <a:srgbClr val="000000"/>
                        </a:solidFill>
                        <a:effectLst/>
                        <a:latin typeface="Calibri" panose="020F0502020204030204" pitchFamily="34" charset="0"/>
                      </a:endParaRPr>
                    </a:p>
                  </a:txBody>
                  <a:tcPr marL="8628" marR="8628" marT="8628" marB="0" anchor="ct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3714935517"/>
                  </a:ext>
                </a:extLst>
              </a:tr>
              <a:tr h="1937106">
                <a:tc>
                  <a:txBody>
                    <a:bodyPr/>
                    <a:lstStyle/>
                    <a:p>
                      <a:pPr algn="ctr" fontAlgn="ctr"/>
                      <a:r>
                        <a:rPr lang="en-US" sz="1400" b="0" u="none" strike="noStrike" dirty="0">
                          <a:solidFill>
                            <a:srgbClr val="000000"/>
                          </a:solidFill>
                          <a:effectLst/>
                        </a:rPr>
                        <a:t>KEYLPVGPAVMNLKVENYPPEMMCMAFGSLIP</a:t>
                      </a:r>
                      <a:endParaRPr lang="en-US" sz="1400" b="0" i="0" u="none" strike="noStrike" dirty="0">
                        <a:solidFill>
                          <a:srgbClr val="000000"/>
                        </a:solidFill>
                        <a:effectLst/>
                        <a:latin typeface="Calibri" panose="020F0502020204030204" pitchFamily="34" charset="0"/>
                      </a:endParaRPr>
                    </a:p>
                  </a:txBody>
                  <a:tcPr marL="8628" marR="8628" marT="8628"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9D9D9"/>
                    </a:solidFill>
                  </a:tcPr>
                </a:tc>
                <a:tc>
                  <a:txBody>
                    <a:bodyPr/>
                    <a:lstStyle/>
                    <a:p>
                      <a:pPr algn="ctr" fontAlgn="ctr"/>
                      <a:r>
                        <a:rPr lang="en-US" sz="1400" b="0" u="none" strike="noStrike" dirty="0">
                          <a:solidFill>
                            <a:srgbClr val="000000"/>
                          </a:solidFill>
                          <a:effectLst/>
                        </a:rPr>
                        <a:t>123-154</a:t>
                      </a:r>
                      <a:endParaRPr lang="en-US" sz="1400" b="0" i="0" u="none" strike="noStrike" dirty="0">
                        <a:solidFill>
                          <a:srgbClr val="000000"/>
                        </a:solidFill>
                        <a:effectLst/>
                        <a:latin typeface="Calibri" panose="020F0502020204030204" pitchFamily="34" charset="0"/>
                      </a:endParaRPr>
                    </a:p>
                  </a:txBody>
                  <a:tcPr marL="8628" marR="8628" marT="8628"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9D9D9"/>
                    </a:solidFill>
                  </a:tcPr>
                </a:tc>
                <a:tc>
                  <a:txBody>
                    <a:bodyPr/>
                    <a:lstStyle/>
                    <a:p>
                      <a:pPr algn="ctr" fontAlgn="ctr"/>
                      <a:r>
                        <a:rPr lang="en-US" sz="1400" b="0" u="none" strike="noStrike" dirty="0">
                          <a:solidFill>
                            <a:srgbClr val="000000"/>
                          </a:solidFill>
                          <a:effectLst/>
                        </a:rPr>
                        <a:t>32</a:t>
                      </a:r>
                      <a:endParaRPr lang="en-US" sz="1400" b="0" i="0" u="none" strike="noStrike" dirty="0">
                        <a:solidFill>
                          <a:srgbClr val="000000"/>
                        </a:solidFill>
                        <a:effectLst/>
                        <a:latin typeface="Calibri" panose="020F0502020204030204" pitchFamily="34" charset="0"/>
                      </a:endParaRPr>
                    </a:p>
                  </a:txBody>
                  <a:tcPr marL="8628" marR="8628" marT="8628"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9D9D9"/>
                    </a:solidFill>
                  </a:tcPr>
                </a:tc>
                <a:tc>
                  <a:txBody>
                    <a:bodyPr/>
                    <a:lstStyle/>
                    <a:p>
                      <a:pPr algn="ctr" fontAlgn="ctr"/>
                      <a:r>
                        <a:rPr lang="en-US" sz="1400" b="0" u="none" strike="noStrike" dirty="0">
                          <a:solidFill>
                            <a:srgbClr val="000000"/>
                          </a:solidFill>
                          <a:effectLst/>
                        </a:rPr>
                        <a:t>17</a:t>
                      </a:r>
                      <a:endParaRPr lang="en-US" sz="1400" b="0" i="0" u="none" strike="noStrike" dirty="0">
                        <a:solidFill>
                          <a:srgbClr val="000000"/>
                        </a:solidFill>
                        <a:effectLst/>
                        <a:latin typeface="Calibri" panose="020F0502020204030204" pitchFamily="34" charset="0"/>
                      </a:endParaRPr>
                    </a:p>
                  </a:txBody>
                  <a:tcPr marL="8628" marR="8628" marT="8628"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9D9D9"/>
                    </a:solidFill>
                  </a:tcPr>
                </a:tc>
                <a:tc>
                  <a:txBody>
                    <a:bodyPr/>
                    <a:lstStyle/>
                    <a:p>
                      <a:pPr algn="ctr" fontAlgn="ctr"/>
                      <a:r>
                        <a:rPr lang="en-US" sz="1100" b="0" u="none" strike="noStrike" dirty="0">
                          <a:solidFill>
                            <a:srgbClr val="000000"/>
                          </a:solidFill>
                          <a:effectLst/>
                        </a:rPr>
                        <a:t>KEYLPVGPAVMNLKVE ,EYLPVGPAVMNLKVEN ,YLPVGPAVMNLKVENY ,LPVGPAVMNLKVENYP ,PVGPAVMNLKVENYPP ,VGPAVMNLKVENYPPE ,GPAVMNLKVENYPPEM ,PAVMNLKVENYPPEMM ,AVMNLKVENYPPEMMC ,VMNLKVENYPPEMMCM ,MNLKVENYPPEMMCMA ,NLKVENYPPEMMCMAF ,LKVENYPPEMMCMAFG ,KVENYPPEMMCMAFGS ,VENYPPEMMCMAFGSL ,ENYPPEMMCMAFGSLI ,NYPPEMMCMAFGSLIP</a:t>
                      </a:r>
                      <a:endParaRPr lang="en-US" sz="1100" b="0" i="0" u="none" strike="noStrike" dirty="0">
                        <a:solidFill>
                          <a:srgbClr val="000000"/>
                        </a:solidFill>
                        <a:effectLst/>
                        <a:latin typeface="Calibri" panose="020F0502020204030204" pitchFamily="34" charset="0"/>
                      </a:endParaRPr>
                    </a:p>
                  </a:txBody>
                  <a:tcPr marL="8628" marR="8628" marT="8628" marB="0" anchor="ct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3204147573"/>
                  </a:ext>
                </a:extLst>
              </a:tr>
              <a:tr h="258890">
                <a:tc>
                  <a:txBody>
                    <a:bodyPr/>
                    <a:lstStyle/>
                    <a:p>
                      <a:pPr algn="ctr" fontAlgn="ctr"/>
                      <a:r>
                        <a:rPr lang="en-US" sz="1400" b="0" u="none" strike="noStrike" dirty="0">
                          <a:solidFill>
                            <a:srgbClr val="000000"/>
                          </a:solidFill>
                          <a:effectLst/>
                        </a:rPr>
                        <a:t>TEVYNSFRDPLHAAVNSVFFPNDVRVKW</a:t>
                      </a:r>
                      <a:endParaRPr lang="en-US" sz="1400" b="0" i="0" u="none" strike="noStrike" dirty="0">
                        <a:solidFill>
                          <a:srgbClr val="000000"/>
                        </a:solidFill>
                        <a:effectLst/>
                        <a:latin typeface="Calibri" panose="020F0502020204030204" pitchFamily="34" charset="0"/>
                      </a:endParaRPr>
                    </a:p>
                  </a:txBody>
                  <a:tcPr marL="8628" marR="8628" marT="8628" marB="0"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fontAlgn="ctr"/>
                      <a:r>
                        <a:rPr lang="en-US" sz="1400" b="0" u="none" strike="noStrike" dirty="0">
                          <a:solidFill>
                            <a:srgbClr val="000000"/>
                          </a:solidFill>
                          <a:effectLst/>
                        </a:rPr>
                        <a:t>191-218</a:t>
                      </a:r>
                      <a:endParaRPr lang="en-US" sz="1400" b="0" i="0" u="none" strike="noStrike" dirty="0">
                        <a:solidFill>
                          <a:srgbClr val="000000"/>
                        </a:solidFill>
                        <a:effectLst/>
                        <a:latin typeface="Calibri" panose="020F0502020204030204" pitchFamily="34" charset="0"/>
                      </a:endParaRPr>
                    </a:p>
                  </a:txBody>
                  <a:tcPr marL="8628" marR="8628" marT="8628" marB="0"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fontAlgn="ctr"/>
                      <a:r>
                        <a:rPr lang="en-US" sz="1400" b="0" u="none" strike="noStrike" dirty="0">
                          <a:solidFill>
                            <a:srgbClr val="000000"/>
                          </a:solidFill>
                          <a:effectLst/>
                        </a:rPr>
                        <a:t>28</a:t>
                      </a:r>
                      <a:endParaRPr lang="en-US" sz="1400" b="0" i="0" u="none" strike="noStrike" dirty="0">
                        <a:solidFill>
                          <a:srgbClr val="000000"/>
                        </a:solidFill>
                        <a:effectLst/>
                        <a:latin typeface="Calibri" panose="020F0502020204030204" pitchFamily="34" charset="0"/>
                      </a:endParaRPr>
                    </a:p>
                  </a:txBody>
                  <a:tcPr marL="8628" marR="8628" marT="8628" marB="0"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fontAlgn="ctr"/>
                      <a:r>
                        <a:rPr lang="en-US" sz="1400" b="0" u="none" strike="noStrike" dirty="0">
                          <a:solidFill>
                            <a:srgbClr val="000000"/>
                          </a:solidFill>
                          <a:effectLst/>
                        </a:rPr>
                        <a:t>2</a:t>
                      </a:r>
                      <a:endParaRPr lang="en-US" sz="1400" b="0" i="0" u="none" strike="noStrike" dirty="0">
                        <a:solidFill>
                          <a:srgbClr val="000000"/>
                        </a:solidFill>
                        <a:effectLst/>
                        <a:latin typeface="Calibri" panose="020F0502020204030204" pitchFamily="34" charset="0"/>
                      </a:endParaRPr>
                    </a:p>
                  </a:txBody>
                  <a:tcPr marL="8628" marR="8628" marT="8628" marB="0"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fontAlgn="ctr"/>
                      <a:r>
                        <a:rPr lang="en-US" sz="1100" b="0" u="none" strike="noStrike" dirty="0">
                          <a:solidFill>
                            <a:srgbClr val="000000"/>
                          </a:solidFill>
                          <a:effectLst/>
                        </a:rPr>
                        <a:t>TEVYNSFRDPLHAAVN ,AAVNSVFFPNDVRVKW</a:t>
                      </a:r>
                      <a:endParaRPr lang="en-US" sz="1100" b="0" i="0" u="none" strike="noStrike" dirty="0">
                        <a:solidFill>
                          <a:srgbClr val="000000"/>
                        </a:solidFill>
                        <a:effectLst/>
                        <a:latin typeface="Calibri" panose="020F0502020204030204" pitchFamily="34" charset="0"/>
                      </a:endParaRPr>
                    </a:p>
                  </a:txBody>
                  <a:tcPr marL="8628" marR="8628" marT="8628" marB="0" anchor="ctr">
                    <a:lnL w="12700" cmpd="sng">
                      <a:noFill/>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3319302229"/>
                  </a:ext>
                </a:extLst>
              </a:tr>
            </a:tbl>
          </a:graphicData>
        </a:graphic>
      </p:graphicFrame>
      <p:sp>
        <p:nvSpPr>
          <p:cNvPr id="6" name="Rectangle 5">
            <a:extLst>
              <a:ext uri="{FF2B5EF4-FFF2-40B4-BE49-F238E27FC236}">
                <a16:creationId xmlns:a16="http://schemas.microsoft.com/office/drawing/2014/main" id="{8BD0C8EE-1E8A-A7BB-C7D4-C049871D5C40}"/>
              </a:ext>
            </a:extLst>
          </p:cNvPr>
          <p:cNvSpPr/>
          <p:nvPr/>
        </p:nvSpPr>
        <p:spPr>
          <a:xfrm>
            <a:off x="0" y="1675"/>
            <a:ext cx="12192000" cy="6858000"/>
          </a:xfrm>
          <a:prstGeom prst="rect">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800" dirty="0">
              <a:latin typeface="Arial" panose="020B0604020202020204" pitchFamily="34" charset="0"/>
              <a:cs typeface="Arial" panose="020B0604020202020204" pitchFamily="34" charset="0"/>
            </a:endParaRPr>
          </a:p>
        </p:txBody>
      </p:sp>
      <p:grpSp>
        <p:nvGrpSpPr>
          <p:cNvPr id="7" name="Group 6">
            <a:extLst>
              <a:ext uri="{FF2B5EF4-FFF2-40B4-BE49-F238E27FC236}">
                <a16:creationId xmlns:a16="http://schemas.microsoft.com/office/drawing/2014/main" id="{DE593DA9-B4ED-A30B-3707-751C563D6E88}"/>
              </a:ext>
            </a:extLst>
          </p:cNvPr>
          <p:cNvGrpSpPr/>
          <p:nvPr/>
        </p:nvGrpSpPr>
        <p:grpSpPr>
          <a:xfrm>
            <a:off x="3155331" y="179553"/>
            <a:ext cx="6128988" cy="848154"/>
            <a:chOff x="739738" y="344774"/>
            <a:chExt cx="8433185" cy="1042237"/>
          </a:xfrm>
        </p:grpSpPr>
        <p:sp>
          <p:nvSpPr>
            <p:cNvPr id="8" name="Rectangle: Rounded Corners 7">
              <a:extLst>
                <a:ext uri="{FF2B5EF4-FFF2-40B4-BE49-F238E27FC236}">
                  <a16:creationId xmlns:a16="http://schemas.microsoft.com/office/drawing/2014/main" id="{EA71E38F-0E4F-782A-300E-2B61035FB4EB}"/>
                </a:ext>
              </a:extLst>
            </p:cNvPr>
            <p:cNvSpPr/>
            <p:nvPr/>
          </p:nvSpPr>
          <p:spPr>
            <a:xfrm>
              <a:off x="739739" y="344774"/>
              <a:ext cx="8311794" cy="1042237"/>
            </a:xfrm>
            <a:prstGeom prst="roundRect">
              <a:avLst/>
            </a:prstGeom>
            <a:solidFill>
              <a:schemeClr val="bg1">
                <a:lumMod val="85000"/>
              </a:schemeClr>
            </a:solidFill>
            <a:ln>
              <a:no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en-US" sz="2000" dirty="0"/>
            </a:p>
          </p:txBody>
        </p:sp>
        <p:sp>
          <p:nvSpPr>
            <p:cNvPr id="9" name="Title 1">
              <a:extLst>
                <a:ext uri="{FF2B5EF4-FFF2-40B4-BE49-F238E27FC236}">
                  <a16:creationId xmlns:a16="http://schemas.microsoft.com/office/drawing/2014/main" id="{D5ADF3E0-38D8-59C2-884D-BEBED77B9313}"/>
                </a:ext>
              </a:extLst>
            </p:cNvPr>
            <p:cNvSpPr txBox="1">
              <a:spLocks/>
            </p:cNvSpPr>
            <p:nvPr/>
          </p:nvSpPr>
          <p:spPr>
            <a:xfrm>
              <a:off x="739738" y="344774"/>
              <a:ext cx="8433185" cy="960044"/>
            </a:xfrm>
            <a:prstGeom prst="rect">
              <a:avLst/>
            </a:prstGeom>
            <a:noFill/>
            <a:ln w="12700" cap="flat" cmpd="sng" algn="ctr">
              <a:noFill/>
              <a:prstDash val="solid"/>
              <a:miter lim="800000"/>
            </a:ln>
          </p:spPr>
          <p:style>
            <a:lnRef idx="1">
              <a:schemeClr val="accent4"/>
            </a:lnRef>
            <a:fillRef idx="2">
              <a:schemeClr val="accent4"/>
            </a:fillRef>
            <a:effectRef idx="1">
              <a:schemeClr val="accent4"/>
            </a:effectRef>
            <a:fontRef idx="minor">
              <a:schemeClr val="dk1"/>
            </a:fontRef>
          </p:style>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l"/>
              <a:r>
                <a:rPr lang="en-US" sz="4400" dirty="0">
                  <a:solidFill>
                    <a:srgbClr val="C00000"/>
                  </a:solidFill>
                </a:rPr>
                <a:t>B Cell Epitope prediction</a:t>
              </a:r>
            </a:p>
          </p:txBody>
        </p:sp>
      </p:grpSp>
    </p:spTree>
    <p:extLst>
      <p:ext uri="{BB962C8B-B14F-4D97-AF65-F5344CB8AC3E}">
        <p14:creationId xmlns:p14="http://schemas.microsoft.com/office/powerpoint/2010/main" val="4452424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8A4F310F-0B2C-C308-7961-F350797C9380}"/>
              </a:ext>
            </a:extLst>
          </p:cNvPr>
          <p:cNvGraphicFramePr>
            <a:graphicFrameLocks noGrp="1"/>
          </p:cNvGraphicFramePr>
          <p:nvPr>
            <p:extLst>
              <p:ext uri="{D42A27DB-BD31-4B8C-83A1-F6EECF244321}">
                <p14:modId xmlns:p14="http://schemas.microsoft.com/office/powerpoint/2010/main" val="3261345189"/>
              </p:ext>
            </p:extLst>
          </p:nvPr>
        </p:nvGraphicFramePr>
        <p:xfrm>
          <a:off x="980538" y="1818029"/>
          <a:ext cx="10144125" cy="3963647"/>
        </p:xfrm>
        <a:graphic>
          <a:graphicData uri="http://schemas.openxmlformats.org/drawingml/2006/table">
            <a:tbl>
              <a:tblPr>
                <a:tableStyleId>{0505E3EF-67EA-436B-97B2-0124C06EBD24}</a:tableStyleId>
              </a:tblPr>
              <a:tblGrid>
                <a:gridCol w="4600575">
                  <a:extLst>
                    <a:ext uri="{9D8B030D-6E8A-4147-A177-3AD203B41FA5}">
                      <a16:colId xmlns:a16="http://schemas.microsoft.com/office/drawing/2014/main" val="1118676419"/>
                    </a:ext>
                  </a:extLst>
                </a:gridCol>
                <a:gridCol w="962025">
                  <a:extLst>
                    <a:ext uri="{9D8B030D-6E8A-4147-A177-3AD203B41FA5}">
                      <a16:colId xmlns:a16="http://schemas.microsoft.com/office/drawing/2014/main" val="102352867"/>
                    </a:ext>
                  </a:extLst>
                </a:gridCol>
                <a:gridCol w="838200">
                  <a:extLst>
                    <a:ext uri="{9D8B030D-6E8A-4147-A177-3AD203B41FA5}">
                      <a16:colId xmlns:a16="http://schemas.microsoft.com/office/drawing/2014/main" val="1261226702"/>
                    </a:ext>
                  </a:extLst>
                </a:gridCol>
                <a:gridCol w="1152525">
                  <a:extLst>
                    <a:ext uri="{9D8B030D-6E8A-4147-A177-3AD203B41FA5}">
                      <a16:colId xmlns:a16="http://schemas.microsoft.com/office/drawing/2014/main" val="2415088853"/>
                    </a:ext>
                  </a:extLst>
                </a:gridCol>
                <a:gridCol w="1285875">
                  <a:extLst>
                    <a:ext uri="{9D8B030D-6E8A-4147-A177-3AD203B41FA5}">
                      <a16:colId xmlns:a16="http://schemas.microsoft.com/office/drawing/2014/main" val="4027311074"/>
                    </a:ext>
                  </a:extLst>
                </a:gridCol>
                <a:gridCol w="1304925">
                  <a:extLst>
                    <a:ext uri="{9D8B030D-6E8A-4147-A177-3AD203B41FA5}">
                      <a16:colId xmlns:a16="http://schemas.microsoft.com/office/drawing/2014/main" val="1779562046"/>
                    </a:ext>
                  </a:extLst>
                </a:gridCol>
              </a:tblGrid>
              <a:tr h="364864">
                <a:tc>
                  <a:txBody>
                    <a:bodyPr/>
                    <a:lstStyle/>
                    <a:p>
                      <a:pPr algn="ctr" fontAlgn="ctr"/>
                      <a:r>
                        <a:rPr lang="en-US" sz="1400" b="1" u="none" strike="noStrike" dirty="0">
                          <a:solidFill>
                            <a:srgbClr val="D9D9D9"/>
                          </a:solidFill>
                          <a:effectLst/>
                          <a:latin typeface="+mj-lt"/>
                        </a:rPr>
                        <a:t>Peptide</a:t>
                      </a:r>
                      <a:endParaRPr lang="en-US" sz="1400" b="1" i="0" u="none" strike="noStrike" dirty="0">
                        <a:solidFill>
                          <a:srgbClr val="D9D9D9"/>
                        </a:solidFill>
                        <a:effectLst/>
                        <a:latin typeface="+mj-lt"/>
                      </a:endParaRPr>
                    </a:p>
                  </a:txBody>
                  <a:tcPr marL="4127" marR="4127" marT="4127" marB="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00000"/>
                    </a:solidFill>
                  </a:tcPr>
                </a:tc>
                <a:tc>
                  <a:txBody>
                    <a:bodyPr/>
                    <a:lstStyle/>
                    <a:p>
                      <a:pPr algn="ctr" fontAlgn="ctr"/>
                      <a:r>
                        <a:rPr lang="en-US" sz="1200" b="1" u="none" strike="noStrike" dirty="0">
                          <a:solidFill>
                            <a:srgbClr val="D9D9D9"/>
                          </a:solidFill>
                          <a:effectLst/>
                          <a:latin typeface="+mj-lt"/>
                        </a:rPr>
                        <a:t>Region</a:t>
                      </a:r>
                      <a:endParaRPr lang="en-US" sz="1200" b="1" i="0" u="none" strike="noStrike" dirty="0">
                        <a:solidFill>
                          <a:srgbClr val="D9D9D9"/>
                        </a:solidFill>
                        <a:effectLst/>
                        <a:latin typeface="+mj-lt"/>
                      </a:endParaRPr>
                    </a:p>
                  </a:txBody>
                  <a:tcPr marL="4127" marR="4127" marT="4127" marB="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00000"/>
                    </a:solidFill>
                  </a:tcPr>
                </a:tc>
                <a:tc>
                  <a:txBody>
                    <a:bodyPr/>
                    <a:lstStyle/>
                    <a:p>
                      <a:pPr algn="ctr" fontAlgn="ctr"/>
                      <a:r>
                        <a:rPr lang="en-US" sz="1200" b="1" u="none" strike="noStrike" dirty="0">
                          <a:solidFill>
                            <a:srgbClr val="D9D9D9"/>
                          </a:solidFill>
                          <a:effectLst/>
                          <a:latin typeface="+mj-lt"/>
                        </a:rPr>
                        <a:t>Length</a:t>
                      </a:r>
                      <a:endParaRPr lang="en-US" sz="1200" b="1" i="0" u="none" strike="noStrike" dirty="0">
                        <a:solidFill>
                          <a:srgbClr val="D9D9D9"/>
                        </a:solidFill>
                        <a:effectLst/>
                        <a:latin typeface="+mj-lt"/>
                      </a:endParaRPr>
                    </a:p>
                  </a:txBody>
                  <a:tcPr marL="4127" marR="4127" marT="4127" marB="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00000"/>
                    </a:solidFill>
                  </a:tcPr>
                </a:tc>
                <a:tc>
                  <a:txBody>
                    <a:bodyPr/>
                    <a:lstStyle/>
                    <a:p>
                      <a:pPr algn="ctr" fontAlgn="ctr"/>
                      <a:r>
                        <a:rPr lang="en-US" sz="1200" b="1" i="0" u="none" strike="noStrike" dirty="0">
                          <a:solidFill>
                            <a:srgbClr val="D9D9D9"/>
                          </a:solidFill>
                          <a:effectLst/>
                          <a:latin typeface="+mj-lt"/>
                        </a:rPr>
                        <a:t>CD8+ Epitopes</a:t>
                      </a:r>
                    </a:p>
                  </a:txBody>
                  <a:tcPr marL="4127" marR="4127" marT="4127" marB="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00000"/>
                    </a:solidFill>
                  </a:tcPr>
                </a:tc>
                <a:tc>
                  <a:txBody>
                    <a:bodyPr/>
                    <a:lstStyle/>
                    <a:p>
                      <a:pPr algn="ctr" fontAlgn="ctr"/>
                      <a:r>
                        <a:rPr lang="en-US" sz="1200" b="1" i="0" u="none" strike="noStrike" dirty="0">
                          <a:solidFill>
                            <a:srgbClr val="D9D9D9"/>
                          </a:solidFill>
                          <a:effectLst/>
                          <a:latin typeface="+mj-lt"/>
                        </a:rPr>
                        <a:t>CD4+ Epitopes</a:t>
                      </a:r>
                    </a:p>
                  </a:txBody>
                  <a:tcPr marL="4127" marR="4127" marT="4127" marB="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00000"/>
                    </a:solidFill>
                  </a:tcPr>
                </a:tc>
                <a:tc>
                  <a:txBody>
                    <a:bodyPr/>
                    <a:lstStyle/>
                    <a:p>
                      <a:pPr algn="ctr" fontAlgn="ctr"/>
                      <a:r>
                        <a:rPr lang="en-US" sz="1200" b="1" i="0" u="none" strike="noStrike" dirty="0">
                          <a:solidFill>
                            <a:srgbClr val="D9D9D9"/>
                          </a:solidFill>
                          <a:effectLst/>
                          <a:latin typeface="+mj-lt"/>
                        </a:rPr>
                        <a:t>B Cell epitopes</a:t>
                      </a:r>
                    </a:p>
                  </a:txBody>
                  <a:tcPr marL="4127" marR="4127" marT="4127" marB="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00000"/>
                    </a:solidFill>
                  </a:tcPr>
                </a:tc>
                <a:extLst>
                  <a:ext uri="{0D108BD9-81ED-4DB2-BD59-A6C34878D82A}">
                    <a16:rowId xmlns:a16="http://schemas.microsoft.com/office/drawing/2014/main" val="221437776"/>
                  </a:ext>
                </a:extLst>
              </a:tr>
              <a:tr h="787234">
                <a:tc>
                  <a:txBody>
                    <a:bodyPr/>
                    <a:lstStyle/>
                    <a:p>
                      <a:pPr algn="ctr" fontAlgn="ctr"/>
                      <a:r>
                        <a:rPr lang="en-US" sz="1400" dirty="0"/>
                        <a:t>FARELAYEGLDPALIIKKLKETGGDDWV</a:t>
                      </a:r>
                    </a:p>
                  </a:txBody>
                  <a:tcPr marL="4127" marR="4127" marT="4127" marB="0" anchor="ct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D9D9D9"/>
                    </a:solidFill>
                  </a:tcPr>
                </a:tc>
                <a:tc>
                  <a:txBody>
                    <a:bodyPr/>
                    <a:lstStyle/>
                    <a:p>
                      <a:pPr algn="ctr" fontAlgn="ctr"/>
                      <a:r>
                        <a:rPr lang="en-US" sz="1400" dirty="0"/>
                        <a:t>24-51</a:t>
                      </a:r>
                    </a:p>
                  </a:txBody>
                  <a:tcPr marL="4127" marR="4127" marT="4127" marB="0" anchor="ct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D9D9D9"/>
                    </a:solidFill>
                  </a:tcPr>
                </a:tc>
                <a:tc>
                  <a:txBody>
                    <a:bodyPr/>
                    <a:lstStyle/>
                    <a:p>
                      <a:pPr algn="ctr" fontAlgn="ctr"/>
                      <a:r>
                        <a:rPr lang="en-US" sz="1400" dirty="0"/>
                        <a:t>28</a:t>
                      </a:r>
                    </a:p>
                  </a:txBody>
                  <a:tcPr marL="4127" marR="4127" marT="4127" marB="0" anchor="ct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D9D9D9"/>
                    </a:solidFill>
                  </a:tcPr>
                </a:tc>
                <a:tc>
                  <a:txBody>
                    <a:bodyPr/>
                    <a:lstStyle/>
                    <a:p>
                      <a:pPr algn="ctr" fontAlgn="ctr"/>
                      <a:r>
                        <a:rPr lang="en-US" sz="1400" dirty="0"/>
                        <a:t>10</a:t>
                      </a:r>
                    </a:p>
                  </a:txBody>
                  <a:tcPr marL="4127" marR="4127" marT="4127" marB="0" anchor="ct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D9D9D9"/>
                    </a:solidFill>
                  </a:tcPr>
                </a:tc>
                <a:tc>
                  <a:txBody>
                    <a:bodyPr/>
                    <a:lstStyle/>
                    <a:p>
                      <a:pPr algn="ctr" fontAlgn="ctr"/>
                      <a:r>
                        <a:rPr lang="en-US" sz="1400" dirty="0"/>
                        <a:t>14</a:t>
                      </a:r>
                    </a:p>
                  </a:txBody>
                  <a:tcPr marL="4127" marR="4127" marT="4127" marB="0" anchor="ct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D9D9D9"/>
                    </a:solidFill>
                  </a:tcPr>
                </a:tc>
                <a:tc>
                  <a:txBody>
                    <a:bodyPr/>
                    <a:lstStyle/>
                    <a:p>
                      <a:pPr algn="ctr" fontAlgn="ctr"/>
                      <a:r>
                        <a:rPr lang="en-US" sz="1400" dirty="0"/>
                        <a:t>4</a:t>
                      </a:r>
                    </a:p>
                  </a:txBody>
                  <a:tcPr marL="4127" marR="4127" marT="4127" marB="0" anchor="ct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974713276"/>
                  </a:ext>
                </a:extLst>
              </a:tr>
              <a:tr h="899696">
                <a:tc>
                  <a:txBody>
                    <a:bodyPr/>
                    <a:lstStyle/>
                    <a:p>
                      <a:pPr algn="ctr" fontAlgn="ctr"/>
                      <a:r>
                        <a:rPr lang="en-US" sz="1400" dirty="0"/>
                        <a:t>DTKFIIVFALTRGNKIVKASGKMSNSGSK</a:t>
                      </a:r>
                    </a:p>
                  </a:txBody>
                  <a:tcPr marL="4127" marR="4127" marT="4127"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9D9D9"/>
                    </a:solidFill>
                  </a:tcPr>
                </a:tc>
                <a:tc>
                  <a:txBody>
                    <a:bodyPr/>
                    <a:lstStyle/>
                    <a:p>
                      <a:pPr algn="ctr" fontAlgn="ctr"/>
                      <a:r>
                        <a:rPr lang="en-US" sz="1400"/>
                        <a:t>53-81</a:t>
                      </a:r>
                    </a:p>
                  </a:txBody>
                  <a:tcPr marL="4127" marR="4127" marT="4127"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9D9D9"/>
                    </a:solidFill>
                  </a:tcPr>
                </a:tc>
                <a:tc>
                  <a:txBody>
                    <a:bodyPr/>
                    <a:lstStyle/>
                    <a:p>
                      <a:pPr algn="ctr" fontAlgn="ctr"/>
                      <a:r>
                        <a:rPr lang="en-US" sz="1400" dirty="0"/>
                        <a:t>29</a:t>
                      </a:r>
                    </a:p>
                  </a:txBody>
                  <a:tcPr marL="4127" marR="4127" marT="4127"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9D9D9"/>
                    </a:solidFill>
                  </a:tcPr>
                </a:tc>
                <a:tc>
                  <a:txBody>
                    <a:bodyPr/>
                    <a:lstStyle/>
                    <a:p>
                      <a:pPr algn="ctr" fontAlgn="ctr"/>
                      <a:r>
                        <a:rPr lang="en-US" sz="1400" dirty="0"/>
                        <a:t>9</a:t>
                      </a:r>
                    </a:p>
                  </a:txBody>
                  <a:tcPr marL="4127" marR="4127" marT="4127"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9D9D9"/>
                    </a:solidFill>
                  </a:tcPr>
                </a:tc>
                <a:tc>
                  <a:txBody>
                    <a:bodyPr/>
                    <a:lstStyle/>
                    <a:p>
                      <a:pPr algn="ctr" fontAlgn="ctr"/>
                      <a:r>
                        <a:rPr lang="en-US" sz="1400" dirty="0"/>
                        <a:t>15</a:t>
                      </a:r>
                    </a:p>
                  </a:txBody>
                  <a:tcPr marL="4127" marR="4127" marT="4127"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9D9D9"/>
                    </a:solidFill>
                  </a:tcPr>
                </a:tc>
                <a:tc>
                  <a:txBody>
                    <a:bodyPr/>
                    <a:lstStyle/>
                    <a:p>
                      <a:pPr algn="ctr" fontAlgn="ctr"/>
                      <a:r>
                        <a:rPr lang="en-US" sz="1400" dirty="0"/>
                        <a:t>5</a:t>
                      </a:r>
                    </a:p>
                  </a:txBody>
                  <a:tcPr marL="4127" marR="4127" marT="4127"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1805240863"/>
                  </a:ext>
                </a:extLst>
              </a:tr>
              <a:tr h="1012157">
                <a:tc>
                  <a:txBody>
                    <a:bodyPr/>
                    <a:lstStyle/>
                    <a:p>
                      <a:pPr algn="ctr" fontAlgn="ctr"/>
                      <a:r>
                        <a:rPr lang="en-US" sz="1400"/>
                        <a:t>KEYLPVGPAVMNLKVENYPPEMMCMAFGSLIPT</a:t>
                      </a:r>
                    </a:p>
                  </a:txBody>
                  <a:tcPr marL="4127" marR="4127" marT="4127"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9D9D9"/>
                    </a:solidFill>
                  </a:tcPr>
                </a:tc>
                <a:tc>
                  <a:txBody>
                    <a:bodyPr/>
                    <a:lstStyle/>
                    <a:p>
                      <a:pPr algn="ctr" fontAlgn="ctr"/>
                      <a:r>
                        <a:rPr lang="en-US" sz="1400"/>
                        <a:t>123-155</a:t>
                      </a:r>
                    </a:p>
                  </a:txBody>
                  <a:tcPr marL="4127" marR="4127" marT="4127"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9D9D9"/>
                    </a:solidFill>
                  </a:tcPr>
                </a:tc>
                <a:tc>
                  <a:txBody>
                    <a:bodyPr/>
                    <a:lstStyle/>
                    <a:p>
                      <a:pPr algn="ctr" fontAlgn="ctr"/>
                      <a:r>
                        <a:rPr lang="en-US" sz="1400"/>
                        <a:t>33</a:t>
                      </a:r>
                    </a:p>
                  </a:txBody>
                  <a:tcPr marL="4127" marR="4127" marT="4127"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9D9D9"/>
                    </a:solidFill>
                  </a:tcPr>
                </a:tc>
                <a:tc>
                  <a:txBody>
                    <a:bodyPr/>
                    <a:lstStyle/>
                    <a:p>
                      <a:pPr algn="ctr" fontAlgn="ctr"/>
                      <a:r>
                        <a:rPr lang="en-US" sz="1400" dirty="0"/>
                        <a:t>15</a:t>
                      </a:r>
                    </a:p>
                  </a:txBody>
                  <a:tcPr marL="4127" marR="4127" marT="4127"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9D9D9"/>
                    </a:solidFill>
                  </a:tcPr>
                </a:tc>
                <a:tc>
                  <a:txBody>
                    <a:bodyPr/>
                    <a:lstStyle/>
                    <a:p>
                      <a:pPr algn="ctr" fontAlgn="ctr"/>
                      <a:r>
                        <a:rPr lang="en-US" sz="1400" dirty="0"/>
                        <a:t>12</a:t>
                      </a:r>
                    </a:p>
                  </a:txBody>
                  <a:tcPr marL="4127" marR="4127" marT="4127"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9D9D9"/>
                    </a:solidFill>
                  </a:tcPr>
                </a:tc>
                <a:tc>
                  <a:txBody>
                    <a:bodyPr/>
                    <a:lstStyle/>
                    <a:p>
                      <a:pPr algn="ctr" fontAlgn="ctr"/>
                      <a:r>
                        <a:rPr lang="en-US" sz="1400" dirty="0"/>
                        <a:t>17</a:t>
                      </a:r>
                    </a:p>
                  </a:txBody>
                  <a:tcPr marL="4127" marR="4127" marT="4127"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266716866"/>
                  </a:ext>
                </a:extLst>
              </a:tr>
              <a:tr h="899696">
                <a:tc>
                  <a:txBody>
                    <a:bodyPr/>
                    <a:lstStyle/>
                    <a:p>
                      <a:pPr algn="ctr" fontAlgn="ctr"/>
                      <a:r>
                        <a:rPr lang="en-US" sz="1400" dirty="0"/>
                        <a:t>KTEVYNSFRDPLHAAVNSVFFPNDVRVKW</a:t>
                      </a:r>
                    </a:p>
                  </a:txBody>
                  <a:tcPr marL="4127" marR="4127" marT="4127" marB="0"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fontAlgn="ctr"/>
                      <a:r>
                        <a:rPr lang="en-US" sz="1400"/>
                        <a:t>190-218</a:t>
                      </a:r>
                    </a:p>
                  </a:txBody>
                  <a:tcPr marL="4127" marR="4127" marT="4127" marB="0"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fontAlgn="ctr"/>
                      <a:r>
                        <a:rPr lang="en-US" sz="1400"/>
                        <a:t>29</a:t>
                      </a:r>
                    </a:p>
                  </a:txBody>
                  <a:tcPr marL="4127" marR="4127" marT="4127" marB="0"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fontAlgn="ctr"/>
                      <a:r>
                        <a:rPr lang="en-US" sz="1400" dirty="0"/>
                        <a:t>14</a:t>
                      </a:r>
                    </a:p>
                  </a:txBody>
                  <a:tcPr marL="4127" marR="4127" marT="4127" marB="0"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fontAlgn="ctr"/>
                      <a:r>
                        <a:rPr lang="en-US" sz="1400" dirty="0"/>
                        <a:t>15</a:t>
                      </a:r>
                    </a:p>
                  </a:txBody>
                  <a:tcPr marL="4127" marR="4127" marT="4127" marB="0"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fontAlgn="ctr"/>
                      <a:r>
                        <a:rPr lang="en-US" sz="1400" dirty="0"/>
                        <a:t>2</a:t>
                      </a:r>
                    </a:p>
                  </a:txBody>
                  <a:tcPr marL="4127" marR="4127" marT="4127" marB="0"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4168809902"/>
                  </a:ext>
                </a:extLst>
              </a:tr>
            </a:tbl>
          </a:graphicData>
        </a:graphic>
      </p:graphicFrame>
      <p:grpSp>
        <p:nvGrpSpPr>
          <p:cNvPr id="3" name="Group 2">
            <a:extLst>
              <a:ext uri="{FF2B5EF4-FFF2-40B4-BE49-F238E27FC236}">
                <a16:creationId xmlns:a16="http://schemas.microsoft.com/office/drawing/2014/main" id="{09353E69-A2E8-7A56-B5A4-B909A6D21604}"/>
              </a:ext>
            </a:extLst>
          </p:cNvPr>
          <p:cNvGrpSpPr/>
          <p:nvPr/>
        </p:nvGrpSpPr>
        <p:grpSpPr>
          <a:xfrm>
            <a:off x="1669098" y="228170"/>
            <a:ext cx="9983082" cy="848154"/>
            <a:chOff x="739738" y="344774"/>
            <a:chExt cx="9439576" cy="1042237"/>
          </a:xfrm>
        </p:grpSpPr>
        <p:sp>
          <p:nvSpPr>
            <p:cNvPr id="4" name="Rectangle: Rounded Corners 3">
              <a:extLst>
                <a:ext uri="{FF2B5EF4-FFF2-40B4-BE49-F238E27FC236}">
                  <a16:creationId xmlns:a16="http://schemas.microsoft.com/office/drawing/2014/main" id="{0E74E0CC-1252-49A0-2FF7-7FD0BE31A0AA}"/>
                </a:ext>
              </a:extLst>
            </p:cNvPr>
            <p:cNvSpPr/>
            <p:nvPr/>
          </p:nvSpPr>
          <p:spPr>
            <a:xfrm>
              <a:off x="739739" y="344774"/>
              <a:ext cx="8311794" cy="1042237"/>
            </a:xfrm>
            <a:prstGeom prst="roundRect">
              <a:avLst/>
            </a:prstGeom>
            <a:solidFill>
              <a:schemeClr val="bg1">
                <a:lumMod val="85000"/>
              </a:schemeClr>
            </a:solidFill>
            <a:ln>
              <a:no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en-US" sz="2000" dirty="0"/>
            </a:p>
          </p:txBody>
        </p:sp>
        <p:sp>
          <p:nvSpPr>
            <p:cNvPr id="5" name="Title 1">
              <a:extLst>
                <a:ext uri="{FF2B5EF4-FFF2-40B4-BE49-F238E27FC236}">
                  <a16:creationId xmlns:a16="http://schemas.microsoft.com/office/drawing/2014/main" id="{165AE3EB-36FC-1269-6FB6-62EBB7AD0334}"/>
                </a:ext>
              </a:extLst>
            </p:cNvPr>
            <p:cNvSpPr txBox="1">
              <a:spLocks/>
            </p:cNvSpPr>
            <p:nvPr/>
          </p:nvSpPr>
          <p:spPr>
            <a:xfrm>
              <a:off x="739738" y="344774"/>
              <a:ext cx="9439576" cy="960044"/>
            </a:xfrm>
            <a:prstGeom prst="rect">
              <a:avLst/>
            </a:prstGeom>
            <a:noFill/>
            <a:ln w="12700" cap="flat" cmpd="sng" algn="ctr">
              <a:noFill/>
              <a:prstDash val="solid"/>
              <a:miter lim="800000"/>
            </a:ln>
          </p:spPr>
          <p:style>
            <a:lnRef idx="1">
              <a:schemeClr val="accent4"/>
            </a:lnRef>
            <a:fillRef idx="2">
              <a:schemeClr val="accent4"/>
            </a:fillRef>
            <a:effectRef idx="1">
              <a:schemeClr val="accent4"/>
            </a:effectRef>
            <a:fontRef idx="minor">
              <a:schemeClr val="dk1"/>
            </a:fontRef>
          </p:style>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l"/>
              <a:r>
                <a:rPr lang="en-US" sz="4000" dirty="0">
                  <a:solidFill>
                    <a:srgbClr val="C00000"/>
                  </a:solidFill>
                </a:rPr>
                <a:t>T and B Cell Epitopes containing peptides</a:t>
              </a:r>
            </a:p>
          </p:txBody>
        </p:sp>
      </p:grpSp>
      <p:sp>
        <p:nvSpPr>
          <p:cNvPr id="6" name="Rectangle 5">
            <a:extLst>
              <a:ext uri="{FF2B5EF4-FFF2-40B4-BE49-F238E27FC236}">
                <a16:creationId xmlns:a16="http://schemas.microsoft.com/office/drawing/2014/main" id="{296AEAC1-8A1C-2983-5E7E-AA34087F561F}"/>
              </a:ext>
            </a:extLst>
          </p:cNvPr>
          <p:cNvSpPr/>
          <p:nvPr/>
        </p:nvSpPr>
        <p:spPr>
          <a:xfrm>
            <a:off x="0" y="1675"/>
            <a:ext cx="12192000" cy="6858000"/>
          </a:xfrm>
          <a:prstGeom prst="rect">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5190293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E0137D9D-BE53-5D6C-C436-477C96156EA0}"/>
              </a:ext>
            </a:extLst>
          </p:cNvPr>
          <p:cNvGrpSpPr/>
          <p:nvPr/>
        </p:nvGrpSpPr>
        <p:grpSpPr>
          <a:xfrm>
            <a:off x="2100612" y="300599"/>
            <a:ext cx="7943277" cy="723900"/>
            <a:chOff x="739738" y="344774"/>
            <a:chExt cx="8311795" cy="1042237"/>
          </a:xfrm>
        </p:grpSpPr>
        <p:sp>
          <p:nvSpPr>
            <p:cNvPr id="3" name="Rectangle: Rounded Corners 2">
              <a:extLst>
                <a:ext uri="{FF2B5EF4-FFF2-40B4-BE49-F238E27FC236}">
                  <a16:creationId xmlns:a16="http://schemas.microsoft.com/office/drawing/2014/main" id="{157010B7-21AF-738D-E8AA-FDCC2CCB7DB6}"/>
                </a:ext>
              </a:extLst>
            </p:cNvPr>
            <p:cNvSpPr/>
            <p:nvPr/>
          </p:nvSpPr>
          <p:spPr>
            <a:xfrm>
              <a:off x="739739" y="344774"/>
              <a:ext cx="8311794" cy="1042237"/>
            </a:xfrm>
            <a:prstGeom prst="roundRect">
              <a:avLst/>
            </a:prstGeom>
            <a:solidFill>
              <a:schemeClr val="bg1">
                <a:lumMod val="85000"/>
              </a:schemeClr>
            </a:solidFill>
            <a:ln>
              <a:no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en-US" sz="2000" dirty="0"/>
            </a:p>
          </p:txBody>
        </p:sp>
        <p:sp>
          <p:nvSpPr>
            <p:cNvPr id="4" name="Title 1">
              <a:extLst>
                <a:ext uri="{FF2B5EF4-FFF2-40B4-BE49-F238E27FC236}">
                  <a16:creationId xmlns:a16="http://schemas.microsoft.com/office/drawing/2014/main" id="{48833C0B-B184-2F2F-5D4B-82B5A792B9B5}"/>
                </a:ext>
              </a:extLst>
            </p:cNvPr>
            <p:cNvSpPr txBox="1">
              <a:spLocks/>
            </p:cNvSpPr>
            <p:nvPr/>
          </p:nvSpPr>
          <p:spPr>
            <a:xfrm>
              <a:off x="739738" y="344774"/>
              <a:ext cx="8117674" cy="960044"/>
            </a:xfrm>
            <a:prstGeom prst="rect">
              <a:avLst/>
            </a:prstGeom>
            <a:noFill/>
            <a:ln w="12700" cap="flat" cmpd="sng" algn="ctr">
              <a:noFill/>
              <a:prstDash val="solid"/>
              <a:miter lim="800000"/>
            </a:ln>
          </p:spPr>
          <p:style>
            <a:lnRef idx="1">
              <a:schemeClr val="accent4"/>
            </a:lnRef>
            <a:fillRef idx="2">
              <a:schemeClr val="accent4"/>
            </a:fillRef>
            <a:effectRef idx="1">
              <a:schemeClr val="accent4"/>
            </a:effectRef>
            <a:fontRef idx="minor">
              <a:schemeClr val="dk1"/>
            </a:fontRef>
          </p:style>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l"/>
              <a:r>
                <a:rPr lang="en-US" sz="4000" dirty="0">
                  <a:solidFill>
                    <a:srgbClr val="C00000"/>
                  </a:solidFill>
                </a:rPr>
                <a:t>Antigenicity and Allergenicity Testing</a:t>
              </a:r>
            </a:p>
          </p:txBody>
        </p:sp>
      </p:grpSp>
      <p:sp>
        <p:nvSpPr>
          <p:cNvPr id="5" name="Rectangle 4">
            <a:extLst>
              <a:ext uri="{FF2B5EF4-FFF2-40B4-BE49-F238E27FC236}">
                <a16:creationId xmlns:a16="http://schemas.microsoft.com/office/drawing/2014/main" id="{82D6C3AD-6602-39C3-6697-1FB2A425B4C4}"/>
              </a:ext>
            </a:extLst>
          </p:cNvPr>
          <p:cNvSpPr/>
          <p:nvPr/>
        </p:nvSpPr>
        <p:spPr>
          <a:xfrm>
            <a:off x="0" y="1675"/>
            <a:ext cx="12192000" cy="6858000"/>
          </a:xfrm>
          <a:prstGeom prst="rect">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800" dirty="0">
              <a:latin typeface="Arial" panose="020B0604020202020204" pitchFamily="34" charset="0"/>
              <a:cs typeface="Arial" panose="020B0604020202020204" pitchFamily="34" charset="0"/>
            </a:endParaRPr>
          </a:p>
        </p:txBody>
      </p:sp>
      <p:sp>
        <p:nvSpPr>
          <p:cNvPr id="6" name="Google Shape;267;p5">
            <a:extLst>
              <a:ext uri="{FF2B5EF4-FFF2-40B4-BE49-F238E27FC236}">
                <a16:creationId xmlns:a16="http://schemas.microsoft.com/office/drawing/2014/main" id="{3A27C15C-DCC9-E781-A1CA-B1BBE98936C1}"/>
              </a:ext>
            </a:extLst>
          </p:cNvPr>
          <p:cNvSpPr txBox="1">
            <a:spLocks/>
          </p:cNvSpPr>
          <p:nvPr/>
        </p:nvSpPr>
        <p:spPr>
          <a:xfrm>
            <a:off x="243099" y="1446713"/>
            <a:ext cx="11368797" cy="1612654"/>
          </a:xfrm>
          <a:prstGeom prst="rect">
            <a:avLst/>
          </a:prstGeom>
          <a:noFill/>
          <a:ln>
            <a:noFill/>
          </a:ln>
        </p:spPr>
        <p:txBody>
          <a:bodyPr spcFirstLastPara="1" vert="horz" wrap="square" lIns="91425" tIns="45700" rIns="91425" bIns="45700" rtlCol="0" anchor="t" anchorCtr="0">
            <a:normAutofit fontScale="92500"/>
          </a:bodyPr>
          <a:lstStyle>
            <a:lvl1pPr marL="182880" indent="-182880" algn="l" defTabSz="914400" rtl="0" eaLnBrk="1" latinLnBrk="0" hangingPunct="1">
              <a:lnSpc>
                <a:spcPct val="100000"/>
              </a:lnSpc>
              <a:spcBef>
                <a:spcPts val="900"/>
              </a:spcBef>
              <a:spcAft>
                <a:spcPts val="0"/>
              </a:spcAft>
              <a:buClr>
                <a:schemeClr val="tx1">
                  <a:lumMod val="85000"/>
                  <a:lumOff val="15000"/>
                </a:schemeClr>
              </a:buClr>
              <a:buFont typeface="Garamond" pitchFamily="18" charset="0"/>
              <a:buChar char="◦"/>
              <a:defRPr sz="18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6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a:lstStyle>
          <a:p>
            <a:pPr marL="285750" marR="0" lvl="0" indent="-285750" algn="just" defTabSz="914400" rtl="0" eaLnBrk="1" fontAlgn="auto" latinLnBrk="0" hangingPunct="1">
              <a:lnSpc>
                <a:spcPct val="100000"/>
              </a:lnSpc>
              <a:spcBef>
                <a:spcPts val="900"/>
              </a:spcBef>
              <a:spcAft>
                <a:spcPts val="0"/>
              </a:spcAft>
              <a:buClr>
                <a:srgbClr val="000000">
                  <a:lumMod val="85000"/>
                  <a:lumOff val="15000"/>
                </a:srgbClr>
              </a:buClr>
              <a:buSzTx/>
              <a:buFont typeface="Arial" panose="020B0604020202020204" pitchFamily="34" charset="0"/>
              <a:buChar char="•"/>
              <a:tabLst/>
              <a:defRPr/>
            </a:pPr>
            <a:r>
              <a:rPr lang="en-US" dirty="0">
                <a:solidFill>
                  <a:srgbClr val="000000"/>
                </a:solidFill>
                <a:latin typeface="Gill Sans MT" panose="020B0502020104020203"/>
              </a:rPr>
              <a:t>The multi-epitope peptides were then subjected for Antigenicity and Allergenicity testing.</a:t>
            </a:r>
          </a:p>
          <a:p>
            <a:pPr marL="285750" marR="0" lvl="0" indent="-285750" algn="just" defTabSz="914400" rtl="0" eaLnBrk="1" fontAlgn="auto" latinLnBrk="0" hangingPunct="1">
              <a:lnSpc>
                <a:spcPct val="100000"/>
              </a:lnSpc>
              <a:spcBef>
                <a:spcPts val="900"/>
              </a:spcBef>
              <a:spcAft>
                <a:spcPts val="0"/>
              </a:spcAft>
              <a:buClr>
                <a:srgbClr val="000000">
                  <a:lumMod val="85000"/>
                  <a:lumOff val="15000"/>
                </a:srgbClr>
              </a:buClr>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00000"/>
              </a:solidFill>
              <a:effectLst/>
              <a:uLnTx/>
              <a:uFillTx/>
              <a:latin typeface="Gill Sans MT" panose="020B0502020104020203"/>
              <a:ea typeface="+mn-ea"/>
              <a:cs typeface="+mn-cs"/>
            </a:endParaRPr>
          </a:p>
          <a:p>
            <a:pPr marL="285750" marR="0" lvl="0" indent="-285750" algn="just" defTabSz="914400" rtl="0" eaLnBrk="1" fontAlgn="auto" latinLnBrk="0" hangingPunct="1">
              <a:lnSpc>
                <a:spcPct val="100000"/>
              </a:lnSpc>
              <a:spcBef>
                <a:spcPts val="900"/>
              </a:spcBef>
              <a:spcAft>
                <a:spcPts val="0"/>
              </a:spcAft>
              <a:buClr>
                <a:srgbClr val="000000">
                  <a:lumMod val="85000"/>
                  <a:lumOff val="15000"/>
                </a:srgbClr>
              </a:buClr>
              <a:buSzTx/>
              <a:buFont typeface="Arial" panose="020B0604020202020204" pitchFamily="34" charset="0"/>
              <a:buChar char="•"/>
              <a:tabLst/>
              <a:defRPr/>
            </a:pPr>
            <a:r>
              <a:rPr lang="en-US" dirty="0">
                <a:solidFill>
                  <a:srgbClr val="000000"/>
                </a:solidFill>
                <a:latin typeface="Gill Sans MT" panose="020B0502020104020203"/>
              </a:rPr>
              <a:t>For Antigenicity we used the </a:t>
            </a:r>
            <a:r>
              <a:rPr lang="en-US" dirty="0" err="1">
                <a:solidFill>
                  <a:srgbClr val="000000"/>
                </a:solidFill>
                <a:latin typeface="Gill Sans MT" panose="020B0502020104020203"/>
              </a:rPr>
              <a:t>Vaxijen</a:t>
            </a:r>
            <a:r>
              <a:rPr lang="en-US" dirty="0">
                <a:solidFill>
                  <a:srgbClr val="000000"/>
                </a:solidFill>
                <a:latin typeface="Gill Sans MT" panose="020B0502020104020203"/>
              </a:rPr>
              <a:t> v2.0. web server which uses probability scores to predict </a:t>
            </a:r>
            <a:r>
              <a:rPr lang="en-US" dirty="0" err="1">
                <a:solidFill>
                  <a:srgbClr val="000000"/>
                </a:solidFill>
                <a:latin typeface="Gill Sans MT" panose="020B0502020104020203"/>
              </a:rPr>
              <a:t>antigencity</a:t>
            </a:r>
            <a:r>
              <a:rPr lang="en-US" dirty="0">
                <a:solidFill>
                  <a:srgbClr val="000000"/>
                </a:solidFill>
                <a:latin typeface="Gill Sans MT" panose="020B0502020104020203"/>
              </a:rPr>
              <a:t>.</a:t>
            </a:r>
          </a:p>
          <a:p>
            <a:pPr marL="285750" marR="0" lvl="0" indent="-285750" algn="just" defTabSz="914400" rtl="0" eaLnBrk="1" fontAlgn="auto" latinLnBrk="0" hangingPunct="1">
              <a:lnSpc>
                <a:spcPct val="100000"/>
              </a:lnSpc>
              <a:spcBef>
                <a:spcPts val="900"/>
              </a:spcBef>
              <a:spcAft>
                <a:spcPts val="0"/>
              </a:spcAft>
              <a:buClr>
                <a:srgbClr val="000000">
                  <a:lumMod val="85000"/>
                  <a:lumOff val="15000"/>
                </a:srgbClr>
              </a:buClr>
              <a:buSzTx/>
              <a:buFont typeface="Arial" panose="020B0604020202020204" pitchFamily="34" charset="0"/>
              <a:buChar char="•"/>
              <a:tabLst/>
              <a:defRPr/>
            </a:pPr>
            <a:r>
              <a:rPr lang="en-US" dirty="0">
                <a:solidFill>
                  <a:srgbClr val="000000"/>
                </a:solidFill>
                <a:latin typeface="Gill Sans MT" panose="020B0502020104020203"/>
              </a:rPr>
              <a:t>For allergenicity we used </a:t>
            </a:r>
            <a:r>
              <a:rPr lang="en-US" dirty="0" err="1">
                <a:solidFill>
                  <a:srgbClr val="000000"/>
                </a:solidFill>
                <a:latin typeface="Gill Sans MT" panose="020B0502020104020203"/>
              </a:rPr>
              <a:t>Algpred</a:t>
            </a:r>
            <a:r>
              <a:rPr lang="en-US" dirty="0">
                <a:solidFill>
                  <a:srgbClr val="000000"/>
                </a:solidFill>
                <a:latin typeface="Gill Sans MT" panose="020B0502020104020203"/>
              </a:rPr>
              <a:t> web server which does BLAST based and predicts </a:t>
            </a:r>
            <a:r>
              <a:rPr lang="en-US" dirty="0" err="1">
                <a:solidFill>
                  <a:srgbClr val="000000"/>
                </a:solidFill>
                <a:latin typeface="Gill Sans MT" panose="020B0502020104020203"/>
              </a:rPr>
              <a:t>IgE</a:t>
            </a:r>
            <a:r>
              <a:rPr lang="en-US" dirty="0">
                <a:solidFill>
                  <a:srgbClr val="000000"/>
                </a:solidFill>
                <a:latin typeface="Gill Sans MT" panose="020B0502020104020203"/>
              </a:rPr>
              <a:t> epitopes for allergenicity testing.   </a:t>
            </a:r>
            <a:endParaRPr kumimoji="0" lang="en-US" sz="1800" b="0" i="0" u="none" strike="noStrike" kern="1200" cap="none" spc="0" normalizeH="0" baseline="0" noProof="0" dirty="0">
              <a:ln>
                <a:noFill/>
              </a:ln>
              <a:solidFill>
                <a:srgbClr val="000000"/>
              </a:solidFill>
              <a:effectLst/>
              <a:uLnTx/>
              <a:uFillTx/>
              <a:latin typeface="Gill Sans MT" panose="020B0502020104020203"/>
              <a:ea typeface="+mn-ea"/>
              <a:cs typeface="+mn-cs"/>
            </a:endParaRPr>
          </a:p>
          <a:p>
            <a:pPr marL="228600" marR="0" lvl="0" indent="-228600" algn="l" defTabSz="914400" rtl="0" eaLnBrk="1" fontAlgn="auto" latinLnBrk="0" hangingPunct="1">
              <a:lnSpc>
                <a:spcPct val="120000"/>
              </a:lnSpc>
              <a:spcBef>
                <a:spcPts val="1000"/>
              </a:spcBef>
              <a:spcAft>
                <a:spcPts val="0"/>
              </a:spcAft>
              <a:buClr>
                <a:srgbClr val="FFFFFF"/>
              </a:buClr>
              <a:buSzPts val="3000"/>
              <a:buFont typeface="Garamond" pitchFamily="18" charset="0"/>
              <a:buChar char="•"/>
              <a:tabLst/>
              <a:defRPr/>
            </a:pPr>
            <a:endParaRPr kumimoji="0" lang="en-IN" sz="1800" b="0" i="0" u="none" strike="noStrike" kern="1200" cap="none" spc="0" normalizeH="0" baseline="0" noProof="0" dirty="0">
              <a:ln>
                <a:noFill/>
              </a:ln>
              <a:solidFill>
                <a:srgbClr val="000000"/>
              </a:solidFill>
              <a:effectLst/>
              <a:uLnTx/>
              <a:uFillTx/>
              <a:latin typeface="Gill Sans MT" panose="020B0502020104020203"/>
              <a:ea typeface="+mn-ea"/>
              <a:cs typeface="+mn-cs"/>
            </a:endParaRPr>
          </a:p>
        </p:txBody>
      </p:sp>
      <p:graphicFrame>
        <p:nvGraphicFramePr>
          <p:cNvPr id="7" name="Table 6">
            <a:extLst>
              <a:ext uri="{FF2B5EF4-FFF2-40B4-BE49-F238E27FC236}">
                <a16:creationId xmlns:a16="http://schemas.microsoft.com/office/drawing/2014/main" id="{1E212B6B-91FD-17B6-30F5-E6214068A816}"/>
              </a:ext>
            </a:extLst>
          </p:cNvPr>
          <p:cNvGraphicFramePr>
            <a:graphicFrameLocks noGrp="1"/>
          </p:cNvGraphicFramePr>
          <p:nvPr>
            <p:extLst>
              <p:ext uri="{D42A27DB-BD31-4B8C-83A1-F6EECF244321}">
                <p14:modId xmlns:p14="http://schemas.microsoft.com/office/powerpoint/2010/main" val="2210190089"/>
              </p:ext>
            </p:extLst>
          </p:nvPr>
        </p:nvGraphicFramePr>
        <p:xfrm>
          <a:off x="612775" y="3620255"/>
          <a:ext cx="8407400" cy="2524942"/>
        </p:xfrm>
        <a:graphic>
          <a:graphicData uri="http://schemas.openxmlformats.org/drawingml/2006/table">
            <a:tbl>
              <a:tblPr>
                <a:tableStyleId>{5C22544A-7EE6-4342-B048-85BDC9FD1C3A}</a:tableStyleId>
              </a:tblPr>
              <a:tblGrid>
                <a:gridCol w="3220446">
                  <a:extLst>
                    <a:ext uri="{9D8B030D-6E8A-4147-A177-3AD203B41FA5}">
                      <a16:colId xmlns:a16="http://schemas.microsoft.com/office/drawing/2014/main" val="2341176477"/>
                    </a:ext>
                  </a:extLst>
                </a:gridCol>
                <a:gridCol w="3090888">
                  <a:extLst>
                    <a:ext uri="{9D8B030D-6E8A-4147-A177-3AD203B41FA5}">
                      <a16:colId xmlns:a16="http://schemas.microsoft.com/office/drawing/2014/main" val="2843858574"/>
                    </a:ext>
                  </a:extLst>
                </a:gridCol>
                <a:gridCol w="2096066">
                  <a:extLst>
                    <a:ext uri="{9D8B030D-6E8A-4147-A177-3AD203B41FA5}">
                      <a16:colId xmlns:a16="http://schemas.microsoft.com/office/drawing/2014/main" val="1703593154"/>
                    </a:ext>
                  </a:extLst>
                </a:gridCol>
              </a:tblGrid>
              <a:tr h="323296">
                <a:tc>
                  <a:txBody>
                    <a:bodyPr/>
                    <a:lstStyle/>
                    <a:p>
                      <a:pPr algn="ctr" fontAlgn="ctr">
                        <a:buNone/>
                      </a:pPr>
                      <a:r>
                        <a:rPr lang="en-US" sz="1600" b="1" u="none" strike="noStrike" dirty="0">
                          <a:solidFill>
                            <a:srgbClr val="D9D9D9"/>
                          </a:solidFill>
                          <a:effectLst/>
                        </a:rPr>
                        <a:t>Peptide</a:t>
                      </a:r>
                      <a:endParaRPr lang="en-US" sz="1600" b="1" i="0" u="none" strike="noStrike" dirty="0">
                        <a:solidFill>
                          <a:srgbClr val="D9D9D9"/>
                        </a:solidFill>
                        <a:effectLst/>
                        <a:latin typeface="Calibri" panose="020F0502020204030204" pitchFamily="34" charset="0"/>
                      </a:endParaRPr>
                    </a:p>
                  </a:txBody>
                  <a:tcPr marL="9525" marR="9525" marT="9525" marB="0" anchor="ctr">
                    <a:solidFill>
                      <a:srgbClr val="C00000"/>
                    </a:solidFill>
                  </a:tcPr>
                </a:tc>
                <a:tc>
                  <a:txBody>
                    <a:bodyPr/>
                    <a:lstStyle/>
                    <a:p>
                      <a:pPr algn="ctr" fontAlgn="ctr">
                        <a:buNone/>
                      </a:pPr>
                      <a:r>
                        <a:rPr lang="en-US" sz="1600" b="1" u="none" strike="noStrike" dirty="0" err="1">
                          <a:solidFill>
                            <a:srgbClr val="D9D9D9"/>
                          </a:solidFill>
                          <a:effectLst/>
                        </a:rPr>
                        <a:t>Vexijen</a:t>
                      </a:r>
                      <a:r>
                        <a:rPr lang="en-US" sz="1600" b="1" u="none" strike="noStrike" dirty="0">
                          <a:solidFill>
                            <a:srgbClr val="D9D9D9"/>
                          </a:solidFill>
                          <a:effectLst/>
                        </a:rPr>
                        <a:t> </a:t>
                      </a:r>
                      <a:endParaRPr lang="en-US" sz="1600" b="1" i="0" u="none" strike="noStrike" dirty="0">
                        <a:solidFill>
                          <a:srgbClr val="D9D9D9"/>
                        </a:solidFill>
                        <a:effectLst/>
                        <a:latin typeface="Calibri" panose="020F0502020204030204" pitchFamily="34" charset="0"/>
                      </a:endParaRPr>
                    </a:p>
                  </a:txBody>
                  <a:tcPr marL="9525" marR="9525" marT="9525" marB="0" anchor="ctr">
                    <a:solidFill>
                      <a:srgbClr val="C00000"/>
                    </a:solidFill>
                  </a:tcPr>
                </a:tc>
                <a:tc>
                  <a:txBody>
                    <a:bodyPr/>
                    <a:lstStyle/>
                    <a:p>
                      <a:pPr algn="ctr" fontAlgn="ctr">
                        <a:buNone/>
                      </a:pPr>
                      <a:r>
                        <a:rPr lang="en-US" sz="1600" b="1" u="none" strike="noStrike" dirty="0" err="1">
                          <a:solidFill>
                            <a:srgbClr val="D9D9D9"/>
                          </a:solidFill>
                          <a:effectLst/>
                        </a:rPr>
                        <a:t>Algpred</a:t>
                      </a:r>
                      <a:endParaRPr lang="en-US" sz="1600" b="1" i="0" u="none" strike="noStrike" dirty="0">
                        <a:solidFill>
                          <a:srgbClr val="D9D9D9"/>
                        </a:solidFill>
                        <a:effectLst/>
                        <a:latin typeface="Calibri" panose="020F0502020204030204" pitchFamily="34" charset="0"/>
                      </a:endParaRPr>
                    </a:p>
                  </a:txBody>
                  <a:tcPr marL="9525" marR="9525" marT="9525" marB="0" anchor="ctr">
                    <a:solidFill>
                      <a:srgbClr val="C00000"/>
                    </a:solidFill>
                  </a:tcPr>
                </a:tc>
                <a:extLst>
                  <a:ext uri="{0D108BD9-81ED-4DB2-BD59-A6C34878D82A}">
                    <a16:rowId xmlns:a16="http://schemas.microsoft.com/office/drawing/2014/main" val="1643299096"/>
                  </a:ext>
                </a:extLst>
              </a:tr>
              <a:tr h="585166">
                <a:tc>
                  <a:txBody>
                    <a:bodyPr/>
                    <a:lstStyle/>
                    <a:p>
                      <a:pPr algn="ctr" fontAlgn="ctr">
                        <a:buNone/>
                      </a:pPr>
                      <a:r>
                        <a:rPr lang="en-US" sz="1400" u="none" strike="noStrike" dirty="0">
                          <a:effectLst/>
                        </a:rPr>
                        <a:t>FARELAYEGLDPALIIKKLKETGGDDWV</a:t>
                      </a:r>
                      <a:endParaRPr lang="en-US" sz="1400" b="0" i="0" u="none" strike="noStrike" dirty="0">
                        <a:solidFill>
                          <a:srgbClr val="000000"/>
                        </a:solidFill>
                        <a:effectLst/>
                        <a:latin typeface="Calibri" panose="020F0502020204030204" pitchFamily="34" charset="0"/>
                      </a:endParaRPr>
                    </a:p>
                  </a:txBody>
                  <a:tcPr marL="9525" marR="9525" marT="9525" marB="0" anchor="ctr">
                    <a:solidFill>
                      <a:srgbClr val="D9D9D9"/>
                    </a:solidFill>
                  </a:tcPr>
                </a:tc>
                <a:tc>
                  <a:txBody>
                    <a:bodyPr/>
                    <a:lstStyle/>
                    <a:p>
                      <a:pPr algn="ctr" fontAlgn="ctr">
                        <a:buNone/>
                      </a:pPr>
                      <a:r>
                        <a:rPr lang="en-US" sz="1400" u="none" strike="noStrike" dirty="0">
                          <a:effectLst/>
                        </a:rPr>
                        <a:t>0.48 (Probable Antigen)</a:t>
                      </a:r>
                      <a:endParaRPr lang="en-US" sz="1400" b="0" i="0" u="none" strike="noStrike" dirty="0">
                        <a:solidFill>
                          <a:srgbClr val="000000"/>
                        </a:solidFill>
                        <a:effectLst/>
                        <a:latin typeface="Calibri" panose="020F0502020204030204" pitchFamily="34" charset="0"/>
                      </a:endParaRPr>
                    </a:p>
                  </a:txBody>
                  <a:tcPr marL="9525" marR="9525" marT="9525" marB="0" anchor="ctr">
                    <a:solidFill>
                      <a:srgbClr val="D9D9D9"/>
                    </a:solidFill>
                  </a:tcPr>
                </a:tc>
                <a:tc>
                  <a:txBody>
                    <a:bodyPr/>
                    <a:lstStyle/>
                    <a:p>
                      <a:pPr algn="ctr" fontAlgn="ctr">
                        <a:buNone/>
                      </a:pPr>
                      <a:r>
                        <a:rPr lang="en-US" sz="1400" u="none" strike="noStrike" dirty="0">
                          <a:effectLst/>
                        </a:rPr>
                        <a:t>Non – Allergen</a:t>
                      </a:r>
                      <a:endParaRPr lang="en-US" sz="1400" b="0" i="0" u="none" strike="noStrike" dirty="0">
                        <a:solidFill>
                          <a:srgbClr val="000000"/>
                        </a:solidFill>
                        <a:effectLst/>
                        <a:latin typeface="Calibri" panose="020F0502020204030204" pitchFamily="34" charset="0"/>
                      </a:endParaRPr>
                    </a:p>
                  </a:txBody>
                  <a:tcPr marL="9525" marR="9525" marT="9525" marB="0" anchor="ctr">
                    <a:solidFill>
                      <a:srgbClr val="D9D9D9"/>
                    </a:solidFill>
                  </a:tcPr>
                </a:tc>
                <a:extLst>
                  <a:ext uri="{0D108BD9-81ED-4DB2-BD59-A6C34878D82A}">
                    <a16:rowId xmlns:a16="http://schemas.microsoft.com/office/drawing/2014/main" val="3620980451"/>
                  </a:ext>
                </a:extLst>
              </a:tr>
              <a:tr h="323296">
                <a:tc>
                  <a:txBody>
                    <a:bodyPr/>
                    <a:lstStyle/>
                    <a:p>
                      <a:pPr algn="ctr" fontAlgn="ctr">
                        <a:buNone/>
                      </a:pPr>
                      <a:r>
                        <a:rPr lang="en-US" sz="1400" u="none" strike="noStrike" dirty="0">
                          <a:effectLst/>
                        </a:rPr>
                        <a:t>DTKFIIVFALTRGNKIVKASGKM</a:t>
                      </a:r>
                      <a:endParaRPr lang="en-US" sz="1400" b="0" i="0" u="none" strike="noStrike" dirty="0">
                        <a:solidFill>
                          <a:srgbClr val="000000"/>
                        </a:solidFill>
                        <a:effectLst/>
                        <a:latin typeface="Calibri" panose="020F0502020204030204" pitchFamily="34" charset="0"/>
                      </a:endParaRPr>
                    </a:p>
                  </a:txBody>
                  <a:tcPr marL="9525" marR="9525" marT="9525" marB="0" anchor="ctr">
                    <a:solidFill>
                      <a:srgbClr val="D9D9D9"/>
                    </a:solidFill>
                  </a:tcPr>
                </a:tc>
                <a:tc>
                  <a:txBody>
                    <a:bodyPr/>
                    <a:lstStyle/>
                    <a:p>
                      <a:pPr algn="ctr" fontAlgn="ctr">
                        <a:buNone/>
                      </a:pPr>
                      <a:r>
                        <a:rPr lang="en-US" sz="1400" u="none" strike="noStrike">
                          <a:effectLst/>
                        </a:rPr>
                        <a:t>0.52 (Probable Antigen)</a:t>
                      </a:r>
                      <a:endParaRPr lang="en-US" sz="1400" b="0" i="0" u="none" strike="noStrike">
                        <a:solidFill>
                          <a:srgbClr val="000000"/>
                        </a:solidFill>
                        <a:effectLst/>
                        <a:latin typeface="Calibri" panose="020F0502020204030204" pitchFamily="34" charset="0"/>
                      </a:endParaRPr>
                    </a:p>
                  </a:txBody>
                  <a:tcPr marL="9525" marR="9525" marT="9525" marB="0" anchor="ctr">
                    <a:solidFill>
                      <a:srgbClr val="D9D9D9"/>
                    </a:solidFill>
                  </a:tcPr>
                </a:tc>
                <a:tc>
                  <a:txBody>
                    <a:bodyPr/>
                    <a:lstStyle/>
                    <a:p>
                      <a:pPr algn="ctr" fontAlgn="ctr">
                        <a:buNone/>
                      </a:pPr>
                      <a:r>
                        <a:rPr lang="en-US" sz="1400" u="none" strike="noStrike" dirty="0">
                          <a:effectLst/>
                        </a:rPr>
                        <a:t>Non – Allergen</a:t>
                      </a:r>
                      <a:endParaRPr lang="en-US" sz="1400" b="0" i="0" u="none" strike="noStrike" dirty="0">
                        <a:solidFill>
                          <a:srgbClr val="000000"/>
                        </a:solidFill>
                        <a:effectLst/>
                        <a:latin typeface="Calibri" panose="020F0502020204030204" pitchFamily="34" charset="0"/>
                      </a:endParaRPr>
                    </a:p>
                  </a:txBody>
                  <a:tcPr marL="9525" marR="9525" marT="9525" marB="0" anchor="ctr">
                    <a:solidFill>
                      <a:srgbClr val="D9D9D9"/>
                    </a:solidFill>
                  </a:tcPr>
                </a:tc>
                <a:extLst>
                  <a:ext uri="{0D108BD9-81ED-4DB2-BD59-A6C34878D82A}">
                    <a16:rowId xmlns:a16="http://schemas.microsoft.com/office/drawing/2014/main" val="2072642911"/>
                  </a:ext>
                </a:extLst>
              </a:tr>
              <a:tr h="646592">
                <a:tc>
                  <a:txBody>
                    <a:bodyPr/>
                    <a:lstStyle/>
                    <a:p>
                      <a:pPr algn="ctr" fontAlgn="ctr">
                        <a:buNone/>
                      </a:pPr>
                      <a:r>
                        <a:rPr lang="en-US" sz="1400" u="none" strike="noStrike" dirty="0">
                          <a:effectLst/>
                        </a:rPr>
                        <a:t>KEYLPVGPAVMNLKVENYPPEMMCMAFGSLIPT</a:t>
                      </a:r>
                      <a:endParaRPr lang="en-US" sz="1400" b="0" i="0" u="none" strike="noStrike" dirty="0">
                        <a:solidFill>
                          <a:srgbClr val="000000"/>
                        </a:solidFill>
                        <a:effectLst/>
                        <a:latin typeface="Calibri" panose="020F0502020204030204" pitchFamily="34" charset="0"/>
                      </a:endParaRPr>
                    </a:p>
                  </a:txBody>
                  <a:tcPr marL="9525" marR="9525" marT="9525" marB="0" anchor="ctr">
                    <a:solidFill>
                      <a:srgbClr val="D9D9D9"/>
                    </a:solidFill>
                  </a:tcPr>
                </a:tc>
                <a:tc>
                  <a:txBody>
                    <a:bodyPr/>
                    <a:lstStyle/>
                    <a:p>
                      <a:pPr algn="ctr" fontAlgn="ctr">
                        <a:buNone/>
                      </a:pPr>
                      <a:r>
                        <a:rPr lang="en-US" sz="1400" u="none" strike="noStrike" dirty="0">
                          <a:effectLst/>
                        </a:rPr>
                        <a:t>1.22 (Probable Antigen)</a:t>
                      </a:r>
                      <a:endParaRPr lang="en-US" sz="1400" b="0" i="0" u="none" strike="noStrike" dirty="0">
                        <a:solidFill>
                          <a:srgbClr val="000000"/>
                        </a:solidFill>
                        <a:effectLst/>
                        <a:latin typeface="Calibri" panose="020F0502020204030204" pitchFamily="34" charset="0"/>
                      </a:endParaRPr>
                    </a:p>
                  </a:txBody>
                  <a:tcPr marL="9525" marR="9525" marT="9525" marB="0" anchor="ctr">
                    <a:solidFill>
                      <a:srgbClr val="D9D9D9"/>
                    </a:solidFill>
                  </a:tcPr>
                </a:tc>
                <a:tc>
                  <a:txBody>
                    <a:bodyPr/>
                    <a:lstStyle/>
                    <a:p>
                      <a:pPr algn="ctr" fontAlgn="ctr">
                        <a:buNone/>
                      </a:pPr>
                      <a:r>
                        <a:rPr lang="en-US" sz="1400" u="none" strike="noStrike" dirty="0">
                          <a:effectLst/>
                        </a:rPr>
                        <a:t>Non – Allergen</a:t>
                      </a:r>
                      <a:endParaRPr lang="en-US" sz="1400" b="0" i="0" u="none" strike="noStrike" dirty="0">
                        <a:solidFill>
                          <a:srgbClr val="000000"/>
                        </a:solidFill>
                        <a:effectLst/>
                        <a:latin typeface="Calibri" panose="020F0502020204030204" pitchFamily="34" charset="0"/>
                      </a:endParaRPr>
                    </a:p>
                  </a:txBody>
                  <a:tcPr marL="9525" marR="9525" marT="9525" marB="0" anchor="ctr">
                    <a:solidFill>
                      <a:srgbClr val="D9D9D9"/>
                    </a:solidFill>
                  </a:tcPr>
                </a:tc>
                <a:extLst>
                  <a:ext uri="{0D108BD9-81ED-4DB2-BD59-A6C34878D82A}">
                    <a16:rowId xmlns:a16="http://schemas.microsoft.com/office/drawing/2014/main" val="253279081"/>
                  </a:ext>
                </a:extLst>
              </a:tr>
              <a:tr h="646592">
                <a:tc>
                  <a:txBody>
                    <a:bodyPr/>
                    <a:lstStyle/>
                    <a:p>
                      <a:pPr algn="ctr" fontAlgn="ctr">
                        <a:buNone/>
                      </a:pPr>
                      <a:r>
                        <a:rPr lang="en-US" sz="1400" u="none" strike="noStrike">
                          <a:effectLst/>
                        </a:rPr>
                        <a:t>KTEVYNSFRDPLHAAVNSVFFPNDVRVKW</a:t>
                      </a:r>
                      <a:endParaRPr lang="en-US" sz="1400" b="0" i="0" u="none" strike="noStrike">
                        <a:solidFill>
                          <a:srgbClr val="000000"/>
                        </a:solidFill>
                        <a:effectLst/>
                        <a:latin typeface="Calibri" panose="020F0502020204030204" pitchFamily="34" charset="0"/>
                      </a:endParaRPr>
                    </a:p>
                  </a:txBody>
                  <a:tcPr marL="9525" marR="9525" marT="9525" marB="0" anchor="ctr">
                    <a:solidFill>
                      <a:srgbClr val="D9D9D9"/>
                    </a:solidFill>
                  </a:tcPr>
                </a:tc>
                <a:tc>
                  <a:txBody>
                    <a:bodyPr/>
                    <a:lstStyle/>
                    <a:p>
                      <a:pPr algn="ctr" fontAlgn="ctr">
                        <a:buNone/>
                      </a:pPr>
                      <a:r>
                        <a:rPr lang="en-US" sz="1400" u="none" strike="noStrike" dirty="0">
                          <a:effectLst/>
                        </a:rPr>
                        <a:t>0.39 (Probable Non-Antigen)</a:t>
                      </a:r>
                      <a:endParaRPr lang="en-US" sz="1400" b="0" i="0" u="none" strike="noStrike" dirty="0">
                        <a:solidFill>
                          <a:srgbClr val="000000"/>
                        </a:solidFill>
                        <a:effectLst/>
                        <a:latin typeface="Calibri" panose="020F0502020204030204" pitchFamily="34" charset="0"/>
                      </a:endParaRPr>
                    </a:p>
                  </a:txBody>
                  <a:tcPr marL="9525" marR="9525" marT="9525" marB="0" anchor="ctr">
                    <a:solidFill>
                      <a:srgbClr val="D9D9D9"/>
                    </a:solidFill>
                  </a:tcPr>
                </a:tc>
                <a:tc>
                  <a:txBody>
                    <a:bodyPr/>
                    <a:lstStyle/>
                    <a:p>
                      <a:pPr algn="ctr" fontAlgn="ctr">
                        <a:buNone/>
                      </a:pPr>
                      <a:r>
                        <a:rPr lang="en-US" sz="1400" u="none" strike="noStrike" dirty="0">
                          <a:effectLst/>
                        </a:rPr>
                        <a:t>Non – Allergen</a:t>
                      </a:r>
                      <a:endParaRPr lang="en-US" sz="1400" b="0" i="0" u="none" strike="noStrike" dirty="0">
                        <a:solidFill>
                          <a:srgbClr val="000000"/>
                        </a:solidFill>
                        <a:effectLst/>
                        <a:latin typeface="Calibri" panose="020F0502020204030204" pitchFamily="34" charset="0"/>
                      </a:endParaRPr>
                    </a:p>
                  </a:txBody>
                  <a:tcPr marL="9525" marR="9525" marT="9525" marB="0" anchor="ctr">
                    <a:solidFill>
                      <a:srgbClr val="D9D9D9"/>
                    </a:solidFill>
                  </a:tcPr>
                </a:tc>
                <a:extLst>
                  <a:ext uri="{0D108BD9-81ED-4DB2-BD59-A6C34878D82A}">
                    <a16:rowId xmlns:a16="http://schemas.microsoft.com/office/drawing/2014/main" val="2748881512"/>
                  </a:ext>
                </a:extLst>
              </a:tr>
            </a:tbl>
          </a:graphicData>
        </a:graphic>
      </p:graphicFrame>
      <p:sp>
        <p:nvSpPr>
          <p:cNvPr id="8" name="Rectangle: Rounded Corners 7">
            <a:extLst>
              <a:ext uri="{FF2B5EF4-FFF2-40B4-BE49-F238E27FC236}">
                <a16:creationId xmlns:a16="http://schemas.microsoft.com/office/drawing/2014/main" id="{A7BBA56B-99C7-F47B-5170-1812A0976CF6}"/>
              </a:ext>
            </a:extLst>
          </p:cNvPr>
          <p:cNvSpPr/>
          <p:nvPr/>
        </p:nvSpPr>
        <p:spPr>
          <a:xfrm>
            <a:off x="444500" y="5573697"/>
            <a:ext cx="8743950" cy="442095"/>
          </a:xfrm>
          <a:prstGeom prst="roundRect">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Connector 15">
            <a:extLst>
              <a:ext uri="{FF2B5EF4-FFF2-40B4-BE49-F238E27FC236}">
                <a16:creationId xmlns:a16="http://schemas.microsoft.com/office/drawing/2014/main" id="{E60ABB33-7474-DD6C-0382-B5F7F23B8888}"/>
              </a:ext>
            </a:extLst>
          </p:cNvPr>
          <p:cNvCxnSpPr>
            <a:stCxn id="8" idx="3"/>
          </p:cNvCxnSpPr>
          <p:nvPr/>
        </p:nvCxnSpPr>
        <p:spPr>
          <a:xfrm flipV="1">
            <a:off x="9188450" y="5794744"/>
            <a:ext cx="393700" cy="1"/>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79781454-9C38-8393-399D-B6520AEDDE08}"/>
              </a:ext>
            </a:extLst>
          </p:cNvPr>
          <p:cNvCxnSpPr>
            <a:cxnSpLocks/>
          </p:cNvCxnSpPr>
          <p:nvPr/>
        </p:nvCxnSpPr>
        <p:spPr>
          <a:xfrm flipV="1">
            <a:off x="9582150" y="4350855"/>
            <a:ext cx="0" cy="1443889"/>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F7A4F4B2-E2DF-5D63-1D4C-595FBC4B458B}"/>
              </a:ext>
            </a:extLst>
          </p:cNvPr>
          <p:cNvCxnSpPr/>
          <p:nvPr/>
        </p:nvCxnSpPr>
        <p:spPr>
          <a:xfrm>
            <a:off x="9582150" y="4350855"/>
            <a:ext cx="276225" cy="0"/>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5" name="Google Shape;267;p5">
            <a:extLst>
              <a:ext uri="{FF2B5EF4-FFF2-40B4-BE49-F238E27FC236}">
                <a16:creationId xmlns:a16="http://schemas.microsoft.com/office/drawing/2014/main" id="{52FD8528-2A1F-E1EE-7D28-918D3F30B432}"/>
              </a:ext>
            </a:extLst>
          </p:cNvPr>
          <p:cNvSpPr txBox="1">
            <a:spLocks/>
          </p:cNvSpPr>
          <p:nvPr/>
        </p:nvSpPr>
        <p:spPr>
          <a:xfrm>
            <a:off x="9858375" y="3961043"/>
            <a:ext cx="1720847" cy="1612654"/>
          </a:xfrm>
          <a:prstGeom prst="rect">
            <a:avLst/>
          </a:prstGeom>
          <a:noFill/>
          <a:ln>
            <a:noFill/>
          </a:ln>
        </p:spPr>
        <p:txBody>
          <a:bodyPr spcFirstLastPara="1" vert="horz" wrap="square" lIns="91425" tIns="45700" rIns="91425" bIns="45700" rtlCol="0" anchor="t" anchorCtr="0">
            <a:normAutofit/>
          </a:bodyPr>
          <a:lstStyle>
            <a:lvl1pPr marL="182880" indent="-182880" algn="l" defTabSz="914400" rtl="0" eaLnBrk="1" latinLnBrk="0" hangingPunct="1">
              <a:lnSpc>
                <a:spcPct val="100000"/>
              </a:lnSpc>
              <a:spcBef>
                <a:spcPts val="900"/>
              </a:spcBef>
              <a:spcAft>
                <a:spcPts val="0"/>
              </a:spcAft>
              <a:buClr>
                <a:schemeClr val="tx1">
                  <a:lumMod val="85000"/>
                  <a:lumOff val="15000"/>
                </a:schemeClr>
              </a:buClr>
              <a:buFont typeface="Garamond" pitchFamily="18" charset="0"/>
              <a:buChar char="◦"/>
              <a:defRPr sz="18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6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a:lstStyle>
          <a:p>
            <a:pPr marL="0" marR="0" lvl="0" indent="0" algn="l" defTabSz="914400" rtl="0" eaLnBrk="1" fontAlgn="auto" latinLnBrk="0" hangingPunct="1">
              <a:lnSpc>
                <a:spcPct val="120000"/>
              </a:lnSpc>
              <a:spcBef>
                <a:spcPts val="1000"/>
              </a:spcBef>
              <a:spcAft>
                <a:spcPts val="0"/>
              </a:spcAft>
              <a:buClr>
                <a:srgbClr val="FFFFFF"/>
              </a:buClr>
              <a:buSzPts val="3000"/>
              <a:buNone/>
              <a:tabLst/>
              <a:defRPr/>
            </a:pPr>
            <a:r>
              <a:rPr lang="en-IN" dirty="0">
                <a:solidFill>
                  <a:srgbClr val="000000"/>
                </a:solidFill>
                <a:latin typeface="Gill Sans MT" panose="020B0502020104020203"/>
              </a:rPr>
              <a:t>Eliminated due Non antigenicity </a:t>
            </a:r>
            <a:endParaRPr kumimoji="0" lang="en-IN" sz="1800" b="0" i="0" u="none" strike="noStrike" kern="1200" cap="none" spc="0" normalizeH="0" baseline="0" noProof="0" dirty="0">
              <a:ln>
                <a:noFill/>
              </a:ln>
              <a:solidFill>
                <a:srgbClr val="000000"/>
              </a:solidFill>
              <a:effectLst/>
              <a:uLnTx/>
              <a:uFillTx/>
              <a:latin typeface="Gill Sans MT" panose="020B0502020104020203"/>
              <a:ea typeface="+mn-ea"/>
              <a:cs typeface="+mn-cs"/>
            </a:endParaRPr>
          </a:p>
        </p:txBody>
      </p:sp>
      <mc:AlternateContent xmlns:mc="http://schemas.openxmlformats.org/markup-compatibility/2006" xmlns:p14="http://schemas.microsoft.com/office/powerpoint/2010/main">
        <mc:Choice Requires="p14">
          <p:contentPart p14:bwMode="auto" r:id="rId2">
            <p14:nvContentPartPr>
              <p14:cNvPr id="26" name="Ink 25">
                <a:extLst>
                  <a:ext uri="{FF2B5EF4-FFF2-40B4-BE49-F238E27FC236}">
                    <a16:creationId xmlns:a16="http://schemas.microsoft.com/office/drawing/2014/main" id="{795CE7A8-31D5-A212-1269-DDA9F1E8D891}"/>
                  </a:ext>
                </a:extLst>
              </p14:cNvPr>
              <p14:cNvContentPartPr/>
              <p14:nvPr/>
            </p14:nvContentPartPr>
            <p14:xfrm>
              <a:off x="4320420" y="5805060"/>
              <a:ext cx="2087280" cy="78120"/>
            </p14:xfrm>
          </p:contentPart>
        </mc:Choice>
        <mc:Fallback xmlns="">
          <p:pic>
            <p:nvPicPr>
              <p:cNvPr id="26" name="Ink 25">
                <a:extLst>
                  <a:ext uri="{FF2B5EF4-FFF2-40B4-BE49-F238E27FC236}">
                    <a16:creationId xmlns:a16="http://schemas.microsoft.com/office/drawing/2014/main" id="{795CE7A8-31D5-A212-1269-DDA9F1E8D891}"/>
                  </a:ext>
                </a:extLst>
              </p:cNvPr>
              <p:cNvPicPr/>
              <p:nvPr/>
            </p:nvPicPr>
            <p:blipFill>
              <a:blip r:embed="rId3"/>
              <a:stretch>
                <a:fillRect/>
              </a:stretch>
            </p:blipFill>
            <p:spPr>
              <a:xfrm>
                <a:off x="4266420" y="5697420"/>
                <a:ext cx="2194920" cy="293760"/>
              </a:xfrm>
              <a:prstGeom prst="rect">
                <a:avLst/>
              </a:prstGeom>
            </p:spPr>
          </p:pic>
        </mc:Fallback>
      </mc:AlternateContent>
    </p:spTree>
    <p:extLst>
      <p:ext uri="{BB962C8B-B14F-4D97-AF65-F5344CB8AC3E}">
        <p14:creationId xmlns:p14="http://schemas.microsoft.com/office/powerpoint/2010/main" val="25157012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25"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5ACD80-2D32-6F1A-DEC7-FCBC62E12D97}"/>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58B740B0-81BE-A7D1-B3FA-CB0E7959EB9B}"/>
              </a:ext>
            </a:extLst>
          </p:cNvPr>
          <p:cNvGrpSpPr/>
          <p:nvPr/>
        </p:nvGrpSpPr>
        <p:grpSpPr>
          <a:xfrm>
            <a:off x="1196486" y="229722"/>
            <a:ext cx="11154657" cy="723900"/>
            <a:chOff x="739738" y="344774"/>
            <a:chExt cx="9439576" cy="1042237"/>
          </a:xfrm>
        </p:grpSpPr>
        <p:sp>
          <p:nvSpPr>
            <p:cNvPr id="3" name="Rectangle: Rounded Corners 2">
              <a:extLst>
                <a:ext uri="{FF2B5EF4-FFF2-40B4-BE49-F238E27FC236}">
                  <a16:creationId xmlns:a16="http://schemas.microsoft.com/office/drawing/2014/main" id="{FFDA693F-3D51-F726-7AF7-6EB517031405}"/>
                </a:ext>
              </a:extLst>
            </p:cNvPr>
            <p:cNvSpPr/>
            <p:nvPr/>
          </p:nvSpPr>
          <p:spPr>
            <a:xfrm>
              <a:off x="739739" y="344774"/>
              <a:ext cx="8311794" cy="1042237"/>
            </a:xfrm>
            <a:prstGeom prst="roundRect">
              <a:avLst/>
            </a:prstGeom>
            <a:solidFill>
              <a:schemeClr val="bg1">
                <a:lumMod val="85000"/>
              </a:schemeClr>
            </a:solidFill>
            <a:ln>
              <a:no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en-US" sz="2000" dirty="0"/>
            </a:p>
          </p:txBody>
        </p:sp>
        <p:sp>
          <p:nvSpPr>
            <p:cNvPr id="4" name="Title 1">
              <a:extLst>
                <a:ext uri="{FF2B5EF4-FFF2-40B4-BE49-F238E27FC236}">
                  <a16:creationId xmlns:a16="http://schemas.microsoft.com/office/drawing/2014/main" id="{88EEC3C1-7025-A2C4-8256-4324B071B167}"/>
                </a:ext>
              </a:extLst>
            </p:cNvPr>
            <p:cNvSpPr txBox="1">
              <a:spLocks/>
            </p:cNvSpPr>
            <p:nvPr/>
          </p:nvSpPr>
          <p:spPr>
            <a:xfrm>
              <a:off x="739738" y="344774"/>
              <a:ext cx="9439576" cy="960044"/>
            </a:xfrm>
            <a:prstGeom prst="rect">
              <a:avLst/>
            </a:prstGeom>
            <a:noFill/>
            <a:ln w="12700" cap="flat" cmpd="sng" algn="ctr">
              <a:noFill/>
              <a:prstDash val="solid"/>
              <a:miter lim="800000"/>
            </a:ln>
          </p:spPr>
          <p:style>
            <a:lnRef idx="1">
              <a:schemeClr val="accent4"/>
            </a:lnRef>
            <a:fillRef idx="2">
              <a:schemeClr val="accent4"/>
            </a:fillRef>
            <a:effectRef idx="1">
              <a:schemeClr val="accent4"/>
            </a:effectRef>
            <a:fontRef idx="minor">
              <a:schemeClr val="dk1"/>
            </a:fontRef>
          </p:style>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l"/>
              <a:r>
                <a:rPr lang="en-US" sz="4000" dirty="0">
                  <a:solidFill>
                    <a:srgbClr val="C00000"/>
                  </a:solidFill>
                </a:rPr>
                <a:t>Design of Multi-epitope Peptide Construction</a:t>
              </a:r>
            </a:p>
          </p:txBody>
        </p:sp>
      </p:grpSp>
      <p:sp>
        <p:nvSpPr>
          <p:cNvPr id="5" name="Rectangle 4">
            <a:extLst>
              <a:ext uri="{FF2B5EF4-FFF2-40B4-BE49-F238E27FC236}">
                <a16:creationId xmlns:a16="http://schemas.microsoft.com/office/drawing/2014/main" id="{0149C7F8-BFCF-2B5A-105F-E85E983C7C41}"/>
              </a:ext>
            </a:extLst>
          </p:cNvPr>
          <p:cNvSpPr/>
          <p:nvPr/>
        </p:nvSpPr>
        <p:spPr>
          <a:xfrm>
            <a:off x="0" y="1675"/>
            <a:ext cx="12192000" cy="6858000"/>
          </a:xfrm>
          <a:prstGeom prst="rect">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800" dirty="0">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5DA3C0F4-5BCE-BD2F-12DB-9A00C4C4C8E8}"/>
              </a:ext>
            </a:extLst>
          </p:cNvPr>
          <p:cNvSpPr txBox="1"/>
          <p:nvPr/>
        </p:nvSpPr>
        <p:spPr>
          <a:xfrm>
            <a:off x="189618" y="1241284"/>
            <a:ext cx="11440728" cy="1315745"/>
          </a:xfrm>
          <a:prstGeom prst="rect">
            <a:avLst/>
          </a:prstGeom>
          <a:noFill/>
        </p:spPr>
        <p:txBody>
          <a:bodyPr wrap="square">
            <a:spAutoFit/>
          </a:bodyPr>
          <a:lstStyle/>
          <a:p>
            <a:pPr marR="0" lvl="0" algn="just" defTabSz="914400" rtl="0" eaLnBrk="1" fontAlgn="auto" latinLnBrk="0" hangingPunct="1">
              <a:lnSpc>
                <a:spcPct val="100000"/>
              </a:lnSpc>
              <a:spcBef>
                <a:spcPts val="900"/>
              </a:spcBef>
              <a:spcAft>
                <a:spcPts val="0"/>
              </a:spcAft>
              <a:buClr>
                <a:srgbClr val="000000">
                  <a:lumMod val="85000"/>
                  <a:lumOff val="15000"/>
                </a:srgbClr>
              </a:buClr>
              <a:buSzTx/>
              <a:tabLst/>
              <a:defRPr/>
            </a:pPr>
            <a:r>
              <a:rPr kumimoji="0" lang="en-US" sz="1800" b="0" i="0" u="none" strike="noStrike" kern="1200" cap="none" spc="0" normalizeH="0" baseline="0" noProof="0" dirty="0">
                <a:ln>
                  <a:noFill/>
                </a:ln>
                <a:solidFill>
                  <a:srgbClr val="000000"/>
                </a:solidFill>
                <a:effectLst/>
                <a:uLnTx/>
                <a:uFillTx/>
                <a:latin typeface="Gill Sans MT" panose="020B0502020104020203"/>
                <a:ea typeface="+mn-ea"/>
                <a:cs typeface="+mn-cs"/>
              </a:rPr>
              <a:t>Construct</a:t>
            </a:r>
            <a:r>
              <a:rPr lang="en-US" dirty="0">
                <a:solidFill>
                  <a:srgbClr val="000000"/>
                </a:solidFill>
                <a:latin typeface="Gill Sans MT" panose="020B0502020104020203"/>
              </a:rPr>
              <a:t> was</a:t>
            </a:r>
            <a:r>
              <a:rPr kumimoji="0" lang="en-US" sz="1800" b="0" i="0" u="none" strike="noStrike" kern="1200" cap="none" spc="0" normalizeH="0" baseline="0" noProof="0" dirty="0">
                <a:ln>
                  <a:noFill/>
                </a:ln>
                <a:solidFill>
                  <a:srgbClr val="000000"/>
                </a:solidFill>
                <a:effectLst/>
                <a:uLnTx/>
                <a:uFillTx/>
                <a:latin typeface="Gill Sans MT" panose="020B0502020104020203"/>
                <a:ea typeface="+mn-ea"/>
                <a:cs typeface="+mn-cs"/>
              </a:rPr>
              <a:t> created using GGGGS flexible linkers between each peptide sequences in all possible combinations for construction of peptide (6 possible combinations). </a:t>
            </a:r>
          </a:p>
          <a:p>
            <a:pPr marR="0" lvl="0" algn="just" defTabSz="914400" rtl="0" eaLnBrk="1" fontAlgn="auto" latinLnBrk="0" hangingPunct="1">
              <a:lnSpc>
                <a:spcPct val="100000"/>
              </a:lnSpc>
              <a:spcBef>
                <a:spcPts val="900"/>
              </a:spcBef>
              <a:spcAft>
                <a:spcPts val="0"/>
              </a:spcAft>
              <a:buClr>
                <a:srgbClr val="000000">
                  <a:lumMod val="85000"/>
                  <a:lumOff val="15000"/>
                </a:srgbClr>
              </a:buClr>
              <a:buSzTx/>
              <a:tabLst/>
              <a:defRPr/>
            </a:pPr>
            <a:r>
              <a:rPr kumimoji="0" lang="en-US" sz="1800" b="0" i="0" u="none" strike="noStrike" kern="1200" cap="none" spc="0" normalizeH="0" baseline="0" noProof="0" dirty="0">
                <a:ln>
                  <a:noFill/>
                </a:ln>
                <a:solidFill>
                  <a:srgbClr val="000000"/>
                </a:solidFill>
                <a:effectLst/>
                <a:uLnTx/>
                <a:uFillTx/>
                <a:latin typeface="Gill Sans MT" panose="020B0502020104020203"/>
                <a:ea typeface="+mn-ea"/>
                <a:cs typeface="+mn-cs"/>
              </a:rPr>
              <a:t>All structures predicted using </a:t>
            </a:r>
            <a:r>
              <a:rPr kumimoji="0" lang="en-US" sz="1800" b="0" i="0" u="none" strike="noStrike" kern="1200" cap="none" spc="0" normalizeH="0" baseline="0" noProof="0" dirty="0" err="1">
                <a:ln>
                  <a:noFill/>
                </a:ln>
                <a:solidFill>
                  <a:srgbClr val="000000"/>
                </a:solidFill>
                <a:effectLst/>
                <a:uLnTx/>
                <a:uFillTx/>
                <a:latin typeface="Gill Sans MT" panose="020B0502020104020203"/>
                <a:ea typeface="+mn-ea"/>
                <a:cs typeface="+mn-cs"/>
              </a:rPr>
              <a:t>RoseTTAFold</a:t>
            </a:r>
            <a:r>
              <a:rPr kumimoji="0" lang="en-US" sz="1800" b="0" i="0" u="none" strike="noStrike" kern="1200" cap="none" spc="0" normalizeH="0" baseline="0" noProof="0" dirty="0">
                <a:ln>
                  <a:noFill/>
                </a:ln>
                <a:solidFill>
                  <a:srgbClr val="000000"/>
                </a:solidFill>
                <a:effectLst/>
                <a:uLnTx/>
                <a:uFillTx/>
                <a:latin typeface="Gill Sans MT" panose="020B0502020104020203"/>
                <a:ea typeface="+mn-ea"/>
                <a:cs typeface="+mn-cs"/>
              </a:rPr>
              <a:t> (</a:t>
            </a:r>
            <a:r>
              <a:rPr kumimoji="0" lang="en-US" sz="1800" b="0" i="0" u="none" strike="noStrike" kern="1200" cap="none" spc="0" normalizeH="0" baseline="0" noProof="0" dirty="0" err="1">
                <a:ln>
                  <a:noFill/>
                </a:ln>
                <a:solidFill>
                  <a:srgbClr val="000000"/>
                </a:solidFill>
                <a:effectLst/>
                <a:uLnTx/>
                <a:uFillTx/>
                <a:latin typeface="Gill Sans MT" panose="020B0502020104020203"/>
                <a:ea typeface="+mn-ea"/>
                <a:cs typeface="+mn-cs"/>
              </a:rPr>
              <a:t>Robetta</a:t>
            </a:r>
            <a:r>
              <a:rPr kumimoji="0" lang="en-US" sz="1800" b="0" i="0" u="none" strike="noStrike" kern="1200" cap="none" spc="0" normalizeH="0" baseline="0" noProof="0" dirty="0">
                <a:ln>
                  <a:noFill/>
                </a:ln>
                <a:solidFill>
                  <a:srgbClr val="000000"/>
                </a:solidFill>
                <a:effectLst/>
                <a:uLnTx/>
                <a:uFillTx/>
                <a:latin typeface="Gill Sans MT" panose="020B0502020104020203"/>
                <a:ea typeface="+mn-ea"/>
                <a:cs typeface="+mn-cs"/>
              </a:rPr>
              <a:t> Server by Baker Lab) which utilizes both Homology and </a:t>
            </a:r>
            <a:r>
              <a:rPr kumimoji="0" lang="en-US" sz="1800" b="0" i="1" u="none" strike="noStrike" kern="1200" cap="none" spc="0" normalizeH="0" baseline="0" noProof="0" dirty="0">
                <a:ln>
                  <a:noFill/>
                </a:ln>
                <a:solidFill>
                  <a:srgbClr val="000000"/>
                </a:solidFill>
                <a:effectLst/>
                <a:uLnTx/>
                <a:uFillTx/>
                <a:latin typeface="Gill Sans MT" panose="020B0502020104020203"/>
                <a:ea typeface="+mn-ea"/>
                <a:cs typeface="+mn-cs"/>
              </a:rPr>
              <a:t>Ab </a:t>
            </a:r>
            <a:r>
              <a:rPr kumimoji="0" lang="en-US" sz="1800" b="0" i="1" u="none" strike="noStrike" kern="1200" cap="none" spc="0" normalizeH="0" baseline="0" noProof="0" dirty="0" err="1">
                <a:ln>
                  <a:noFill/>
                </a:ln>
                <a:solidFill>
                  <a:srgbClr val="000000"/>
                </a:solidFill>
                <a:effectLst/>
                <a:uLnTx/>
                <a:uFillTx/>
                <a:latin typeface="Gill Sans MT" panose="020B0502020104020203"/>
                <a:ea typeface="+mn-ea"/>
                <a:cs typeface="+mn-cs"/>
              </a:rPr>
              <a:t>intio</a:t>
            </a:r>
            <a:r>
              <a:rPr kumimoji="0" lang="en-US" sz="1800" b="0" i="0" u="none" strike="noStrike" kern="1200" cap="none" spc="0" normalizeH="0" baseline="0" noProof="0" dirty="0">
                <a:ln>
                  <a:noFill/>
                </a:ln>
                <a:solidFill>
                  <a:srgbClr val="000000"/>
                </a:solidFill>
                <a:effectLst/>
                <a:uLnTx/>
                <a:uFillTx/>
                <a:latin typeface="Gill Sans MT" panose="020B0502020104020203"/>
                <a:ea typeface="+mn-ea"/>
                <a:cs typeface="+mn-cs"/>
              </a:rPr>
              <a:t> method of protein structure prediction method.</a:t>
            </a:r>
          </a:p>
        </p:txBody>
      </p:sp>
      <p:sp>
        <p:nvSpPr>
          <p:cNvPr id="8" name="Rectangle: Rounded Corners 7">
            <a:extLst>
              <a:ext uri="{FF2B5EF4-FFF2-40B4-BE49-F238E27FC236}">
                <a16:creationId xmlns:a16="http://schemas.microsoft.com/office/drawing/2014/main" id="{14182718-1993-0765-7606-E83A135F30FD}"/>
              </a:ext>
            </a:extLst>
          </p:cNvPr>
          <p:cNvSpPr/>
          <p:nvPr/>
        </p:nvSpPr>
        <p:spPr>
          <a:xfrm rot="842176">
            <a:off x="1119883" y="3833346"/>
            <a:ext cx="1150706" cy="164386"/>
          </a:xfrm>
          <a:prstGeom prst="round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P1</a:t>
            </a:r>
          </a:p>
        </p:txBody>
      </p:sp>
      <p:sp>
        <p:nvSpPr>
          <p:cNvPr id="9" name="Rectangle: Rounded Corners 8">
            <a:extLst>
              <a:ext uri="{FF2B5EF4-FFF2-40B4-BE49-F238E27FC236}">
                <a16:creationId xmlns:a16="http://schemas.microsoft.com/office/drawing/2014/main" id="{94B9FC44-77E6-B792-E861-97BC3B305293}"/>
              </a:ext>
            </a:extLst>
          </p:cNvPr>
          <p:cNvSpPr/>
          <p:nvPr/>
        </p:nvSpPr>
        <p:spPr>
          <a:xfrm>
            <a:off x="750013" y="4134821"/>
            <a:ext cx="1150706" cy="164386"/>
          </a:xfrm>
          <a:prstGeom prst="roundRect">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P2</a:t>
            </a:r>
          </a:p>
        </p:txBody>
      </p:sp>
      <p:sp>
        <p:nvSpPr>
          <p:cNvPr id="10" name="Rectangle: Rounded Corners 9">
            <a:extLst>
              <a:ext uri="{FF2B5EF4-FFF2-40B4-BE49-F238E27FC236}">
                <a16:creationId xmlns:a16="http://schemas.microsoft.com/office/drawing/2014/main" id="{35BA5C2D-5110-71E9-DE0B-91FA58B7E1DF}"/>
              </a:ext>
            </a:extLst>
          </p:cNvPr>
          <p:cNvSpPr/>
          <p:nvPr/>
        </p:nvSpPr>
        <p:spPr>
          <a:xfrm rot="20185601">
            <a:off x="1101982" y="4522444"/>
            <a:ext cx="1150706" cy="164386"/>
          </a:xfrm>
          <a:prstGeom prst="round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P3</a:t>
            </a:r>
          </a:p>
        </p:txBody>
      </p:sp>
      <p:sp>
        <p:nvSpPr>
          <p:cNvPr id="11" name="Isosceles Triangle 10">
            <a:extLst>
              <a:ext uri="{FF2B5EF4-FFF2-40B4-BE49-F238E27FC236}">
                <a16:creationId xmlns:a16="http://schemas.microsoft.com/office/drawing/2014/main" id="{B6A87DE9-0EE4-6E80-18FD-9AA3F7DC69BA}"/>
              </a:ext>
            </a:extLst>
          </p:cNvPr>
          <p:cNvSpPr/>
          <p:nvPr/>
        </p:nvSpPr>
        <p:spPr>
          <a:xfrm>
            <a:off x="8987957" y="2961112"/>
            <a:ext cx="256854" cy="219282"/>
          </a:xfrm>
          <a:prstGeom prst="triangl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Isosceles Triangle 11">
            <a:extLst>
              <a:ext uri="{FF2B5EF4-FFF2-40B4-BE49-F238E27FC236}">
                <a16:creationId xmlns:a16="http://schemas.microsoft.com/office/drawing/2014/main" id="{00ED7816-A522-3215-DFA4-2FDA23D95630}"/>
              </a:ext>
            </a:extLst>
          </p:cNvPr>
          <p:cNvSpPr/>
          <p:nvPr/>
        </p:nvSpPr>
        <p:spPr>
          <a:xfrm>
            <a:off x="7589020" y="2961112"/>
            <a:ext cx="256854" cy="219282"/>
          </a:xfrm>
          <a:prstGeom prst="triangl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Plus Sign 12">
            <a:extLst>
              <a:ext uri="{FF2B5EF4-FFF2-40B4-BE49-F238E27FC236}">
                <a16:creationId xmlns:a16="http://schemas.microsoft.com/office/drawing/2014/main" id="{882B64CF-68F9-E437-35D5-A901E85648F2}"/>
              </a:ext>
            </a:extLst>
          </p:cNvPr>
          <p:cNvSpPr/>
          <p:nvPr/>
        </p:nvSpPr>
        <p:spPr>
          <a:xfrm>
            <a:off x="2612727" y="4027666"/>
            <a:ext cx="529277" cy="438566"/>
          </a:xfrm>
          <a:prstGeom prst="mathPlus">
            <a:avLst>
              <a:gd name="adj1" fmla="val 9464"/>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Arrow Connector 14">
            <a:extLst>
              <a:ext uri="{FF2B5EF4-FFF2-40B4-BE49-F238E27FC236}">
                <a16:creationId xmlns:a16="http://schemas.microsoft.com/office/drawing/2014/main" id="{48219860-6359-5F40-A0E8-285C5780BAE1}"/>
              </a:ext>
            </a:extLst>
          </p:cNvPr>
          <p:cNvCxnSpPr>
            <a:cxnSpLocks/>
          </p:cNvCxnSpPr>
          <p:nvPr/>
        </p:nvCxnSpPr>
        <p:spPr>
          <a:xfrm flipV="1">
            <a:off x="4688440" y="3696256"/>
            <a:ext cx="1078506" cy="491171"/>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A98CAEBC-406C-3D09-8EBB-72A89D6E821A}"/>
              </a:ext>
            </a:extLst>
          </p:cNvPr>
          <p:cNvCxnSpPr>
            <a:cxnSpLocks/>
          </p:cNvCxnSpPr>
          <p:nvPr/>
        </p:nvCxnSpPr>
        <p:spPr>
          <a:xfrm>
            <a:off x="4688440" y="4299206"/>
            <a:ext cx="1078506" cy="0"/>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B534FF5F-7B4E-F3FE-4F34-7496AD1C8C15}"/>
              </a:ext>
            </a:extLst>
          </p:cNvPr>
          <p:cNvCxnSpPr>
            <a:cxnSpLocks/>
          </p:cNvCxnSpPr>
          <p:nvPr/>
        </p:nvCxnSpPr>
        <p:spPr>
          <a:xfrm>
            <a:off x="4688440" y="4466232"/>
            <a:ext cx="1116824" cy="374410"/>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8" name="Rectangle: Rounded Corners 27">
            <a:extLst>
              <a:ext uri="{FF2B5EF4-FFF2-40B4-BE49-F238E27FC236}">
                <a16:creationId xmlns:a16="http://schemas.microsoft.com/office/drawing/2014/main" id="{CFC7B004-2123-74AB-1A23-D2DA6364899C}"/>
              </a:ext>
            </a:extLst>
          </p:cNvPr>
          <p:cNvSpPr/>
          <p:nvPr/>
        </p:nvSpPr>
        <p:spPr>
          <a:xfrm>
            <a:off x="6441956" y="3016008"/>
            <a:ext cx="1150706" cy="164386"/>
          </a:xfrm>
          <a:prstGeom prst="round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P1</a:t>
            </a:r>
          </a:p>
        </p:txBody>
      </p:sp>
      <p:sp>
        <p:nvSpPr>
          <p:cNvPr id="29" name="TextBox 28">
            <a:extLst>
              <a:ext uri="{FF2B5EF4-FFF2-40B4-BE49-F238E27FC236}">
                <a16:creationId xmlns:a16="http://schemas.microsoft.com/office/drawing/2014/main" id="{EEE2F9B3-F244-2EFA-DC92-CD38114E1FBF}"/>
              </a:ext>
            </a:extLst>
          </p:cNvPr>
          <p:cNvSpPr txBox="1"/>
          <p:nvPr/>
        </p:nvSpPr>
        <p:spPr>
          <a:xfrm>
            <a:off x="978802" y="4918615"/>
            <a:ext cx="1294544" cy="369332"/>
          </a:xfrm>
          <a:prstGeom prst="rect">
            <a:avLst/>
          </a:prstGeom>
          <a:noFill/>
        </p:spPr>
        <p:txBody>
          <a:bodyPr wrap="square" rtlCol="0">
            <a:spAutoFit/>
          </a:bodyPr>
          <a:lstStyle/>
          <a:p>
            <a:r>
              <a:rPr lang="en-US" dirty="0"/>
              <a:t>Peptides</a:t>
            </a:r>
          </a:p>
        </p:txBody>
      </p:sp>
      <p:sp>
        <p:nvSpPr>
          <p:cNvPr id="30" name="TextBox 29">
            <a:extLst>
              <a:ext uri="{FF2B5EF4-FFF2-40B4-BE49-F238E27FC236}">
                <a16:creationId xmlns:a16="http://schemas.microsoft.com/office/drawing/2014/main" id="{72F091CE-B757-A7A6-64FD-52F844934525}"/>
              </a:ext>
            </a:extLst>
          </p:cNvPr>
          <p:cNvSpPr txBox="1"/>
          <p:nvPr/>
        </p:nvSpPr>
        <p:spPr>
          <a:xfrm>
            <a:off x="3368033" y="4918615"/>
            <a:ext cx="1294544" cy="369332"/>
          </a:xfrm>
          <a:prstGeom prst="rect">
            <a:avLst/>
          </a:prstGeom>
          <a:noFill/>
        </p:spPr>
        <p:txBody>
          <a:bodyPr wrap="square" rtlCol="0">
            <a:spAutoFit/>
          </a:bodyPr>
          <a:lstStyle/>
          <a:p>
            <a:r>
              <a:rPr lang="en-US" dirty="0"/>
              <a:t>Linkers</a:t>
            </a:r>
          </a:p>
        </p:txBody>
      </p:sp>
      <p:sp>
        <p:nvSpPr>
          <p:cNvPr id="31" name="Rectangle: Rounded Corners 30">
            <a:extLst>
              <a:ext uri="{FF2B5EF4-FFF2-40B4-BE49-F238E27FC236}">
                <a16:creationId xmlns:a16="http://schemas.microsoft.com/office/drawing/2014/main" id="{5FCBD68B-2919-224A-2EE7-34EC26836A85}"/>
              </a:ext>
            </a:extLst>
          </p:cNvPr>
          <p:cNvSpPr/>
          <p:nvPr/>
        </p:nvSpPr>
        <p:spPr>
          <a:xfrm>
            <a:off x="7837469" y="3016008"/>
            <a:ext cx="1150706" cy="164386"/>
          </a:xfrm>
          <a:prstGeom prst="roundRect">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P2</a:t>
            </a:r>
          </a:p>
        </p:txBody>
      </p:sp>
      <p:sp>
        <p:nvSpPr>
          <p:cNvPr id="32" name="Rectangle: Rounded Corners 31">
            <a:extLst>
              <a:ext uri="{FF2B5EF4-FFF2-40B4-BE49-F238E27FC236}">
                <a16:creationId xmlns:a16="http://schemas.microsoft.com/office/drawing/2014/main" id="{5359304A-92FC-AA6F-3EFF-C5F4335088CC}"/>
              </a:ext>
            </a:extLst>
          </p:cNvPr>
          <p:cNvSpPr/>
          <p:nvPr/>
        </p:nvSpPr>
        <p:spPr>
          <a:xfrm>
            <a:off x="9232982" y="3016008"/>
            <a:ext cx="1150706" cy="164386"/>
          </a:xfrm>
          <a:prstGeom prst="round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P3</a:t>
            </a:r>
          </a:p>
        </p:txBody>
      </p:sp>
      <p:sp>
        <p:nvSpPr>
          <p:cNvPr id="33" name="Isosceles Triangle 32">
            <a:extLst>
              <a:ext uri="{FF2B5EF4-FFF2-40B4-BE49-F238E27FC236}">
                <a16:creationId xmlns:a16="http://schemas.microsoft.com/office/drawing/2014/main" id="{59578A04-704E-1884-DB11-769BFAD779CC}"/>
              </a:ext>
            </a:extLst>
          </p:cNvPr>
          <p:cNvSpPr/>
          <p:nvPr/>
        </p:nvSpPr>
        <p:spPr>
          <a:xfrm>
            <a:off x="8987957" y="3368111"/>
            <a:ext cx="256854" cy="219282"/>
          </a:xfrm>
          <a:prstGeom prst="triangl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Isosceles Triangle 33">
            <a:extLst>
              <a:ext uri="{FF2B5EF4-FFF2-40B4-BE49-F238E27FC236}">
                <a16:creationId xmlns:a16="http://schemas.microsoft.com/office/drawing/2014/main" id="{45175E7E-F44F-745F-5B34-39B60DE02294}"/>
              </a:ext>
            </a:extLst>
          </p:cNvPr>
          <p:cNvSpPr/>
          <p:nvPr/>
        </p:nvSpPr>
        <p:spPr>
          <a:xfrm>
            <a:off x="7589020" y="3368111"/>
            <a:ext cx="256854" cy="219282"/>
          </a:xfrm>
          <a:prstGeom prst="triangl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Rounded Corners 34">
            <a:extLst>
              <a:ext uri="{FF2B5EF4-FFF2-40B4-BE49-F238E27FC236}">
                <a16:creationId xmlns:a16="http://schemas.microsoft.com/office/drawing/2014/main" id="{CDE5B8EE-8257-6A04-0C39-44D97D97B4F0}"/>
              </a:ext>
            </a:extLst>
          </p:cNvPr>
          <p:cNvSpPr/>
          <p:nvPr/>
        </p:nvSpPr>
        <p:spPr>
          <a:xfrm>
            <a:off x="6441956" y="3423007"/>
            <a:ext cx="1150706" cy="164386"/>
          </a:xfrm>
          <a:prstGeom prst="round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P1</a:t>
            </a:r>
          </a:p>
        </p:txBody>
      </p:sp>
      <p:sp>
        <p:nvSpPr>
          <p:cNvPr id="36" name="Rectangle: Rounded Corners 35">
            <a:extLst>
              <a:ext uri="{FF2B5EF4-FFF2-40B4-BE49-F238E27FC236}">
                <a16:creationId xmlns:a16="http://schemas.microsoft.com/office/drawing/2014/main" id="{3372A3D1-5B87-ABAB-8E31-0FBEC6143984}"/>
              </a:ext>
            </a:extLst>
          </p:cNvPr>
          <p:cNvSpPr/>
          <p:nvPr/>
        </p:nvSpPr>
        <p:spPr>
          <a:xfrm>
            <a:off x="9233789" y="3423052"/>
            <a:ext cx="1150706" cy="164386"/>
          </a:xfrm>
          <a:prstGeom prst="roundRect">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P2</a:t>
            </a:r>
          </a:p>
        </p:txBody>
      </p:sp>
      <p:sp>
        <p:nvSpPr>
          <p:cNvPr id="37" name="Rectangle: Rounded Corners 36">
            <a:extLst>
              <a:ext uri="{FF2B5EF4-FFF2-40B4-BE49-F238E27FC236}">
                <a16:creationId xmlns:a16="http://schemas.microsoft.com/office/drawing/2014/main" id="{31571DCC-0937-26C3-5BD1-BDDB6A711058}"/>
              </a:ext>
            </a:extLst>
          </p:cNvPr>
          <p:cNvSpPr/>
          <p:nvPr/>
        </p:nvSpPr>
        <p:spPr>
          <a:xfrm>
            <a:off x="7835702" y="3423007"/>
            <a:ext cx="1150706" cy="164386"/>
          </a:xfrm>
          <a:prstGeom prst="round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P3</a:t>
            </a:r>
          </a:p>
        </p:txBody>
      </p:sp>
      <p:sp>
        <p:nvSpPr>
          <p:cNvPr id="38" name="Isosceles Triangle 37">
            <a:extLst>
              <a:ext uri="{FF2B5EF4-FFF2-40B4-BE49-F238E27FC236}">
                <a16:creationId xmlns:a16="http://schemas.microsoft.com/office/drawing/2014/main" id="{45B9E60A-5152-447B-9140-48723A0D5ECD}"/>
              </a:ext>
            </a:extLst>
          </p:cNvPr>
          <p:cNvSpPr/>
          <p:nvPr/>
        </p:nvSpPr>
        <p:spPr>
          <a:xfrm>
            <a:off x="8987957" y="3775110"/>
            <a:ext cx="256854" cy="219282"/>
          </a:xfrm>
          <a:prstGeom prst="triangl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Isosceles Triangle 38">
            <a:extLst>
              <a:ext uri="{FF2B5EF4-FFF2-40B4-BE49-F238E27FC236}">
                <a16:creationId xmlns:a16="http://schemas.microsoft.com/office/drawing/2014/main" id="{D1DACBE9-6CBD-B691-DE79-C3C47AAB9D93}"/>
              </a:ext>
            </a:extLst>
          </p:cNvPr>
          <p:cNvSpPr/>
          <p:nvPr/>
        </p:nvSpPr>
        <p:spPr>
          <a:xfrm>
            <a:off x="7589020" y="3775110"/>
            <a:ext cx="256854" cy="219282"/>
          </a:xfrm>
          <a:prstGeom prst="triangl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Rounded Corners 39">
            <a:extLst>
              <a:ext uri="{FF2B5EF4-FFF2-40B4-BE49-F238E27FC236}">
                <a16:creationId xmlns:a16="http://schemas.microsoft.com/office/drawing/2014/main" id="{57F02D93-AFE9-A8EE-647F-ACE44A3DB982}"/>
              </a:ext>
            </a:extLst>
          </p:cNvPr>
          <p:cNvSpPr/>
          <p:nvPr/>
        </p:nvSpPr>
        <p:spPr>
          <a:xfrm>
            <a:off x="7844482" y="3830006"/>
            <a:ext cx="1150706" cy="164386"/>
          </a:xfrm>
          <a:prstGeom prst="round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P1</a:t>
            </a:r>
          </a:p>
        </p:txBody>
      </p:sp>
      <p:sp>
        <p:nvSpPr>
          <p:cNvPr id="41" name="Rectangle: Rounded Corners 40">
            <a:extLst>
              <a:ext uri="{FF2B5EF4-FFF2-40B4-BE49-F238E27FC236}">
                <a16:creationId xmlns:a16="http://schemas.microsoft.com/office/drawing/2014/main" id="{6FE839BE-2B9E-2875-21A1-F5F9275A423F}"/>
              </a:ext>
            </a:extLst>
          </p:cNvPr>
          <p:cNvSpPr/>
          <p:nvPr/>
        </p:nvSpPr>
        <p:spPr>
          <a:xfrm>
            <a:off x="6448751" y="3830006"/>
            <a:ext cx="1150706" cy="164386"/>
          </a:xfrm>
          <a:prstGeom prst="roundRect">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P2</a:t>
            </a:r>
          </a:p>
        </p:txBody>
      </p:sp>
      <p:sp>
        <p:nvSpPr>
          <p:cNvPr id="42" name="Rectangle: Rounded Corners 41">
            <a:extLst>
              <a:ext uri="{FF2B5EF4-FFF2-40B4-BE49-F238E27FC236}">
                <a16:creationId xmlns:a16="http://schemas.microsoft.com/office/drawing/2014/main" id="{82A6F5DA-DD53-F946-9000-BAFE7C8A104C}"/>
              </a:ext>
            </a:extLst>
          </p:cNvPr>
          <p:cNvSpPr/>
          <p:nvPr/>
        </p:nvSpPr>
        <p:spPr>
          <a:xfrm>
            <a:off x="9232982" y="3830006"/>
            <a:ext cx="1150706" cy="164386"/>
          </a:xfrm>
          <a:prstGeom prst="round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P3</a:t>
            </a:r>
          </a:p>
        </p:txBody>
      </p:sp>
      <p:sp>
        <p:nvSpPr>
          <p:cNvPr id="58" name="Isosceles Triangle 57">
            <a:extLst>
              <a:ext uri="{FF2B5EF4-FFF2-40B4-BE49-F238E27FC236}">
                <a16:creationId xmlns:a16="http://schemas.microsoft.com/office/drawing/2014/main" id="{3AF7989D-07A1-C977-0E2B-2084A1273706}"/>
              </a:ext>
            </a:extLst>
          </p:cNvPr>
          <p:cNvSpPr/>
          <p:nvPr/>
        </p:nvSpPr>
        <p:spPr>
          <a:xfrm>
            <a:off x="8992555" y="4150614"/>
            <a:ext cx="256854" cy="219282"/>
          </a:xfrm>
          <a:prstGeom prst="triangl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Isosceles Triangle 58">
            <a:extLst>
              <a:ext uri="{FF2B5EF4-FFF2-40B4-BE49-F238E27FC236}">
                <a16:creationId xmlns:a16="http://schemas.microsoft.com/office/drawing/2014/main" id="{A83C8E13-DB6F-469E-F860-7E7BD2A400C0}"/>
              </a:ext>
            </a:extLst>
          </p:cNvPr>
          <p:cNvSpPr/>
          <p:nvPr/>
        </p:nvSpPr>
        <p:spPr>
          <a:xfrm>
            <a:off x="7593618" y="4150614"/>
            <a:ext cx="256854" cy="219282"/>
          </a:xfrm>
          <a:prstGeom prst="triangl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Rectangle: Rounded Corners 59">
            <a:extLst>
              <a:ext uri="{FF2B5EF4-FFF2-40B4-BE49-F238E27FC236}">
                <a16:creationId xmlns:a16="http://schemas.microsoft.com/office/drawing/2014/main" id="{F88A8FD6-0974-489A-F0B3-2CA8384FD65E}"/>
              </a:ext>
            </a:extLst>
          </p:cNvPr>
          <p:cNvSpPr/>
          <p:nvPr/>
        </p:nvSpPr>
        <p:spPr>
          <a:xfrm>
            <a:off x="9244811" y="4205510"/>
            <a:ext cx="1150706" cy="164386"/>
          </a:xfrm>
          <a:prstGeom prst="round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P1</a:t>
            </a:r>
          </a:p>
        </p:txBody>
      </p:sp>
      <p:sp>
        <p:nvSpPr>
          <p:cNvPr id="61" name="Rectangle: Rounded Corners 60">
            <a:extLst>
              <a:ext uri="{FF2B5EF4-FFF2-40B4-BE49-F238E27FC236}">
                <a16:creationId xmlns:a16="http://schemas.microsoft.com/office/drawing/2014/main" id="{5410329F-9476-A24A-695D-DBCB97750E82}"/>
              </a:ext>
            </a:extLst>
          </p:cNvPr>
          <p:cNvSpPr/>
          <p:nvPr/>
        </p:nvSpPr>
        <p:spPr>
          <a:xfrm>
            <a:off x="6453349" y="4205510"/>
            <a:ext cx="1150706" cy="164386"/>
          </a:xfrm>
          <a:prstGeom prst="roundRect">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P2</a:t>
            </a:r>
          </a:p>
        </p:txBody>
      </p:sp>
      <p:sp>
        <p:nvSpPr>
          <p:cNvPr id="62" name="Rectangle: Rounded Corners 61">
            <a:extLst>
              <a:ext uri="{FF2B5EF4-FFF2-40B4-BE49-F238E27FC236}">
                <a16:creationId xmlns:a16="http://schemas.microsoft.com/office/drawing/2014/main" id="{8B12FB48-07E3-112C-C4D7-A9D7B8FE0FD0}"/>
              </a:ext>
            </a:extLst>
          </p:cNvPr>
          <p:cNvSpPr/>
          <p:nvPr/>
        </p:nvSpPr>
        <p:spPr>
          <a:xfrm>
            <a:off x="7849080" y="4205510"/>
            <a:ext cx="1150706" cy="164386"/>
          </a:xfrm>
          <a:prstGeom prst="round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P3</a:t>
            </a:r>
          </a:p>
        </p:txBody>
      </p:sp>
      <p:sp>
        <p:nvSpPr>
          <p:cNvPr id="63" name="Isosceles Triangle 62">
            <a:extLst>
              <a:ext uri="{FF2B5EF4-FFF2-40B4-BE49-F238E27FC236}">
                <a16:creationId xmlns:a16="http://schemas.microsoft.com/office/drawing/2014/main" id="{38230FFE-5857-C12B-89DD-25F60EDFCFBD}"/>
              </a:ext>
            </a:extLst>
          </p:cNvPr>
          <p:cNvSpPr/>
          <p:nvPr/>
        </p:nvSpPr>
        <p:spPr>
          <a:xfrm>
            <a:off x="8991227" y="4534212"/>
            <a:ext cx="256854" cy="219282"/>
          </a:xfrm>
          <a:prstGeom prst="triangl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Isosceles Triangle 63">
            <a:extLst>
              <a:ext uri="{FF2B5EF4-FFF2-40B4-BE49-F238E27FC236}">
                <a16:creationId xmlns:a16="http://schemas.microsoft.com/office/drawing/2014/main" id="{F5D92289-7387-E805-90FC-C1D2C2EC532D}"/>
              </a:ext>
            </a:extLst>
          </p:cNvPr>
          <p:cNvSpPr/>
          <p:nvPr/>
        </p:nvSpPr>
        <p:spPr>
          <a:xfrm>
            <a:off x="7592290" y="4534212"/>
            <a:ext cx="256854" cy="219282"/>
          </a:xfrm>
          <a:prstGeom prst="triangl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Rectangle: Rounded Corners 64">
            <a:extLst>
              <a:ext uri="{FF2B5EF4-FFF2-40B4-BE49-F238E27FC236}">
                <a16:creationId xmlns:a16="http://schemas.microsoft.com/office/drawing/2014/main" id="{9105F905-9405-2D56-75AF-51E0D0A022AC}"/>
              </a:ext>
            </a:extLst>
          </p:cNvPr>
          <p:cNvSpPr/>
          <p:nvPr/>
        </p:nvSpPr>
        <p:spPr>
          <a:xfrm>
            <a:off x="7847752" y="4589108"/>
            <a:ext cx="1150706" cy="164386"/>
          </a:xfrm>
          <a:prstGeom prst="round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P1</a:t>
            </a:r>
          </a:p>
        </p:txBody>
      </p:sp>
      <p:sp>
        <p:nvSpPr>
          <p:cNvPr id="66" name="Rectangle: Rounded Corners 65">
            <a:extLst>
              <a:ext uri="{FF2B5EF4-FFF2-40B4-BE49-F238E27FC236}">
                <a16:creationId xmlns:a16="http://schemas.microsoft.com/office/drawing/2014/main" id="{777E65A3-24AE-DB89-976B-F365D2A6FD9C}"/>
              </a:ext>
            </a:extLst>
          </p:cNvPr>
          <p:cNvSpPr/>
          <p:nvPr/>
        </p:nvSpPr>
        <p:spPr>
          <a:xfrm>
            <a:off x="9248081" y="4589108"/>
            <a:ext cx="1150706" cy="164386"/>
          </a:xfrm>
          <a:prstGeom prst="roundRect">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P2</a:t>
            </a:r>
          </a:p>
        </p:txBody>
      </p:sp>
      <p:sp>
        <p:nvSpPr>
          <p:cNvPr id="67" name="Rectangle: Rounded Corners 66">
            <a:extLst>
              <a:ext uri="{FF2B5EF4-FFF2-40B4-BE49-F238E27FC236}">
                <a16:creationId xmlns:a16="http://schemas.microsoft.com/office/drawing/2014/main" id="{41858C2B-D555-FE62-5BF7-6F1A6583E3C4}"/>
              </a:ext>
            </a:extLst>
          </p:cNvPr>
          <p:cNvSpPr/>
          <p:nvPr/>
        </p:nvSpPr>
        <p:spPr>
          <a:xfrm>
            <a:off x="6444790" y="4589108"/>
            <a:ext cx="1150706" cy="164386"/>
          </a:xfrm>
          <a:prstGeom prst="round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P3</a:t>
            </a:r>
          </a:p>
        </p:txBody>
      </p:sp>
      <p:sp>
        <p:nvSpPr>
          <p:cNvPr id="68" name="Isosceles Triangle 67">
            <a:extLst>
              <a:ext uri="{FF2B5EF4-FFF2-40B4-BE49-F238E27FC236}">
                <a16:creationId xmlns:a16="http://schemas.microsoft.com/office/drawing/2014/main" id="{01DF6816-20FC-7E0B-70A0-3D5B87121C25}"/>
              </a:ext>
            </a:extLst>
          </p:cNvPr>
          <p:cNvSpPr/>
          <p:nvPr/>
        </p:nvSpPr>
        <p:spPr>
          <a:xfrm>
            <a:off x="8981162" y="4943926"/>
            <a:ext cx="256854" cy="219282"/>
          </a:xfrm>
          <a:prstGeom prst="triangl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Isosceles Triangle 68">
            <a:extLst>
              <a:ext uri="{FF2B5EF4-FFF2-40B4-BE49-F238E27FC236}">
                <a16:creationId xmlns:a16="http://schemas.microsoft.com/office/drawing/2014/main" id="{1036D91A-73D4-065E-EB4F-1D5393A321DE}"/>
              </a:ext>
            </a:extLst>
          </p:cNvPr>
          <p:cNvSpPr/>
          <p:nvPr/>
        </p:nvSpPr>
        <p:spPr>
          <a:xfrm>
            <a:off x="7582225" y="4943926"/>
            <a:ext cx="256854" cy="219282"/>
          </a:xfrm>
          <a:prstGeom prst="triangl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ectangle: Rounded Corners 69">
            <a:extLst>
              <a:ext uri="{FF2B5EF4-FFF2-40B4-BE49-F238E27FC236}">
                <a16:creationId xmlns:a16="http://schemas.microsoft.com/office/drawing/2014/main" id="{DC51281B-181E-2D49-CC75-E5638819D241}"/>
              </a:ext>
            </a:extLst>
          </p:cNvPr>
          <p:cNvSpPr/>
          <p:nvPr/>
        </p:nvSpPr>
        <p:spPr>
          <a:xfrm>
            <a:off x="9244811" y="4996107"/>
            <a:ext cx="1150706" cy="164386"/>
          </a:xfrm>
          <a:prstGeom prst="round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P1</a:t>
            </a:r>
          </a:p>
        </p:txBody>
      </p:sp>
      <p:sp>
        <p:nvSpPr>
          <p:cNvPr id="71" name="Rectangle: Rounded Corners 70">
            <a:extLst>
              <a:ext uri="{FF2B5EF4-FFF2-40B4-BE49-F238E27FC236}">
                <a16:creationId xmlns:a16="http://schemas.microsoft.com/office/drawing/2014/main" id="{E63331AC-E12A-F060-DE14-5B5C4982FF03}"/>
              </a:ext>
            </a:extLst>
          </p:cNvPr>
          <p:cNvSpPr/>
          <p:nvPr/>
        </p:nvSpPr>
        <p:spPr>
          <a:xfrm>
            <a:off x="7844482" y="4998822"/>
            <a:ext cx="1150706" cy="164386"/>
          </a:xfrm>
          <a:prstGeom prst="roundRect">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P2</a:t>
            </a:r>
          </a:p>
        </p:txBody>
      </p:sp>
      <p:sp>
        <p:nvSpPr>
          <p:cNvPr id="72" name="Rectangle: Rounded Corners 71">
            <a:extLst>
              <a:ext uri="{FF2B5EF4-FFF2-40B4-BE49-F238E27FC236}">
                <a16:creationId xmlns:a16="http://schemas.microsoft.com/office/drawing/2014/main" id="{93A172C3-F605-6482-273C-C0E68E0D7B6D}"/>
              </a:ext>
            </a:extLst>
          </p:cNvPr>
          <p:cNvSpPr/>
          <p:nvPr/>
        </p:nvSpPr>
        <p:spPr>
          <a:xfrm>
            <a:off x="6434725" y="4998822"/>
            <a:ext cx="1150706" cy="164386"/>
          </a:xfrm>
          <a:prstGeom prst="round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P3</a:t>
            </a:r>
          </a:p>
        </p:txBody>
      </p:sp>
      <p:sp>
        <p:nvSpPr>
          <p:cNvPr id="73" name="Isosceles Triangle 72">
            <a:extLst>
              <a:ext uri="{FF2B5EF4-FFF2-40B4-BE49-F238E27FC236}">
                <a16:creationId xmlns:a16="http://schemas.microsoft.com/office/drawing/2014/main" id="{7D8AADAC-6C77-35C1-2867-9FD92CCEEECA}"/>
              </a:ext>
            </a:extLst>
          </p:cNvPr>
          <p:cNvSpPr/>
          <p:nvPr/>
        </p:nvSpPr>
        <p:spPr>
          <a:xfrm>
            <a:off x="3672164" y="3901801"/>
            <a:ext cx="256854" cy="219282"/>
          </a:xfrm>
          <a:prstGeom prst="triangl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Isosceles Triangle 73">
            <a:extLst>
              <a:ext uri="{FF2B5EF4-FFF2-40B4-BE49-F238E27FC236}">
                <a16:creationId xmlns:a16="http://schemas.microsoft.com/office/drawing/2014/main" id="{42A243D1-F888-0D8E-D161-F804826237D5}"/>
              </a:ext>
            </a:extLst>
          </p:cNvPr>
          <p:cNvSpPr/>
          <p:nvPr/>
        </p:nvSpPr>
        <p:spPr>
          <a:xfrm>
            <a:off x="3869672" y="4217014"/>
            <a:ext cx="256854" cy="219282"/>
          </a:xfrm>
          <a:prstGeom prst="triangl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TextBox 74">
            <a:extLst>
              <a:ext uri="{FF2B5EF4-FFF2-40B4-BE49-F238E27FC236}">
                <a16:creationId xmlns:a16="http://schemas.microsoft.com/office/drawing/2014/main" id="{0222C14A-EC61-6D6F-39A8-F8CADC253D8B}"/>
              </a:ext>
            </a:extLst>
          </p:cNvPr>
          <p:cNvSpPr txBox="1"/>
          <p:nvPr/>
        </p:nvSpPr>
        <p:spPr>
          <a:xfrm>
            <a:off x="6448751" y="5371611"/>
            <a:ext cx="4156717" cy="369332"/>
          </a:xfrm>
          <a:prstGeom prst="rect">
            <a:avLst/>
          </a:prstGeom>
          <a:noFill/>
        </p:spPr>
        <p:txBody>
          <a:bodyPr wrap="square" rtlCol="0">
            <a:spAutoFit/>
          </a:bodyPr>
          <a:lstStyle/>
          <a:p>
            <a:r>
              <a:rPr lang="en-US" dirty="0"/>
              <a:t>Multi-epitope peptide vaccine candidates</a:t>
            </a:r>
          </a:p>
        </p:txBody>
      </p:sp>
    </p:spTree>
    <p:extLst>
      <p:ext uri="{BB962C8B-B14F-4D97-AF65-F5344CB8AC3E}">
        <p14:creationId xmlns:p14="http://schemas.microsoft.com/office/powerpoint/2010/main" val="37083942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913D22-A34E-3B9D-0D5C-F950144C4437}"/>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CE295CA0-2148-24BD-3B77-AB1B78EECC87}"/>
              </a:ext>
            </a:extLst>
          </p:cNvPr>
          <p:cNvSpPr/>
          <p:nvPr/>
        </p:nvSpPr>
        <p:spPr>
          <a:xfrm>
            <a:off x="0" y="1675"/>
            <a:ext cx="12192000" cy="6858000"/>
          </a:xfrm>
          <a:prstGeom prst="rect">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800" dirty="0">
              <a:latin typeface="Arial" panose="020B0604020202020204" pitchFamily="34" charset="0"/>
              <a:cs typeface="Arial" panose="020B0604020202020204" pitchFamily="34" charset="0"/>
            </a:endParaRPr>
          </a:p>
        </p:txBody>
      </p:sp>
      <p:graphicFrame>
        <p:nvGraphicFramePr>
          <p:cNvPr id="6" name="Table 5">
            <a:extLst>
              <a:ext uri="{FF2B5EF4-FFF2-40B4-BE49-F238E27FC236}">
                <a16:creationId xmlns:a16="http://schemas.microsoft.com/office/drawing/2014/main" id="{2150FF8F-EB62-721F-DE4E-707791769D30}"/>
              </a:ext>
            </a:extLst>
          </p:cNvPr>
          <p:cNvGraphicFramePr>
            <a:graphicFrameLocks noGrp="1"/>
          </p:cNvGraphicFramePr>
          <p:nvPr>
            <p:extLst>
              <p:ext uri="{D42A27DB-BD31-4B8C-83A1-F6EECF244321}">
                <p14:modId xmlns:p14="http://schemas.microsoft.com/office/powerpoint/2010/main" val="710309114"/>
              </p:ext>
            </p:extLst>
          </p:nvPr>
        </p:nvGraphicFramePr>
        <p:xfrm>
          <a:off x="581025" y="1266825"/>
          <a:ext cx="10496550" cy="4485385"/>
        </p:xfrm>
        <a:graphic>
          <a:graphicData uri="http://schemas.openxmlformats.org/drawingml/2006/table">
            <a:tbl>
              <a:tblPr firstRow="1" firstCol="1" bandRow="1">
                <a:tableStyleId>{5C22544A-7EE6-4342-B048-85BDC9FD1C3A}</a:tableStyleId>
              </a:tblPr>
              <a:tblGrid>
                <a:gridCol w="7210425">
                  <a:extLst>
                    <a:ext uri="{9D8B030D-6E8A-4147-A177-3AD203B41FA5}">
                      <a16:colId xmlns:a16="http://schemas.microsoft.com/office/drawing/2014/main" val="846531325"/>
                    </a:ext>
                  </a:extLst>
                </a:gridCol>
                <a:gridCol w="742950">
                  <a:extLst>
                    <a:ext uri="{9D8B030D-6E8A-4147-A177-3AD203B41FA5}">
                      <a16:colId xmlns:a16="http://schemas.microsoft.com/office/drawing/2014/main" val="2691243739"/>
                    </a:ext>
                  </a:extLst>
                </a:gridCol>
                <a:gridCol w="857250">
                  <a:extLst>
                    <a:ext uri="{9D8B030D-6E8A-4147-A177-3AD203B41FA5}">
                      <a16:colId xmlns:a16="http://schemas.microsoft.com/office/drawing/2014/main" val="2647128792"/>
                    </a:ext>
                  </a:extLst>
                </a:gridCol>
                <a:gridCol w="638175">
                  <a:extLst>
                    <a:ext uri="{9D8B030D-6E8A-4147-A177-3AD203B41FA5}">
                      <a16:colId xmlns:a16="http://schemas.microsoft.com/office/drawing/2014/main" val="4094265928"/>
                    </a:ext>
                  </a:extLst>
                </a:gridCol>
                <a:gridCol w="1047750">
                  <a:extLst>
                    <a:ext uri="{9D8B030D-6E8A-4147-A177-3AD203B41FA5}">
                      <a16:colId xmlns:a16="http://schemas.microsoft.com/office/drawing/2014/main" val="3207279933"/>
                    </a:ext>
                  </a:extLst>
                </a:gridCol>
              </a:tblGrid>
              <a:tr h="514350">
                <a:tc>
                  <a:txBody>
                    <a:bodyPr/>
                    <a:lstStyle/>
                    <a:p>
                      <a:pPr marL="0" marR="0" algn="ctr">
                        <a:lnSpc>
                          <a:spcPct val="150000"/>
                        </a:lnSpc>
                        <a:spcAft>
                          <a:spcPts val="800"/>
                        </a:spcAft>
                        <a:buNone/>
                      </a:pPr>
                      <a:r>
                        <a:rPr lang="en-US" sz="1800" kern="100" dirty="0">
                          <a:effectLst/>
                        </a:rPr>
                        <a:t>Combination</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39227" marR="39227" marT="0" marB="0">
                    <a:solidFill>
                      <a:srgbClr val="C00000"/>
                    </a:solidFill>
                  </a:tcPr>
                </a:tc>
                <a:tc>
                  <a:txBody>
                    <a:bodyPr/>
                    <a:lstStyle/>
                    <a:p>
                      <a:pPr marL="0" marR="0" algn="ctr">
                        <a:lnSpc>
                          <a:spcPct val="150000"/>
                        </a:lnSpc>
                        <a:spcAft>
                          <a:spcPts val="800"/>
                        </a:spcAft>
                        <a:buNone/>
                      </a:pPr>
                      <a:r>
                        <a:rPr lang="en-US" sz="1100" kern="100" dirty="0">
                          <a:effectLst/>
                        </a:rPr>
                        <a:t>Length</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39227" marR="39227" marT="0" marB="0">
                    <a:solidFill>
                      <a:srgbClr val="C00000"/>
                    </a:solidFill>
                  </a:tcPr>
                </a:tc>
                <a:tc>
                  <a:txBody>
                    <a:bodyPr/>
                    <a:lstStyle/>
                    <a:p>
                      <a:pPr marL="0" marR="0" algn="ctr">
                        <a:lnSpc>
                          <a:spcPct val="150000"/>
                        </a:lnSpc>
                        <a:spcAft>
                          <a:spcPts val="800"/>
                        </a:spcAft>
                        <a:buNone/>
                      </a:pPr>
                      <a:r>
                        <a:rPr lang="en-US" sz="1100" kern="100" dirty="0" err="1">
                          <a:effectLst/>
                        </a:rPr>
                        <a:t>Robetta</a:t>
                      </a:r>
                      <a:r>
                        <a:rPr lang="en-US" sz="1100" kern="100" dirty="0">
                          <a:effectLst/>
                        </a:rPr>
                        <a:t> Confidence</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39227" marR="39227" marT="0" marB="0">
                    <a:solidFill>
                      <a:srgbClr val="C00000"/>
                    </a:solidFill>
                  </a:tcPr>
                </a:tc>
                <a:tc>
                  <a:txBody>
                    <a:bodyPr/>
                    <a:lstStyle/>
                    <a:p>
                      <a:pPr marL="0" marR="0" algn="ctr">
                        <a:lnSpc>
                          <a:spcPct val="150000"/>
                        </a:lnSpc>
                        <a:spcAft>
                          <a:spcPts val="800"/>
                        </a:spcAft>
                        <a:buNone/>
                      </a:pPr>
                      <a:r>
                        <a:rPr lang="en-US" sz="1100" kern="100" dirty="0">
                          <a:effectLst/>
                        </a:rPr>
                        <a:t>ERRAT</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39227" marR="39227" marT="0" marB="0">
                    <a:solidFill>
                      <a:srgbClr val="C00000"/>
                    </a:solidFill>
                  </a:tcPr>
                </a:tc>
                <a:tc>
                  <a:txBody>
                    <a:bodyPr/>
                    <a:lstStyle/>
                    <a:p>
                      <a:pPr marL="0" marR="0" algn="ctr">
                        <a:lnSpc>
                          <a:spcPct val="100000"/>
                        </a:lnSpc>
                        <a:spcAft>
                          <a:spcPts val="800"/>
                        </a:spcAft>
                        <a:buNone/>
                      </a:pPr>
                      <a:r>
                        <a:rPr lang="en-US" sz="1100" kern="100" dirty="0">
                          <a:effectLst/>
                        </a:rPr>
                        <a:t>PROCHECK</a:t>
                      </a:r>
                      <a:endParaRPr lang="en-US" sz="1200" kern="100" dirty="0">
                        <a:effectLst/>
                      </a:endParaRPr>
                    </a:p>
                    <a:p>
                      <a:pPr marL="0" marR="0" algn="ctr">
                        <a:lnSpc>
                          <a:spcPct val="100000"/>
                        </a:lnSpc>
                        <a:spcAft>
                          <a:spcPts val="800"/>
                        </a:spcAft>
                        <a:buNone/>
                      </a:pPr>
                      <a:r>
                        <a:rPr lang="en-US" sz="1100" kern="100" dirty="0">
                          <a:effectLst/>
                        </a:rPr>
                        <a:t>(%)</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39227" marR="39227" marT="0" marB="0">
                    <a:solidFill>
                      <a:srgbClr val="C00000"/>
                    </a:solidFill>
                  </a:tcPr>
                </a:tc>
                <a:extLst>
                  <a:ext uri="{0D108BD9-81ED-4DB2-BD59-A6C34878D82A}">
                    <a16:rowId xmlns:a16="http://schemas.microsoft.com/office/drawing/2014/main" val="3429184335"/>
                  </a:ext>
                </a:extLst>
              </a:tr>
              <a:tr h="693152">
                <a:tc>
                  <a:txBody>
                    <a:bodyPr/>
                    <a:lstStyle/>
                    <a:p>
                      <a:pPr marL="0" marR="0" algn="ctr">
                        <a:lnSpc>
                          <a:spcPct val="100000"/>
                        </a:lnSpc>
                        <a:spcAft>
                          <a:spcPts val="800"/>
                        </a:spcAft>
                        <a:buNone/>
                      </a:pPr>
                      <a:r>
                        <a:rPr lang="en-US" sz="1000" kern="100" dirty="0">
                          <a:ln>
                            <a:noFill/>
                          </a:ln>
                          <a:solidFill>
                            <a:srgbClr val="C00000"/>
                          </a:solidFill>
                          <a:effectLst/>
                        </a:rPr>
                        <a:t>FARELAYEGLDPALIIKKLKET</a:t>
                      </a:r>
                      <a:r>
                        <a:rPr lang="en-US" sz="1000" kern="100" dirty="0">
                          <a:solidFill>
                            <a:srgbClr val="C00000"/>
                          </a:solidFill>
                          <a:effectLst/>
                        </a:rPr>
                        <a:t>GGDDWV</a:t>
                      </a:r>
                      <a:r>
                        <a:rPr lang="en-US" sz="1000" kern="100" dirty="0">
                          <a:solidFill>
                            <a:schemeClr val="accent3"/>
                          </a:solidFill>
                          <a:effectLst/>
                        </a:rPr>
                        <a:t>GGGGS</a:t>
                      </a:r>
                      <a:r>
                        <a:rPr lang="en-US" sz="1000" kern="100" dirty="0">
                          <a:solidFill>
                            <a:srgbClr val="92D050"/>
                          </a:solidFill>
                          <a:effectLst/>
                        </a:rPr>
                        <a:t>DTKFIIVFALTRGNKIVKASGKMSNSGS</a:t>
                      </a:r>
                      <a:r>
                        <a:rPr lang="en-US" sz="1000" kern="100" dirty="0">
                          <a:solidFill>
                            <a:schemeClr val="accent3"/>
                          </a:solidFill>
                          <a:effectLst/>
                        </a:rPr>
                        <a:t>GGGGS</a:t>
                      </a:r>
                      <a:r>
                        <a:rPr lang="en-US" sz="1000" kern="100" dirty="0">
                          <a:solidFill>
                            <a:schemeClr val="accent2">
                              <a:lumMod val="75000"/>
                            </a:schemeClr>
                          </a:solidFill>
                          <a:effectLst/>
                        </a:rPr>
                        <a:t>KEYLPVGPAVMNLKVENYPPEMMCMAFGSLIPT</a:t>
                      </a:r>
                      <a:endParaRPr lang="en-US" sz="1100" kern="100" dirty="0">
                        <a:solidFill>
                          <a:schemeClr val="accent2">
                            <a:lumMod val="75000"/>
                          </a:schemeClr>
                        </a:solidFill>
                        <a:effectLst/>
                      </a:endParaRPr>
                    </a:p>
                    <a:p>
                      <a:pPr marL="0" marR="0" algn="ctr">
                        <a:lnSpc>
                          <a:spcPct val="100000"/>
                        </a:lnSpc>
                        <a:spcAft>
                          <a:spcPts val="800"/>
                        </a:spcAft>
                        <a:buNone/>
                      </a:pPr>
                      <a:r>
                        <a:rPr lang="en-US" sz="1000" kern="100" dirty="0">
                          <a:solidFill>
                            <a:schemeClr val="tx1"/>
                          </a:solidFill>
                          <a:effectLst/>
                        </a:rPr>
                        <a:t>(C1)</a:t>
                      </a:r>
                      <a:endParaRPr lang="en-US" sz="11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39227" marR="39227" marT="0" marB="0" anchor="ctr">
                    <a:solidFill>
                      <a:srgbClr val="D9D9D9"/>
                    </a:solidFill>
                  </a:tcPr>
                </a:tc>
                <a:tc>
                  <a:txBody>
                    <a:bodyPr/>
                    <a:lstStyle/>
                    <a:p>
                      <a:pPr marL="0" marR="0" algn="ctr">
                        <a:lnSpc>
                          <a:spcPct val="150000"/>
                        </a:lnSpc>
                        <a:spcAft>
                          <a:spcPts val="800"/>
                        </a:spcAft>
                        <a:buNone/>
                      </a:pPr>
                      <a:r>
                        <a:rPr lang="en-US" sz="1400" kern="100">
                          <a:solidFill>
                            <a:schemeClr val="tx1"/>
                          </a:solidFill>
                          <a:effectLst/>
                        </a:rPr>
                        <a:t>99</a:t>
                      </a:r>
                      <a:endParaRPr lang="en-US" sz="1600" kern="10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39227" marR="39227" marT="0" marB="0" anchor="ctr">
                    <a:solidFill>
                      <a:srgbClr val="D9D9D9"/>
                    </a:solidFill>
                  </a:tcPr>
                </a:tc>
                <a:tc>
                  <a:txBody>
                    <a:bodyPr/>
                    <a:lstStyle/>
                    <a:p>
                      <a:pPr marL="0" marR="0" algn="ctr">
                        <a:lnSpc>
                          <a:spcPct val="150000"/>
                        </a:lnSpc>
                        <a:spcAft>
                          <a:spcPts val="800"/>
                        </a:spcAft>
                        <a:buNone/>
                      </a:pPr>
                      <a:r>
                        <a:rPr lang="en-US" sz="1400" kern="100">
                          <a:solidFill>
                            <a:schemeClr val="tx1"/>
                          </a:solidFill>
                          <a:effectLst/>
                        </a:rPr>
                        <a:t>0.59</a:t>
                      </a:r>
                      <a:endParaRPr lang="en-US" sz="1600" kern="10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39227" marR="39227" marT="0" marB="0" anchor="ctr">
                    <a:solidFill>
                      <a:srgbClr val="D9D9D9"/>
                    </a:solidFill>
                  </a:tcPr>
                </a:tc>
                <a:tc>
                  <a:txBody>
                    <a:bodyPr/>
                    <a:lstStyle/>
                    <a:p>
                      <a:pPr marL="0" marR="0" algn="ctr">
                        <a:lnSpc>
                          <a:spcPct val="150000"/>
                        </a:lnSpc>
                        <a:spcAft>
                          <a:spcPts val="800"/>
                        </a:spcAft>
                        <a:buNone/>
                      </a:pPr>
                      <a:r>
                        <a:rPr lang="en-US" sz="1400" kern="100">
                          <a:solidFill>
                            <a:schemeClr val="tx1"/>
                          </a:solidFill>
                          <a:effectLst/>
                        </a:rPr>
                        <a:t>98.89</a:t>
                      </a:r>
                      <a:endParaRPr lang="en-US" sz="1600" kern="10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39227" marR="39227" marT="0" marB="0" anchor="ctr">
                    <a:solidFill>
                      <a:srgbClr val="D9D9D9"/>
                    </a:solidFill>
                  </a:tcPr>
                </a:tc>
                <a:tc>
                  <a:txBody>
                    <a:bodyPr/>
                    <a:lstStyle/>
                    <a:p>
                      <a:pPr marL="0" marR="0" algn="ctr">
                        <a:lnSpc>
                          <a:spcPct val="150000"/>
                        </a:lnSpc>
                        <a:spcAft>
                          <a:spcPts val="800"/>
                        </a:spcAft>
                        <a:buNone/>
                      </a:pPr>
                      <a:r>
                        <a:rPr lang="en-US" sz="1400" kern="100">
                          <a:solidFill>
                            <a:schemeClr val="tx1"/>
                          </a:solidFill>
                          <a:effectLst/>
                        </a:rPr>
                        <a:t>90.7</a:t>
                      </a:r>
                      <a:endParaRPr lang="en-US" sz="1600" kern="10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39227" marR="39227" marT="0" marB="0" anchor="ctr">
                    <a:solidFill>
                      <a:srgbClr val="D9D9D9"/>
                    </a:solidFill>
                  </a:tcPr>
                </a:tc>
                <a:extLst>
                  <a:ext uri="{0D108BD9-81ED-4DB2-BD59-A6C34878D82A}">
                    <a16:rowId xmlns:a16="http://schemas.microsoft.com/office/drawing/2014/main" val="3954497031"/>
                  </a:ext>
                </a:extLst>
              </a:tr>
              <a:tr h="679227">
                <a:tc>
                  <a:txBody>
                    <a:bodyPr/>
                    <a:lstStyle/>
                    <a:p>
                      <a:pPr marL="0" marR="0" algn="ctr">
                        <a:lnSpc>
                          <a:spcPct val="100000"/>
                        </a:lnSpc>
                        <a:spcAft>
                          <a:spcPts val="800"/>
                        </a:spcAft>
                        <a:buNone/>
                      </a:pPr>
                      <a:r>
                        <a:rPr lang="en-US" sz="1000" kern="100" dirty="0">
                          <a:solidFill>
                            <a:srgbClr val="C00000"/>
                          </a:solidFill>
                          <a:effectLst/>
                        </a:rPr>
                        <a:t>FARELAYEGLDPALIIKKLKETGGDDWV</a:t>
                      </a:r>
                      <a:r>
                        <a:rPr lang="en-US" sz="1000" kern="100" dirty="0">
                          <a:solidFill>
                            <a:schemeClr val="accent1"/>
                          </a:solidFill>
                          <a:effectLst/>
                        </a:rPr>
                        <a:t>GGGGS</a:t>
                      </a:r>
                      <a:r>
                        <a:rPr lang="en-US" sz="1000" kern="100" dirty="0">
                          <a:solidFill>
                            <a:schemeClr val="accent2">
                              <a:lumMod val="75000"/>
                            </a:schemeClr>
                          </a:solidFill>
                          <a:effectLst/>
                        </a:rPr>
                        <a:t>KEYLPVGPAVMNLKVENYPPEMMCMAFGSLIPT</a:t>
                      </a:r>
                      <a:r>
                        <a:rPr lang="en-US" sz="1000" kern="100" dirty="0">
                          <a:solidFill>
                            <a:schemeClr val="accent1"/>
                          </a:solidFill>
                          <a:effectLst/>
                        </a:rPr>
                        <a:t>GGGGS</a:t>
                      </a:r>
                      <a:r>
                        <a:rPr lang="en-US" sz="1000" kern="100" dirty="0">
                          <a:solidFill>
                            <a:srgbClr val="92D050"/>
                          </a:solidFill>
                          <a:effectLst/>
                        </a:rPr>
                        <a:t>DTKFIIVFALTRGNKIVKASGKMSNSGS</a:t>
                      </a:r>
                      <a:endParaRPr lang="en-US" sz="1100" kern="100" dirty="0">
                        <a:solidFill>
                          <a:srgbClr val="92D050"/>
                        </a:solidFill>
                        <a:effectLst/>
                      </a:endParaRPr>
                    </a:p>
                    <a:p>
                      <a:pPr marL="0" marR="0" algn="ctr">
                        <a:lnSpc>
                          <a:spcPct val="100000"/>
                        </a:lnSpc>
                        <a:spcAft>
                          <a:spcPts val="800"/>
                        </a:spcAft>
                        <a:buNone/>
                      </a:pPr>
                      <a:r>
                        <a:rPr lang="en-US" sz="1000" kern="100" dirty="0">
                          <a:solidFill>
                            <a:schemeClr val="tx1"/>
                          </a:solidFill>
                          <a:effectLst/>
                        </a:rPr>
                        <a:t>(C2)</a:t>
                      </a:r>
                      <a:endParaRPr lang="en-US" sz="11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39227" marR="39227" marT="0" marB="0" anchor="ctr">
                    <a:solidFill>
                      <a:srgbClr val="D9D9D9"/>
                    </a:solidFill>
                  </a:tcPr>
                </a:tc>
                <a:tc>
                  <a:txBody>
                    <a:bodyPr/>
                    <a:lstStyle/>
                    <a:p>
                      <a:pPr marL="0" marR="0" algn="ctr">
                        <a:lnSpc>
                          <a:spcPct val="150000"/>
                        </a:lnSpc>
                        <a:spcAft>
                          <a:spcPts val="800"/>
                        </a:spcAft>
                        <a:buNone/>
                      </a:pPr>
                      <a:r>
                        <a:rPr lang="en-US" sz="1400" kern="100">
                          <a:solidFill>
                            <a:schemeClr val="tx1"/>
                          </a:solidFill>
                          <a:effectLst/>
                        </a:rPr>
                        <a:t>99</a:t>
                      </a:r>
                      <a:endParaRPr lang="en-US" sz="1600" kern="10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39227" marR="39227" marT="0" marB="0" anchor="ctr">
                    <a:solidFill>
                      <a:srgbClr val="D9D9D9"/>
                    </a:solidFill>
                  </a:tcPr>
                </a:tc>
                <a:tc>
                  <a:txBody>
                    <a:bodyPr/>
                    <a:lstStyle/>
                    <a:p>
                      <a:pPr marL="0" marR="0" algn="ctr">
                        <a:lnSpc>
                          <a:spcPct val="150000"/>
                        </a:lnSpc>
                        <a:spcAft>
                          <a:spcPts val="800"/>
                        </a:spcAft>
                        <a:buNone/>
                      </a:pPr>
                      <a:r>
                        <a:rPr lang="en-US" sz="1400" kern="100">
                          <a:solidFill>
                            <a:schemeClr val="tx1"/>
                          </a:solidFill>
                          <a:effectLst/>
                        </a:rPr>
                        <a:t>0.55</a:t>
                      </a:r>
                      <a:endParaRPr lang="en-US" sz="1600" kern="10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39227" marR="39227" marT="0" marB="0" anchor="ctr">
                    <a:solidFill>
                      <a:srgbClr val="D9D9D9"/>
                    </a:solidFill>
                  </a:tcPr>
                </a:tc>
                <a:tc>
                  <a:txBody>
                    <a:bodyPr/>
                    <a:lstStyle/>
                    <a:p>
                      <a:pPr marL="0" marR="0" algn="ctr">
                        <a:lnSpc>
                          <a:spcPct val="150000"/>
                        </a:lnSpc>
                        <a:spcAft>
                          <a:spcPts val="800"/>
                        </a:spcAft>
                        <a:buNone/>
                      </a:pPr>
                      <a:r>
                        <a:rPr lang="en-US" sz="1400" kern="100" dirty="0">
                          <a:solidFill>
                            <a:schemeClr val="tx1"/>
                          </a:solidFill>
                          <a:effectLst/>
                        </a:rPr>
                        <a:t>100</a:t>
                      </a:r>
                      <a:endParaRPr lang="en-US" sz="16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39227" marR="39227" marT="0" marB="0" anchor="ctr">
                    <a:solidFill>
                      <a:srgbClr val="D9D9D9"/>
                    </a:solidFill>
                  </a:tcPr>
                </a:tc>
                <a:tc>
                  <a:txBody>
                    <a:bodyPr/>
                    <a:lstStyle/>
                    <a:p>
                      <a:pPr marL="0" marR="0" algn="ctr">
                        <a:lnSpc>
                          <a:spcPct val="150000"/>
                        </a:lnSpc>
                        <a:spcAft>
                          <a:spcPts val="800"/>
                        </a:spcAft>
                        <a:buNone/>
                      </a:pPr>
                      <a:r>
                        <a:rPr lang="en-US" sz="1400" kern="100">
                          <a:solidFill>
                            <a:schemeClr val="tx1"/>
                          </a:solidFill>
                          <a:effectLst/>
                        </a:rPr>
                        <a:t>98.7</a:t>
                      </a:r>
                      <a:endParaRPr lang="en-US" sz="1600" kern="10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39227" marR="39227" marT="0" marB="0" anchor="ctr">
                    <a:solidFill>
                      <a:srgbClr val="D9D9D9"/>
                    </a:solidFill>
                  </a:tcPr>
                </a:tc>
                <a:extLst>
                  <a:ext uri="{0D108BD9-81ED-4DB2-BD59-A6C34878D82A}">
                    <a16:rowId xmlns:a16="http://schemas.microsoft.com/office/drawing/2014/main" val="477065918"/>
                  </a:ext>
                </a:extLst>
              </a:tr>
              <a:tr h="693877">
                <a:tc>
                  <a:txBody>
                    <a:bodyPr/>
                    <a:lstStyle/>
                    <a:p>
                      <a:pPr marL="0" marR="0" algn="ctr">
                        <a:lnSpc>
                          <a:spcPct val="100000"/>
                        </a:lnSpc>
                        <a:spcAft>
                          <a:spcPts val="800"/>
                        </a:spcAft>
                        <a:buNone/>
                      </a:pPr>
                      <a:r>
                        <a:rPr lang="en-US" sz="1000" kern="100" dirty="0">
                          <a:solidFill>
                            <a:srgbClr val="92D050"/>
                          </a:solidFill>
                          <a:effectLst/>
                        </a:rPr>
                        <a:t>DTKFIIVFALTRGNKIVKASGKMSNSGS</a:t>
                      </a:r>
                      <a:r>
                        <a:rPr lang="en-US" sz="1000" kern="100" dirty="0">
                          <a:solidFill>
                            <a:schemeClr val="accent1"/>
                          </a:solidFill>
                          <a:effectLst/>
                        </a:rPr>
                        <a:t>GGGGS</a:t>
                      </a:r>
                      <a:r>
                        <a:rPr lang="en-US" sz="1000" kern="100" dirty="0">
                          <a:solidFill>
                            <a:srgbClr val="C00000"/>
                          </a:solidFill>
                          <a:effectLst/>
                        </a:rPr>
                        <a:t>FARELAYEGLDPALIIKKLKETGGDDWV</a:t>
                      </a:r>
                      <a:r>
                        <a:rPr lang="en-US" sz="1000" kern="100" dirty="0">
                          <a:solidFill>
                            <a:schemeClr val="accent1"/>
                          </a:solidFill>
                          <a:effectLst/>
                        </a:rPr>
                        <a:t>GGGGS</a:t>
                      </a:r>
                      <a:r>
                        <a:rPr lang="en-US" sz="1000" kern="100" dirty="0">
                          <a:solidFill>
                            <a:schemeClr val="accent2">
                              <a:lumMod val="75000"/>
                            </a:schemeClr>
                          </a:solidFill>
                          <a:effectLst/>
                        </a:rPr>
                        <a:t>KEYLPVGPAVMNLKVENYPPEMMCMAFGSLIPT</a:t>
                      </a:r>
                      <a:endParaRPr lang="en-US" sz="1100" kern="100" dirty="0">
                        <a:solidFill>
                          <a:schemeClr val="accent2">
                            <a:lumMod val="75000"/>
                          </a:schemeClr>
                        </a:solidFill>
                        <a:effectLst/>
                      </a:endParaRPr>
                    </a:p>
                    <a:p>
                      <a:pPr marL="0" marR="0" algn="ctr">
                        <a:lnSpc>
                          <a:spcPct val="100000"/>
                        </a:lnSpc>
                        <a:spcAft>
                          <a:spcPts val="800"/>
                        </a:spcAft>
                        <a:buNone/>
                      </a:pPr>
                      <a:r>
                        <a:rPr lang="en-US" sz="1000" kern="100" dirty="0">
                          <a:solidFill>
                            <a:schemeClr val="tx1"/>
                          </a:solidFill>
                          <a:effectLst/>
                        </a:rPr>
                        <a:t>(C3)</a:t>
                      </a:r>
                      <a:endParaRPr lang="en-US" sz="11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39227" marR="39227" marT="0" marB="0" anchor="ctr">
                    <a:solidFill>
                      <a:srgbClr val="D9D9D9"/>
                    </a:solidFill>
                  </a:tcPr>
                </a:tc>
                <a:tc>
                  <a:txBody>
                    <a:bodyPr/>
                    <a:lstStyle/>
                    <a:p>
                      <a:pPr marL="0" marR="0" algn="ctr">
                        <a:lnSpc>
                          <a:spcPct val="150000"/>
                        </a:lnSpc>
                        <a:spcAft>
                          <a:spcPts val="800"/>
                        </a:spcAft>
                        <a:buNone/>
                      </a:pPr>
                      <a:r>
                        <a:rPr lang="en-US" sz="1400" kern="100">
                          <a:solidFill>
                            <a:schemeClr val="tx1"/>
                          </a:solidFill>
                          <a:effectLst/>
                        </a:rPr>
                        <a:t>99</a:t>
                      </a:r>
                      <a:endParaRPr lang="en-US" sz="1600" kern="10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39227" marR="39227" marT="0" marB="0" anchor="ctr">
                    <a:solidFill>
                      <a:srgbClr val="D9D9D9"/>
                    </a:solidFill>
                  </a:tcPr>
                </a:tc>
                <a:tc>
                  <a:txBody>
                    <a:bodyPr/>
                    <a:lstStyle/>
                    <a:p>
                      <a:pPr marL="0" marR="0" algn="ctr">
                        <a:lnSpc>
                          <a:spcPct val="150000"/>
                        </a:lnSpc>
                        <a:spcAft>
                          <a:spcPts val="800"/>
                        </a:spcAft>
                        <a:buNone/>
                      </a:pPr>
                      <a:r>
                        <a:rPr lang="en-US" sz="1400" kern="100" dirty="0">
                          <a:solidFill>
                            <a:schemeClr val="tx1"/>
                          </a:solidFill>
                          <a:effectLst/>
                        </a:rPr>
                        <a:t>0.42</a:t>
                      </a:r>
                      <a:endParaRPr lang="en-US" sz="16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39227" marR="39227" marT="0" marB="0" anchor="ctr">
                    <a:solidFill>
                      <a:srgbClr val="D9D9D9"/>
                    </a:solidFill>
                  </a:tcPr>
                </a:tc>
                <a:tc>
                  <a:txBody>
                    <a:bodyPr/>
                    <a:lstStyle/>
                    <a:p>
                      <a:pPr marL="0" marR="0" algn="ctr">
                        <a:lnSpc>
                          <a:spcPct val="150000"/>
                        </a:lnSpc>
                        <a:spcAft>
                          <a:spcPts val="800"/>
                        </a:spcAft>
                        <a:buNone/>
                      </a:pPr>
                      <a:r>
                        <a:rPr lang="en-US" sz="1400" kern="100">
                          <a:solidFill>
                            <a:schemeClr val="tx1"/>
                          </a:solidFill>
                          <a:effectLst/>
                        </a:rPr>
                        <a:t>98.90</a:t>
                      </a:r>
                      <a:endParaRPr lang="en-US" sz="1600" kern="10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39227" marR="39227" marT="0" marB="0" anchor="ctr">
                    <a:solidFill>
                      <a:srgbClr val="D9D9D9"/>
                    </a:solidFill>
                  </a:tcPr>
                </a:tc>
                <a:tc>
                  <a:txBody>
                    <a:bodyPr/>
                    <a:lstStyle/>
                    <a:p>
                      <a:pPr marL="0" marR="0" algn="ctr">
                        <a:lnSpc>
                          <a:spcPct val="150000"/>
                        </a:lnSpc>
                        <a:spcAft>
                          <a:spcPts val="800"/>
                        </a:spcAft>
                        <a:buNone/>
                      </a:pPr>
                      <a:r>
                        <a:rPr lang="en-US" sz="1400" kern="100">
                          <a:solidFill>
                            <a:schemeClr val="tx1"/>
                          </a:solidFill>
                          <a:effectLst/>
                        </a:rPr>
                        <a:t>81.3</a:t>
                      </a:r>
                      <a:endParaRPr lang="en-US" sz="1600" kern="10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39227" marR="39227" marT="0" marB="0" anchor="ctr">
                    <a:solidFill>
                      <a:srgbClr val="D9D9D9"/>
                    </a:solidFill>
                  </a:tcPr>
                </a:tc>
                <a:extLst>
                  <a:ext uri="{0D108BD9-81ED-4DB2-BD59-A6C34878D82A}">
                    <a16:rowId xmlns:a16="http://schemas.microsoft.com/office/drawing/2014/main" val="2559817459"/>
                  </a:ext>
                </a:extLst>
              </a:tr>
              <a:tr h="699002">
                <a:tc>
                  <a:txBody>
                    <a:bodyPr/>
                    <a:lstStyle/>
                    <a:p>
                      <a:pPr marL="0" marR="0" algn="ctr">
                        <a:lnSpc>
                          <a:spcPct val="100000"/>
                        </a:lnSpc>
                        <a:spcAft>
                          <a:spcPts val="800"/>
                        </a:spcAft>
                        <a:buNone/>
                      </a:pPr>
                      <a:r>
                        <a:rPr lang="en-US" sz="1000" kern="100" dirty="0">
                          <a:solidFill>
                            <a:srgbClr val="92D050"/>
                          </a:solidFill>
                          <a:effectLst/>
                        </a:rPr>
                        <a:t>DTKFIIVFALTRGNKIVKASGKMSNSGS</a:t>
                      </a:r>
                      <a:r>
                        <a:rPr lang="en-US" sz="1000" kern="100" dirty="0">
                          <a:solidFill>
                            <a:schemeClr val="accent1"/>
                          </a:solidFill>
                          <a:effectLst/>
                        </a:rPr>
                        <a:t>GGGGS</a:t>
                      </a:r>
                      <a:r>
                        <a:rPr lang="en-US" sz="1000" kern="100" dirty="0">
                          <a:solidFill>
                            <a:schemeClr val="accent2">
                              <a:lumMod val="75000"/>
                            </a:schemeClr>
                          </a:solidFill>
                          <a:effectLst/>
                        </a:rPr>
                        <a:t>KEYLPVGPAVMNLKVENYPPEMMCMAFGSLIPT</a:t>
                      </a:r>
                      <a:r>
                        <a:rPr lang="en-US" sz="1000" kern="100" dirty="0">
                          <a:solidFill>
                            <a:schemeClr val="accent1"/>
                          </a:solidFill>
                          <a:effectLst/>
                        </a:rPr>
                        <a:t>GGGGS</a:t>
                      </a:r>
                      <a:r>
                        <a:rPr lang="en-US" sz="1000" kern="100" dirty="0">
                          <a:solidFill>
                            <a:srgbClr val="C00000"/>
                          </a:solidFill>
                          <a:effectLst/>
                        </a:rPr>
                        <a:t>FARELAYEGLDPALIIKKLKETGGDDWV</a:t>
                      </a:r>
                      <a:endParaRPr lang="en-US" sz="1100" kern="100" dirty="0">
                        <a:solidFill>
                          <a:srgbClr val="C00000"/>
                        </a:solidFill>
                        <a:effectLst/>
                      </a:endParaRPr>
                    </a:p>
                    <a:p>
                      <a:pPr marL="0" marR="0" algn="ctr">
                        <a:lnSpc>
                          <a:spcPct val="100000"/>
                        </a:lnSpc>
                        <a:spcAft>
                          <a:spcPts val="800"/>
                        </a:spcAft>
                        <a:buNone/>
                      </a:pPr>
                      <a:r>
                        <a:rPr lang="en-US" sz="1000" kern="100" dirty="0">
                          <a:solidFill>
                            <a:schemeClr val="tx1"/>
                          </a:solidFill>
                          <a:effectLst/>
                        </a:rPr>
                        <a:t>(C4)</a:t>
                      </a:r>
                      <a:endParaRPr lang="en-US" sz="11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39227" marR="39227" marT="0" marB="0" anchor="ctr">
                    <a:solidFill>
                      <a:srgbClr val="D9D9D9"/>
                    </a:solidFill>
                  </a:tcPr>
                </a:tc>
                <a:tc>
                  <a:txBody>
                    <a:bodyPr/>
                    <a:lstStyle/>
                    <a:p>
                      <a:pPr marL="0" marR="0" algn="ctr">
                        <a:lnSpc>
                          <a:spcPct val="150000"/>
                        </a:lnSpc>
                        <a:spcAft>
                          <a:spcPts val="800"/>
                        </a:spcAft>
                        <a:buNone/>
                      </a:pPr>
                      <a:r>
                        <a:rPr lang="en-US" sz="1400" kern="100">
                          <a:solidFill>
                            <a:schemeClr val="tx1"/>
                          </a:solidFill>
                          <a:effectLst/>
                        </a:rPr>
                        <a:t>99</a:t>
                      </a:r>
                      <a:endParaRPr lang="en-US" sz="1600" kern="10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39227" marR="39227" marT="0" marB="0" anchor="ctr">
                    <a:solidFill>
                      <a:srgbClr val="D9D9D9"/>
                    </a:solidFill>
                  </a:tcPr>
                </a:tc>
                <a:tc>
                  <a:txBody>
                    <a:bodyPr/>
                    <a:lstStyle/>
                    <a:p>
                      <a:pPr marL="0" marR="0" algn="ctr">
                        <a:lnSpc>
                          <a:spcPct val="150000"/>
                        </a:lnSpc>
                        <a:spcAft>
                          <a:spcPts val="800"/>
                        </a:spcAft>
                        <a:buNone/>
                      </a:pPr>
                      <a:r>
                        <a:rPr lang="en-US" sz="1400" kern="100">
                          <a:solidFill>
                            <a:schemeClr val="tx1"/>
                          </a:solidFill>
                          <a:effectLst/>
                        </a:rPr>
                        <a:t>0.54</a:t>
                      </a:r>
                      <a:endParaRPr lang="en-US" sz="1600" kern="10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39227" marR="39227" marT="0" marB="0" anchor="ctr">
                    <a:solidFill>
                      <a:srgbClr val="D9D9D9"/>
                    </a:solidFill>
                  </a:tcPr>
                </a:tc>
                <a:tc>
                  <a:txBody>
                    <a:bodyPr/>
                    <a:lstStyle/>
                    <a:p>
                      <a:pPr marL="0" marR="0" algn="ctr">
                        <a:lnSpc>
                          <a:spcPct val="150000"/>
                        </a:lnSpc>
                        <a:spcAft>
                          <a:spcPts val="800"/>
                        </a:spcAft>
                        <a:buNone/>
                      </a:pPr>
                      <a:r>
                        <a:rPr lang="en-US" sz="1400" kern="100">
                          <a:solidFill>
                            <a:schemeClr val="tx1"/>
                          </a:solidFill>
                          <a:effectLst/>
                        </a:rPr>
                        <a:t>90</a:t>
                      </a:r>
                      <a:endParaRPr lang="en-US" sz="1600" kern="10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39227" marR="39227" marT="0" marB="0" anchor="ctr">
                    <a:solidFill>
                      <a:srgbClr val="D9D9D9"/>
                    </a:solidFill>
                  </a:tcPr>
                </a:tc>
                <a:tc>
                  <a:txBody>
                    <a:bodyPr/>
                    <a:lstStyle/>
                    <a:p>
                      <a:pPr marL="0" marR="0" algn="ctr">
                        <a:lnSpc>
                          <a:spcPct val="150000"/>
                        </a:lnSpc>
                        <a:spcAft>
                          <a:spcPts val="800"/>
                        </a:spcAft>
                        <a:buNone/>
                      </a:pPr>
                      <a:r>
                        <a:rPr lang="en-US" sz="1400" kern="100" dirty="0">
                          <a:solidFill>
                            <a:schemeClr val="tx1"/>
                          </a:solidFill>
                          <a:effectLst/>
                        </a:rPr>
                        <a:t>82.7</a:t>
                      </a:r>
                      <a:endParaRPr lang="en-US" sz="16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39227" marR="39227" marT="0" marB="0" anchor="ctr">
                    <a:solidFill>
                      <a:srgbClr val="D9D9D9"/>
                    </a:solidFill>
                  </a:tcPr>
                </a:tc>
                <a:extLst>
                  <a:ext uri="{0D108BD9-81ED-4DB2-BD59-A6C34878D82A}">
                    <a16:rowId xmlns:a16="http://schemas.microsoft.com/office/drawing/2014/main" val="4019913239"/>
                  </a:ext>
                </a:extLst>
              </a:tr>
              <a:tr h="646977">
                <a:tc>
                  <a:txBody>
                    <a:bodyPr/>
                    <a:lstStyle/>
                    <a:p>
                      <a:pPr marL="0" marR="0" algn="ctr">
                        <a:lnSpc>
                          <a:spcPct val="100000"/>
                        </a:lnSpc>
                        <a:spcAft>
                          <a:spcPts val="800"/>
                        </a:spcAft>
                        <a:buNone/>
                      </a:pPr>
                      <a:r>
                        <a:rPr lang="en-US" sz="1000" kern="100" dirty="0">
                          <a:solidFill>
                            <a:schemeClr val="accent2">
                              <a:lumMod val="75000"/>
                            </a:schemeClr>
                          </a:solidFill>
                          <a:effectLst/>
                        </a:rPr>
                        <a:t>KEYLPVGPAVMNLKVENYPPEMMCMAFGSLIPT</a:t>
                      </a:r>
                      <a:r>
                        <a:rPr lang="en-US" sz="1000" kern="100" dirty="0">
                          <a:solidFill>
                            <a:schemeClr val="accent1"/>
                          </a:solidFill>
                          <a:effectLst/>
                        </a:rPr>
                        <a:t>GGGGS</a:t>
                      </a:r>
                      <a:r>
                        <a:rPr lang="en-US" sz="1000" kern="100" dirty="0">
                          <a:solidFill>
                            <a:srgbClr val="C00000"/>
                          </a:solidFill>
                          <a:effectLst/>
                        </a:rPr>
                        <a:t>FARELAYEGLDPALIIKKLKETGGDDWV</a:t>
                      </a:r>
                      <a:r>
                        <a:rPr lang="en-US" sz="1000" kern="100" dirty="0">
                          <a:solidFill>
                            <a:schemeClr val="accent1"/>
                          </a:solidFill>
                          <a:effectLst/>
                        </a:rPr>
                        <a:t>GGGGS</a:t>
                      </a:r>
                      <a:r>
                        <a:rPr lang="en-US" sz="1000" kern="100" dirty="0">
                          <a:solidFill>
                            <a:srgbClr val="92D050"/>
                          </a:solidFill>
                          <a:effectLst/>
                        </a:rPr>
                        <a:t>DTKFIIVFALTRGNKIVKASGKMSNSGS</a:t>
                      </a:r>
                      <a:endParaRPr lang="en-US" sz="1100" kern="100" dirty="0">
                        <a:solidFill>
                          <a:srgbClr val="92D050"/>
                        </a:solidFill>
                        <a:effectLst/>
                      </a:endParaRPr>
                    </a:p>
                    <a:p>
                      <a:pPr marL="0" marR="0" algn="ctr">
                        <a:lnSpc>
                          <a:spcPct val="100000"/>
                        </a:lnSpc>
                        <a:spcAft>
                          <a:spcPts val="800"/>
                        </a:spcAft>
                        <a:buNone/>
                      </a:pPr>
                      <a:r>
                        <a:rPr lang="en-US" sz="1000" kern="100" dirty="0">
                          <a:solidFill>
                            <a:schemeClr val="tx1"/>
                          </a:solidFill>
                          <a:effectLst/>
                        </a:rPr>
                        <a:t>(C5)</a:t>
                      </a:r>
                      <a:endParaRPr lang="en-US" sz="11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39227" marR="39227" marT="0" marB="0" anchor="ctr">
                    <a:solidFill>
                      <a:srgbClr val="D9D9D9"/>
                    </a:solidFill>
                  </a:tcPr>
                </a:tc>
                <a:tc>
                  <a:txBody>
                    <a:bodyPr/>
                    <a:lstStyle/>
                    <a:p>
                      <a:pPr marL="0" marR="0" algn="ctr">
                        <a:lnSpc>
                          <a:spcPct val="150000"/>
                        </a:lnSpc>
                        <a:spcAft>
                          <a:spcPts val="800"/>
                        </a:spcAft>
                        <a:buNone/>
                      </a:pPr>
                      <a:r>
                        <a:rPr lang="en-US" sz="1400" kern="100">
                          <a:solidFill>
                            <a:schemeClr val="tx1"/>
                          </a:solidFill>
                          <a:effectLst/>
                        </a:rPr>
                        <a:t>99</a:t>
                      </a:r>
                      <a:endParaRPr lang="en-US" sz="1600" kern="10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39227" marR="39227" marT="0" marB="0" anchor="ctr">
                    <a:solidFill>
                      <a:srgbClr val="D9D9D9"/>
                    </a:solidFill>
                  </a:tcPr>
                </a:tc>
                <a:tc>
                  <a:txBody>
                    <a:bodyPr/>
                    <a:lstStyle/>
                    <a:p>
                      <a:pPr marL="0" marR="0" algn="ctr">
                        <a:lnSpc>
                          <a:spcPct val="150000"/>
                        </a:lnSpc>
                        <a:spcAft>
                          <a:spcPts val="800"/>
                        </a:spcAft>
                        <a:buNone/>
                      </a:pPr>
                      <a:r>
                        <a:rPr lang="en-US" sz="1400" kern="100">
                          <a:solidFill>
                            <a:schemeClr val="tx1"/>
                          </a:solidFill>
                          <a:effectLst/>
                        </a:rPr>
                        <a:t>0.55</a:t>
                      </a:r>
                      <a:endParaRPr lang="en-US" sz="1600" kern="10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39227" marR="39227" marT="0" marB="0" anchor="ctr">
                    <a:solidFill>
                      <a:srgbClr val="D9D9D9"/>
                    </a:solidFill>
                  </a:tcPr>
                </a:tc>
                <a:tc>
                  <a:txBody>
                    <a:bodyPr/>
                    <a:lstStyle/>
                    <a:p>
                      <a:pPr marL="0" marR="0" algn="ctr">
                        <a:lnSpc>
                          <a:spcPct val="150000"/>
                        </a:lnSpc>
                        <a:spcAft>
                          <a:spcPts val="800"/>
                        </a:spcAft>
                        <a:buNone/>
                      </a:pPr>
                      <a:r>
                        <a:rPr lang="en-US" sz="1400" kern="100">
                          <a:solidFill>
                            <a:schemeClr val="tx1"/>
                          </a:solidFill>
                          <a:effectLst/>
                        </a:rPr>
                        <a:t>100</a:t>
                      </a:r>
                      <a:endParaRPr lang="en-US" sz="1600" kern="10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39227" marR="39227" marT="0" marB="0" anchor="ctr">
                    <a:solidFill>
                      <a:srgbClr val="D9D9D9"/>
                    </a:solidFill>
                  </a:tcPr>
                </a:tc>
                <a:tc>
                  <a:txBody>
                    <a:bodyPr/>
                    <a:lstStyle/>
                    <a:p>
                      <a:pPr marL="0" marR="0" algn="ctr">
                        <a:lnSpc>
                          <a:spcPct val="150000"/>
                        </a:lnSpc>
                        <a:spcAft>
                          <a:spcPts val="800"/>
                        </a:spcAft>
                        <a:buNone/>
                      </a:pPr>
                      <a:r>
                        <a:rPr lang="en-US" sz="1400" kern="100">
                          <a:solidFill>
                            <a:schemeClr val="tx1"/>
                          </a:solidFill>
                          <a:effectLst/>
                        </a:rPr>
                        <a:t>92</a:t>
                      </a:r>
                      <a:endParaRPr lang="en-US" sz="1600" kern="10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39227" marR="39227" marT="0" marB="0" anchor="ctr">
                    <a:solidFill>
                      <a:srgbClr val="D9D9D9"/>
                    </a:solidFill>
                  </a:tcPr>
                </a:tc>
                <a:extLst>
                  <a:ext uri="{0D108BD9-81ED-4DB2-BD59-A6C34878D82A}">
                    <a16:rowId xmlns:a16="http://schemas.microsoft.com/office/drawing/2014/main" val="1412043675"/>
                  </a:ext>
                </a:extLst>
              </a:tr>
              <a:tr h="471127">
                <a:tc>
                  <a:txBody>
                    <a:bodyPr/>
                    <a:lstStyle/>
                    <a:p>
                      <a:pPr marL="0" marR="0" algn="ctr">
                        <a:lnSpc>
                          <a:spcPct val="100000"/>
                        </a:lnSpc>
                        <a:spcAft>
                          <a:spcPts val="800"/>
                        </a:spcAft>
                        <a:buNone/>
                      </a:pPr>
                      <a:r>
                        <a:rPr lang="en-US" sz="1000" kern="100" dirty="0">
                          <a:solidFill>
                            <a:schemeClr val="accent2">
                              <a:lumMod val="75000"/>
                            </a:schemeClr>
                          </a:solidFill>
                          <a:effectLst/>
                        </a:rPr>
                        <a:t>KEYLPVGPAVMNLKVENYPPEMMCMAFGSLIPT</a:t>
                      </a:r>
                      <a:r>
                        <a:rPr lang="en-US" sz="1000" kern="100" dirty="0">
                          <a:solidFill>
                            <a:schemeClr val="accent1"/>
                          </a:solidFill>
                          <a:effectLst/>
                        </a:rPr>
                        <a:t>GGGGS</a:t>
                      </a:r>
                      <a:r>
                        <a:rPr lang="en-US" sz="1000" kern="100" dirty="0">
                          <a:solidFill>
                            <a:srgbClr val="92D050"/>
                          </a:solidFill>
                          <a:effectLst/>
                        </a:rPr>
                        <a:t>DTKFIIVFALTRGNKIVKASGKMSNSGS</a:t>
                      </a:r>
                      <a:r>
                        <a:rPr lang="en-US" sz="1000" kern="100" dirty="0">
                          <a:solidFill>
                            <a:schemeClr val="accent1"/>
                          </a:solidFill>
                          <a:effectLst/>
                        </a:rPr>
                        <a:t>GGGGS</a:t>
                      </a:r>
                      <a:r>
                        <a:rPr lang="en-US" sz="1000" kern="100" dirty="0">
                          <a:solidFill>
                            <a:srgbClr val="C00000"/>
                          </a:solidFill>
                          <a:effectLst/>
                        </a:rPr>
                        <a:t>FARELAYEGLDPALIIKKLKETGGDDWV</a:t>
                      </a:r>
                      <a:endParaRPr lang="en-US" sz="1100" kern="100" dirty="0">
                        <a:solidFill>
                          <a:srgbClr val="C00000"/>
                        </a:solidFill>
                        <a:effectLst/>
                      </a:endParaRPr>
                    </a:p>
                    <a:p>
                      <a:pPr marL="0" marR="0" algn="ctr">
                        <a:lnSpc>
                          <a:spcPct val="100000"/>
                        </a:lnSpc>
                        <a:spcAft>
                          <a:spcPts val="800"/>
                        </a:spcAft>
                        <a:buNone/>
                      </a:pPr>
                      <a:r>
                        <a:rPr lang="en-US" sz="1000" kern="100" dirty="0">
                          <a:solidFill>
                            <a:schemeClr val="tx1"/>
                          </a:solidFill>
                          <a:effectLst/>
                        </a:rPr>
                        <a:t>(C6)</a:t>
                      </a:r>
                      <a:endParaRPr lang="en-US" sz="11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39227" marR="39227" marT="0" marB="0" anchor="ctr">
                    <a:solidFill>
                      <a:srgbClr val="D9D9D9"/>
                    </a:solidFill>
                  </a:tcPr>
                </a:tc>
                <a:tc>
                  <a:txBody>
                    <a:bodyPr/>
                    <a:lstStyle/>
                    <a:p>
                      <a:pPr marL="0" marR="0" algn="ctr">
                        <a:lnSpc>
                          <a:spcPct val="150000"/>
                        </a:lnSpc>
                        <a:spcAft>
                          <a:spcPts val="800"/>
                        </a:spcAft>
                        <a:buNone/>
                      </a:pPr>
                      <a:r>
                        <a:rPr lang="en-US" sz="1400" kern="100">
                          <a:solidFill>
                            <a:schemeClr val="tx1"/>
                          </a:solidFill>
                          <a:effectLst/>
                        </a:rPr>
                        <a:t>99</a:t>
                      </a:r>
                      <a:endParaRPr lang="en-US" sz="1600" kern="10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39227" marR="39227" marT="0" marB="0" anchor="ctr">
                    <a:solidFill>
                      <a:srgbClr val="D9D9D9"/>
                    </a:solidFill>
                  </a:tcPr>
                </a:tc>
                <a:tc>
                  <a:txBody>
                    <a:bodyPr/>
                    <a:lstStyle/>
                    <a:p>
                      <a:pPr marL="0" marR="0" algn="ctr">
                        <a:lnSpc>
                          <a:spcPct val="150000"/>
                        </a:lnSpc>
                        <a:spcAft>
                          <a:spcPts val="800"/>
                        </a:spcAft>
                        <a:buNone/>
                      </a:pPr>
                      <a:r>
                        <a:rPr lang="en-US" sz="1400" kern="100">
                          <a:solidFill>
                            <a:schemeClr val="tx1"/>
                          </a:solidFill>
                          <a:effectLst/>
                        </a:rPr>
                        <a:t>0.65</a:t>
                      </a:r>
                      <a:endParaRPr lang="en-US" sz="1600" kern="10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39227" marR="39227" marT="0" marB="0" anchor="ctr">
                    <a:solidFill>
                      <a:srgbClr val="D9D9D9"/>
                    </a:solidFill>
                  </a:tcPr>
                </a:tc>
                <a:tc>
                  <a:txBody>
                    <a:bodyPr/>
                    <a:lstStyle/>
                    <a:p>
                      <a:pPr marL="0" marR="0" algn="ctr">
                        <a:lnSpc>
                          <a:spcPct val="150000"/>
                        </a:lnSpc>
                        <a:spcAft>
                          <a:spcPts val="800"/>
                        </a:spcAft>
                        <a:buNone/>
                      </a:pPr>
                      <a:r>
                        <a:rPr lang="en-US" sz="1400" kern="100" dirty="0">
                          <a:solidFill>
                            <a:schemeClr val="tx1"/>
                          </a:solidFill>
                          <a:effectLst/>
                        </a:rPr>
                        <a:t>100</a:t>
                      </a:r>
                      <a:endParaRPr lang="en-US" sz="16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39227" marR="39227" marT="0" marB="0" anchor="ctr">
                    <a:solidFill>
                      <a:srgbClr val="D9D9D9"/>
                    </a:solidFill>
                  </a:tcPr>
                </a:tc>
                <a:tc>
                  <a:txBody>
                    <a:bodyPr/>
                    <a:lstStyle/>
                    <a:p>
                      <a:pPr marL="0" marR="0" algn="ctr">
                        <a:lnSpc>
                          <a:spcPct val="150000"/>
                        </a:lnSpc>
                        <a:spcAft>
                          <a:spcPts val="800"/>
                        </a:spcAft>
                        <a:buNone/>
                      </a:pPr>
                      <a:r>
                        <a:rPr lang="en-US" sz="1400" kern="100" dirty="0">
                          <a:solidFill>
                            <a:schemeClr val="tx1"/>
                          </a:solidFill>
                          <a:effectLst/>
                        </a:rPr>
                        <a:t>92</a:t>
                      </a:r>
                      <a:endParaRPr lang="en-US" sz="16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39227" marR="39227" marT="0" marB="0" anchor="ctr">
                    <a:solidFill>
                      <a:srgbClr val="D9D9D9"/>
                    </a:solidFill>
                  </a:tcPr>
                </a:tc>
                <a:extLst>
                  <a:ext uri="{0D108BD9-81ED-4DB2-BD59-A6C34878D82A}">
                    <a16:rowId xmlns:a16="http://schemas.microsoft.com/office/drawing/2014/main" val="3497303110"/>
                  </a:ext>
                </a:extLst>
              </a:tr>
            </a:tbl>
          </a:graphicData>
        </a:graphic>
      </p:graphicFrame>
      <p:sp>
        <p:nvSpPr>
          <p:cNvPr id="7" name="Rectangle: Rounded Corners 6">
            <a:extLst>
              <a:ext uri="{FF2B5EF4-FFF2-40B4-BE49-F238E27FC236}">
                <a16:creationId xmlns:a16="http://schemas.microsoft.com/office/drawing/2014/main" id="{6D0529B4-F4E2-70C1-FFD9-CCCE26C51976}"/>
              </a:ext>
            </a:extLst>
          </p:cNvPr>
          <p:cNvSpPr/>
          <p:nvPr/>
        </p:nvSpPr>
        <p:spPr>
          <a:xfrm>
            <a:off x="390418" y="3143892"/>
            <a:ext cx="10849510" cy="1376737"/>
          </a:xfrm>
          <a:prstGeom prst="roundRect">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p14="http://schemas.microsoft.com/office/powerpoint/2010/main">
        <mc:Choice Requires="p14">
          <p:contentPart p14:bwMode="auto" r:id="rId2">
            <p14:nvContentPartPr>
              <p14:cNvPr id="9" name="Ink 8">
                <a:extLst>
                  <a:ext uri="{FF2B5EF4-FFF2-40B4-BE49-F238E27FC236}">
                    <a16:creationId xmlns:a16="http://schemas.microsoft.com/office/drawing/2014/main" id="{2FFCBC8E-EA31-860B-4552-B04B32456AD3}"/>
                  </a:ext>
                </a:extLst>
              </p14:cNvPr>
              <p14:cNvContentPartPr/>
              <p14:nvPr/>
            </p14:nvContentPartPr>
            <p14:xfrm>
              <a:off x="8750305" y="3540130"/>
              <a:ext cx="403560" cy="6480"/>
            </p14:xfrm>
          </p:contentPart>
        </mc:Choice>
        <mc:Fallback xmlns="">
          <p:pic>
            <p:nvPicPr>
              <p:cNvPr id="9" name="Ink 8">
                <a:extLst>
                  <a:ext uri="{FF2B5EF4-FFF2-40B4-BE49-F238E27FC236}">
                    <a16:creationId xmlns:a16="http://schemas.microsoft.com/office/drawing/2014/main" id="{2FFCBC8E-EA31-860B-4552-B04B32456AD3}"/>
                  </a:ext>
                </a:extLst>
              </p:cNvPr>
              <p:cNvPicPr/>
              <p:nvPr/>
            </p:nvPicPr>
            <p:blipFill>
              <a:blip r:embed="rId3"/>
              <a:stretch>
                <a:fillRect/>
              </a:stretch>
            </p:blipFill>
            <p:spPr>
              <a:xfrm>
                <a:off x="8714305" y="3468130"/>
                <a:ext cx="475200" cy="15012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10" name="Ink 9">
                <a:extLst>
                  <a:ext uri="{FF2B5EF4-FFF2-40B4-BE49-F238E27FC236}">
                    <a16:creationId xmlns:a16="http://schemas.microsoft.com/office/drawing/2014/main" id="{8B36237A-1CE3-8C4E-B259-5AD57B514899}"/>
                  </a:ext>
                </a:extLst>
              </p14:cNvPr>
              <p14:cNvContentPartPr/>
              <p14:nvPr/>
            </p14:nvContentPartPr>
            <p14:xfrm>
              <a:off x="10356625" y="3543010"/>
              <a:ext cx="415800" cy="3600"/>
            </p14:xfrm>
          </p:contentPart>
        </mc:Choice>
        <mc:Fallback xmlns="">
          <p:pic>
            <p:nvPicPr>
              <p:cNvPr id="10" name="Ink 9">
                <a:extLst>
                  <a:ext uri="{FF2B5EF4-FFF2-40B4-BE49-F238E27FC236}">
                    <a16:creationId xmlns:a16="http://schemas.microsoft.com/office/drawing/2014/main" id="{8B36237A-1CE3-8C4E-B259-5AD57B514899}"/>
                  </a:ext>
                </a:extLst>
              </p:cNvPr>
              <p:cNvPicPr/>
              <p:nvPr/>
            </p:nvPicPr>
            <p:blipFill>
              <a:blip r:embed="rId5"/>
              <a:stretch>
                <a:fillRect/>
              </a:stretch>
            </p:blipFill>
            <p:spPr>
              <a:xfrm>
                <a:off x="10320985" y="3471370"/>
                <a:ext cx="487440" cy="14724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1" name="Ink 10">
                <a:extLst>
                  <a:ext uri="{FF2B5EF4-FFF2-40B4-BE49-F238E27FC236}">
                    <a16:creationId xmlns:a16="http://schemas.microsoft.com/office/drawing/2014/main" id="{35D20682-3339-2F14-23CC-84AA09DAE64C}"/>
                  </a:ext>
                </a:extLst>
              </p14:cNvPr>
              <p14:cNvContentPartPr/>
              <p14:nvPr/>
            </p14:nvContentPartPr>
            <p14:xfrm>
              <a:off x="10369225" y="4235290"/>
              <a:ext cx="397080" cy="360"/>
            </p14:xfrm>
          </p:contentPart>
        </mc:Choice>
        <mc:Fallback xmlns="">
          <p:pic>
            <p:nvPicPr>
              <p:cNvPr id="11" name="Ink 10">
                <a:extLst>
                  <a:ext uri="{FF2B5EF4-FFF2-40B4-BE49-F238E27FC236}">
                    <a16:creationId xmlns:a16="http://schemas.microsoft.com/office/drawing/2014/main" id="{35D20682-3339-2F14-23CC-84AA09DAE64C}"/>
                  </a:ext>
                </a:extLst>
              </p:cNvPr>
              <p:cNvPicPr/>
              <p:nvPr/>
            </p:nvPicPr>
            <p:blipFill>
              <a:blip r:embed="rId7"/>
              <a:stretch>
                <a:fillRect/>
              </a:stretch>
            </p:blipFill>
            <p:spPr>
              <a:xfrm>
                <a:off x="10333585" y="4163290"/>
                <a:ext cx="468720" cy="144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3" name="Ink 12">
                <a:extLst>
                  <a:ext uri="{FF2B5EF4-FFF2-40B4-BE49-F238E27FC236}">
                    <a16:creationId xmlns:a16="http://schemas.microsoft.com/office/drawing/2014/main" id="{238B7C2D-A235-AABF-C985-9ADDCD68AF48}"/>
                  </a:ext>
                </a:extLst>
              </p14:cNvPr>
              <p14:cNvContentPartPr/>
              <p14:nvPr/>
            </p14:nvContentPartPr>
            <p14:xfrm>
              <a:off x="9585145" y="4247890"/>
              <a:ext cx="317880" cy="360"/>
            </p14:xfrm>
          </p:contentPart>
        </mc:Choice>
        <mc:Fallback xmlns="">
          <p:pic>
            <p:nvPicPr>
              <p:cNvPr id="13" name="Ink 12">
                <a:extLst>
                  <a:ext uri="{FF2B5EF4-FFF2-40B4-BE49-F238E27FC236}">
                    <a16:creationId xmlns:a16="http://schemas.microsoft.com/office/drawing/2014/main" id="{238B7C2D-A235-AABF-C985-9ADDCD68AF48}"/>
                  </a:ext>
                </a:extLst>
              </p:cNvPr>
              <p:cNvPicPr/>
              <p:nvPr/>
            </p:nvPicPr>
            <p:blipFill>
              <a:blip r:embed="rId9"/>
              <a:stretch>
                <a:fillRect/>
              </a:stretch>
            </p:blipFill>
            <p:spPr>
              <a:xfrm>
                <a:off x="9549145" y="4175890"/>
                <a:ext cx="389520" cy="144000"/>
              </a:xfrm>
              <a:prstGeom prst="rect">
                <a:avLst/>
              </a:prstGeom>
            </p:spPr>
          </p:pic>
        </mc:Fallback>
      </mc:AlternateContent>
      <p:grpSp>
        <p:nvGrpSpPr>
          <p:cNvPr id="8" name="Group 7">
            <a:extLst>
              <a:ext uri="{FF2B5EF4-FFF2-40B4-BE49-F238E27FC236}">
                <a16:creationId xmlns:a16="http://schemas.microsoft.com/office/drawing/2014/main" id="{1FC3C238-0344-B767-53AB-10CC9B84BBCD}"/>
              </a:ext>
            </a:extLst>
          </p:cNvPr>
          <p:cNvGrpSpPr/>
          <p:nvPr/>
        </p:nvGrpSpPr>
        <p:grpSpPr>
          <a:xfrm>
            <a:off x="1196486" y="229722"/>
            <a:ext cx="11154657" cy="723900"/>
            <a:chOff x="739738" y="344774"/>
            <a:chExt cx="9439576" cy="1042237"/>
          </a:xfrm>
        </p:grpSpPr>
        <p:sp>
          <p:nvSpPr>
            <p:cNvPr id="12" name="Rectangle: Rounded Corners 11">
              <a:extLst>
                <a:ext uri="{FF2B5EF4-FFF2-40B4-BE49-F238E27FC236}">
                  <a16:creationId xmlns:a16="http://schemas.microsoft.com/office/drawing/2014/main" id="{A954C0D8-B461-592C-1CFC-AB909408416C}"/>
                </a:ext>
              </a:extLst>
            </p:cNvPr>
            <p:cNvSpPr/>
            <p:nvPr/>
          </p:nvSpPr>
          <p:spPr>
            <a:xfrm>
              <a:off x="739739" y="344774"/>
              <a:ext cx="8311794" cy="1042237"/>
            </a:xfrm>
            <a:prstGeom prst="roundRect">
              <a:avLst/>
            </a:prstGeom>
            <a:solidFill>
              <a:schemeClr val="bg1">
                <a:lumMod val="85000"/>
              </a:schemeClr>
            </a:solidFill>
            <a:ln>
              <a:no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en-US" sz="2000" dirty="0"/>
            </a:p>
          </p:txBody>
        </p:sp>
        <p:sp>
          <p:nvSpPr>
            <p:cNvPr id="14" name="Title 1">
              <a:extLst>
                <a:ext uri="{FF2B5EF4-FFF2-40B4-BE49-F238E27FC236}">
                  <a16:creationId xmlns:a16="http://schemas.microsoft.com/office/drawing/2014/main" id="{FCF9E47B-A72F-5CC5-884C-529669454382}"/>
                </a:ext>
              </a:extLst>
            </p:cNvPr>
            <p:cNvSpPr txBox="1">
              <a:spLocks/>
            </p:cNvSpPr>
            <p:nvPr/>
          </p:nvSpPr>
          <p:spPr>
            <a:xfrm>
              <a:off x="739738" y="344774"/>
              <a:ext cx="9439576" cy="960044"/>
            </a:xfrm>
            <a:prstGeom prst="rect">
              <a:avLst/>
            </a:prstGeom>
            <a:noFill/>
            <a:ln w="12700" cap="flat" cmpd="sng" algn="ctr">
              <a:noFill/>
              <a:prstDash val="solid"/>
              <a:miter lim="800000"/>
            </a:ln>
          </p:spPr>
          <p:style>
            <a:lnRef idx="1">
              <a:schemeClr val="accent4"/>
            </a:lnRef>
            <a:fillRef idx="2">
              <a:schemeClr val="accent4"/>
            </a:fillRef>
            <a:effectRef idx="1">
              <a:schemeClr val="accent4"/>
            </a:effectRef>
            <a:fontRef idx="minor">
              <a:schemeClr val="dk1"/>
            </a:fontRef>
          </p:style>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l"/>
              <a:r>
                <a:rPr lang="en-US" sz="4000" dirty="0">
                  <a:solidFill>
                    <a:srgbClr val="C00000"/>
                  </a:solidFill>
                </a:rPr>
                <a:t>Design of Multi-epitope Peptide Construction</a:t>
              </a:r>
            </a:p>
          </p:txBody>
        </p:sp>
      </p:grpSp>
    </p:spTree>
    <p:extLst>
      <p:ext uri="{BB962C8B-B14F-4D97-AF65-F5344CB8AC3E}">
        <p14:creationId xmlns:p14="http://schemas.microsoft.com/office/powerpoint/2010/main" val="2815990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471930-16A4-E9AA-630C-8B9F2F1E336E}"/>
            </a:ext>
          </a:extLst>
        </p:cNvPr>
        <p:cNvGrpSpPr/>
        <p:nvPr/>
      </p:nvGrpSpPr>
      <p:grpSpPr>
        <a:xfrm>
          <a:off x="0" y="0"/>
          <a:ext cx="0" cy="0"/>
          <a:chOff x="0" y="0"/>
          <a:chExt cx="0" cy="0"/>
        </a:xfrm>
      </p:grpSpPr>
      <p:grpSp>
        <p:nvGrpSpPr>
          <p:cNvPr id="4" name="Group 3">
            <a:extLst>
              <a:ext uri="{FF2B5EF4-FFF2-40B4-BE49-F238E27FC236}">
                <a16:creationId xmlns:a16="http://schemas.microsoft.com/office/drawing/2014/main" id="{69B3E8DC-2FCB-9F01-10C2-770C128294FC}"/>
              </a:ext>
            </a:extLst>
          </p:cNvPr>
          <p:cNvGrpSpPr/>
          <p:nvPr/>
        </p:nvGrpSpPr>
        <p:grpSpPr>
          <a:xfrm>
            <a:off x="3169060" y="136833"/>
            <a:ext cx="6950920" cy="723900"/>
            <a:chOff x="739738" y="344774"/>
            <a:chExt cx="9439576" cy="1042237"/>
          </a:xfrm>
        </p:grpSpPr>
        <p:sp>
          <p:nvSpPr>
            <p:cNvPr id="5" name="Rectangle: Rounded Corners 4">
              <a:extLst>
                <a:ext uri="{FF2B5EF4-FFF2-40B4-BE49-F238E27FC236}">
                  <a16:creationId xmlns:a16="http://schemas.microsoft.com/office/drawing/2014/main" id="{5464CE76-590A-3540-FAA7-6AC8C3EE7FC4}"/>
                </a:ext>
              </a:extLst>
            </p:cNvPr>
            <p:cNvSpPr/>
            <p:nvPr/>
          </p:nvSpPr>
          <p:spPr>
            <a:xfrm>
              <a:off x="739739" y="344774"/>
              <a:ext cx="8311794" cy="1042237"/>
            </a:xfrm>
            <a:prstGeom prst="roundRect">
              <a:avLst/>
            </a:prstGeom>
            <a:solidFill>
              <a:schemeClr val="bg1">
                <a:lumMod val="85000"/>
              </a:schemeClr>
            </a:solidFill>
            <a:ln>
              <a:no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en-US" sz="2000" dirty="0"/>
            </a:p>
          </p:txBody>
        </p:sp>
        <p:sp>
          <p:nvSpPr>
            <p:cNvPr id="6" name="Title 1">
              <a:extLst>
                <a:ext uri="{FF2B5EF4-FFF2-40B4-BE49-F238E27FC236}">
                  <a16:creationId xmlns:a16="http://schemas.microsoft.com/office/drawing/2014/main" id="{00821A69-E64F-F750-9D63-79B3B8FCE39E}"/>
                </a:ext>
              </a:extLst>
            </p:cNvPr>
            <p:cNvSpPr txBox="1">
              <a:spLocks/>
            </p:cNvSpPr>
            <p:nvPr/>
          </p:nvSpPr>
          <p:spPr>
            <a:xfrm>
              <a:off x="739738" y="344774"/>
              <a:ext cx="9439576" cy="960044"/>
            </a:xfrm>
            <a:prstGeom prst="rect">
              <a:avLst/>
            </a:prstGeom>
            <a:noFill/>
            <a:ln w="12700" cap="flat" cmpd="sng" algn="ctr">
              <a:noFill/>
              <a:prstDash val="solid"/>
              <a:miter lim="800000"/>
            </a:ln>
          </p:spPr>
          <p:style>
            <a:lnRef idx="1">
              <a:schemeClr val="accent4"/>
            </a:lnRef>
            <a:fillRef idx="2">
              <a:schemeClr val="accent4"/>
            </a:fillRef>
            <a:effectRef idx="1">
              <a:schemeClr val="accent4"/>
            </a:effectRef>
            <a:fontRef idx="minor">
              <a:schemeClr val="dk1"/>
            </a:fontRef>
          </p:style>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l"/>
              <a:r>
                <a:rPr lang="en-US" sz="4000" dirty="0" err="1">
                  <a:solidFill>
                    <a:srgbClr val="C00000"/>
                  </a:solidFill>
                </a:rPr>
                <a:t>HPEPDock</a:t>
              </a:r>
              <a:r>
                <a:rPr lang="en-US" sz="4000" dirty="0">
                  <a:solidFill>
                    <a:srgbClr val="C00000"/>
                  </a:solidFill>
                </a:rPr>
                <a:t> Docking Analysis</a:t>
              </a:r>
            </a:p>
          </p:txBody>
        </p:sp>
      </p:grpSp>
      <p:sp>
        <p:nvSpPr>
          <p:cNvPr id="7" name="Rectangle 6">
            <a:extLst>
              <a:ext uri="{FF2B5EF4-FFF2-40B4-BE49-F238E27FC236}">
                <a16:creationId xmlns:a16="http://schemas.microsoft.com/office/drawing/2014/main" id="{488D5C87-186E-1A0A-F7E2-3BC94A3858FA}"/>
              </a:ext>
            </a:extLst>
          </p:cNvPr>
          <p:cNvSpPr/>
          <p:nvPr/>
        </p:nvSpPr>
        <p:spPr>
          <a:xfrm>
            <a:off x="0" y="1675"/>
            <a:ext cx="12192000" cy="6858000"/>
          </a:xfrm>
          <a:prstGeom prst="rect">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800" dirty="0">
              <a:latin typeface="Arial" panose="020B0604020202020204" pitchFamily="34" charset="0"/>
              <a:cs typeface="Arial" panose="020B0604020202020204" pitchFamily="34" charset="0"/>
            </a:endParaRPr>
          </a:p>
        </p:txBody>
      </p:sp>
      <p:sp>
        <p:nvSpPr>
          <p:cNvPr id="19" name="TextBox 18">
            <a:extLst>
              <a:ext uri="{FF2B5EF4-FFF2-40B4-BE49-F238E27FC236}">
                <a16:creationId xmlns:a16="http://schemas.microsoft.com/office/drawing/2014/main" id="{23D75D5B-52EA-5DA0-CFA3-93E0B128309B}"/>
              </a:ext>
            </a:extLst>
          </p:cNvPr>
          <p:cNvSpPr txBox="1"/>
          <p:nvPr/>
        </p:nvSpPr>
        <p:spPr>
          <a:xfrm>
            <a:off x="189619" y="885825"/>
            <a:ext cx="11202282" cy="2492990"/>
          </a:xfrm>
          <a:prstGeom prst="rect">
            <a:avLst/>
          </a:prstGeom>
          <a:noFill/>
        </p:spPr>
        <p:txBody>
          <a:bodyPr wrap="square">
            <a:spAutoFit/>
          </a:bodyPr>
          <a:lstStyle/>
          <a:p>
            <a:pPr marR="0" lvl="0" algn="l" defTabSz="914400" rtl="0" eaLnBrk="1" fontAlgn="auto" latinLnBrk="0" hangingPunct="1">
              <a:lnSpc>
                <a:spcPct val="100000"/>
              </a:lnSpc>
              <a:spcBef>
                <a:spcPts val="900"/>
              </a:spcBef>
              <a:spcAft>
                <a:spcPts val="0"/>
              </a:spcAft>
              <a:buClr>
                <a:srgbClr val="000000">
                  <a:lumMod val="85000"/>
                  <a:lumOff val="15000"/>
                </a:srgbClr>
              </a:buClr>
              <a:buSzTx/>
              <a:tabLst/>
              <a:defRPr/>
            </a:pPr>
            <a:r>
              <a:rPr lang="en-US" dirty="0">
                <a:solidFill>
                  <a:srgbClr val="000000"/>
                </a:solidFill>
                <a:latin typeface="Gill Sans MT" panose="020B0502020104020203"/>
              </a:rPr>
              <a:t>Peptides with both T and B cell epitopes and HLA docking analysis were done using </a:t>
            </a:r>
            <a:r>
              <a:rPr lang="en-US" dirty="0" err="1">
                <a:solidFill>
                  <a:srgbClr val="000000"/>
                </a:solidFill>
                <a:latin typeface="Gill Sans MT" panose="020B0502020104020203"/>
              </a:rPr>
              <a:t>HPEPDock</a:t>
            </a:r>
            <a:r>
              <a:rPr lang="en-US" dirty="0">
                <a:solidFill>
                  <a:srgbClr val="000000"/>
                </a:solidFill>
                <a:latin typeface="Gill Sans MT" panose="020B0502020104020203"/>
              </a:rPr>
              <a:t> 2.0 server.</a:t>
            </a:r>
          </a:p>
          <a:p>
            <a:pPr marR="0" lvl="0" algn="l" defTabSz="914400" rtl="0" eaLnBrk="1" fontAlgn="auto" latinLnBrk="0" hangingPunct="1">
              <a:lnSpc>
                <a:spcPct val="100000"/>
              </a:lnSpc>
              <a:spcBef>
                <a:spcPts val="900"/>
              </a:spcBef>
              <a:spcAft>
                <a:spcPts val="0"/>
              </a:spcAft>
              <a:buClr>
                <a:srgbClr val="000000">
                  <a:lumMod val="85000"/>
                  <a:lumOff val="15000"/>
                </a:srgbClr>
              </a:buClr>
              <a:buSzTx/>
              <a:tabLst/>
              <a:defRPr/>
            </a:pPr>
            <a:endParaRPr kumimoji="0" lang="en-US" sz="1800" b="0" i="0" u="none" strike="noStrike" kern="1200" cap="none" spc="0" normalizeH="0" baseline="0" noProof="0" dirty="0">
              <a:ln>
                <a:noFill/>
              </a:ln>
              <a:solidFill>
                <a:srgbClr val="000000"/>
              </a:solidFill>
              <a:effectLst/>
              <a:uLnTx/>
              <a:uFillTx/>
              <a:latin typeface="Gill Sans MT" panose="020B0502020104020203"/>
              <a:ea typeface="+mn-ea"/>
              <a:cs typeface="+mn-cs"/>
            </a:endParaRPr>
          </a:p>
          <a:p>
            <a:pPr marR="0" lvl="0" algn="l" defTabSz="914400" rtl="0" eaLnBrk="1" fontAlgn="auto" latinLnBrk="0" hangingPunct="1">
              <a:lnSpc>
                <a:spcPct val="100000"/>
              </a:lnSpc>
              <a:spcBef>
                <a:spcPts val="900"/>
              </a:spcBef>
              <a:spcAft>
                <a:spcPts val="0"/>
              </a:spcAft>
              <a:buClr>
                <a:srgbClr val="000000">
                  <a:lumMod val="85000"/>
                  <a:lumOff val="15000"/>
                </a:srgbClr>
              </a:buClr>
              <a:buSzTx/>
              <a:tabLst/>
              <a:defRPr/>
            </a:pPr>
            <a:r>
              <a:rPr lang="en-US" dirty="0">
                <a:solidFill>
                  <a:srgbClr val="000000"/>
                </a:solidFill>
                <a:latin typeface="Gill Sans MT" panose="020B0502020104020203"/>
              </a:rPr>
              <a:t>For HLA Class I docking analysis CD8+ epitopes were taken and each epitope was docked against 10 different HLA Class I alleles based on there docking score compared to native peptide were then analyzed.</a:t>
            </a:r>
          </a:p>
          <a:p>
            <a:pPr marR="0" lvl="0" algn="l" defTabSz="914400" rtl="0" eaLnBrk="1" fontAlgn="auto" latinLnBrk="0" hangingPunct="1">
              <a:lnSpc>
                <a:spcPct val="100000"/>
              </a:lnSpc>
              <a:spcBef>
                <a:spcPts val="900"/>
              </a:spcBef>
              <a:spcAft>
                <a:spcPts val="0"/>
              </a:spcAft>
              <a:buClr>
                <a:srgbClr val="000000">
                  <a:lumMod val="85000"/>
                  <a:lumOff val="15000"/>
                </a:srgbClr>
              </a:buClr>
              <a:buSzTx/>
              <a:tabLst/>
              <a:defRPr/>
            </a:pPr>
            <a:r>
              <a:rPr lang="en-US" dirty="0">
                <a:solidFill>
                  <a:srgbClr val="000000"/>
                </a:solidFill>
                <a:latin typeface="Gill Sans MT" panose="020B0502020104020203"/>
              </a:rPr>
              <a:t>For HLA Class II docking Peptides were first divided in two and each part was docked against 10 different HLA Class II alleles , docking analysis done based on comparative docking scores.</a:t>
            </a:r>
          </a:p>
          <a:p>
            <a:pPr marR="0" lvl="0" algn="l" defTabSz="914400" rtl="0" eaLnBrk="1" fontAlgn="auto" latinLnBrk="0" hangingPunct="1">
              <a:lnSpc>
                <a:spcPct val="100000"/>
              </a:lnSpc>
              <a:spcBef>
                <a:spcPts val="900"/>
              </a:spcBef>
              <a:spcAft>
                <a:spcPts val="0"/>
              </a:spcAft>
              <a:buClr>
                <a:srgbClr val="000000">
                  <a:lumMod val="85000"/>
                  <a:lumOff val="15000"/>
                </a:srgbClr>
              </a:buClr>
              <a:buSzTx/>
              <a:tabLst/>
              <a:defRPr/>
            </a:pPr>
            <a:endParaRPr kumimoji="0" lang="en-US" sz="1800" b="0" i="0" u="none" strike="noStrike" kern="1200" cap="none" spc="0" normalizeH="0" baseline="0" noProof="0" dirty="0">
              <a:ln>
                <a:noFill/>
              </a:ln>
              <a:solidFill>
                <a:srgbClr val="000000"/>
              </a:solidFill>
              <a:effectLst/>
              <a:uLnTx/>
              <a:uFillTx/>
              <a:latin typeface="Gill Sans MT" panose="020B0502020104020203"/>
              <a:ea typeface="+mn-ea"/>
              <a:cs typeface="+mn-cs"/>
            </a:endParaRPr>
          </a:p>
        </p:txBody>
      </p:sp>
      <p:pic>
        <p:nvPicPr>
          <p:cNvPr id="21" name="Picture 20">
            <a:extLst>
              <a:ext uri="{FF2B5EF4-FFF2-40B4-BE49-F238E27FC236}">
                <a16:creationId xmlns:a16="http://schemas.microsoft.com/office/drawing/2014/main" id="{CAC0C500-0317-CA58-BE26-BEBEF7C37816}"/>
              </a:ext>
            </a:extLst>
          </p:cNvPr>
          <p:cNvPicPr>
            <a:picLocks noChangeAspect="1"/>
          </p:cNvPicPr>
          <p:nvPr/>
        </p:nvPicPr>
        <p:blipFill>
          <a:blip r:embed="rId2"/>
          <a:stretch>
            <a:fillRect/>
          </a:stretch>
        </p:blipFill>
        <p:spPr>
          <a:xfrm>
            <a:off x="259316" y="3102185"/>
            <a:ext cx="6050771" cy="3268463"/>
          </a:xfrm>
          <a:prstGeom prst="rect">
            <a:avLst/>
          </a:prstGeom>
        </p:spPr>
      </p:pic>
      <p:pic>
        <p:nvPicPr>
          <p:cNvPr id="23" name="Picture 22">
            <a:extLst>
              <a:ext uri="{FF2B5EF4-FFF2-40B4-BE49-F238E27FC236}">
                <a16:creationId xmlns:a16="http://schemas.microsoft.com/office/drawing/2014/main" id="{5B1E3EE2-5A54-8F43-7ACB-86249D209EEC}"/>
              </a:ext>
            </a:extLst>
          </p:cNvPr>
          <p:cNvPicPr>
            <a:picLocks noChangeAspect="1"/>
          </p:cNvPicPr>
          <p:nvPr/>
        </p:nvPicPr>
        <p:blipFill>
          <a:blip r:embed="rId3"/>
          <a:stretch>
            <a:fillRect/>
          </a:stretch>
        </p:blipFill>
        <p:spPr>
          <a:xfrm>
            <a:off x="6310087" y="3102185"/>
            <a:ext cx="5648805" cy="1108468"/>
          </a:xfrm>
          <a:prstGeom prst="rect">
            <a:avLst/>
          </a:prstGeom>
        </p:spPr>
      </p:pic>
      <p:sp>
        <p:nvSpPr>
          <p:cNvPr id="24" name="Rectangle 23">
            <a:extLst>
              <a:ext uri="{FF2B5EF4-FFF2-40B4-BE49-F238E27FC236}">
                <a16:creationId xmlns:a16="http://schemas.microsoft.com/office/drawing/2014/main" id="{A9DDE1F0-9AD9-37BA-6415-D1058328673B}"/>
              </a:ext>
            </a:extLst>
          </p:cNvPr>
          <p:cNvSpPr/>
          <p:nvPr/>
        </p:nvSpPr>
        <p:spPr>
          <a:xfrm>
            <a:off x="438150" y="5553075"/>
            <a:ext cx="4981575" cy="904875"/>
          </a:xfrm>
          <a:prstGeom prst="rect">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0DE4487A-11D2-0C23-2E67-9393D83C3C25}"/>
              </a:ext>
            </a:extLst>
          </p:cNvPr>
          <p:cNvSpPr/>
          <p:nvPr/>
        </p:nvSpPr>
        <p:spPr>
          <a:xfrm>
            <a:off x="6410326" y="3429000"/>
            <a:ext cx="5362574" cy="342900"/>
          </a:xfrm>
          <a:prstGeom prst="rect">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p14="http://schemas.microsoft.com/office/powerpoint/2010/main">
        <mc:Choice Requires="p14">
          <p:contentPart p14:bwMode="auto" r:id="rId4">
            <p14:nvContentPartPr>
              <p14:cNvPr id="31" name="Ink 30">
                <a:extLst>
                  <a:ext uri="{FF2B5EF4-FFF2-40B4-BE49-F238E27FC236}">
                    <a16:creationId xmlns:a16="http://schemas.microsoft.com/office/drawing/2014/main" id="{4C548413-6907-6770-BE6B-ECB699A2F0C9}"/>
                  </a:ext>
                </a:extLst>
              </p14:cNvPr>
              <p14:cNvContentPartPr/>
              <p14:nvPr/>
            </p14:nvContentPartPr>
            <p14:xfrm>
              <a:off x="6644520" y="3650100"/>
              <a:ext cx="2034720" cy="15120"/>
            </p14:xfrm>
          </p:contentPart>
        </mc:Choice>
        <mc:Fallback xmlns="">
          <p:pic>
            <p:nvPicPr>
              <p:cNvPr id="31" name="Ink 30">
                <a:extLst>
                  <a:ext uri="{FF2B5EF4-FFF2-40B4-BE49-F238E27FC236}">
                    <a16:creationId xmlns:a16="http://schemas.microsoft.com/office/drawing/2014/main" id="{4C548413-6907-6770-BE6B-ECB699A2F0C9}"/>
                  </a:ext>
                </a:extLst>
              </p:cNvPr>
              <p:cNvPicPr/>
              <p:nvPr/>
            </p:nvPicPr>
            <p:blipFill>
              <a:blip r:embed="rId5"/>
              <a:stretch>
                <a:fillRect/>
              </a:stretch>
            </p:blipFill>
            <p:spPr>
              <a:xfrm>
                <a:off x="6608520" y="3578100"/>
                <a:ext cx="2106360" cy="1587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32" name="Ink 31">
                <a:extLst>
                  <a:ext uri="{FF2B5EF4-FFF2-40B4-BE49-F238E27FC236}">
                    <a16:creationId xmlns:a16="http://schemas.microsoft.com/office/drawing/2014/main" id="{33F11B4A-81E0-6E98-AE06-CBDA496B6A20}"/>
                  </a:ext>
                </a:extLst>
              </p14:cNvPr>
              <p14:cNvContentPartPr/>
              <p14:nvPr/>
            </p14:nvContentPartPr>
            <p14:xfrm>
              <a:off x="830520" y="5622540"/>
              <a:ext cx="2890440" cy="54720"/>
            </p14:xfrm>
          </p:contentPart>
        </mc:Choice>
        <mc:Fallback xmlns="">
          <p:pic>
            <p:nvPicPr>
              <p:cNvPr id="32" name="Ink 31">
                <a:extLst>
                  <a:ext uri="{FF2B5EF4-FFF2-40B4-BE49-F238E27FC236}">
                    <a16:creationId xmlns:a16="http://schemas.microsoft.com/office/drawing/2014/main" id="{33F11B4A-81E0-6E98-AE06-CBDA496B6A20}"/>
                  </a:ext>
                </a:extLst>
              </p:cNvPr>
              <p:cNvPicPr/>
              <p:nvPr/>
            </p:nvPicPr>
            <p:blipFill>
              <a:blip r:embed="rId7"/>
              <a:stretch>
                <a:fillRect/>
              </a:stretch>
            </p:blipFill>
            <p:spPr>
              <a:xfrm>
                <a:off x="794520" y="5550540"/>
                <a:ext cx="2962080" cy="198360"/>
              </a:xfrm>
              <a:prstGeom prst="rect">
                <a:avLst/>
              </a:prstGeom>
            </p:spPr>
          </p:pic>
        </mc:Fallback>
      </mc:AlternateContent>
    </p:spTree>
    <p:extLst>
      <p:ext uri="{BB962C8B-B14F-4D97-AF65-F5344CB8AC3E}">
        <p14:creationId xmlns:p14="http://schemas.microsoft.com/office/powerpoint/2010/main" val="21704646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5"/>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5"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6393D3-B44D-3FA7-0F5B-05FF14D084B9}"/>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DCC65EDA-B64E-12B5-984D-F2D2C845A9AB}"/>
              </a:ext>
            </a:extLst>
          </p:cNvPr>
          <p:cNvSpPr/>
          <p:nvPr/>
        </p:nvSpPr>
        <p:spPr>
          <a:xfrm>
            <a:off x="0" y="1675"/>
            <a:ext cx="12192000" cy="6858000"/>
          </a:xfrm>
          <a:prstGeom prst="rect">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800" dirty="0">
              <a:latin typeface="Arial" panose="020B0604020202020204" pitchFamily="34" charset="0"/>
              <a:cs typeface="Arial" panose="020B0604020202020204" pitchFamily="34" charset="0"/>
            </a:endParaRPr>
          </a:p>
        </p:txBody>
      </p:sp>
      <p:grpSp>
        <p:nvGrpSpPr>
          <p:cNvPr id="2" name="Group 1">
            <a:extLst>
              <a:ext uri="{FF2B5EF4-FFF2-40B4-BE49-F238E27FC236}">
                <a16:creationId xmlns:a16="http://schemas.microsoft.com/office/drawing/2014/main" id="{F98D1D3D-716D-5DEE-B0B2-65721C9FDA29}"/>
              </a:ext>
            </a:extLst>
          </p:cNvPr>
          <p:cNvGrpSpPr/>
          <p:nvPr/>
        </p:nvGrpSpPr>
        <p:grpSpPr>
          <a:xfrm>
            <a:off x="351920" y="1346717"/>
            <a:ext cx="5483801" cy="456846"/>
            <a:chOff x="357966" y="2951177"/>
            <a:chExt cx="3656550" cy="1092351"/>
          </a:xfrm>
        </p:grpSpPr>
        <p:sp>
          <p:nvSpPr>
            <p:cNvPr id="3" name="Rectangle: Rounded Corners 2">
              <a:extLst>
                <a:ext uri="{FF2B5EF4-FFF2-40B4-BE49-F238E27FC236}">
                  <a16:creationId xmlns:a16="http://schemas.microsoft.com/office/drawing/2014/main" id="{893758EE-C599-51A3-4012-9B547B5FBE63}"/>
                </a:ext>
              </a:extLst>
            </p:cNvPr>
            <p:cNvSpPr/>
            <p:nvPr/>
          </p:nvSpPr>
          <p:spPr>
            <a:xfrm>
              <a:off x="357966" y="2951177"/>
              <a:ext cx="3656550" cy="1092351"/>
            </a:xfrm>
            <a:prstGeom prst="roundRect">
              <a:avLst>
                <a:gd name="adj" fmla="val 10000"/>
              </a:avLst>
            </a:prstGeom>
            <a:solidFill>
              <a:srgbClr val="C00000"/>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en-US"/>
            </a:p>
          </p:txBody>
        </p:sp>
        <p:sp>
          <p:nvSpPr>
            <p:cNvPr id="8" name="Rectangle: Rounded Corners 4">
              <a:extLst>
                <a:ext uri="{FF2B5EF4-FFF2-40B4-BE49-F238E27FC236}">
                  <a16:creationId xmlns:a16="http://schemas.microsoft.com/office/drawing/2014/main" id="{9B849740-F763-8680-DEB4-D9F6F270F27F}"/>
                </a:ext>
              </a:extLst>
            </p:cNvPr>
            <p:cNvSpPr txBox="1"/>
            <p:nvPr/>
          </p:nvSpPr>
          <p:spPr>
            <a:xfrm>
              <a:off x="389960" y="2983171"/>
              <a:ext cx="3592562" cy="102836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34290" tIns="22860" rIns="34290" bIns="22860" numCol="1" spcCol="1270" anchor="t" anchorCtr="0">
              <a:noAutofit/>
            </a:bodyPr>
            <a:lstStyle/>
            <a:p>
              <a:pPr marL="0" lvl="0" indent="0" algn="ctr" defTabSz="800100">
                <a:lnSpc>
                  <a:spcPct val="150000"/>
                </a:lnSpc>
                <a:spcBef>
                  <a:spcPct val="0"/>
                </a:spcBef>
                <a:spcAft>
                  <a:spcPct val="35000"/>
                </a:spcAft>
                <a:buNone/>
              </a:pPr>
              <a:r>
                <a:rPr lang="en-US" dirty="0"/>
                <a:t>HLA class I – CD8+ T Cell Epitopes Docking</a:t>
              </a:r>
              <a:r>
                <a:rPr lang="en-US" sz="1800" kern="1200" dirty="0"/>
                <a:t> </a:t>
              </a:r>
              <a:r>
                <a:rPr lang="en-US" dirty="0"/>
                <a:t>W</a:t>
              </a:r>
              <a:r>
                <a:rPr lang="en-US" sz="1800" kern="1200" dirty="0"/>
                <a:t>orkflow</a:t>
              </a:r>
            </a:p>
          </p:txBody>
        </p:sp>
      </p:grpSp>
      <p:grpSp>
        <p:nvGrpSpPr>
          <p:cNvPr id="9" name="Group 8">
            <a:extLst>
              <a:ext uri="{FF2B5EF4-FFF2-40B4-BE49-F238E27FC236}">
                <a16:creationId xmlns:a16="http://schemas.microsoft.com/office/drawing/2014/main" id="{4FBFD0C1-4D82-5CC9-605E-EEEE402585E9}"/>
              </a:ext>
            </a:extLst>
          </p:cNvPr>
          <p:cNvGrpSpPr/>
          <p:nvPr/>
        </p:nvGrpSpPr>
        <p:grpSpPr>
          <a:xfrm>
            <a:off x="4207235" y="3652662"/>
            <a:ext cx="971550" cy="908721"/>
            <a:chOff x="3824717" y="4171950"/>
            <a:chExt cx="971550" cy="908721"/>
          </a:xfrm>
        </p:grpSpPr>
        <p:pic>
          <p:nvPicPr>
            <p:cNvPr id="10" name="Picture 9">
              <a:extLst>
                <a:ext uri="{FF2B5EF4-FFF2-40B4-BE49-F238E27FC236}">
                  <a16:creationId xmlns:a16="http://schemas.microsoft.com/office/drawing/2014/main" id="{6235AD24-F6AC-5E13-6034-E8018B7741B0}"/>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13056" b="81389" l="34844" r="64844">
                          <a14:foregroundMark x1="37969" y1="60694" x2="36875" y2="29583"/>
                          <a14:foregroundMark x1="36875" y1="29583" x2="37734" y2="17639"/>
                          <a14:foregroundMark x1="37734" y1="17639" x2="41875" y2="15417"/>
                          <a14:foregroundMark x1="36094" y1="61528" x2="35156" y2="23056"/>
                          <a14:foregroundMark x1="35156" y1="23056" x2="36719" y2="16806"/>
                          <a14:foregroundMark x1="36719" y1="16806" x2="40938" y2="13611"/>
                          <a14:foregroundMark x1="40938" y1="13611" x2="45234" y2="13056"/>
                          <a14:foregroundMark x1="45234" y1="13056" x2="50156" y2="13333"/>
                          <a14:foregroundMark x1="36719" y1="15694" x2="34844" y2="27639"/>
                          <a14:foregroundMark x1="50625" y1="14028" x2="63438" y2="15417"/>
                          <a14:foregroundMark x1="63438" y1="15417" x2="64844" y2="22500"/>
                          <a14:foregroundMark x1="64844" y1="22500" x2="64141" y2="57500"/>
                          <a14:foregroundMark x1="56563" y1="36667" x2="56953" y2="35833"/>
                          <a14:foregroundMark x1="39688" y1="72778" x2="39688" y2="78889"/>
                          <a14:foregroundMark x1="43594" y1="75972" x2="44219" y2="78611"/>
                          <a14:foregroundMark x1="42969" y1="81389" x2="42969" y2="81389"/>
                          <a14:foregroundMark x1="45234" y1="74583" x2="45234" y2="74583"/>
                          <a14:foregroundMark x1="47578" y1="72361" x2="47578" y2="72361"/>
                          <a14:foregroundMark x1="51094" y1="74028" x2="51094" y2="74028"/>
                          <a14:foregroundMark x1="53047" y1="74444" x2="53047" y2="74444"/>
                          <a14:foregroundMark x1="58828" y1="73611" x2="58828" y2="73611"/>
                        </a14:backgroundRemoval>
                      </a14:imgEffect>
                    </a14:imgLayer>
                  </a14:imgProps>
                </a:ext>
              </a:extLst>
            </a:blip>
            <a:srcRect l="34766" t="12200" r="34531" b="17515"/>
            <a:stretch>
              <a:fillRect/>
            </a:stretch>
          </p:blipFill>
          <p:spPr>
            <a:xfrm>
              <a:off x="3955764" y="4246745"/>
              <a:ext cx="647614" cy="833926"/>
            </a:xfrm>
            <a:prstGeom prst="rect">
              <a:avLst/>
            </a:prstGeom>
          </p:spPr>
        </p:pic>
        <p:cxnSp>
          <p:nvCxnSpPr>
            <p:cNvPr id="11" name="Straight Arrow Connector 10">
              <a:extLst>
                <a:ext uri="{FF2B5EF4-FFF2-40B4-BE49-F238E27FC236}">
                  <a16:creationId xmlns:a16="http://schemas.microsoft.com/office/drawing/2014/main" id="{A3A418E2-F3CD-7468-35B8-8802404C7070}"/>
                </a:ext>
              </a:extLst>
            </p:cNvPr>
            <p:cNvCxnSpPr/>
            <p:nvPr/>
          </p:nvCxnSpPr>
          <p:spPr>
            <a:xfrm>
              <a:off x="3824717" y="4171950"/>
              <a:ext cx="971550" cy="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cxnSp>
        <p:nvCxnSpPr>
          <p:cNvPr id="12" name="Straight Arrow Connector 11">
            <a:extLst>
              <a:ext uri="{FF2B5EF4-FFF2-40B4-BE49-F238E27FC236}">
                <a16:creationId xmlns:a16="http://schemas.microsoft.com/office/drawing/2014/main" id="{8462DF69-BA55-7C80-770A-4639569AEF34}"/>
              </a:ext>
            </a:extLst>
          </p:cNvPr>
          <p:cNvCxnSpPr>
            <a:cxnSpLocks/>
          </p:cNvCxnSpPr>
          <p:nvPr/>
        </p:nvCxnSpPr>
        <p:spPr>
          <a:xfrm>
            <a:off x="5459849" y="3652662"/>
            <a:ext cx="850404" cy="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F7397E52-C242-2BEA-7905-1C540B667103}"/>
              </a:ext>
            </a:extLst>
          </p:cNvPr>
          <p:cNvCxnSpPr>
            <a:cxnSpLocks/>
          </p:cNvCxnSpPr>
          <p:nvPr/>
        </p:nvCxnSpPr>
        <p:spPr>
          <a:xfrm>
            <a:off x="6616954" y="3652662"/>
            <a:ext cx="981079" cy="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pic>
        <p:nvPicPr>
          <p:cNvPr id="14" name="Picture 13">
            <a:extLst>
              <a:ext uri="{FF2B5EF4-FFF2-40B4-BE49-F238E27FC236}">
                <a16:creationId xmlns:a16="http://schemas.microsoft.com/office/drawing/2014/main" id="{9B17657A-77E3-3A4A-CA8B-B8B196D76FFD}"/>
              </a:ext>
            </a:extLst>
          </p:cNvPr>
          <p:cNvPicPr>
            <a:picLocks noChangeAspect="1"/>
          </p:cNvPicPr>
          <p:nvPr/>
        </p:nvPicPr>
        <p:blipFill>
          <a:blip r:embed="rId5"/>
          <a:stretch>
            <a:fillRect/>
          </a:stretch>
        </p:blipFill>
        <p:spPr>
          <a:xfrm>
            <a:off x="5344707" y="3745521"/>
            <a:ext cx="1057298" cy="408286"/>
          </a:xfrm>
          <a:prstGeom prst="rect">
            <a:avLst/>
          </a:prstGeom>
        </p:spPr>
      </p:pic>
      <p:sp>
        <p:nvSpPr>
          <p:cNvPr id="15" name="TextBox 14">
            <a:extLst>
              <a:ext uri="{FF2B5EF4-FFF2-40B4-BE49-F238E27FC236}">
                <a16:creationId xmlns:a16="http://schemas.microsoft.com/office/drawing/2014/main" id="{486B1630-C5A5-F833-DEEC-86B0E6F6D293}"/>
              </a:ext>
            </a:extLst>
          </p:cNvPr>
          <p:cNvSpPr txBox="1"/>
          <p:nvPr/>
        </p:nvSpPr>
        <p:spPr>
          <a:xfrm>
            <a:off x="6616954" y="3228601"/>
            <a:ext cx="1294502" cy="430887"/>
          </a:xfrm>
          <a:prstGeom prst="rect">
            <a:avLst/>
          </a:prstGeom>
          <a:noFill/>
        </p:spPr>
        <p:txBody>
          <a:bodyPr wrap="square" rtlCol="0">
            <a:spAutoFit/>
          </a:bodyPr>
          <a:lstStyle/>
          <a:p>
            <a:r>
              <a:rPr lang="en-US" sz="1100" dirty="0"/>
              <a:t>Energy minimization</a:t>
            </a:r>
          </a:p>
        </p:txBody>
      </p:sp>
      <p:sp>
        <p:nvSpPr>
          <p:cNvPr id="16" name="TextBox 15">
            <a:extLst>
              <a:ext uri="{FF2B5EF4-FFF2-40B4-BE49-F238E27FC236}">
                <a16:creationId xmlns:a16="http://schemas.microsoft.com/office/drawing/2014/main" id="{C08A7768-55B4-810E-91C0-1140A940742D}"/>
              </a:ext>
            </a:extLst>
          </p:cNvPr>
          <p:cNvSpPr txBox="1"/>
          <p:nvPr/>
        </p:nvSpPr>
        <p:spPr>
          <a:xfrm>
            <a:off x="5429532" y="3221775"/>
            <a:ext cx="1294502" cy="430887"/>
          </a:xfrm>
          <a:prstGeom prst="rect">
            <a:avLst/>
          </a:prstGeom>
          <a:noFill/>
        </p:spPr>
        <p:txBody>
          <a:bodyPr wrap="square" rtlCol="0">
            <a:spAutoFit/>
          </a:bodyPr>
          <a:lstStyle/>
          <a:p>
            <a:r>
              <a:rPr lang="en-US" sz="1100" dirty="0"/>
              <a:t>Structure refinement</a:t>
            </a:r>
          </a:p>
        </p:txBody>
      </p:sp>
      <p:pic>
        <p:nvPicPr>
          <p:cNvPr id="17" name="Picture 16">
            <a:extLst>
              <a:ext uri="{FF2B5EF4-FFF2-40B4-BE49-F238E27FC236}">
                <a16:creationId xmlns:a16="http://schemas.microsoft.com/office/drawing/2014/main" id="{A81C88DA-AF5A-28BC-CF68-52638ED79F03}"/>
              </a:ext>
            </a:extLst>
          </p:cNvPr>
          <p:cNvPicPr>
            <a:picLocks noChangeAspect="1"/>
          </p:cNvPicPr>
          <p:nvPr/>
        </p:nvPicPr>
        <p:blipFill>
          <a:blip r:embed="rId6"/>
          <a:stretch>
            <a:fillRect/>
          </a:stretch>
        </p:blipFill>
        <p:spPr>
          <a:xfrm>
            <a:off x="6674855" y="3757408"/>
            <a:ext cx="865276" cy="562429"/>
          </a:xfrm>
          <a:prstGeom prst="rect">
            <a:avLst/>
          </a:prstGeom>
        </p:spPr>
      </p:pic>
      <p:sp>
        <p:nvSpPr>
          <p:cNvPr id="18" name="TextBox 17">
            <a:extLst>
              <a:ext uri="{FF2B5EF4-FFF2-40B4-BE49-F238E27FC236}">
                <a16:creationId xmlns:a16="http://schemas.microsoft.com/office/drawing/2014/main" id="{97741F9D-C4CC-669B-0C1D-A5BA7A4EBADF}"/>
              </a:ext>
            </a:extLst>
          </p:cNvPr>
          <p:cNvSpPr txBox="1"/>
          <p:nvPr/>
        </p:nvSpPr>
        <p:spPr>
          <a:xfrm>
            <a:off x="4165910" y="3050324"/>
            <a:ext cx="1294502" cy="600164"/>
          </a:xfrm>
          <a:prstGeom prst="rect">
            <a:avLst/>
          </a:prstGeom>
          <a:noFill/>
        </p:spPr>
        <p:txBody>
          <a:bodyPr wrap="square" rtlCol="0">
            <a:spAutoFit/>
          </a:bodyPr>
          <a:lstStyle/>
          <a:p>
            <a:r>
              <a:rPr lang="en-US" sz="1100" dirty="0"/>
              <a:t>Receptor and native peptide separation</a:t>
            </a:r>
          </a:p>
        </p:txBody>
      </p:sp>
      <p:pic>
        <p:nvPicPr>
          <p:cNvPr id="26" name="Picture 25" descr="A close-up of a molecule&#10;&#10;AI-generated content may be incorrect.">
            <a:extLst>
              <a:ext uri="{FF2B5EF4-FFF2-40B4-BE49-F238E27FC236}">
                <a16:creationId xmlns:a16="http://schemas.microsoft.com/office/drawing/2014/main" id="{F9356284-4811-DBDA-F5FF-CF6C329B28DF}"/>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51920" y="2477095"/>
            <a:ext cx="3874404" cy="2627330"/>
          </a:xfrm>
          <a:prstGeom prst="rect">
            <a:avLst/>
          </a:prstGeom>
        </p:spPr>
      </p:pic>
      <p:pic>
        <p:nvPicPr>
          <p:cNvPr id="39" name="Picture 38" descr="A close-up of a molecule&#10;&#10;AI-generated content may be incorrect.">
            <a:extLst>
              <a:ext uri="{FF2B5EF4-FFF2-40B4-BE49-F238E27FC236}">
                <a16:creationId xmlns:a16="http://schemas.microsoft.com/office/drawing/2014/main" id="{06B926A6-7916-00CA-0CE3-56BCF7B003A0}"/>
              </a:ext>
            </a:extLst>
          </p:cNvPr>
          <p:cNvPicPr>
            <a:picLocks noChangeAspect="1"/>
          </p:cNvPicPr>
          <p:nvPr/>
        </p:nvPicPr>
        <p:blipFill>
          <a:blip r:embed="rId8">
            <a:extLst>
              <a:ext uri="{28A0092B-C50C-407E-A947-70E740481C1C}">
                <a14:useLocalDpi xmlns:a14="http://schemas.microsoft.com/office/drawing/2010/main" val="0"/>
              </a:ext>
            </a:extLst>
          </a:blip>
          <a:srcRect l="21179" t="11933" r="23933" b="13194"/>
          <a:stretch>
            <a:fillRect/>
          </a:stretch>
        </p:blipFill>
        <p:spPr>
          <a:xfrm>
            <a:off x="8445602" y="2086107"/>
            <a:ext cx="2414735" cy="2233730"/>
          </a:xfrm>
          <a:prstGeom prst="rect">
            <a:avLst/>
          </a:prstGeom>
        </p:spPr>
      </p:pic>
      <p:pic>
        <p:nvPicPr>
          <p:cNvPr id="41" name="Picture 40">
            <a:extLst>
              <a:ext uri="{FF2B5EF4-FFF2-40B4-BE49-F238E27FC236}">
                <a16:creationId xmlns:a16="http://schemas.microsoft.com/office/drawing/2014/main" id="{4D7A40A4-AE3A-6341-CBCC-3E357D1528D0}"/>
              </a:ext>
            </a:extLst>
          </p:cNvPr>
          <p:cNvPicPr>
            <a:picLocks noChangeAspect="1"/>
          </p:cNvPicPr>
          <p:nvPr/>
        </p:nvPicPr>
        <p:blipFill>
          <a:blip r:embed="rId9">
            <a:extLst>
              <a:ext uri="{28A0092B-C50C-407E-A947-70E740481C1C}">
                <a14:useLocalDpi xmlns:a14="http://schemas.microsoft.com/office/drawing/2010/main" val="0"/>
              </a:ext>
            </a:extLst>
          </a:blip>
          <a:srcRect l="29470" t="43166" r="44124" b="45760"/>
          <a:stretch>
            <a:fillRect/>
          </a:stretch>
        </p:blipFill>
        <p:spPr>
          <a:xfrm>
            <a:off x="8848106" y="4449580"/>
            <a:ext cx="1609725" cy="474655"/>
          </a:xfrm>
          <a:prstGeom prst="rect">
            <a:avLst/>
          </a:prstGeom>
        </p:spPr>
      </p:pic>
      <p:sp>
        <p:nvSpPr>
          <p:cNvPr id="42" name="TextBox 41">
            <a:extLst>
              <a:ext uri="{FF2B5EF4-FFF2-40B4-BE49-F238E27FC236}">
                <a16:creationId xmlns:a16="http://schemas.microsoft.com/office/drawing/2014/main" id="{8EE12B1A-93EA-A0C6-939B-8ABA2E9E495F}"/>
              </a:ext>
            </a:extLst>
          </p:cNvPr>
          <p:cNvSpPr txBox="1"/>
          <p:nvPr/>
        </p:nvSpPr>
        <p:spPr>
          <a:xfrm>
            <a:off x="8848106" y="4869312"/>
            <a:ext cx="1609725" cy="369332"/>
          </a:xfrm>
          <a:prstGeom prst="rect">
            <a:avLst/>
          </a:prstGeom>
          <a:noFill/>
        </p:spPr>
        <p:txBody>
          <a:bodyPr wrap="square" rtlCol="0">
            <a:spAutoFit/>
          </a:bodyPr>
          <a:lstStyle/>
          <a:p>
            <a:r>
              <a:rPr lang="en-US" dirty="0">
                <a:solidFill>
                  <a:srgbClr val="C00000"/>
                </a:solidFill>
              </a:rPr>
              <a:t>Native peptide</a:t>
            </a:r>
          </a:p>
        </p:txBody>
      </p:sp>
      <p:sp>
        <p:nvSpPr>
          <p:cNvPr id="43" name="TextBox 42">
            <a:extLst>
              <a:ext uri="{FF2B5EF4-FFF2-40B4-BE49-F238E27FC236}">
                <a16:creationId xmlns:a16="http://schemas.microsoft.com/office/drawing/2014/main" id="{60BF6FC6-5CE9-06E3-9712-12FA5F594386}"/>
              </a:ext>
            </a:extLst>
          </p:cNvPr>
          <p:cNvSpPr txBox="1"/>
          <p:nvPr/>
        </p:nvSpPr>
        <p:spPr>
          <a:xfrm>
            <a:off x="9060873" y="1853997"/>
            <a:ext cx="1609725" cy="369332"/>
          </a:xfrm>
          <a:prstGeom prst="rect">
            <a:avLst/>
          </a:prstGeom>
          <a:noFill/>
        </p:spPr>
        <p:txBody>
          <a:bodyPr wrap="square" rtlCol="0">
            <a:spAutoFit/>
          </a:bodyPr>
          <a:lstStyle/>
          <a:p>
            <a:r>
              <a:rPr lang="en-US" dirty="0">
                <a:solidFill>
                  <a:srgbClr val="C00000"/>
                </a:solidFill>
              </a:rPr>
              <a:t>HLA class I</a:t>
            </a:r>
          </a:p>
        </p:txBody>
      </p:sp>
      <p:sp>
        <p:nvSpPr>
          <p:cNvPr id="44" name="TextBox 43">
            <a:extLst>
              <a:ext uri="{FF2B5EF4-FFF2-40B4-BE49-F238E27FC236}">
                <a16:creationId xmlns:a16="http://schemas.microsoft.com/office/drawing/2014/main" id="{D2E7F5C4-1864-CCD0-A48C-74C33CC3478C}"/>
              </a:ext>
            </a:extLst>
          </p:cNvPr>
          <p:cNvSpPr txBox="1"/>
          <p:nvPr/>
        </p:nvSpPr>
        <p:spPr>
          <a:xfrm>
            <a:off x="1484095" y="5053978"/>
            <a:ext cx="1609725" cy="646331"/>
          </a:xfrm>
          <a:prstGeom prst="rect">
            <a:avLst/>
          </a:prstGeom>
          <a:noFill/>
        </p:spPr>
        <p:txBody>
          <a:bodyPr wrap="square" rtlCol="0">
            <a:spAutoFit/>
          </a:bodyPr>
          <a:lstStyle/>
          <a:p>
            <a:pPr algn="ctr"/>
            <a:r>
              <a:rPr lang="en-US" dirty="0">
                <a:solidFill>
                  <a:srgbClr val="C00000"/>
                </a:solidFill>
              </a:rPr>
              <a:t>HLA – A1*</a:t>
            </a:r>
          </a:p>
          <a:p>
            <a:pPr algn="ctr"/>
            <a:r>
              <a:rPr lang="en-US" dirty="0">
                <a:solidFill>
                  <a:srgbClr val="C00000"/>
                </a:solidFill>
              </a:rPr>
              <a:t> (3BO8)</a:t>
            </a:r>
          </a:p>
        </p:txBody>
      </p:sp>
      <p:sp>
        <p:nvSpPr>
          <p:cNvPr id="45" name="TextBox 44">
            <a:extLst>
              <a:ext uri="{FF2B5EF4-FFF2-40B4-BE49-F238E27FC236}">
                <a16:creationId xmlns:a16="http://schemas.microsoft.com/office/drawing/2014/main" id="{81A07656-F5C8-778E-0065-0F27161D92FC}"/>
              </a:ext>
            </a:extLst>
          </p:cNvPr>
          <p:cNvSpPr txBox="1"/>
          <p:nvPr/>
        </p:nvSpPr>
        <p:spPr>
          <a:xfrm>
            <a:off x="9264005" y="6325937"/>
            <a:ext cx="2823219" cy="307777"/>
          </a:xfrm>
          <a:prstGeom prst="rect">
            <a:avLst/>
          </a:prstGeom>
          <a:noFill/>
        </p:spPr>
        <p:txBody>
          <a:bodyPr wrap="square" rtlCol="0">
            <a:spAutoFit/>
          </a:bodyPr>
          <a:lstStyle/>
          <a:p>
            <a:r>
              <a:rPr lang="en-US" sz="1400" dirty="0">
                <a:solidFill>
                  <a:srgbClr val="C00000"/>
                </a:solidFill>
              </a:rPr>
              <a:t>*</a:t>
            </a:r>
            <a:r>
              <a:rPr lang="en-US" sz="1400" dirty="0"/>
              <a:t>One of the 10 HLA Class I Alleles</a:t>
            </a:r>
          </a:p>
        </p:txBody>
      </p:sp>
      <p:grpSp>
        <p:nvGrpSpPr>
          <p:cNvPr id="19" name="Group 18">
            <a:extLst>
              <a:ext uri="{FF2B5EF4-FFF2-40B4-BE49-F238E27FC236}">
                <a16:creationId xmlns:a16="http://schemas.microsoft.com/office/drawing/2014/main" id="{9D630493-FD3D-9403-B9E7-B8B35B4D9B8C}"/>
              </a:ext>
            </a:extLst>
          </p:cNvPr>
          <p:cNvGrpSpPr/>
          <p:nvPr/>
        </p:nvGrpSpPr>
        <p:grpSpPr>
          <a:xfrm>
            <a:off x="3169060" y="136833"/>
            <a:ext cx="6950920" cy="723900"/>
            <a:chOff x="739738" y="344774"/>
            <a:chExt cx="9439576" cy="1042237"/>
          </a:xfrm>
        </p:grpSpPr>
        <p:sp>
          <p:nvSpPr>
            <p:cNvPr id="20" name="Rectangle: Rounded Corners 19">
              <a:extLst>
                <a:ext uri="{FF2B5EF4-FFF2-40B4-BE49-F238E27FC236}">
                  <a16:creationId xmlns:a16="http://schemas.microsoft.com/office/drawing/2014/main" id="{4607099A-8544-7E53-0323-25C036BA1EED}"/>
                </a:ext>
              </a:extLst>
            </p:cNvPr>
            <p:cNvSpPr/>
            <p:nvPr/>
          </p:nvSpPr>
          <p:spPr>
            <a:xfrm>
              <a:off x="739739" y="344774"/>
              <a:ext cx="8311794" cy="1042237"/>
            </a:xfrm>
            <a:prstGeom prst="roundRect">
              <a:avLst/>
            </a:prstGeom>
            <a:solidFill>
              <a:schemeClr val="bg1">
                <a:lumMod val="85000"/>
              </a:schemeClr>
            </a:solidFill>
            <a:ln>
              <a:no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en-US" sz="2000" dirty="0"/>
            </a:p>
          </p:txBody>
        </p:sp>
        <p:sp>
          <p:nvSpPr>
            <p:cNvPr id="21" name="Title 1">
              <a:extLst>
                <a:ext uri="{FF2B5EF4-FFF2-40B4-BE49-F238E27FC236}">
                  <a16:creationId xmlns:a16="http://schemas.microsoft.com/office/drawing/2014/main" id="{B8FF8AE1-240C-8C76-57CA-D0D7F45D4BC0}"/>
                </a:ext>
              </a:extLst>
            </p:cNvPr>
            <p:cNvSpPr txBox="1">
              <a:spLocks/>
            </p:cNvSpPr>
            <p:nvPr/>
          </p:nvSpPr>
          <p:spPr>
            <a:xfrm>
              <a:off x="739738" y="344774"/>
              <a:ext cx="9439576" cy="960044"/>
            </a:xfrm>
            <a:prstGeom prst="rect">
              <a:avLst/>
            </a:prstGeom>
            <a:noFill/>
            <a:ln w="12700" cap="flat" cmpd="sng" algn="ctr">
              <a:noFill/>
              <a:prstDash val="solid"/>
              <a:miter lim="800000"/>
            </a:ln>
          </p:spPr>
          <p:style>
            <a:lnRef idx="1">
              <a:schemeClr val="accent4"/>
            </a:lnRef>
            <a:fillRef idx="2">
              <a:schemeClr val="accent4"/>
            </a:fillRef>
            <a:effectRef idx="1">
              <a:schemeClr val="accent4"/>
            </a:effectRef>
            <a:fontRef idx="minor">
              <a:schemeClr val="dk1"/>
            </a:fontRef>
          </p:style>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l"/>
              <a:r>
                <a:rPr lang="en-US" sz="4000" dirty="0" err="1">
                  <a:solidFill>
                    <a:srgbClr val="C00000"/>
                  </a:solidFill>
                </a:rPr>
                <a:t>HPEPDock</a:t>
              </a:r>
              <a:r>
                <a:rPr lang="en-US" sz="4000" dirty="0">
                  <a:solidFill>
                    <a:srgbClr val="C00000"/>
                  </a:solidFill>
                </a:rPr>
                <a:t> Docking Analysis</a:t>
              </a:r>
            </a:p>
          </p:txBody>
        </p:sp>
      </p:grpSp>
    </p:spTree>
    <p:extLst>
      <p:ext uri="{BB962C8B-B14F-4D97-AF65-F5344CB8AC3E}">
        <p14:creationId xmlns:p14="http://schemas.microsoft.com/office/powerpoint/2010/main" val="27142172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3"/>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P spid="18" grpId="0"/>
      <p:bldP spid="42" grpId="0"/>
      <p:bldP spid="43"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20644BD-5B4D-C2E2-1B91-87CD86718B00}"/>
              </a:ext>
            </a:extLst>
          </p:cNvPr>
          <p:cNvSpPr/>
          <p:nvPr/>
        </p:nvSpPr>
        <p:spPr>
          <a:xfrm>
            <a:off x="0" y="1675"/>
            <a:ext cx="12192000" cy="6858000"/>
          </a:xfrm>
          <a:prstGeom prst="rect">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800" dirty="0">
              <a:latin typeface="Arial" panose="020B0604020202020204" pitchFamily="34" charset="0"/>
              <a:cs typeface="Arial" panose="020B0604020202020204" pitchFamily="34" charset="0"/>
            </a:endParaRPr>
          </a:p>
        </p:txBody>
      </p:sp>
      <p:grpSp>
        <p:nvGrpSpPr>
          <p:cNvPr id="6" name="Group 5">
            <a:extLst>
              <a:ext uri="{FF2B5EF4-FFF2-40B4-BE49-F238E27FC236}">
                <a16:creationId xmlns:a16="http://schemas.microsoft.com/office/drawing/2014/main" id="{DA9C6AD6-9ABA-4259-0CE1-21037BD007D3}"/>
              </a:ext>
            </a:extLst>
          </p:cNvPr>
          <p:cNvGrpSpPr/>
          <p:nvPr/>
        </p:nvGrpSpPr>
        <p:grpSpPr>
          <a:xfrm>
            <a:off x="351921" y="1048771"/>
            <a:ext cx="4230354" cy="456846"/>
            <a:chOff x="357966" y="2951177"/>
            <a:chExt cx="3656550" cy="1092351"/>
          </a:xfrm>
        </p:grpSpPr>
        <p:sp>
          <p:nvSpPr>
            <p:cNvPr id="7" name="Rectangle: Rounded Corners 6">
              <a:extLst>
                <a:ext uri="{FF2B5EF4-FFF2-40B4-BE49-F238E27FC236}">
                  <a16:creationId xmlns:a16="http://schemas.microsoft.com/office/drawing/2014/main" id="{E1E5DF2D-3D0C-FEAF-11BB-C232FF69B0F8}"/>
                </a:ext>
              </a:extLst>
            </p:cNvPr>
            <p:cNvSpPr/>
            <p:nvPr/>
          </p:nvSpPr>
          <p:spPr>
            <a:xfrm>
              <a:off x="357966" y="2951177"/>
              <a:ext cx="3656550" cy="1092351"/>
            </a:xfrm>
            <a:prstGeom prst="roundRect">
              <a:avLst>
                <a:gd name="adj" fmla="val 10000"/>
              </a:avLst>
            </a:prstGeom>
            <a:solidFill>
              <a:srgbClr val="C00000"/>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en-US"/>
            </a:p>
          </p:txBody>
        </p:sp>
        <p:sp>
          <p:nvSpPr>
            <p:cNvPr id="8" name="Rectangle: Rounded Corners 4">
              <a:extLst>
                <a:ext uri="{FF2B5EF4-FFF2-40B4-BE49-F238E27FC236}">
                  <a16:creationId xmlns:a16="http://schemas.microsoft.com/office/drawing/2014/main" id="{DDE88E75-6184-E5AF-D165-D4B5FDBFAF76}"/>
                </a:ext>
              </a:extLst>
            </p:cNvPr>
            <p:cNvSpPr txBox="1"/>
            <p:nvPr/>
          </p:nvSpPr>
          <p:spPr>
            <a:xfrm>
              <a:off x="389960" y="2983171"/>
              <a:ext cx="3592562" cy="102836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34290" tIns="22860" rIns="34290" bIns="22860" numCol="1" spcCol="1270" anchor="t" anchorCtr="0">
              <a:noAutofit/>
            </a:bodyPr>
            <a:lstStyle/>
            <a:p>
              <a:pPr marL="0" lvl="0" indent="0" algn="ctr" defTabSz="800100">
                <a:lnSpc>
                  <a:spcPct val="150000"/>
                </a:lnSpc>
                <a:spcBef>
                  <a:spcPct val="0"/>
                </a:spcBef>
                <a:spcAft>
                  <a:spcPct val="35000"/>
                </a:spcAft>
                <a:buNone/>
              </a:pPr>
              <a:r>
                <a:rPr lang="en-US" dirty="0"/>
                <a:t>HLA class I – CD8+ T Cell Epitopes Result</a:t>
              </a:r>
              <a:endParaRPr lang="en-US" sz="1800" kern="1200" dirty="0"/>
            </a:p>
          </p:txBody>
        </p:sp>
      </p:grpSp>
      <p:pic>
        <p:nvPicPr>
          <p:cNvPr id="9" name="Picture 8">
            <a:extLst>
              <a:ext uri="{FF2B5EF4-FFF2-40B4-BE49-F238E27FC236}">
                <a16:creationId xmlns:a16="http://schemas.microsoft.com/office/drawing/2014/main" id="{BD7403A5-72A5-FF65-2B12-61A84FB4D423}"/>
              </a:ext>
            </a:extLst>
          </p:cNvPr>
          <p:cNvPicPr>
            <a:picLocks noChangeAspect="1"/>
          </p:cNvPicPr>
          <p:nvPr/>
        </p:nvPicPr>
        <p:blipFill>
          <a:blip r:embed="rId2"/>
          <a:srcRect l="6570" t="-696" b="30879"/>
          <a:stretch>
            <a:fillRect/>
          </a:stretch>
        </p:blipFill>
        <p:spPr>
          <a:xfrm>
            <a:off x="5313772" y="1008037"/>
            <a:ext cx="6631082" cy="5715099"/>
          </a:xfrm>
          <a:prstGeom prst="rect">
            <a:avLst/>
          </a:prstGeom>
        </p:spPr>
      </p:pic>
      <p:sp>
        <p:nvSpPr>
          <p:cNvPr id="11" name="TextBox 10">
            <a:extLst>
              <a:ext uri="{FF2B5EF4-FFF2-40B4-BE49-F238E27FC236}">
                <a16:creationId xmlns:a16="http://schemas.microsoft.com/office/drawing/2014/main" id="{5A509B38-26A5-0FA9-97EF-294A3CFB8D03}"/>
              </a:ext>
            </a:extLst>
          </p:cNvPr>
          <p:cNvSpPr txBox="1"/>
          <p:nvPr/>
        </p:nvSpPr>
        <p:spPr>
          <a:xfrm>
            <a:off x="189619" y="2329786"/>
            <a:ext cx="5106255" cy="2862322"/>
          </a:xfrm>
          <a:prstGeom prst="rect">
            <a:avLst/>
          </a:prstGeom>
          <a:noFill/>
        </p:spPr>
        <p:txBody>
          <a:bodyPr wrap="square">
            <a:spAutoFit/>
          </a:bodyPr>
          <a:lstStyle/>
          <a:p>
            <a:r>
              <a:rPr lang="en-US" sz="1800" dirty="0"/>
              <a:t>Peptide 2 showed strongest binding:</a:t>
            </a:r>
          </a:p>
          <a:p>
            <a:pPr marL="285750" indent="-285750">
              <a:buFont typeface="Arial" panose="020B0604020202020204" pitchFamily="34" charset="0"/>
              <a:buChar char="•"/>
            </a:pPr>
            <a:r>
              <a:rPr lang="en-US" sz="1800" dirty="0"/>
              <a:t>FIIVFALTR (P2_1) &gt; native peptide in 9/10 alleles</a:t>
            </a:r>
          </a:p>
          <a:p>
            <a:pPr marL="285750" indent="-285750">
              <a:buFont typeface="Arial" panose="020B0604020202020204" pitchFamily="34" charset="0"/>
              <a:buChar char="•"/>
            </a:pPr>
            <a:r>
              <a:rPr lang="en-US" sz="1800" dirty="0"/>
              <a:t>DTKFIIVFA (P2_2) and TKFIIVFAL (P2_3) more than native peptide in 8</a:t>
            </a:r>
            <a:r>
              <a:rPr lang="en-US" dirty="0"/>
              <a:t> and </a:t>
            </a:r>
            <a:r>
              <a:rPr lang="en-US" sz="1800" dirty="0"/>
              <a:t>9 alleles.</a:t>
            </a:r>
          </a:p>
          <a:p>
            <a:endParaRPr lang="en-US" sz="1800" dirty="0"/>
          </a:p>
          <a:p>
            <a:r>
              <a:rPr lang="en-US" sz="1800" dirty="0"/>
              <a:t>Peptide 3 ranked second:</a:t>
            </a:r>
          </a:p>
          <a:p>
            <a:pPr marL="285750" indent="-285750">
              <a:buFont typeface="Arial" panose="020B0604020202020204" pitchFamily="34" charset="0"/>
              <a:buChar char="•"/>
            </a:pPr>
            <a:r>
              <a:rPr lang="en-US" sz="1800" dirty="0"/>
              <a:t> YLPVGPAVM (P3_1) strong against 5 alleles</a:t>
            </a:r>
          </a:p>
          <a:p>
            <a:endParaRPr lang="en-US" sz="1800" dirty="0"/>
          </a:p>
          <a:p>
            <a:r>
              <a:rPr lang="en-US" sz="1800" dirty="0"/>
              <a:t>Peptide 1 weakest:</a:t>
            </a:r>
          </a:p>
          <a:p>
            <a:pPr marL="285750" indent="-285750">
              <a:buFont typeface="Arial" panose="020B0604020202020204" pitchFamily="34" charset="0"/>
              <a:buChar char="•"/>
            </a:pPr>
            <a:r>
              <a:rPr lang="en-US" sz="1800" dirty="0"/>
              <a:t>GLDPALIIK (P1_1) strong only for HLA-C05</a:t>
            </a:r>
          </a:p>
        </p:txBody>
      </p:sp>
      <mc:AlternateContent xmlns:mc="http://schemas.openxmlformats.org/markup-compatibility/2006" xmlns:p14="http://schemas.microsoft.com/office/powerpoint/2010/main">
        <mc:Choice Requires="p14">
          <p:contentPart p14:bwMode="auto" r:id="rId3">
            <p14:nvContentPartPr>
              <p14:cNvPr id="13" name="Ink 12">
                <a:extLst>
                  <a:ext uri="{FF2B5EF4-FFF2-40B4-BE49-F238E27FC236}">
                    <a16:creationId xmlns:a16="http://schemas.microsoft.com/office/drawing/2014/main" id="{69FCE941-58AC-436D-3C3E-F2A1DAD452E1}"/>
                  </a:ext>
                </a:extLst>
              </p14:cNvPr>
              <p14:cNvContentPartPr/>
              <p14:nvPr/>
            </p14:nvContentPartPr>
            <p14:xfrm>
              <a:off x="5599157" y="2629978"/>
              <a:ext cx="318960" cy="30960"/>
            </p14:xfrm>
          </p:contentPart>
        </mc:Choice>
        <mc:Fallback xmlns="">
          <p:pic>
            <p:nvPicPr>
              <p:cNvPr id="13" name="Ink 12">
                <a:extLst>
                  <a:ext uri="{FF2B5EF4-FFF2-40B4-BE49-F238E27FC236}">
                    <a16:creationId xmlns:a16="http://schemas.microsoft.com/office/drawing/2014/main" id="{69FCE941-58AC-436D-3C3E-F2A1DAD452E1}"/>
                  </a:ext>
                </a:extLst>
              </p:cNvPr>
              <p:cNvPicPr/>
              <p:nvPr/>
            </p:nvPicPr>
            <p:blipFill>
              <a:blip r:embed="rId4"/>
              <a:stretch>
                <a:fillRect/>
              </a:stretch>
            </p:blipFill>
            <p:spPr>
              <a:xfrm>
                <a:off x="5563157" y="2558338"/>
                <a:ext cx="390600" cy="1746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4" name="Ink 13">
                <a:extLst>
                  <a:ext uri="{FF2B5EF4-FFF2-40B4-BE49-F238E27FC236}">
                    <a16:creationId xmlns:a16="http://schemas.microsoft.com/office/drawing/2014/main" id="{08EE3CCE-E0FC-98CE-C171-EAF68EC07F75}"/>
                  </a:ext>
                </a:extLst>
              </p14:cNvPr>
              <p14:cNvContentPartPr/>
              <p14:nvPr/>
            </p14:nvContentPartPr>
            <p14:xfrm>
              <a:off x="5599157" y="2761378"/>
              <a:ext cx="317880" cy="33480"/>
            </p14:xfrm>
          </p:contentPart>
        </mc:Choice>
        <mc:Fallback xmlns="">
          <p:pic>
            <p:nvPicPr>
              <p:cNvPr id="14" name="Ink 13">
                <a:extLst>
                  <a:ext uri="{FF2B5EF4-FFF2-40B4-BE49-F238E27FC236}">
                    <a16:creationId xmlns:a16="http://schemas.microsoft.com/office/drawing/2014/main" id="{08EE3CCE-E0FC-98CE-C171-EAF68EC07F75}"/>
                  </a:ext>
                </a:extLst>
              </p:cNvPr>
              <p:cNvPicPr/>
              <p:nvPr/>
            </p:nvPicPr>
            <p:blipFill>
              <a:blip r:embed="rId6"/>
              <a:stretch>
                <a:fillRect/>
              </a:stretch>
            </p:blipFill>
            <p:spPr>
              <a:xfrm>
                <a:off x="5563157" y="2689378"/>
                <a:ext cx="389520" cy="17712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5" name="Ink 14">
                <a:extLst>
                  <a:ext uri="{FF2B5EF4-FFF2-40B4-BE49-F238E27FC236}">
                    <a16:creationId xmlns:a16="http://schemas.microsoft.com/office/drawing/2014/main" id="{3D84BF84-0C3F-D4FF-F30B-7562C8DA5DB7}"/>
                  </a:ext>
                </a:extLst>
              </p14:cNvPr>
              <p14:cNvContentPartPr/>
              <p14:nvPr/>
            </p14:nvContentPartPr>
            <p14:xfrm>
              <a:off x="5609597" y="3840658"/>
              <a:ext cx="317520" cy="32760"/>
            </p14:xfrm>
          </p:contentPart>
        </mc:Choice>
        <mc:Fallback xmlns="">
          <p:pic>
            <p:nvPicPr>
              <p:cNvPr id="15" name="Ink 14">
                <a:extLst>
                  <a:ext uri="{FF2B5EF4-FFF2-40B4-BE49-F238E27FC236}">
                    <a16:creationId xmlns:a16="http://schemas.microsoft.com/office/drawing/2014/main" id="{3D84BF84-0C3F-D4FF-F30B-7562C8DA5DB7}"/>
                  </a:ext>
                </a:extLst>
              </p:cNvPr>
              <p:cNvPicPr/>
              <p:nvPr/>
            </p:nvPicPr>
            <p:blipFill>
              <a:blip r:embed="rId8"/>
              <a:stretch>
                <a:fillRect/>
              </a:stretch>
            </p:blipFill>
            <p:spPr>
              <a:xfrm>
                <a:off x="5573957" y="3769018"/>
                <a:ext cx="389160" cy="1764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7" name="Ink 16">
                <a:extLst>
                  <a:ext uri="{FF2B5EF4-FFF2-40B4-BE49-F238E27FC236}">
                    <a16:creationId xmlns:a16="http://schemas.microsoft.com/office/drawing/2014/main" id="{01F152EB-E72C-9C4F-6552-B8C4787D0DB9}"/>
                  </a:ext>
                </a:extLst>
              </p14:cNvPr>
              <p14:cNvContentPartPr/>
              <p14:nvPr/>
            </p14:nvContentPartPr>
            <p14:xfrm>
              <a:off x="5599157" y="1314898"/>
              <a:ext cx="349920" cy="10440"/>
            </p14:xfrm>
          </p:contentPart>
        </mc:Choice>
        <mc:Fallback xmlns="">
          <p:pic>
            <p:nvPicPr>
              <p:cNvPr id="17" name="Ink 16">
                <a:extLst>
                  <a:ext uri="{FF2B5EF4-FFF2-40B4-BE49-F238E27FC236}">
                    <a16:creationId xmlns:a16="http://schemas.microsoft.com/office/drawing/2014/main" id="{01F152EB-E72C-9C4F-6552-B8C4787D0DB9}"/>
                  </a:ext>
                </a:extLst>
              </p:cNvPr>
              <p:cNvPicPr/>
              <p:nvPr/>
            </p:nvPicPr>
            <p:blipFill>
              <a:blip r:embed="rId10"/>
              <a:stretch>
                <a:fillRect/>
              </a:stretch>
            </p:blipFill>
            <p:spPr>
              <a:xfrm>
                <a:off x="5563157" y="1242898"/>
                <a:ext cx="421560" cy="154080"/>
              </a:xfrm>
              <a:prstGeom prst="rect">
                <a:avLst/>
              </a:prstGeom>
            </p:spPr>
          </p:pic>
        </mc:Fallback>
      </mc:AlternateContent>
      <p:sp>
        <p:nvSpPr>
          <p:cNvPr id="18" name="Rectangle: Rounded Corners 17">
            <a:extLst>
              <a:ext uri="{FF2B5EF4-FFF2-40B4-BE49-F238E27FC236}">
                <a16:creationId xmlns:a16="http://schemas.microsoft.com/office/drawing/2014/main" id="{CDE3ED51-9C8E-E8FE-4493-CE8D552C9595}"/>
              </a:ext>
            </a:extLst>
          </p:cNvPr>
          <p:cNvSpPr/>
          <p:nvPr/>
        </p:nvSpPr>
        <p:spPr>
          <a:xfrm>
            <a:off x="9896047" y="1219200"/>
            <a:ext cx="590550" cy="231277"/>
          </a:xfrm>
          <a:prstGeom prst="roundRect">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p14="http://schemas.microsoft.com/office/powerpoint/2010/main">
        <mc:Choice Requires="p14">
          <p:contentPart p14:bwMode="auto" r:id="rId11">
            <p14:nvContentPartPr>
              <p14:cNvPr id="20" name="Ink 19">
                <a:extLst>
                  <a:ext uri="{FF2B5EF4-FFF2-40B4-BE49-F238E27FC236}">
                    <a16:creationId xmlns:a16="http://schemas.microsoft.com/office/drawing/2014/main" id="{445E5340-5861-1822-9F81-A464ACA286A2}"/>
                  </a:ext>
                </a:extLst>
              </p14:cNvPr>
              <p14:cNvContentPartPr/>
              <p14:nvPr/>
            </p14:nvContentPartPr>
            <p14:xfrm>
              <a:off x="5593020" y="2910900"/>
              <a:ext cx="343440" cy="360"/>
            </p14:xfrm>
          </p:contentPart>
        </mc:Choice>
        <mc:Fallback xmlns="">
          <p:pic>
            <p:nvPicPr>
              <p:cNvPr id="20" name="Ink 19">
                <a:extLst>
                  <a:ext uri="{FF2B5EF4-FFF2-40B4-BE49-F238E27FC236}">
                    <a16:creationId xmlns:a16="http://schemas.microsoft.com/office/drawing/2014/main" id="{445E5340-5861-1822-9F81-A464ACA286A2}"/>
                  </a:ext>
                </a:extLst>
              </p:cNvPr>
              <p:cNvPicPr/>
              <p:nvPr/>
            </p:nvPicPr>
            <p:blipFill>
              <a:blip r:embed="rId12"/>
              <a:stretch>
                <a:fillRect/>
              </a:stretch>
            </p:blipFill>
            <p:spPr>
              <a:xfrm>
                <a:off x="5557020" y="2838900"/>
                <a:ext cx="415080" cy="144000"/>
              </a:xfrm>
              <a:prstGeom prst="rect">
                <a:avLst/>
              </a:prstGeom>
            </p:spPr>
          </p:pic>
        </mc:Fallback>
      </mc:AlternateContent>
      <p:sp>
        <p:nvSpPr>
          <p:cNvPr id="21" name="Rectangle: Rounded Corners 20">
            <a:extLst>
              <a:ext uri="{FF2B5EF4-FFF2-40B4-BE49-F238E27FC236}">
                <a16:creationId xmlns:a16="http://schemas.microsoft.com/office/drawing/2014/main" id="{85C85BC5-FD31-AE8D-02D6-C5DAB3CF39EA}"/>
              </a:ext>
            </a:extLst>
          </p:cNvPr>
          <p:cNvSpPr/>
          <p:nvPr/>
        </p:nvSpPr>
        <p:spPr>
          <a:xfrm>
            <a:off x="5978610" y="2563581"/>
            <a:ext cx="2586270" cy="231277"/>
          </a:xfrm>
          <a:prstGeom prst="roundRect">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Rounded Corners 21">
            <a:extLst>
              <a:ext uri="{FF2B5EF4-FFF2-40B4-BE49-F238E27FC236}">
                <a16:creationId xmlns:a16="http://schemas.microsoft.com/office/drawing/2014/main" id="{7DA9CC8B-536A-1279-BE6F-5558FE1A5FFC}"/>
              </a:ext>
            </a:extLst>
          </p:cNvPr>
          <p:cNvSpPr/>
          <p:nvPr/>
        </p:nvSpPr>
        <p:spPr>
          <a:xfrm>
            <a:off x="8898187" y="2546841"/>
            <a:ext cx="2135573" cy="231277"/>
          </a:xfrm>
          <a:prstGeom prst="roundRect">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Rounded Corners 22">
            <a:extLst>
              <a:ext uri="{FF2B5EF4-FFF2-40B4-BE49-F238E27FC236}">
                <a16:creationId xmlns:a16="http://schemas.microsoft.com/office/drawing/2014/main" id="{B34C77AB-6781-2F35-A339-2BC996EED9E0}"/>
              </a:ext>
            </a:extLst>
          </p:cNvPr>
          <p:cNvSpPr/>
          <p:nvPr/>
        </p:nvSpPr>
        <p:spPr>
          <a:xfrm>
            <a:off x="5978610" y="2812463"/>
            <a:ext cx="1590575" cy="231277"/>
          </a:xfrm>
          <a:prstGeom prst="roundRect">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Rounded Corners 23">
            <a:extLst>
              <a:ext uri="{FF2B5EF4-FFF2-40B4-BE49-F238E27FC236}">
                <a16:creationId xmlns:a16="http://schemas.microsoft.com/office/drawing/2014/main" id="{5BC916BC-FA14-675E-C683-9EB13E0A29D9}"/>
              </a:ext>
            </a:extLst>
          </p:cNvPr>
          <p:cNvSpPr/>
          <p:nvPr/>
        </p:nvSpPr>
        <p:spPr>
          <a:xfrm>
            <a:off x="7923646" y="2803157"/>
            <a:ext cx="3110114" cy="240307"/>
          </a:xfrm>
          <a:prstGeom prst="roundRect">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Rounded Corners 24">
            <a:extLst>
              <a:ext uri="{FF2B5EF4-FFF2-40B4-BE49-F238E27FC236}">
                <a16:creationId xmlns:a16="http://schemas.microsoft.com/office/drawing/2014/main" id="{2FE5B7D2-40BF-453E-8331-02051ED2C147}"/>
              </a:ext>
            </a:extLst>
          </p:cNvPr>
          <p:cNvSpPr/>
          <p:nvPr/>
        </p:nvSpPr>
        <p:spPr>
          <a:xfrm>
            <a:off x="5978610" y="2683369"/>
            <a:ext cx="1590575" cy="231277"/>
          </a:xfrm>
          <a:prstGeom prst="roundRect">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Rounded Corners 25">
            <a:extLst>
              <a:ext uri="{FF2B5EF4-FFF2-40B4-BE49-F238E27FC236}">
                <a16:creationId xmlns:a16="http://schemas.microsoft.com/office/drawing/2014/main" id="{6CB91310-FAE8-3AD1-8CA1-B79D1143A2CF}"/>
              </a:ext>
            </a:extLst>
          </p:cNvPr>
          <p:cNvSpPr/>
          <p:nvPr/>
        </p:nvSpPr>
        <p:spPr>
          <a:xfrm>
            <a:off x="8919341" y="2674704"/>
            <a:ext cx="2132317" cy="240307"/>
          </a:xfrm>
          <a:prstGeom prst="roundRect">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Rounded Corners 26">
            <a:extLst>
              <a:ext uri="{FF2B5EF4-FFF2-40B4-BE49-F238E27FC236}">
                <a16:creationId xmlns:a16="http://schemas.microsoft.com/office/drawing/2014/main" id="{CAC2ABC5-89C8-F029-2B94-7554D46CE3DC}"/>
              </a:ext>
            </a:extLst>
          </p:cNvPr>
          <p:cNvSpPr/>
          <p:nvPr/>
        </p:nvSpPr>
        <p:spPr>
          <a:xfrm>
            <a:off x="7902492" y="2673757"/>
            <a:ext cx="722882" cy="231277"/>
          </a:xfrm>
          <a:prstGeom prst="roundRect">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Rounded Corners 28">
            <a:extLst>
              <a:ext uri="{FF2B5EF4-FFF2-40B4-BE49-F238E27FC236}">
                <a16:creationId xmlns:a16="http://schemas.microsoft.com/office/drawing/2014/main" id="{FBCECDE4-B1B0-976F-69A6-C365B6605165}"/>
              </a:ext>
            </a:extLst>
          </p:cNvPr>
          <p:cNvSpPr/>
          <p:nvPr/>
        </p:nvSpPr>
        <p:spPr>
          <a:xfrm>
            <a:off x="6461477" y="3749947"/>
            <a:ext cx="624840" cy="231277"/>
          </a:xfrm>
          <a:prstGeom prst="roundRect">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Rounded Corners 29">
            <a:extLst>
              <a:ext uri="{FF2B5EF4-FFF2-40B4-BE49-F238E27FC236}">
                <a16:creationId xmlns:a16="http://schemas.microsoft.com/office/drawing/2014/main" id="{B09C8D9D-C067-C8D7-58D2-F0ABBA456BF7}"/>
              </a:ext>
            </a:extLst>
          </p:cNvPr>
          <p:cNvSpPr/>
          <p:nvPr/>
        </p:nvSpPr>
        <p:spPr>
          <a:xfrm>
            <a:off x="7921602" y="3756639"/>
            <a:ext cx="624840" cy="231277"/>
          </a:xfrm>
          <a:prstGeom prst="roundRect">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Rounded Corners 30">
            <a:extLst>
              <a:ext uri="{FF2B5EF4-FFF2-40B4-BE49-F238E27FC236}">
                <a16:creationId xmlns:a16="http://schemas.microsoft.com/office/drawing/2014/main" id="{DDFC3E4F-3CA0-481C-C0C6-FF17210803DF}"/>
              </a:ext>
            </a:extLst>
          </p:cNvPr>
          <p:cNvSpPr/>
          <p:nvPr/>
        </p:nvSpPr>
        <p:spPr>
          <a:xfrm>
            <a:off x="9360658" y="3756638"/>
            <a:ext cx="1690999" cy="231277"/>
          </a:xfrm>
          <a:prstGeom prst="roundRect">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39515955-F444-C57B-DA96-276D49F571F6}"/>
              </a:ext>
            </a:extLst>
          </p:cNvPr>
          <p:cNvGrpSpPr/>
          <p:nvPr/>
        </p:nvGrpSpPr>
        <p:grpSpPr>
          <a:xfrm>
            <a:off x="3169060" y="136833"/>
            <a:ext cx="6950920" cy="723900"/>
            <a:chOff x="739738" y="344774"/>
            <a:chExt cx="9439576" cy="1042237"/>
          </a:xfrm>
        </p:grpSpPr>
        <p:sp>
          <p:nvSpPr>
            <p:cNvPr id="12" name="Rectangle: Rounded Corners 11">
              <a:extLst>
                <a:ext uri="{FF2B5EF4-FFF2-40B4-BE49-F238E27FC236}">
                  <a16:creationId xmlns:a16="http://schemas.microsoft.com/office/drawing/2014/main" id="{C142893B-A8C1-804A-A514-4C6D3378EF28}"/>
                </a:ext>
              </a:extLst>
            </p:cNvPr>
            <p:cNvSpPr/>
            <p:nvPr/>
          </p:nvSpPr>
          <p:spPr>
            <a:xfrm>
              <a:off x="739739" y="344774"/>
              <a:ext cx="8311794" cy="1042237"/>
            </a:xfrm>
            <a:prstGeom prst="roundRect">
              <a:avLst/>
            </a:prstGeom>
            <a:solidFill>
              <a:schemeClr val="bg1">
                <a:lumMod val="85000"/>
              </a:schemeClr>
            </a:solidFill>
            <a:ln>
              <a:no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en-US" sz="2000" dirty="0"/>
            </a:p>
          </p:txBody>
        </p:sp>
        <p:sp>
          <p:nvSpPr>
            <p:cNvPr id="16" name="Title 1">
              <a:extLst>
                <a:ext uri="{FF2B5EF4-FFF2-40B4-BE49-F238E27FC236}">
                  <a16:creationId xmlns:a16="http://schemas.microsoft.com/office/drawing/2014/main" id="{A28486B9-C27C-3A34-BF8F-58A3152FBCCE}"/>
                </a:ext>
              </a:extLst>
            </p:cNvPr>
            <p:cNvSpPr txBox="1">
              <a:spLocks/>
            </p:cNvSpPr>
            <p:nvPr/>
          </p:nvSpPr>
          <p:spPr>
            <a:xfrm>
              <a:off x="739738" y="344774"/>
              <a:ext cx="9439576" cy="960044"/>
            </a:xfrm>
            <a:prstGeom prst="rect">
              <a:avLst/>
            </a:prstGeom>
            <a:noFill/>
            <a:ln w="12700" cap="flat" cmpd="sng" algn="ctr">
              <a:noFill/>
              <a:prstDash val="solid"/>
              <a:miter lim="800000"/>
            </a:ln>
          </p:spPr>
          <p:style>
            <a:lnRef idx="1">
              <a:schemeClr val="accent4"/>
            </a:lnRef>
            <a:fillRef idx="2">
              <a:schemeClr val="accent4"/>
            </a:fillRef>
            <a:effectRef idx="1">
              <a:schemeClr val="accent4"/>
            </a:effectRef>
            <a:fontRef idx="minor">
              <a:schemeClr val="dk1"/>
            </a:fontRef>
          </p:style>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l"/>
              <a:r>
                <a:rPr lang="en-US" sz="4000" dirty="0" err="1">
                  <a:solidFill>
                    <a:srgbClr val="C00000"/>
                  </a:solidFill>
                </a:rPr>
                <a:t>HPEPDock</a:t>
              </a:r>
              <a:r>
                <a:rPr lang="en-US" sz="4000" dirty="0">
                  <a:solidFill>
                    <a:srgbClr val="C00000"/>
                  </a:solidFill>
                </a:rPr>
                <a:t> Docking Analysis</a:t>
              </a:r>
            </a:p>
          </p:txBody>
        </p:sp>
      </p:grpSp>
    </p:spTree>
    <p:extLst>
      <p:ext uri="{BB962C8B-B14F-4D97-AF65-F5344CB8AC3E}">
        <p14:creationId xmlns:p14="http://schemas.microsoft.com/office/powerpoint/2010/main" val="41435957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nodeType="clickEffect">
                                  <p:stCondLst>
                                    <p:cond delay="0"/>
                                  </p:stCondLst>
                                  <p:childTnLst>
                                    <p:set>
                                      <p:cBhvr>
                                        <p:cTn id="14" dur="1" fill="hold">
                                          <p:stCondLst>
                                            <p:cond delay="0"/>
                                          </p:stCondLst>
                                        </p:cTn>
                                        <p:tgtEl>
                                          <p:spTgt spid="13"/>
                                        </p:tgtEl>
                                        <p:attrNameLst>
                                          <p:attrName>style.visibility</p:attrName>
                                        </p:attrNameLst>
                                      </p:cBhvr>
                                      <p:to>
                                        <p:strVal val="hidden"/>
                                      </p:to>
                                    </p:set>
                                  </p:childTnLst>
                                </p:cTn>
                              </p:par>
                              <p:par>
                                <p:cTn id="15" presetID="1" presetClass="exit" presetSubtype="0" fill="hold" grpId="1" nodeType="withEffect">
                                  <p:stCondLst>
                                    <p:cond delay="0"/>
                                  </p:stCondLst>
                                  <p:childTnLst>
                                    <p:set>
                                      <p:cBhvr>
                                        <p:cTn id="16" dur="1" fill="hold">
                                          <p:stCondLst>
                                            <p:cond delay="0"/>
                                          </p:stCondLst>
                                        </p:cTn>
                                        <p:tgtEl>
                                          <p:spTgt spid="21"/>
                                        </p:tgtEl>
                                        <p:attrNameLst>
                                          <p:attrName>style.visibility</p:attrName>
                                        </p:attrNameLst>
                                      </p:cBhvr>
                                      <p:to>
                                        <p:strVal val="hidden"/>
                                      </p:to>
                                    </p:set>
                                  </p:childTnLst>
                                </p:cTn>
                              </p:par>
                              <p:par>
                                <p:cTn id="17" presetID="1" presetClass="exit" presetSubtype="0" fill="hold" grpId="1" nodeType="withEffect">
                                  <p:stCondLst>
                                    <p:cond delay="0"/>
                                  </p:stCondLst>
                                  <p:childTnLst>
                                    <p:set>
                                      <p:cBhvr>
                                        <p:cTn id="18" dur="1" fill="hold">
                                          <p:stCondLst>
                                            <p:cond delay="0"/>
                                          </p:stCondLst>
                                        </p:cTn>
                                        <p:tgtEl>
                                          <p:spTgt spid="22"/>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xit" presetSubtype="0" fill="hold" nodeType="clickEffect">
                                  <p:stCondLst>
                                    <p:cond delay="0"/>
                                  </p:stCondLst>
                                  <p:childTnLst>
                                    <p:set>
                                      <p:cBhvr>
                                        <p:cTn id="32" dur="1" fill="hold">
                                          <p:stCondLst>
                                            <p:cond delay="0"/>
                                          </p:stCondLst>
                                        </p:cTn>
                                        <p:tgtEl>
                                          <p:spTgt spid="14"/>
                                        </p:tgtEl>
                                        <p:attrNameLst>
                                          <p:attrName>style.visibility</p:attrName>
                                        </p:attrNameLst>
                                      </p:cBhvr>
                                      <p:to>
                                        <p:strVal val="hidden"/>
                                      </p:to>
                                    </p:set>
                                  </p:childTnLst>
                                </p:cTn>
                              </p:par>
                              <p:par>
                                <p:cTn id="33" presetID="1" presetClass="exit" presetSubtype="0" fill="hold" grpId="1" nodeType="withEffect">
                                  <p:stCondLst>
                                    <p:cond delay="0"/>
                                  </p:stCondLst>
                                  <p:childTnLst>
                                    <p:set>
                                      <p:cBhvr>
                                        <p:cTn id="34" dur="1" fill="hold">
                                          <p:stCondLst>
                                            <p:cond delay="0"/>
                                          </p:stCondLst>
                                        </p:cTn>
                                        <p:tgtEl>
                                          <p:spTgt spid="25"/>
                                        </p:tgtEl>
                                        <p:attrNameLst>
                                          <p:attrName>style.visibility</p:attrName>
                                        </p:attrNameLst>
                                      </p:cBhvr>
                                      <p:to>
                                        <p:strVal val="hidden"/>
                                      </p:to>
                                    </p:set>
                                  </p:childTnLst>
                                </p:cTn>
                              </p:par>
                              <p:par>
                                <p:cTn id="35" presetID="1" presetClass="exit" presetSubtype="0" fill="hold" grpId="1" nodeType="withEffect">
                                  <p:stCondLst>
                                    <p:cond delay="0"/>
                                  </p:stCondLst>
                                  <p:childTnLst>
                                    <p:set>
                                      <p:cBhvr>
                                        <p:cTn id="36" dur="1" fill="hold">
                                          <p:stCondLst>
                                            <p:cond delay="0"/>
                                          </p:stCondLst>
                                        </p:cTn>
                                        <p:tgtEl>
                                          <p:spTgt spid="27"/>
                                        </p:tgtEl>
                                        <p:attrNameLst>
                                          <p:attrName>style.visibility</p:attrName>
                                        </p:attrNameLst>
                                      </p:cBhvr>
                                      <p:to>
                                        <p:strVal val="hidden"/>
                                      </p:to>
                                    </p:set>
                                  </p:childTnLst>
                                </p:cTn>
                              </p:par>
                              <p:par>
                                <p:cTn id="37" presetID="1" presetClass="exit" presetSubtype="0" fill="hold" grpId="1" nodeType="withEffect">
                                  <p:stCondLst>
                                    <p:cond delay="0"/>
                                  </p:stCondLst>
                                  <p:childTnLst>
                                    <p:set>
                                      <p:cBhvr>
                                        <p:cTn id="38" dur="1" fill="hold">
                                          <p:stCondLst>
                                            <p:cond delay="0"/>
                                          </p:stCondLst>
                                        </p:cTn>
                                        <p:tgtEl>
                                          <p:spTgt spid="26"/>
                                        </p:tgtEl>
                                        <p:attrNameLst>
                                          <p:attrName>style.visibility</p:attrName>
                                        </p:attrNameLst>
                                      </p:cBhvr>
                                      <p:to>
                                        <p:strVal val="hidden"/>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0"/>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3"/>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4"/>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xit" presetSubtype="0" fill="hold" nodeType="clickEffect">
                                  <p:stCondLst>
                                    <p:cond delay="0"/>
                                  </p:stCondLst>
                                  <p:childTnLst>
                                    <p:set>
                                      <p:cBhvr>
                                        <p:cTn id="50" dur="1" fill="hold">
                                          <p:stCondLst>
                                            <p:cond delay="0"/>
                                          </p:stCondLst>
                                        </p:cTn>
                                        <p:tgtEl>
                                          <p:spTgt spid="20"/>
                                        </p:tgtEl>
                                        <p:attrNameLst>
                                          <p:attrName>style.visibility</p:attrName>
                                        </p:attrNameLst>
                                      </p:cBhvr>
                                      <p:to>
                                        <p:strVal val="hidden"/>
                                      </p:to>
                                    </p:set>
                                  </p:childTnLst>
                                </p:cTn>
                              </p:par>
                              <p:par>
                                <p:cTn id="51" presetID="1" presetClass="exit" presetSubtype="0" fill="hold" grpId="1" nodeType="withEffect">
                                  <p:stCondLst>
                                    <p:cond delay="0"/>
                                  </p:stCondLst>
                                  <p:childTnLst>
                                    <p:set>
                                      <p:cBhvr>
                                        <p:cTn id="52" dur="1" fill="hold">
                                          <p:stCondLst>
                                            <p:cond delay="0"/>
                                          </p:stCondLst>
                                        </p:cTn>
                                        <p:tgtEl>
                                          <p:spTgt spid="23"/>
                                        </p:tgtEl>
                                        <p:attrNameLst>
                                          <p:attrName>style.visibility</p:attrName>
                                        </p:attrNameLst>
                                      </p:cBhvr>
                                      <p:to>
                                        <p:strVal val="hidden"/>
                                      </p:to>
                                    </p:set>
                                  </p:childTnLst>
                                </p:cTn>
                              </p:par>
                              <p:par>
                                <p:cTn id="53" presetID="1" presetClass="exit" presetSubtype="0" fill="hold" grpId="1" nodeType="withEffect">
                                  <p:stCondLst>
                                    <p:cond delay="0"/>
                                  </p:stCondLst>
                                  <p:childTnLst>
                                    <p:set>
                                      <p:cBhvr>
                                        <p:cTn id="54" dur="1" fill="hold">
                                          <p:stCondLst>
                                            <p:cond delay="0"/>
                                          </p:stCondLst>
                                        </p:cTn>
                                        <p:tgtEl>
                                          <p:spTgt spid="24"/>
                                        </p:tgtEl>
                                        <p:attrNameLst>
                                          <p:attrName>style.visibility</p:attrName>
                                        </p:attrNameLst>
                                      </p:cBhvr>
                                      <p:to>
                                        <p:strVal val="hidden"/>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15"/>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29"/>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30"/>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31"/>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xit" presetSubtype="0" fill="hold" nodeType="clickEffect">
                                  <p:stCondLst>
                                    <p:cond delay="0"/>
                                  </p:stCondLst>
                                  <p:childTnLst>
                                    <p:set>
                                      <p:cBhvr>
                                        <p:cTn id="68" dur="1" fill="hold">
                                          <p:stCondLst>
                                            <p:cond delay="0"/>
                                          </p:stCondLst>
                                        </p:cTn>
                                        <p:tgtEl>
                                          <p:spTgt spid="15"/>
                                        </p:tgtEl>
                                        <p:attrNameLst>
                                          <p:attrName>style.visibility</p:attrName>
                                        </p:attrNameLst>
                                      </p:cBhvr>
                                      <p:to>
                                        <p:strVal val="hidden"/>
                                      </p:to>
                                    </p:set>
                                  </p:childTnLst>
                                </p:cTn>
                              </p:par>
                              <p:par>
                                <p:cTn id="69" presetID="1" presetClass="exit" presetSubtype="0" fill="hold" grpId="1" nodeType="withEffect">
                                  <p:stCondLst>
                                    <p:cond delay="0"/>
                                  </p:stCondLst>
                                  <p:childTnLst>
                                    <p:set>
                                      <p:cBhvr>
                                        <p:cTn id="70" dur="1" fill="hold">
                                          <p:stCondLst>
                                            <p:cond delay="0"/>
                                          </p:stCondLst>
                                        </p:cTn>
                                        <p:tgtEl>
                                          <p:spTgt spid="29"/>
                                        </p:tgtEl>
                                        <p:attrNameLst>
                                          <p:attrName>style.visibility</p:attrName>
                                        </p:attrNameLst>
                                      </p:cBhvr>
                                      <p:to>
                                        <p:strVal val="hidden"/>
                                      </p:to>
                                    </p:set>
                                  </p:childTnLst>
                                </p:cTn>
                              </p:par>
                              <p:par>
                                <p:cTn id="71" presetID="1" presetClass="exit" presetSubtype="0" fill="hold" grpId="1" nodeType="withEffect">
                                  <p:stCondLst>
                                    <p:cond delay="0"/>
                                  </p:stCondLst>
                                  <p:childTnLst>
                                    <p:set>
                                      <p:cBhvr>
                                        <p:cTn id="72" dur="1" fill="hold">
                                          <p:stCondLst>
                                            <p:cond delay="0"/>
                                          </p:stCondLst>
                                        </p:cTn>
                                        <p:tgtEl>
                                          <p:spTgt spid="30"/>
                                        </p:tgtEl>
                                        <p:attrNameLst>
                                          <p:attrName>style.visibility</p:attrName>
                                        </p:attrNameLst>
                                      </p:cBhvr>
                                      <p:to>
                                        <p:strVal val="hidden"/>
                                      </p:to>
                                    </p:set>
                                  </p:childTnLst>
                                </p:cTn>
                              </p:par>
                              <p:par>
                                <p:cTn id="73" presetID="1" presetClass="exit" presetSubtype="0" fill="hold" grpId="1" nodeType="withEffect">
                                  <p:stCondLst>
                                    <p:cond delay="0"/>
                                  </p:stCondLst>
                                  <p:childTnLst>
                                    <p:set>
                                      <p:cBhvr>
                                        <p:cTn id="74" dur="1" fill="hold">
                                          <p:stCondLst>
                                            <p:cond delay="0"/>
                                          </p:stCondLst>
                                        </p:cTn>
                                        <p:tgtEl>
                                          <p:spTgt spid="31"/>
                                        </p:tgtEl>
                                        <p:attrNameLst>
                                          <p:attrName>style.visibility</p:attrName>
                                        </p:attrNameLst>
                                      </p:cBhvr>
                                      <p:to>
                                        <p:strVal val="hidden"/>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17"/>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18"/>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xit" presetSubtype="0" fill="hold" nodeType="clickEffect">
                                  <p:stCondLst>
                                    <p:cond delay="0"/>
                                  </p:stCondLst>
                                  <p:childTnLst>
                                    <p:set>
                                      <p:cBhvr>
                                        <p:cTn id="84" dur="1" fill="hold">
                                          <p:stCondLst>
                                            <p:cond delay="0"/>
                                          </p:stCondLst>
                                        </p:cTn>
                                        <p:tgtEl>
                                          <p:spTgt spid="17"/>
                                        </p:tgtEl>
                                        <p:attrNameLst>
                                          <p:attrName>style.visibility</p:attrName>
                                        </p:attrNameLst>
                                      </p:cBhvr>
                                      <p:to>
                                        <p:strVal val="hidden"/>
                                      </p:to>
                                    </p:set>
                                  </p:childTnLst>
                                </p:cTn>
                              </p:par>
                              <p:par>
                                <p:cTn id="85" presetID="1" presetClass="exit" presetSubtype="0" fill="hold" grpId="1" nodeType="withEffect">
                                  <p:stCondLst>
                                    <p:cond delay="0"/>
                                  </p:stCondLst>
                                  <p:childTnLst>
                                    <p:set>
                                      <p:cBhvr>
                                        <p:cTn id="86" dur="1" fill="hold">
                                          <p:stCondLst>
                                            <p:cond delay="0"/>
                                          </p:stCondLst>
                                        </p:cTn>
                                        <p:tgtEl>
                                          <p:spTgt spid="1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8" grpId="1" animBg="1"/>
      <p:bldP spid="21" grpId="0" animBg="1"/>
      <p:bldP spid="21" grpId="1" animBg="1"/>
      <p:bldP spid="22" grpId="0" animBg="1"/>
      <p:bldP spid="22" grpId="1" animBg="1"/>
      <p:bldP spid="23" grpId="0" animBg="1"/>
      <p:bldP spid="23" grpId="1" animBg="1"/>
      <p:bldP spid="24" grpId="0" animBg="1"/>
      <p:bldP spid="24" grpId="1" animBg="1"/>
      <p:bldP spid="25" grpId="0" animBg="1"/>
      <p:bldP spid="25" grpId="1" animBg="1"/>
      <p:bldP spid="26" grpId="0" animBg="1"/>
      <p:bldP spid="26" grpId="1" animBg="1"/>
      <p:bldP spid="27" grpId="0" animBg="1"/>
      <p:bldP spid="27" grpId="1" animBg="1"/>
      <p:bldP spid="29" grpId="0" animBg="1"/>
      <p:bldP spid="29" grpId="1" animBg="1"/>
      <p:bldP spid="30" grpId="0" animBg="1"/>
      <p:bldP spid="30" grpId="1" animBg="1"/>
      <p:bldP spid="31" grpId="0" animBg="1"/>
      <p:bldP spid="31" grpId="1"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3AF72-AF94-055F-4FDB-EB681981BC03}"/>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08DEADDB-28F9-E20A-F88D-2132E0962BC2}"/>
              </a:ext>
            </a:extLst>
          </p:cNvPr>
          <p:cNvSpPr/>
          <p:nvPr/>
        </p:nvSpPr>
        <p:spPr>
          <a:xfrm>
            <a:off x="0" y="1675"/>
            <a:ext cx="12192000" cy="6858000"/>
          </a:xfrm>
          <a:prstGeom prst="rect">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800" dirty="0">
              <a:latin typeface="Arial" panose="020B0604020202020204" pitchFamily="34" charset="0"/>
              <a:cs typeface="Arial" panose="020B0604020202020204" pitchFamily="34" charset="0"/>
            </a:endParaRPr>
          </a:p>
        </p:txBody>
      </p:sp>
      <p:grpSp>
        <p:nvGrpSpPr>
          <p:cNvPr id="2" name="Group 1">
            <a:extLst>
              <a:ext uri="{FF2B5EF4-FFF2-40B4-BE49-F238E27FC236}">
                <a16:creationId xmlns:a16="http://schemas.microsoft.com/office/drawing/2014/main" id="{8FDED27C-651B-E85D-BCB4-22D343D89842}"/>
              </a:ext>
            </a:extLst>
          </p:cNvPr>
          <p:cNvGrpSpPr/>
          <p:nvPr/>
        </p:nvGrpSpPr>
        <p:grpSpPr>
          <a:xfrm>
            <a:off x="351921" y="1048771"/>
            <a:ext cx="4230354" cy="456846"/>
            <a:chOff x="357966" y="2951177"/>
            <a:chExt cx="3656550" cy="1092351"/>
          </a:xfrm>
        </p:grpSpPr>
        <p:sp>
          <p:nvSpPr>
            <p:cNvPr id="3" name="Rectangle: Rounded Corners 2">
              <a:extLst>
                <a:ext uri="{FF2B5EF4-FFF2-40B4-BE49-F238E27FC236}">
                  <a16:creationId xmlns:a16="http://schemas.microsoft.com/office/drawing/2014/main" id="{4DF9341B-7241-2F40-B152-F171D1E293AB}"/>
                </a:ext>
              </a:extLst>
            </p:cNvPr>
            <p:cNvSpPr/>
            <p:nvPr/>
          </p:nvSpPr>
          <p:spPr>
            <a:xfrm>
              <a:off x="357966" y="2951177"/>
              <a:ext cx="3656550" cy="1092351"/>
            </a:xfrm>
            <a:prstGeom prst="roundRect">
              <a:avLst>
                <a:gd name="adj" fmla="val 10000"/>
              </a:avLst>
            </a:prstGeom>
            <a:solidFill>
              <a:srgbClr val="C00000"/>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en-US"/>
            </a:p>
          </p:txBody>
        </p:sp>
        <p:sp>
          <p:nvSpPr>
            <p:cNvPr id="8" name="Rectangle: Rounded Corners 4">
              <a:extLst>
                <a:ext uri="{FF2B5EF4-FFF2-40B4-BE49-F238E27FC236}">
                  <a16:creationId xmlns:a16="http://schemas.microsoft.com/office/drawing/2014/main" id="{39C8C3F0-0CA6-CFB2-3AC7-6B1A2C4F1D9C}"/>
                </a:ext>
              </a:extLst>
            </p:cNvPr>
            <p:cNvSpPr txBox="1"/>
            <p:nvPr/>
          </p:nvSpPr>
          <p:spPr>
            <a:xfrm>
              <a:off x="389960" y="2983171"/>
              <a:ext cx="3592562" cy="102836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34290" tIns="22860" rIns="34290" bIns="22860" numCol="1" spcCol="1270" anchor="t" anchorCtr="0">
              <a:noAutofit/>
            </a:bodyPr>
            <a:lstStyle/>
            <a:p>
              <a:pPr marL="0" lvl="0" indent="0" algn="ctr" defTabSz="800100">
                <a:lnSpc>
                  <a:spcPct val="150000"/>
                </a:lnSpc>
                <a:spcBef>
                  <a:spcPct val="0"/>
                </a:spcBef>
                <a:spcAft>
                  <a:spcPct val="35000"/>
                </a:spcAft>
                <a:buNone/>
              </a:pPr>
              <a:r>
                <a:rPr lang="en-US" dirty="0"/>
                <a:t>HLA class II – Peptide Docking</a:t>
              </a:r>
              <a:r>
                <a:rPr lang="en-US" sz="1800" kern="1200" dirty="0"/>
                <a:t> </a:t>
              </a:r>
              <a:r>
                <a:rPr lang="en-US" dirty="0"/>
                <a:t>W</a:t>
              </a:r>
              <a:r>
                <a:rPr lang="en-US" sz="1800" kern="1200" dirty="0"/>
                <a:t>orkflow</a:t>
              </a:r>
            </a:p>
          </p:txBody>
        </p:sp>
      </p:grpSp>
      <p:grpSp>
        <p:nvGrpSpPr>
          <p:cNvPr id="9" name="Group 8">
            <a:extLst>
              <a:ext uri="{FF2B5EF4-FFF2-40B4-BE49-F238E27FC236}">
                <a16:creationId xmlns:a16="http://schemas.microsoft.com/office/drawing/2014/main" id="{2CC35D7C-582C-BEE6-3F75-3F4ED615BC0D}"/>
              </a:ext>
            </a:extLst>
          </p:cNvPr>
          <p:cNvGrpSpPr/>
          <p:nvPr/>
        </p:nvGrpSpPr>
        <p:grpSpPr>
          <a:xfrm>
            <a:off x="3898350" y="3793761"/>
            <a:ext cx="971550" cy="908721"/>
            <a:chOff x="3824717" y="4171950"/>
            <a:chExt cx="971550" cy="908721"/>
          </a:xfrm>
        </p:grpSpPr>
        <p:pic>
          <p:nvPicPr>
            <p:cNvPr id="10" name="Picture 9">
              <a:extLst>
                <a:ext uri="{FF2B5EF4-FFF2-40B4-BE49-F238E27FC236}">
                  <a16:creationId xmlns:a16="http://schemas.microsoft.com/office/drawing/2014/main" id="{0D07131A-6FFE-33AF-F9C9-2C621769A71C}"/>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13056" b="81389" l="34844" r="64844">
                          <a14:foregroundMark x1="37969" y1="60694" x2="36875" y2="29583"/>
                          <a14:foregroundMark x1="36875" y1="29583" x2="37734" y2="17639"/>
                          <a14:foregroundMark x1="37734" y1="17639" x2="41875" y2="15417"/>
                          <a14:foregroundMark x1="36094" y1="61528" x2="35156" y2="23056"/>
                          <a14:foregroundMark x1="35156" y1="23056" x2="36719" y2="16806"/>
                          <a14:foregroundMark x1="36719" y1="16806" x2="40938" y2="13611"/>
                          <a14:foregroundMark x1="40938" y1="13611" x2="45234" y2="13056"/>
                          <a14:foregroundMark x1="45234" y1="13056" x2="50156" y2="13333"/>
                          <a14:foregroundMark x1="36719" y1="15694" x2="34844" y2="27639"/>
                          <a14:foregroundMark x1="50625" y1="14028" x2="63438" y2="15417"/>
                          <a14:foregroundMark x1="63438" y1="15417" x2="64844" y2="22500"/>
                          <a14:foregroundMark x1="64844" y1="22500" x2="64141" y2="57500"/>
                          <a14:foregroundMark x1="56563" y1="36667" x2="56953" y2="35833"/>
                          <a14:foregroundMark x1="39688" y1="72778" x2="39688" y2="78889"/>
                          <a14:foregroundMark x1="43594" y1="75972" x2="44219" y2="78611"/>
                          <a14:foregroundMark x1="42969" y1="81389" x2="42969" y2="81389"/>
                          <a14:foregroundMark x1="45234" y1="74583" x2="45234" y2="74583"/>
                          <a14:foregroundMark x1="47578" y1="72361" x2="47578" y2="72361"/>
                          <a14:foregroundMark x1="51094" y1="74028" x2="51094" y2="74028"/>
                          <a14:foregroundMark x1="53047" y1="74444" x2="53047" y2="74444"/>
                          <a14:foregroundMark x1="58828" y1="73611" x2="58828" y2="73611"/>
                        </a14:backgroundRemoval>
                      </a14:imgEffect>
                    </a14:imgLayer>
                  </a14:imgProps>
                </a:ext>
              </a:extLst>
            </a:blip>
            <a:srcRect l="34766" t="12200" r="34531" b="17515"/>
            <a:stretch>
              <a:fillRect/>
            </a:stretch>
          </p:blipFill>
          <p:spPr>
            <a:xfrm>
              <a:off x="3955764" y="4246745"/>
              <a:ext cx="647614" cy="833926"/>
            </a:xfrm>
            <a:prstGeom prst="rect">
              <a:avLst/>
            </a:prstGeom>
          </p:spPr>
        </p:pic>
        <p:cxnSp>
          <p:nvCxnSpPr>
            <p:cNvPr id="11" name="Straight Arrow Connector 10">
              <a:extLst>
                <a:ext uri="{FF2B5EF4-FFF2-40B4-BE49-F238E27FC236}">
                  <a16:creationId xmlns:a16="http://schemas.microsoft.com/office/drawing/2014/main" id="{6C1F4FED-6AE7-CC2B-278B-87AD7C3615F6}"/>
                </a:ext>
              </a:extLst>
            </p:cNvPr>
            <p:cNvCxnSpPr/>
            <p:nvPr/>
          </p:nvCxnSpPr>
          <p:spPr>
            <a:xfrm>
              <a:off x="3824717" y="4171950"/>
              <a:ext cx="971550" cy="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cxnSp>
        <p:nvCxnSpPr>
          <p:cNvPr id="12" name="Straight Arrow Connector 11">
            <a:extLst>
              <a:ext uri="{FF2B5EF4-FFF2-40B4-BE49-F238E27FC236}">
                <a16:creationId xmlns:a16="http://schemas.microsoft.com/office/drawing/2014/main" id="{803471AE-686C-9D82-1390-82A1DD30552D}"/>
              </a:ext>
            </a:extLst>
          </p:cNvPr>
          <p:cNvCxnSpPr>
            <a:cxnSpLocks/>
          </p:cNvCxnSpPr>
          <p:nvPr/>
        </p:nvCxnSpPr>
        <p:spPr>
          <a:xfrm>
            <a:off x="5150964" y="3793761"/>
            <a:ext cx="850404" cy="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8FDFBEBF-6DED-48FE-ADDE-7C7449FDD133}"/>
              </a:ext>
            </a:extLst>
          </p:cNvPr>
          <p:cNvCxnSpPr>
            <a:cxnSpLocks/>
          </p:cNvCxnSpPr>
          <p:nvPr/>
        </p:nvCxnSpPr>
        <p:spPr>
          <a:xfrm>
            <a:off x="6308069" y="3793761"/>
            <a:ext cx="981079" cy="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pic>
        <p:nvPicPr>
          <p:cNvPr id="14" name="Picture 13">
            <a:extLst>
              <a:ext uri="{FF2B5EF4-FFF2-40B4-BE49-F238E27FC236}">
                <a16:creationId xmlns:a16="http://schemas.microsoft.com/office/drawing/2014/main" id="{7506AEF4-3BD6-4BDA-012E-69A455C3AD1B}"/>
              </a:ext>
            </a:extLst>
          </p:cNvPr>
          <p:cNvPicPr>
            <a:picLocks noChangeAspect="1"/>
          </p:cNvPicPr>
          <p:nvPr/>
        </p:nvPicPr>
        <p:blipFill>
          <a:blip r:embed="rId4"/>
          <a:stretch>
            <a:fillRect/>
          </a:stretch>
        </p:blipFill>
        <p:spPr>
          <a:xfrm>
            <a:off x="5035822" y="3886620"/>
            <a:ext cx="1057298" cy="408286"/>
          </a:xfrm>
          <a:prstGeom prst="rect">
            <a:avLst/>
          </a:prstGeom>
        </p:spPr>
      </p:pic>
      <p:sp>
        <p:nvSpPr>
          <p:cNvPr id="15" name="TextBox 14">
            <a:extLst>
              <a:ext uri="{FF2B5EF4-FFF2-40B4-BE49-F238E27FC236}">
                <a16:creationId xmlns:a16="http://schemas.microsoft.com/office/drawing/2014/main" id="{2BD4217B-839B-A5F9-294C-C213AFAE45F8}"/>
              </a:ext>
            </a:extLst>
          </p:cNvPr>
          <p:cNvSpPr txBox="1"/>
          <p:nvPr/>
        </p:nvSpPr>
        <p:spPr>
          <a:xfrm>
            <a:off x="6308069" y="3369700"/>
            <a:ext cx="1294502" cy="430887"/>
          </a:xfrm>
          <a:prstGeom prst="rect">
            <a:avLst/>
          </a:prstGeom>
          <a:noFill/>
        </p:spPr>
        <p:txBody>
          <a:bodyPr wrap="square" rtlCol="0">
            <a:spAutoFit/>
          </a:bodyPr>
          <a:lstStyle/>
          <a:p>
            <a:r>
              <a:rPr lang="en-US" sz="1100" dirty="0"/>
              <a:t>Energy minimization</a:t>
            </a:r>
          </a:p>
        </p:txBody>
      </p:sp>
      <p:sp>
        <p:nvSpPr>
          <p:cNvPr id="16" name="TextBox 15">
            <a:extLst>
              <a:ext uri="{FF2B5EF4-FFF2-40B4-BE49-F238E27FC236}">
                <a16:creationId xmlns:a16="http://schemas.microsoft.com/office/drawing/2014/main" id="{378A1C1C-F38C-C967-C547-BC6EC42A5BBB}"/>
              </a:ext>
            </a:extLst>
          </p:cNvPr>
          <p:cNvSpPr txBox="1"/>
          <p:nvPr/>
        </p:nvSpPr>
        <p:spPr>
          <a:xfrm>
            <a:off x="5120647" y="3362874"/>
            <a:ext cx="1294502" cy="430887"/>
          </a:xfrm>
          <a:prstGeom prst="rect">
            <a:avLst/>
          </a:prstGeom>
          <a:noFill/>
        </p:spPr>
        <p:txBody>
          <a:bodyPr wrap="square" rtlCol="0">
            <a:spAutoFit/>
          </a:bodyPr>
          <a:lstStyle/>
          <a:p>
            <a:r>
              <a:rPr lang="en-US" sz="1100" dirty="0"/>
              <a:t>Structure refinement</a:t>
            </a:r>
          </a:p>
        </p:txBody>
      </p:sp>
      <p:pic>
        <p:nvPicPr>
          <p:cNvPr id="17" name="Picture 16">
            <a:extLst>
              <a:ext uri="{FF2B5EF4-FFF2-40B4-BE49-F238E27FC236}">
                <a16:creationId xmlns:a16="http://schemas.microsoft.com/office/drawing/2014/main" id="{0FFF41F4-41C8-DF26-5A42-8D49A5638C8A}"/>
              </a:ext>
            </a:extLst>
          </p:cNvPr>
          <p:cNvPicPr>
            <a:picLocks noChangeAspect="1"/>
          </p:cNvPicPr>
          <p:nvPr/>
        </p:nvPicPr>
        <p:blipFill>
          <a:blip r:embed="rId5"/>
          <a:stretch>
            <a:fillRect/>
          </a:stretch>
        </p:blipFill>
        <p:spPr>
          <a:xfrm>
            <a:off x="6365970" y="3898507"/>
            <a:ext cx="865276" cy="562429"/>
          </a:xfrm>
          <a:prstGeom prst="rect">
            <a:avLst/>
          </a:prstGeom>
        </p:spPr>
      </p:pic>
      <p:sp>
        <p:nvSpPr>
          <p:cNvPr id="18" name="TextBox 17">
            <a:extLst>
              <a:ext uri="{FF2B5EF4-FFF2-40B4-BE49-F238E27FC236}">
                <a16:creationId xmlns:a16="http://schemas.microsoft.com/office/drawing/2014/main" id="{95EFB9FC-3183-7F46-F122-121FFDD5DAA6}"/>
              </a:ext>
            </a:extLst>
          </p:cNvPr>
          <p:cNvSpPr txBox="1"/>
          <p:nvPr/>
        </p:nvSpPr>
        <p:spPr>
          <a:xfrm>
            <a:off x="3857025" y="3191423"/>
            <a:ext cx="1294502" cy="600164"/>
          </a:xfrm>
          <a:prstGeom prst="rect">
            <a:avLst/>
          </a:prstGeom>
          <a:noFill/>
        </p:spPr>
        <p:txBody>
          <a:bodyPr wrap="square" rtlCol="0">
            <a:spAutoFit/>
          </a:bodyPr>
          <a:lstStyle/>
          <a:p>
            <a:r>
              <a:rPr lang="en-US" sz="1100" dirty="0"/>
              <a:t>Receptor and native protein separation</a:t>
            </a:r>
          </a:p>
        </p:txBody>
      </p:sp>
      <p:pic>
        <p:nvPicPr>
          <p:cNvPr id="20" name="Picture 19" descr="A close-up of a molecule&#10;&#10;AI-generated content may be incorrect.">
            <a:extLst>
              <a:ext uri="{FF2B5EF4-FFF2-40B4-BE49-F238E27FC236}">
                <a16:creationId xmlns:a16="http://schemas.microsoft.com/office/drawing/2014/main" id="{3C9284BD-E4FD-6C26-7893-E3BFC61BE4D8}"/>
              </a:ext>
            </a:extLst>
          </p:cNvPr>
          <p:cNvPicPr>
            <a:picLocks noChangeAspect="1"/>
          </p:cNvPicPr>
          <p:nvPr/>
        </p:nvPicPr>
        <p:blipFill>
          <a:blip r:embed="rId6">
            <a:extLst>
              <a:ext uri="{28A0092B-C50C-407E-A947-70E740481C1C}">
                <a14:useLocalDpi xmlns:a14="http://schemas.microsoft.com/office/drawing/2010/main" val="0"/>
              </a:ext>
            </a:extLst>
          </a:blip>
          <a:srcRect l="30289" t="12246" r="38359" b="12687"/>
          <a:stretch>
            <a:fillRect/>
          </a:stretch>
        </p:blipFill>
        <p:spPr>
          <a:xfrm>
            <a:off x="944910" y="2649498"/>
            <a:ext cx="2418522" cy="2302178"/>
          </a:xfrm>
          <a:prstGeom prst="rect">
            <a:avLst/>
          </a:prstGeom>
        </p:spPr>
      </p:pic>
      <p:pic>
        <p:nvPicPr>
          <p:cNvPr id="22" name="Picture 21" descr="A close-up of a molecule&#10;&#10;AI-generated content may be incorrect.">
            <a:extLst>
              <a:ext uri="{FF2B5EF4-FFF2-40B4-BE49-F238E27FC236}">
                <a16:creationId xmlns:a16="http://schemas.microsoft.com/office/drawing/2014/main" id="{83B48CCC-9D44-0E13-08D1-2DB7CCE663FF}"/>
              </a:ext>
            </a:extLst>
          </p:cNvPr>
          <p:cNvPicPr>
            <a:picLocks noChangeAspect="1"/>
          </p:cNvPicPr>
          <p:nvPr/>
        </p:nvPicPr>
        <p:blipFill>
          <a:blip r:embed="rId7">
            <a:extLst>
              <a:ext uri="{28A0092B-C50C-407E-A947-70E740481C1C}">
                <a14:useLocalDpi xmlns:a14="http://schemas.microsoft.com/office/drawing/2010/main" val="0"/>
              </a:ext>
            </a:extLst>
          </a:blip>
          <a:srcRect l="31636" t="13680" r="38281" b="14235"/>
          <a:stretch>
            <a:fillRect/>
          </a:stretch>
        </p:blipFill>
        <p:spPr>
          <a:xfrm>
            <a:off x="8172364" y="2200357"/>
            <a:ext cx="2440646" cy="2325034"/>
          </a:xfrm>
          <a:prstGeom prst="rect">
            <a:avLst/>
          </a:prstGeom>
        </p:spPr>
      </p:pic>
      <p:pic>
        <p:nvPicPr>
          <p:cNvPr id="24" name="Picture 23" descr="A green line in the dark&#10;&#10;AI-generated content may be incorrect.">
            <a:extLst>
              <a:ext uri="{FF2B5EF4-FFF2-40B4-BE49-F238E27FC236}">
                <a16:creationId xmlns:a16="http://schemas.microsoft.com/office/drawing/2014/main" id="{F56422E8-BB43-7BBB-28CC-08A4DB55A872}"/>
              </a:ext>
            </a:extLst>
          </p:cNvPr>
          <p:cNvPicPr>
            <a:picLocks noChangeAspect="1"/>
          </p:cNvPicPr>
          <p:nvPr/>
        </p:nvPicPr>
        <p:blipFill>
          <a:blip r:embed="rId8">
            <a:extLst>
              <a:ext uri="{28A0092B-C50C-407E-A947-70E740481C1C}">
                <a14:useLocalDpi xmlns:a14="http://schemas.microsoft.com/office/drawing/2010/main" val="0"/>
              </a:ext>
            </a:extLst>
          </a:blip>
          <a:srcRect l="29922" t="46656" r="41541" b="37608"/>
          <a:stretch>
            <a:fillRect/>
          </a:stretch>
        </p:blipFill>
        <p:spPr>
          <a:xfrm>
            <a:off x="8306836" y="4809587"/>
            <a:ext cx="2171701" cy="487759"/>
          </a:xfrm>
          <a:prstGeom prst="rect">
            <a:avLst/>
          </a:prstGeom>
        </p:spPr>
      </p:pic>
      <p:sp>
        <p:nvSpPr>
          <p:cNvPr id="25" name="TextBox 24">
            <a:extLst>
              <a:ext uri="{FF2B5EF4-FFF2-40B4-BE49-F238E27FC236}">
                <a16:creationId xmlns:a16="http://schemas.microsoft.com/office/drawing/2014/main" id="{1F690A31-0BDB-720D-6D2D-4A199232495E}"/>
              </a:ext>
            </a:extLst>
          </p:cNvPr>
          <p:cNvSpPr txBox="1"/>
          <p:nvPr/>
        </p:nvSpPr>
        <p:spPr>
          <a:xfrm>
            <a:off x="8691858" y="5112680"/>
            <a:ext cx="1609725" cy="369332"/>
          </a:xfrm>
          <a:prstGeom prst="rect">
            <a:avLst/>
          </a:prstGeom>
          <a:noFill/>
        </p:spPr>
        <p:txBody>
          <a:bodyPr wrap="square" rtlCol="0">
            <a:spAutoFit/>
          </a:bodyPr>
          <a:lstStyle/>
          <a:p>
            <a:r>
              <a:rPr lang="en-US" dirty="0">
                <a:solidFill>
                  <a:srgbClr val="C00000"/>
                </a:solidFill>
              </a:rPr>
              <a:t>Native peptide</a:t>
            </a:r>
          </a:p>
        </p:txBody>
      </p:sp>
      <p:sp>
        <p:nvSpPr>
          <p:cNvPr id="26" name="TextBox 25">
            <a:extLst>
              <a:ext uri="{FF2B5EF4-FFF2-40B4-BE49-F238E27FC236}">
                <a16:creationId xmlns:a16="http://schemas.microsoft.com/office/drawing/2014/main" id="{802E8036-2E42-EC09-5E7D-64825E810709}"/>
              </a:ext>
            </a:extLst>
          </p:cNvPr>
          <p:cNvSpPr txBox="1"/>
          <p:nvPr/>
        </p:nvSpPr>
        <p:spPr>
          <a:xfrm>
            <a:off x="8868812" y="1864145"/>
            <a:ext cx="1609725" cy="369332"/>
          </a:xfrm>
          <a:prstGeom prst="rect">
            <a:avLst/>
          </a:prstGeom>
          <a:noFill/>
        </p:spPr>
        <p:txBody>
          <a:bodyPr wrap="square" rtlCol="0">
            <a:spAutoFit/>
          </a:bodyPr>
          <a:lstStyle/>
          <a:p>
            <a:r>
              <a:rPr lang="en-US" dirty="0">
                <a:solidFill>
                  <a:srgbClr val="C00000"/>
                </a:solidFill>
              </a:rPr>
              <a:t>HLA class II</a:t>
            </a:r>
          </a:p>
        </p:txBody>
      </p:sp>
      <p:sp>
        <p:nvSpPr>
          <p:cNvPr id="27" name="TextBox 26">
            <a:extLst>
              <a:ext uri="{FF2B5EF4-FFF2-40B4-BE49-F238E27FC236}">
                <a16:creationId xmlns:a16="http://schemas.microsoft.com/office/drawing/2014/main" id="{AA52B232-9DF6-D674-2C96-D95F4A6F5660}"/>
              </a:ext>
            </a:extLst>
          </p:cNvPr>
          <p:cNvSpPr txBox="1"/>
          <p:nvPr/>
        </p:nvSpPr>
        <p:spPr>
          <a:xfrm>
            <a:off x="1287017" y="5084801"/>
            <a:ext cx="1609725" cy="646331"/>
          </a:xfrm>
          <a:prstGeom prst="rect">
            <a:avLst/>
          </a:prstGeom>
          <a:noFill/>
        </p:spPr>
        <p:txBody>
          <a:bodyPr wrap="square" rtlCol="0">
            <a:spAutoFit/>
          </a:bodyPr>
          <a:lstStyle/>
          <a:p>
            <a:pPr algn="ctr"/>
            <a:r>
              <a:rPr lang="en-US" dirty="0">
                <a:solidFill>
                  <a:srgbClr val="C00000"/>
                </a:solidFill>
              </a:rPr>
              <a:t>HLA – A1*</a:t>
            </a:r>
          </a:p>
          <a:p>
            <a:pPr algn="ctr"/>
            <a:r>
              <a:rPr lang="en-US" dirty="0">
                <a:solidFill>
                  <a:srgbClr val="C00000"/>
                </a:solidFill>
              </a:rPr>
              <a:t> (3BO8)</a:t>
            </a:r>
          </a:p>
        </p:txBody>
      </p:sp>
      <p:sp>
        <p:nvSpPr>
          <p:cNvPr id="28" name="TextBox 27">
            <a:extLst>
              <a:ext uri="{FF2B5EF4-FFF2-40B4-BE49-F238E27FC236}">
                <a16:creationId xmlns:a16="http://schemas.microsoft.com/office/drawing/2014/main" id="{16EE1BAA-3318-09B0-CA1B-111282090118}"/>
              </a:ext>
            </a:extLst>
          </p:cNvPr>
          <p:cNvSpPr txBox="1"/>
          <p:nvPr/>
        </p:nvSpPr>
        <p:spPr>
          <a:xfrm>
            <a:off x="9066927" y="6416694"/>
            <a:ext cx="2823219" cy="307777"/>
          </a:xfrm>
          <a:prstGeom prst="rect">
            <a:avLst/>
          </a:prstGeom>
          <a:noFill/>
        </p:spPr>
        <p:txBody>
          <a:bodyPr wrap="square" rtlCol="0">
            <a:spAutoFit/>
          </a:bodyPr>
          <a:lstStyle/>
          <a:p>
            <a:r>
              <a:rPr lang="en-US" sz="1400" dirty="0">
                <a:solidFill>
                  <a:srgbClr val="C00000"/>
                </a:solidFill>
              </a:rPr>
              <a:t>*</a:t>
            </a:r>
            <a:r>
              <a:rPr lang="en-US" sz="1400" dirty="0"/>
              <a:t>One of the 10 HLA Class II Alleles</a:t>
            </a:r>
          </a:p>
        </p:txBody>
      </p:sp>
      <p:grpSp>
        <p:nvGrpSpPr>
          <p:cNvPr id="19" name="Group 18">
            <a:extLst>
              <a:ext uri="{FF2B5EF4-FFF2-40B4-BE49-F238E27FC236}">
                <a16:creationId xmlns:a16="http://schemas.microsoft.com/office/drawing/2014/main" id="{AD6EC520-C030-A1EB-0EFC-04280A350885}"/>
              </a:ext>
            </a:extLst>
          </p:cNvPr>
          <p:cNvGrpSpPr/>
          <p:nvPr/>
        </p:nvGrpSpPr>
        <p:grpSpPr>
          <a:xfrm>
            <a:off x="3169060" y="136833"/>
            <a:ext cx="6950920" cy="723900"/>
            <a:chOff x="739738" y="344774"/>
            <a:chExt cx="9439576" cy="1042237"/>
          </a:xfrm>
        </p:grpSpPr>
        <p:sp>
          <p:nvSpPr>
            <p:cNvPr id="21" name="Rectangle: Rounded Corners 20">
              <a:extLst>
                <a:ext uri="{FF2B5EF4-FFF2-40B4-BE49-F238E27FC236}">
                  <a16:creationId xmlns:a16="http://schemas.microsoft.com/office/drawing/2014/main" id="{E815415E-8BC8-22C9-2D57-E6B4328703BA}"/>
                </a:ext>
              </a:extLst>
            </p:cNvPr>
            <p:cNvSpPr/>
            <p:nvPr/>
          </p:nvSpPr>
          <p:spPr>
            <a:xfrm>
              <a:off x="739739" y="344774"/>
              <a:ext cx="8311794" cy="1042237"/>
            </a:xfrm>
            <a:prstGeom prst="roundRect">
              <a:avLst/>
            </a:prstGeom>
            <a:solidFill>
              <a:schemeClr val="bg1">
                <a:lumMod val="85000"/>
              </a:schemeClr>
            </a:solidFill>
            <a:ln>
              <a:no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en-US" sz="2000" dirty="0"/>
            </a:p>
          </p:txBody>
        </p:sp>
        <p:sp>
          <p:nvSpPr>
            <p:cNvPr id="23" name="Title 1">
              <a:extLst>
                <a:ext uri="{FF2B5EF4-FFF2-40B4-BE49-F238E27FC236}">
                  <a16:creationId xmlns:a16="http://schemas.microsoft.com/office/drawing/2014/main" id="{99142BF0-5329-DB3E-2258-7EDE63837A2F}"/>
                </a:ext>
              </a:extLst>
            </p:cNvPr>
            <p:cNvSpPr txBox="1">
              <a:spLocks/>
            </p:cNvSpPr>
            <p:nvPr/>
          </p:nvSpPr>
          <p:spPr>
            <a:xfrm>
              <a:off x="739738" y="344774"/>
              <a:ext cx="9439576" cy="960044"/>
            </a:xfrm>
            <a:prstGeom prst="rect">
              <a:avLst/>
            </a:prstGeom>
            <a:noFill/>
            <a:ln w="12700" cap="flat" cmpd="sng" algn="ctr">
              <a:noFill/>
              <a:prstDash val="solid"/>
              <a:miter lim="800000"/>
            </a:ln>
          </p:spPr>
          <p:style>
            <a:lnRef idx="1">
              <a:schemeClr val="accent4"/>
            </a:lnRef>
            <a:fillRef idx="2">
              <a:schemeClr val="accent4"/>
            </a:fillRef>
            <a:effectRef idx="1">
              <a:schemeClr val="accent4"/>
            </a:effectRef>
            <a:fontRef idx="minor">
              <a:schemeClr val="dk1"/>
            </a:fontRef>
          </p:style>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l"/>
              <a:r>
                <a:rPr lang="en-US" sz="4000" dirty="0" err="1">
                  <a:solidFill>
                    <a:srgbClr val="C00000"/>
                  </a:solidFill>
                </a:rPr>
                <a:t>HPEPDock</a:t>
              </a:r>
              <a:r>
                <a:rPr lang="en-US" sz="4000" dirty="0">
                  <a:solidFill>
                    <a:srgbClr val="C00000"/>
                  </a:solidFill>
                </a:rPr>
                <a:t> Docking Analysis</a:t>
              </a:r>
            </a:p>
          </p:txBody>
        </p:sp>
      </p:grpSp>
    </p:spTree>
    <p:extLst>
      <p:ext uri="{BB962C8B-B14F-4D97-AF65-F5344CB8AC3E}">
        <p14:creationId xmlns:p14="http://schemas.microsoft.com/office/powerpoint/2010/main" val="12127032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2"/>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P spid="18" grpId="0"/>
      <p:bldP spid="25" grpId="0"/>
      <p:bldP spid="26"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6130C19-2C89-66FD-E0D5-5303A3558A84}"/>
              </a:ext>
            </a:extLst>
          </p:cNvPr>
          <p:cNvSpPr/>
          <p:nvPr/>
        </p:nvSpPr>
        <p:spPr>
          <a:xfrm>
            <a:off x="0" y="1675"/>
            <a:ext cx="12192000" cy="6858000"/>
          </a:xfrm>
          <a:prstGeom prst="rect">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800" dirty="0">
              <a:latin typeface="Arial" panose="020B0604020202020204" pitchFamily="34" charset="0"/>
              <a:cs typeface="Arial" panose="020B0604020202020204" pitchFamily="34" charset="0"/>
            </a:endParaRPr>
          </a:p>
        </p:txBody>
      </p:sp>
      <p:grpSp>
        <p:nvGrpSpPr>
          <p:cNvPr id="6" name="Group 5">
            <a:extLst>
              <a:ext uri="{FF2B5EF4-FFF2-40B4-BE49-F238E27FC236}">
                <a16:creationId xmlns:a16="http://schemas.microsoft.com/office/drawing/2014/main" id="{A49306F6-608B-ECB9-4812-71FEA4677647}"/>
              </a:ext>
            </a:extLst>
          </p:cNvPr>
          <p:cNvGrpSpPr/>
          <p:nvPr/>
        </p:nvGrpSpPr>
        <p:grpSpPr>
          <a:xfrm>
            <a:off x="351921" y="1048771"/>
            <a:ext cx="4230354" cy="456846"/>
            <a:chOff x="357966" y="2951177"/>
            <a:chExt cx="3656550" cy="1092351"/>
          </a:xfrm>
        </p:grpSpPr>
        <p:sp>
          <p:nvSpPr>
            <p:cNvPr id="7" name="Rectangle: Rounded Corners 6">
              <a:extLst>
                <a:ext uri="{FF2B5EF4-FFF2-40B4-BE49-F238E27FC236}">
                  <a16:creationId xmlns:a16="http://schemas.microsoft.com/office/drawing/2014/main" id="{11D93C9F-63D3-E5DD-E799-D0794B6F11E5}"/>
                </a:ext>
              </a:extLst>
            </p:cNvPr>
            <p:cNvSpPr/>
            <p:nvPr/>
          </p:nvSpPr>
          <p:spPr>
            <a:xfrm>
              <a:off x="357966" y="2951177"/>
              <a:ext cx="3656550" cy="1092351"/>
            </a:xfrm>
            <a:prstGeom prst="roundRect">
              <a:avLst>
                <a:gd name="adj" fmla="val 10000"/>
              </a:avLst>
            </a:prstGeom>
            <a:solidFill>
              <a:srgbClr val="C00000"/>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en-US"/>
            </a:p>
          </p:txBody>
        </p:sp>
        <p:sp>
          <p:nvSpPr>
            <p:cNvPr id="8" name="Rectangle: Rounded Corners 4">
              <a:extLst>
                <a:ext uri="{FF2B5EF4-FFF2-40B4-BE49-F238E27FC236}">
                  <a16:creationId xmlns:a16="http://schemas.microsoft.com/office/drawing/2014/main" id="{70D4B5AE-97B2-C971-E84D-2289A25AD844}"/>
                </a:ext>
              </a:extLst>
            </p:cNvPr>
            <p:cNvSpPr txBox="1"/>
            <p:nvPr/>
          </p:nvSpPr>
          <p:spPr>
            <a:xfrm>
              <a:off x="389960" y="2983171"/>
              <a:ext cx="3592562" cy="102836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34290" tIns="22860" rIns="34290" bIns="22860" numCol="1" spcCol="1270" anchor="t" anchorCtr="0">
              <a:noAutofit/>
            </a:bodyPr>
            <a:lstStyle/>
            <a:p>
              <a:pPr marL="0" lvl="0" indent="0" algn="ctr" defTabSz="800100">
                <a:lnSpc>
                  <a:spcPct val="150000"/>
                </a:lnSpc>
                <a:spcBef>
                  <a:spcPct val="0"/>
                </a:spcBef>
                <a:spcAft>
                  <a:spcPct val="35000"/>
                </a:spcAft>
                <a:buNone/>
              </a:pPr>
              <a:r>
                <a:rPr lang="en-US" dirty="0"/>
                <a:t>HLA class II – Peptide Docking</a:t>
              </a:r>
              <a:r>
                <a:rPr lang="en-US" sz="1800" kern="1200" dirty="0"/>
                <a:t> Result</a:t>
              </a:r>
            </a:p>
          </p:txBody>
        </p:sp>
      </p:grpSp>
      <p:sp>
        <p:nvSpPr>
          <p:cNvPr id="12" name="TextBox 11">
            <a:extLst>
              <a:ext uri="{FF2B5EF4-FFF2-40B4-BE49-F238E27FC236}">
                <a16:creationId xmlns:a16="http://schemas.microsoft.com/office/drawing/2014/main" id="{EDA93607-021A-0684-F638-6BAD2E0C75DC}"/>
              </a:ext>
            </a:extLst>
          </p:cNvPr>
          <p:cNvSpPr txBox="1"/>
          <p:nvPr/>
        </p:nvSpPr>
        <p:spPr>
          <a:xfrm>
            <a:off x="580037" y="2157384"/>
            <a:ext cx="4515945" cy="3139321"/>
          </a:xfrm>
          <a:prstGeom prst="rect">
            <a:avLst/>
          </a:prstGeom>
          <a:noFill/>
        </p:spPr>
        <p:txBody>
          <a:bodyPr wrap="square">
            <a:spAutoFit/>
          </a:bodyPr>
          <a:lstStyle/>
          <a:p>
            <a:r>
              <a:rPr lang="en-US" sz="1800" dirty="0"/>
              <a:t>Peptide 2 showed strongest binding:</a:t>
            </a:r>
          </a:p>
          <a:p>
            <a:pPr marL="285750" indent="-285750">
              <a:buFont typeface="Arial" panose="020B0604020202020204" pitchFamily="34" charset="0"/>
              <a:buChar char="•"/>
            </a:pPr>
            <a:r>
              <a:rPr lang="en-US" dirty="0"/>
              <a:t>Higher affinity in 9/10 alleles</a:t>
            </a:r>
          </a:p>
          <a:p>
            <a:pPr marL="285750" indent="-285750">
              <a:buFont typeface="Arial" panose="020B0604020202020204" pitchFamily="34" charset="0"/>
              <a:buChar char="•"/>
            </a:pPr>
            <a:r>
              <a:rPr lang="en-US" dirty="0"/>
              <a:t>DTKFIIVFALTRGNKIVKASGK (P2_1) highest docking score for HLA-DR1 </a:t>
            </a:r>
          </a:p>
          <a:p>
            <a:endParaRPr lang="en-US" sz="1800" dirty="0"/>
          </a:p>
          <a:p>
            <a:r>
              <a:rPr lang="en-US" sz="1800" dirty="0"/>
              <a:t>Peptide 3 ranked second:</a:t>
            </a:r>
          </a:p>
          <a:p>
            <a:pPr marL="285750" indent="-285750">
              <a:buFont typeface="Arial" panose="020B0604020202020204" pitchFamily="34" charset="0"/>
              <a:buChar char="•"/>
            </a:pPr>
            <a:r>
              <a:rPr lang="en-US" dirty="0"/>
              <a:t>Strong against 8 alleles, best for HLA-DR3</a:t>
            </a:r>
            <a:endParaRPr lang="en-US" sz="1800" dirty="0"/>
          </a:p>
          <a:p>
            <a:endParaRPr lang="en-US" sz="1800" dirty="0"/>
          </a:p>
          <a:p>
            <a:r>
              <a:rPr lang="en-US" sz="1800" dirty="0"/>
              <a:t>Peptide 1 weakest:</a:t>
            </a:r>
            <a:endParaRPr lang="en-US" dirty="0"/>
          </a:p>
          <a:p>
            <a:pPr marL="285750" indent="-285750">
              <a:buFont typeface="Arial" panose="020B0604020202020204" pitchFamily="34" charset="0"/>
              <a:buChar char="•"/>
            </a:pPr>
            <a:r>
              <a:rPr lang="en-US" dirty="0"/>
              <a:t>Outperformed native peptide in only 5/10 alleles</a:t>
            </a:r>
          </a:p>
        </p:txBody>
      </p:sp>
      <p:pic>
        <p:nvPicPr>
          <p:cNvPr id="14" name="Picture 13">
            <a:extLst>
              <a:ext uri="{FF2B5EF4-FFF2-40B4-BE49-F238E27FC236}">
                <a16:creationId xmlns:a16="http://schemas.microsoft.com/office/drawing/2014/main" id="{7016FA7B-8F89-5463-6E8A-96465FAE540D}"/>
              </a:ext>
            </a:extLst>
          </p:cNvPr>
          <p:cNvPicPr>
            <a:picLocks noChangeAspect="1"/>
          </p:cNvPicPr>
          <p:nvPr/>
        </p:nvPicPr>
        <p:blipFill>
          <a:blip r:embed="rId2"/>
          <a:stretch>
            <a:fillRect/>
          </a:stretch>
        </p:blipFill>
        <p:spPr>
          <a:xfrm>
            <a:off x="5825447" y="1659562"/>
            <a:ext cx="5978381" cy="4740979"/>
          </a:xfrm>
          <a:prstGeom prst="rect">
            <a:avLst/>
          </a:prstGeom>
        </p:spPr>
      </p:pic>
      <mc:AlternateContent xmlns:mc="http://schemas.openxmlformats.org/markup-compatibility/2006" xmlns:p14="http://schemas.microsoft.com/office/powerpoint/2010/main">
        <mc:Choice Requires="p14">
          <p:contentPart p14:bwMode="auto" r:id="rId3">
            <p14:nvContentPartPr>
              <p14:cNvPr id="16" name="Ink 15">
                <a:extLst>
                  <a:ext uri="{FF2B5EF4-FFF2-40B4-BE49-F238E27FC236}">
                    <a16:creationId xmlns:a16="http://schemas.microsoft.com/office/drawing/2014/main" id="{B60C1CA0-72DB-3943-5F61-7FBA38BAD818}"/>
                  </a:ext>
                </a:extLst>
              </p14:cNvPr>
              <p14:cNvContentPartPr/>
              <p14:nvPr/>
            </p14:nvContentPartPr>
            <p14:xfrm>
              <a:off x="6030437" y="3749938"/>
              <a:ext cx="288360" cy="360"/>
            </p14:xfrm>
          </p:contentPart>
        </mc:Choice>
        <mc:Fallback xmlns="">
          <p:pic>
            <p:nvPicPr>
              <p:cNvPr id="16" name="Ink 15">
                <a:extLst>
                  <a:ext uri="{FF2B5EF4-FFF2-40B4-BE49-F238E27FC236}">
                    <a16:creationId xmlns:a16="http://schemas.microsoft.com/office/drawing/2014/main" id="{B60C1CA0-72DB-3943-5F61-7FBA38BAD818}"/>
                  </a:ext>
                </a:extLst>
              </p:cNvPr>
              <p:cNvPicPr/>
              <p:nvPr/>
            </p:nvPicPr>
            <p:blipFill>
              <a:blip r:embed="rId4"/>
              <a:stretch>
                <a:fillRect/>
              </a:stretch>
            </p:blipFill>
            <p:spPr>
              <a:xfrm>
                <a:off x="5994437" y="3677938"/>
                <a:ext cx="360000" cy="1440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9" name="Ink 18">
                <a:extLst>
                  <a:ext uri="{FF2B5EF4-FFF2-40B4-BE49-F238E27FC236}">
                    <a16:creationId xmlns:a16="http://schemas.microsoft.com/office/drawing/2014/main" id="{17FC8E5E-4877-7C5A-0E08-25BFD1661A7C}"/>
                  </a:ext>
                </a:extLst>
              </p14:cNvPr>
              <p14:cNvContentPartPr/>
              <p14:nvPr/>
            </p14:nvContentPartPr>
            <p14:xfrm>
              <a:off x="5989757" y="5342578"/>
              <a:ext cx="318960" cy="20880"/>
            </p14:xfrm>
          </p:contentPart>
        </mc:Choice>
        <mc:Fallback xmlns="">
          <p:pic>
            <p:nvPicPr>
              <p:cNvPr id="19" name="Ink 18">
                <a:extLst>
                  <a:ext uri="{FF2B5EF4-FFF2-40B4-BE49-F238E27FC236}">
                    <a16:creationId xmlns:a16="http://schemas.microsoft.com/office/drawing/2014/main" id="{17FC8E5E-4877-7C5A-0E08-25BFD1661A7C}"/>
                  </a:ext>
                </a:extLst>
              </p:cNvPr>
              <p:cNvPicPr/>
              <p:nvPr/>
            </p:nvPicPr>
            <p:blipFill>
              <a:blip r:embed="rId6"/>
              <a:stretch>
                <a:fillRect/>
              </a:stretch>
            </p:blipFill>
            <p:spPr>
              <a:xfrm>
                <a:off x="5953757" y="5270578"/>
                <a:ext cx="390600" cy="16452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21" name="Ink 20">
                <a:extLst>
                  <a:ext uri="{FF2B5EF4-FFF2-40B4-BE49-F238E27FC236}">
                    <a16:creationId xmlns:a16="http://schemas.microsoft.com/office/drawing/2014/main" id="{6E331367-B847-11B8-96D1-117D67DA2286}"/>
                  </a:ext>
                </a:extLst>
              </p14:cNvPr>
              <p14:cNvContentPartPr/>
              <p14:nvPr/>
            </p14:nvContentPartPr>
            <p14:xfrm>
              <a:off x="5989757" y="2650858"/>
              <a:ext cx="339480" cy="30960"/>
            </p14:xfrm>
          </p:contentPart>
        </mc:Choice>
        <mc:Fallback xmlns="">
          <p:pic>
            <p:nvPicPr>
              <p:cNvPr id="21" name="Ink 20">
                <a:extLst>
                  <a:ext uri="{FF2B5EF4-FFF2-40B4-BE49-F238E27FC236}">
                    <a16:creationId xmlns:a16="http://schemas.microsoft.com/office/drawing/2014/main" id="{6E331367-B847-11B8-96D1-117D67DA2286}"/>
                  </a:ext>
                </a:extLst>
              </p:cNvPr>
              <p:cNvPicPr/>
              <p:nvPr/>
            </p:nvPicPr>
            <p:blipFill>
              <a:blip r:embed="rId8"/>
              <a:stretch>
                <a:fillRect/>
              </a:stretch>
            </p:blipFill>
            <p:spPr>
              <a:xfrm>
                <a:off x="5953757" y="2578858"/>
                <a:ext cx="411120" cy="174600"/>
              </a:xfrm>
              <a:prstGeom prst="rect">
                <a:avLst/>
              </a:prstGeom>
            </p:spPr>
          </p:pic>
        </mc:Fallback>
      </mc:AlternateContent>
      <p:sp>
        <p:nvSpPr>
          <p:cNvPr id="22" name="Rectangle: Rounded Corners 21">
            <a:extLst>
              <a:ext uri="{FF2B5EF4-FFF2-40B4-BE49-F238E27FC236}">
                <a16:creationId xmlns:a16="http://schemas.microsoft.com/office/drawing/2014/main" id="{0B41733A-4DE9-A88D-A80C-D1618B241A3C}"/>
              </a:ext>
            </a:extLst>
          </p:cNvPr>
          <p:cNvSpPr/>
          <p:nvPr/>
        </p:nvSpPr>
        <p:spPr>
          <a:xfrm>
            <a:off x="6329237" y="3382220"/>
            <a:ext cx="585243" cy="689648"/>
          </a:xfrm>
          <a:prstGeom prst="roundRect">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Rounded Corners 22">
            <a:extLst>
              <a:ext uri="{FF2B5EF4-FFF2-40B4-BE49-F238E27FC236}">
                <a16:creationId xmlns:a16="http://schemas.microsoft.com/office/drawing/2014/main" id="{90B33AEE-2CAA-EE5F-FB2D-9AC9E13FBF16}"/>
              </a:ext>
            </a:extLst>
          </p:cNvPr>
          <p:cNvSpPr/>
          <p:nvPr/>
        </p:nvSpPr>
        <p:spPr>
          <a:xfrm>
            <a:off x="7191909" y="3364973"/>
            <a:ext cx="3863084" cy="689648"/>
          </a:xfrm>
          <a:prstGeom prst="roundRect">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Rounded Corners 23">
            <a:extLst>
              <a:ext uri="{FF2B5EF4-FFF2-40B4-BE49-F238E27FC236}">
                <a16:creationId xmlns:a16="http://schemas.microsoft.com/office/drawing/2014/main" id="{9659B626-ADAA-FFA1-5288-338C26F64FED}"/>
              </a:ext>
            </a:extLst>
          </p:cNvPr>
          <p:cNvSpPr/>
          <p:nvPr/>
        </p:nvSpPr>
        <p:spPr>
          <a:xfrm>
            <a:off x="7191909" y="4951881"/>
            <a:ext cx="3863084" cy="689648"/>
          </a:xfrm>
          <a:prstGeom prst="roundRect">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Rounded Corners 24">
            <a:extLst>
              <a:ext uri="{FF2B5EF4-FFF2-40B4-BE49-F238E27FC236}">
                <a16:creationId xmlns:a16="http://schemas.microsoft.com/office/drawing/2014/main" id="{17A6DBC3-8BA2-E362-6584-4C03B6DB6B3F}"/>
              </a:ext>
            </a:extLst>
          </p:cNvPr>
          <p:cNvSpPr/>
          <p:nvPr/>
        </p:nvSpPr>
        <p:spPr>
          <a:xfrm>
            <a:off x="7191909" y="2305704"/>
            <a:ext cx="1099336" cy="689648"/>
          </a:xfrm>
          <a:prstGeom prst="roundRect">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Rounded Corners 25">
            <a:extLst>
              <a:ext uri="{FF2B5EF4-FFF2-40B4-BE49-F238E27FC236}">
                <a16:creationId xmlns:a16="http://schemas.microsoft.com/office/drawing/2014/main" id="{D15DC3A8-FD6B-8F6F-048A-00B677339AB5}"/>
              </a:ext>
            </a:extLst>
          </p:cNvPr>
          <p:cNvSpPr/>
          <p:nvPr/>
        </p:nvSpPr>
        <p:spPr>
          <a:xfrm>
            <a:off x="9497867" y="2305704"/>
            <a:ext cx="1557125" cy="689648"/>
          </a:xfrm>
          <a:prstGeom prst="roundRect">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a:extLst>
              <a:ext uri="{FF2B5EF4-FFF2-40B4-BE49-F238E27FC236}">
                <a16:creationId xmlns:a16="http://schemas.microsoft.com/office/drawing/2014/main" id="{8A88F6AE-3244-ABFD-F871-0E349E948917}"/>
              </a:ext>
            </a:extLst>
          </p:cNvPr>
          <p:cNvGrpSpPr/>
          <p:nvPr/>
        </p:nvGrpSpPr>
        <p:grpSpPr>
          <a:xfrm>
            <a:off x="3169060" y="136833"/>
            <a:ext cx="6950920" cy="723900"/>
            <a:chOff x="739738" y="344774"/>
            <a:chExt cx="9439576" cy="1042237"/>
          </a:xfrm>
        </p:grpSpPr>
        <p:sp>
          <p:nvSpPr>
            <p:cNvPr id="10" name="Rectangle: Rounded Corners 9">
              <a:extLst>
                <a:ext uri="{FF2B5EF4-FFF2-40B4-BE49-F238E27FC236}">
                  <a16:creationId xmlns:a16="http://schemas.microsoft.com/office/drawing/2014/main" id="{C191B032-FE7E-EA2F-7E2F-0656702BD6D0}"/>
                </a:ext>
              </a:extLst>
            </p:cNvPr>
            <p:cNvSpPr/>
            <p:nvPr/>
          </p:nvSpPr>
          <p:spPr>
            <a:xfrm>
              <a:off x="739739" y="344774"/>
              <a:ext cx="8311794" cy="1042237"/>
            </a:xfrm>
            <a:prstGeom prst="roundRect">
              <a:avLst/>
            </a:prstGeom>
            <a:solidFill>
              <a:schemeClr val="bg1">
                <a:lumMod val="85000"/>
              </a:schemeClr>
            </a:solidFill>
            <a:ln>
              <a:no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en-US" sz="2000" dirty="0"/>
            </a:p>
          </p:txBody>
        </p:sp>
        <p:sp>
          <p:nvSpPr>
            <p:cNvPr id="11" name="Title 1">
              <a:extLst>
                <a:ext uri="{FF2B5EF4-FFF2-40B4-BE49-F238E27FC236}">
                  <a16:creationId xmlns:a16="http://schemas.microsoft.com/office/drawing/2014/main" id="{29449850-A922-F5C3-1805-C72BD47D107C}"/>
                </a:ext>
              </a:extLst>
            </p:cNvPr>
            <p:cNvSpPr txBox="1">
              <a:spLocks/>
            </p:cNvSpPr>
            <p:nvPr/>
          </p:nvSpPr>
          <p:spPr>
            <a:xfrm>
              <a:off x="739738" y="344774"/>
              <a:ext cx="9439576" cy="960044"/>
            </a:xfrm>
            <a:prstGeom prst="rect">
              <a:avLst/>
            </a:prstGeom>
            <a:noFill/>
            <a:ln w="12700" cap="flat" cmpd="sng" algn="ctr">
              <a:noFill/>
              <a:prstDash val="solid"/>
              <a:miter lim="800000"/>
            </a:ln>
          </p:spPr>
          <p:style>
            <a:lnRef idx="1">
              <a:schemeClr val="accent4"/>
            </a:lnRef>
            <a:fillRef idx="2">
              <a:schemeClr val="accent4"/>
            </a:fillRef>
            <a:effectRef idx="1">
              <a:schemeClr val="accent4"/>
            </a:effectRef>
            <a:fontRef idx="minor">
              <a:schemeClr val="dk1"/>
            </a:fontRef>
          </p:style>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l"/>
              <a:r>
                <a:rPr lang="en-US" sz="4000" dirty="0" err="1">
                  <a:solidFill>
                    <a:srgbClr val="C00000"/>
                  </a:solidFill>
                </a:rPr>
                <a:t>HPEPDock</a:t>
              </a:r>
              <a:r>
                <a:rPr lang="en-US" sz="4000" dirty="0">
                  <a:solidFill>
                    <a:srgbClr val="C00000"/>
                  </a:solidFill>
                </a:rPr>
                <a:t> Docking Analysis</a:t>
              </a:r>
            </a:p>
          </p:txBody>
        </p:sp>
      </p:grpSp>
    </p:spTree>
    <p:extLst>
      <p:ext uri="{BB962C8B-B14F-4D97-AF65-F5344CB8AC3E}">
        <p14:creationId xmlns:p14="http://schemas.microsoft.com/office/powerpoint/2010/main" val="35630638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nodeType="clickEffect">
                                  <p:stCondLst>
                                    <p:cond delay="0"/>
                                  </p:stCondLst>
                                  <p:childTnLst>
                                    <p:set>
                                      <p:cBhvr>
                                        <p:cTn id="14" dur="1" fill="hold">
                                          <p:stCondLst>
                                            <p:cond delay="0"/>
                                          </p:stCondLst>
                                        </p:cTn>
                                        <p:tgtEl>
                                          <p:spTgt spid="16"/>
                                        </p:tgtEl>
                                        <p:attrNameLst>
                                          <p:attrName>style.visibility</p:attrName>
                                        </p:attrNameLst>
                                      </p:cBhvr>
                                      <p:to>
                                        <p:strVal val="hidden"/>
                                      </p:to>
                                    </p:set>
                                  </p:childTnLst>
                                </p:cTn>
                              </p:par>
                              <p:par>
                                <p:cTn id="15" presetID="1" presetClass="exit" presetSubtype="0" fill="hold" grpId="1" nodeType="withEffect">
                                  <p:stCondLst>
                                    <p:cond delay="0"/>
                                  </p:stCondLst>
                                  <p:childTnLst>
                                    <p:set>
                                      <p:cBhvr>
                                        <p:cTn id="16" dur="1" fill="hold">
                                          <p:stCondLst>
                                            <p:cond delay="0"/>
                                          </p:stCondLst>
                                        </p:cTn>
                                        <p:tgtEl>
                                          <p:spTgt spid="22"/>
                                        </p:tgtEl>
                                        <p:attrNameLst>
                                          <p:attrName>style.visibility</p:attrName>
                                        </p:attrNameLst>
                                      </p:cBhvr>
                                      <p:to>
                                        <p:strVal val="hidden"/>
                                      </p:to>
                                    </p:set>
                                  </p:childTnLst>
                                </p:cTn>
                              </p:par>
                              <p:par>
                                <p:cTn id="17" presetID="1" presetClass="exit" presetSubtype="0" fill="hold" grpId="1" nodeType="withEffect">
                                  <p:stCondLst>
                                    <p:cond delay="0"/>
                                  </p:stCondLst>
                                  <p:childTnLst>
                                    <p:set>
                                      <p:cBhvr>
                                        <p:cTn id="18" dur="1" fill="hold">
                                          <p:stCondLst>
                                            <p:cond delay="0"/>
                                          </p:stCondLst>
                                        </p:cTn>
                                        <p:tgtEl>
                                          <p:spTgt spid="23"/>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xit" presetSubtype="0" fill="hold" nodeType="clickEffect">
                                  <p:stCondLst>
                                    <p:cond delay="0"/>
                                  </p:stCondLst>
                                  <p:childTnLst>
                                    <p:set>
                                      <p:cBhvr>
                                        <p:cTn id="28" dur="1" fill="hold">
                                          <p:stCondLst>
                                            <p:cond delay="0"/>
                                          </p:stCondLst>
                                        </p:cTn>
                                        <p:tgtEl>
                                          <p:spTgt spid="19"/>
                                        </p:tgtEl>
                                        <p:attrNameLst>
                                          <p:attrName>style.visibility</p:attrName>
                                        </p:attrNameLst>
                                      </p:cBhvr>
                                      <p:to>
                                        <p:strVal val="hidden"/>
                                      </p:to>
                                    </p:set>
                                  </p:childTnLst>
                                </p:cTn>
                              </p:par>
                              <p:par>
                                <p:cTn id="29" presetID="1" presetClass="exit" presetSubtype="0" fill="hold" grpId="1" nodeType="withEffect">
                                  <p:stCondLst>
                                    <p:cond delay="0"/>
                                  </p:stCondLst>
                                  <p:childTnLst>
                                    <p:set>
                                      <p:cBhvr>
                                        <p:cTn id="30" dur="1" fill="hold">
                                          <p:stCondLst>
                                            <p:cond delay="0"/>
                                          </p:stCondLst>
                                        </p:cTn>
                                        <p:tgtEl>
                                          <p:spTgt spid="24"/>
                                        </p:tgtEl>
                                        <p:attrNameLst>
                                          <p:attrName>style.visibility</p:attrName>
                                        </p:attrNameLst>
                                      </p:cBhvr>
                                      <p:to>
                                        <p:strVal val="hidden"/>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1"/>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5"/>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xit" presetSubtype="0" fill="hold" nodeType="clickEffect">
                                  <p:stCondLst>
                                    <p:cond delay="0"/>
                                  </p:stCondLst>
                                  <p:childTnLst>
                                    <p:set>
                                      <p:cBhvr>
                                        <p:cTn id="42" dur="1" fill="hold">
                                          <p:stCondLst>
                                            <p:cond delay="0"/>
                                          </p:stCondLst>
                                        </p:cTn>
                                        <p:tgtEl>
                                          <p:spTgt spid="21"/>
                                        </p:tgtEl>
                                        <p:attrNameLst>
                                          <p:attrName>style.visibility</p:attrName>
                                        </p:attrNameLst>
                                      </p:cBhvr>
                                      <p:to>
                                        <p:strVal val="hidden"/>
                                      </p:to>
                                    </p:set>
                                  </p:childTnLst>
                                </p:cTn>
                              </p:par>
                              <p:par>
                                <p:cTn id="43" presetID="1" presetClass="exit" presetSubtype="0" fill="hold" grpId="1" nodeType="withEffect">
                                  <p:stCondLst>
                                    <p:cond delay="0"/>
                                  </p:stCondLst>
                                  <p:childTnLst>
                                    <p:set>
                                      <p:cBhvr>
                                        <p:cTn id="44" dur="1" fill="hold">
                                          <p:stCondLst>
                                            <p:cond delay="0"/>
                                          </p:stCondLst>
                                        </p:cTn>
                                        <p:tgtEl>
                                          <p:spTgt spid="25"/>
                                        </p:tgtEl>
                                        <p:attrNameLst>
                                          <p:attrName>style.visibility</p:attrName>
                                        </p:attrNameLst>
                                      </p:cBhvr>
                                      <p:to>
                                        <p:strVal val="hidden"/>
                                      </p:to>
                                    </p:set>
                                  </p:childTnLst>
                                </p:cTn>
                              </p:par>
                              <p:par>
                                <p:cTn id="45" presetID="1" presetClass="exit" presetSubtype="0" fill="hold" grpId="1" nodeType="withEffect">
                                  <p:stCondLst>
                                    <p:cond delay="0"/>
                                  </p:stCondLst>
                                  <p:childTnLst>
                                    <p:set>
                                      <p:cBhvr>
                                        <p:cTn id="46" dur="1" fill="hold">
                                          <p:stCondLst>
                                            <p:cond delay="0"/>
                                          </p:stCondLst>
                                        </p:cTn>
                                        <p:tgtEl>
                                          <p:spTgt spid="2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2" grpId="1" animBg="1"/>
      <p:bldP spid="23" grpId="0" animBg="1"/>
      <p:bldP spid="23" grpId="1" animBg="1"/>
      <p:bldP spid="24" grpId="0" animBg="1"/>
      <p:bldP spid="24" grpId="1" animBg="1"/>
      <p:bldP spid="25" grpId="0" animBg="1"/>
      <p:bldP spid="25" grpId="1" animBg="1"/>
      <p:bldP spid="26" grpId="0" animBg="1"/>
      <p:bldP spid="26" grpId="1"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FC8AB41-91D1-D8C1-8270-D82BDD6D09AC}"/>
              </a:ext>
            </a:extLst>
          </p:cNvPr>
          <p:cNvSpPr/>
          <p:nvPr/>
        </p:nvSpPr>
        <p:spPr>
          <a:xfrm>
            <a:off x="0" y="1675"/>
            <a:ext cx="12192000" cy="6858000"/>
          </a:xfrm>
          <a:prstGeom prst="rect">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800" dirty="0">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1B5F5AE1-2E7D-4805-B6F3-EA025622CE0F}"/>
              </a:ext>
            </a:extLst>
          </p:cNvPr>
          <p:cNvSpPr txBox="1"/>
          <p:nvPr/>
        </p:nvSpPr>
        <p:spPr>
          <a:xfrm>
            <a:off x="189619" y="885825"/>
            <a:ext cx="11202282" cy="1546577"/>
          </a:xfrm>
          <a:prstGeom prst="rect">
            <a:avLst/>
          </a:prstGeom>
          <a:noFill/>
        </p:spPr>
        <p:txBody>
          <a:bodyPr wrap="square">
            <a:spAutoFit/>
          </a:bodyPr>
          <a:lstStyle/>
          <a:p>
            <a:pPr marR="0" lvl="0" algn="l" defTabSz="914400" rtl="0" eaLnBrk="1" fontAlgn="auto" latinLnBrk="0" hangingPunct="1">
              <a:lnSpc>
                <a:spcPct val="100000"/>
              </a:lnSpc>
              <a:spcBef>
                <a:spcPts val="900"/>
              </a:spcBef>
              <a:spcAft>
                <a:spcPts val="0"/>
              </a:spcAft>
              <a:buClr>
                <a:srgbClr val="000000">
                  <a:lumMod val="85000"/>
                  <a:lumOff val="15000"/>
                </a:srgbClr>
              </a:buClr>
              <a:buSzTx/>
              <a:tabLst/>
              <a:defRPr/>
            </a:pPr>
            <a:r>
              <a:rPr lang="en-US" dirty="0">
                <a:solidFill>
                  <a:srgbClr val="000000"/>
                </a:solidFill>
                <a:latin typeface="Gill Sans MT" panose="020B0502020104020203"/>
              </a:rPr>
              <a:t>Multi-epitope peptide vaccine candidates and TLR – 4 docking analysis were done using </a:t>
            </a:r>
            <a:r>
              <a:rPr lang="en-US" dirty="0" err="1">
                <a:solidFill>
                  <a:srgbClr val="000000"/>
                </a:solidFill>
                <a:latin typeface="Gill Sans MT" panose="020B0502020104020203"/>
              </a:rPr>
              <a:t>HDock</a:t>
            </a:r>
            <a:r>
              <a:rPr lang="en-US" dirty="0">
                <a:solidFill>
                  <a:srgbClr val="000000"/>
                </a:solidFill>
                <a:latin typeface="Gill Sans MT" panose="020B0502020104020203"/>
              </a:rPr>
              <a:t> server.</a:t>
            </a:r>
          </a:p>
          <a:p>
            <a:pPr marR="0" lvl="0" algn="l" defTabSz="914400" rtl="0" eaLnBrk="1" fontAlgn="auto" latinLnBrk="0" hangingPunct="1">
              <a:lnSpc>
                <a:spcPct val="100000"/>
              </a:lnSpc>
              <a:spcBef>
                <a:spcPts val="900"/>
              </a:spcBef>
              <a:spcAft>
                <a:spcPts val="0"/>
              </a:spcAft>
              <a:buClr>
                <a:srgbClr val="000000">
                  <a:lumMod val="85000"/>
                  <a:lumOff val="15000"/>
                </a:srgbClr>
              </a:buClr>
              <a:buSzTx/>
              <a:tabLst/>
              <a:defRPr/>
            </a:pPr>
            <a:endParaRPr kumimoji="0" lang="en-US" sz="1800" b="0" i="0" u="none" strike="noStrike" kern="1200" cap="none" spc="0" normalizeH="0" baseline="0" noProof="0" dirty="0">
              <a:ln>
                <a:noFill/>
              </a:ln>
              <a:solidFill>
                <a:srgbClr val="000000"/>
              </a:solidFill>
              <a:effectLst/>
              <a:uLnTx/>
              <a:uFillTx/>
              <a:latin typeface="Gill Sans MT" panose="020B0502020104020203"/>
              <a:ea typeface="+mn-ea"/>
              <a:cs typeface="+mn-cs"/>
            </a:endParaRPr>
          </a:p>
          <a:p>
            <a:pPr marR="0" lvl="0" algn="l" defTabSz="914400" rtl="0" eaLnBrk="1" fontAlgn="auto" latinLnBrk="0" hangingPunct="1">
              <a:lnSpc>
                <a:spcPct val="100000"/>
              </a:lnSpc>
              <a:spcBef>
                <a:spcPts val="900"/>
              </a:spcBef>
              <a:spcAft>
                <a:spcPts val="0"/>
              </a:spcAft>
              <a:buClr>
                <a:srgbClr val="000000">
                  <a:lumMod val="85000"/>
                  <a:lumOff val="15000"/>
                </a:srgbClr>
              </a:buClr>
              <a:buSzTx/>
              <a:tabLst/>
              <a:defRPr/>
            </a:pPr>
            <a:r>
              <a:rPr lang="en-US" dirty="0">
                <a:solidFill>
                  <a:srgbClr val="000000"/>
                </a:solidFill>
                <a:latin typeface="Gill Sans MT" panose="020B0502020104020203"/>
              </a:rPr>
              <a:t>TLR – 4 </a:t>
            </a:r>
            <a:r>
              <a:rPr lang="en-US" dirty="0" err="1">
                <a:solidFill>
                  <a:srgbClr val="000000"/>
                </a:solidFill>
                <a:latin typeface="Gill Sans MT" panose="020B0502020104020203"/>
              </a:rPr>
              <a:t>pdb</a:t>
            </a:r>
            <a:r>
              <a:rPr lang="en-US" dirty="0">
                <a:solidFill>
                  <a:srgbClr val="000000"/>
                </a:solidFill>
                <a:latin typeface="Gill Sans MT" panose="020B0502020104020203"/>
              </a:rPr>
              <a:t> structure were guided docked to same binding site as the native protein. </a:t>
            </a:r>
          </a:p>
          <a:p>
            <a:pPr marR="0" lvl="0" algn="l" defTabSz="914400" rtl="0" eaLnBrk="1" fontAlgn="auto" latinLnBrk="0" hangingPunct="1">
              <a:lnSpc>
                <a:spcPct val="100000"/>
              </a:lnSpc>
              <a:spcBef>
                <a:spcPts val="900"/>
              </a:spcBef>
              <a:spcAft>
                <a:spcPts val="0"/>
              </a:spcAft>
              <a:buClr>
                <a:srgbClr val="000000">
                  <a:lumMod val="85000"/>
                  <a:lumOff val="15000"/>
                </a:srgbClr>
              </a:buClr>
              <a:buSzTx/>
              <a:tabLst/>
              <a:defRPr/>
            </a:pPr>
            <a:r>
              <a:rPr lang="en-US" dirty="0">
                <a:solidFill>
                  <a:srgbClr val="000000"/>
                </a:solidFill>
                <a:latin typeface="Gill Sans MT" panose="020B0502020104020203"/>
              </a:rPr>
              <a:t>The resulted docked score were the comparatively analyzed.</a:t>
            </a:r>
            <a:endParaRPr kumimoji="0" lang="en-US" sz="1800" b="0" i="0" u="none" strike="noStrike" kern="1200" cap="none" spc="0" normalizeH="0" baseline="0" noProof="0" dirty="0">
              <a:ln>
                <a:noFill/>
              </a:ln>
              <a:solidFill>
                <a:srgbClr val="000000"/>
              </a:solidFill>
              <a:effectLst/>
              <a:uLnTx/>
              <a:uFillTx/>
              <a:latin typeface="Gill Sans MT" panose="020B0502020104020203"/>
              <a:ea typeface="+mn-ea"/>
              <a:cs typeface="+mn-cs"/>
            </a:endParaRPr>
          </a:p>
        </p:txBody>
      </p:sp>
      <p:pic>
        <p:nvPicPr>
          <p:cNvPr id="8" name="Picture 7">
            <a:extLst>
              <a:ext uri="{FF2B5EF4-FFF2-40B4-BE49-F238E27FC236}">
                <a16:creationId xmlns:a16="http://schemas.microsoft.com/office/drawing/2014/main" id="{7965FD32-5905-EF70-97A5-ABE5A6F7EC2A}"/>
              </a:ext>
            </a:extLst>
          </p:cNvPr>
          <p:cNvPicPr>
            <a:picLocks noChangeAspect="1"/>
          </p:cNvPicPr>
          <p:nvPr/>
        </p:nvPicPr>
        <p:blipFill>
          <a:blip r:embed="rId2"/>
          <a:srcRect r="18028"/>
          <a:stretch>
            <a:fillRect/>
          </a:stretch>
        </p:blipFill>
        <p:spPr>
          <a:xfrm>
            <a:off x="205284" y="2824785"/>
            <a:ext cx="6272882" cy="3609668"/>
          </a:xfrm>
          <a:prstGeom prst="rect">
            <a:avLst/>
          </a:prstGeom>
        </p:spPr>
      </p:pic>
      <p:pic>
        <p:nvPicPr>
          <p:cNvPr id="10" name="Picture 9">
            <a:extLst>
              <a:ext uri="{FF2B5EF4-FFF2-40B4-BE49-F238E27FC236}">
                <a16:creationId xmlns:a16="http://schemas.microsoft.com/office/drawing/2014/main" id="{F195FBB1-1228-CE26-A1B2-85835AA6C0E1}"/>
              </a:ext>
            </a:extLst>
          </p:cNvPr>
          <p:cNvPicPr>
            <a:picLocks noChangeAspect="1"/>
          </p:cNvPicPr>
          <p:nvPr/>
        </p:nvPicPr>
        <p:blipFill>
          <a:blip r:embed="rId3"/>
          <a:stretch>
            <a:fillRect/>
          </a:stretch>
        </p:blipFill>
        <p:spPr>
          <a:xfrm>
            <a:off x="6478166" y="3316552"/>
            <a:ext cx="5265422" cy="2472637"/>
          </a:xfrm>
          <a:prstGeom prst="rect">
            <a:avLst/>
          </a:prstGeom>
        </p:spPr>
      </p:pic>
      <p:sp>
        <p:nvSpPr>
          <p:cNvPr id="11" name="Rectangle: Rounded Corners 10">
            <a:extLst>
              <a:ext uri="{FF2B5EF4-FFF2-40B4-BE49-F238E27FC236}">
                <a16:creationId xmlns:a16="http://schemas.microsoft.com/office/drawing/2014/main" id="{C3437CCD-4A34-0243-AF3C-827B9432395C}"/>
              </a:ext>
            </a:extLst>
          </p:cNvPr>
          <p:cNvSpPr/>
          <p:nvPr/>
        </p:nvSpPr>
        <p:spPr>
          <a:xfrm>
            <a:off x="6648450" y="4305300"/>
            <a:ext cx="4743451" cy="190500"/>
          </a:xfrm>
          <a:prstGeom prst="round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p14="http://schemas.microsoft.com/office/powerpoint/2010/main">
        <mc:Choice Requires="p14">
          <p:contentPart p14:bwMode="auto" r:id="rId4">
            <p14:nvContentPartPr>
              <p14:cNvPr id="13" name="Ink 12">
                <a:extLst>
                  <a:ext uri="{FF2B5EF4-FFF2-40B4-BE49-F238E27FC236}">
                    <a16:creationId xmlns:a16="http://schemas.microsoft.com/office/drawing/2014/main" id="{C25EBBF4-128E-E362-CF77-6D47EA0A29A6}"/>
                  </a:ext>
                </a:extLst>
              </p14:cNvPr>
              <p14:cNvContentPartPr/>
              <p14:nvPr/>
            </p14:nvContentPartPr>
            <p14:xfrm>
              <a:off x="6730920" y="4393980"/>
              <a:ext cx="1708560" cy="13320"/>
            </p14:xfrm>
          </p:contentPart>
        </mc:Choice>
        <mc:Fallback xmlns="">
          <p:pic>
            <p:nvPicPr>
              <p:cNvPr id="13" name="Ink 12">
                <a:extLst>
                  <a:ext uri="{FF2B5EF4-FFF2-40B4-BE49-F238E27FC236}">
                    <a16:creationId xmlns:a16="http://schemas.microsoft.com/office/drawing/2014/main" id="{C25EBBF4-128E-E362-CF77-6D47EA0A29A6}"/>
                  </a:ext>
                </a:extLst>
              </p:cNvPr>
              <p:cNvPicPr/>
              <p:nvPr/>
            </p:nvPicPr>
            <p:blipFill>
              <a:blip r:embed="rId5"/>
              <a:stretch>
                <a:fillRect/>
              </a:stretch>
            </p:blipFill>
            <p:spPr>
              <a:xfrm>
                <a:off x="6694920" y="4321980"/>
                <a:ext cx="1780200" cy="156960"/>
              </a:xfrm>
              <a:prstGeom prst="rect">
                <a:avLst/>
              </a:prstGeom>
            </p:spPr>
          </p:pic>
        </mc:Fallback>
      </mc:AlternateContent>
      <p:grpSp>
        <p:nvGrpSpPr>
          <p:cNvPr id="7" name="Group 6">
            <a:extLst>
              <a:ext uri="{FF2B5EF4-FFF2-40B4-BE49-F238E27FC236}">
                <a16:creationId xmlns:a16="http://schemas.microsoft.com/office/drawing/2014/main" id="{56ABC74F-E587-6EF2-4302-8C96C0BC7D4E}"/>
              </a:ext>
            </a:extLst>
          </p:cNvPr>
          <p:cNvGrpSpPr/>
          <p:nvPr/>
        </p:nvGrpSpPr>
        <p:grpSpPr>
          <a:xfrm>
            <a:off x="3169060" y="136833"/>
            <a:ext cx="6950920" cy="723900"/>
            <a:chOff x="739738" y="344774"/>
            <a:chExt cx="9439576" cy="1042237"/>
          </a:xfrm>
        </p:grpSpPr>
        <p:sp>
          <p:nvSpPr>
            <p:cNvPr id="9" name="Rectangle: Rounded Corners 8">
              <a:extLst>
                <a:ext uri="{FF2B5EF4-FFF2-40B4-BE49-F238E27FC236}">
                  <a16:creationId xmlns:a16="http://schemas.microsoft.com/office/drawing/2014/main" id="{DFF93C38-007B-1E30-2154-5639E443A957}"/>
                </a:ext>
              </a:extLst>
            </p:cNvPr>
            <p:cNvSpPr/>
            <p:nvPr/>
          </p:nvSpPr>
          <p:spPr>
            <a:xfrm>
              <a:off x="739739" y="344774"/>
              <a:ext cx="8311794" cy="1042237"/>
            </a:xfrm>
            <a:prstGeom prst="roundRect">
              <a:avLst/>
            </a:prstGeom>
            <a:solidFill>
              <a:schemeClr val="bg1">
                <a:lumMod val="85000"/>
              </a:schemeClr>
            </a:solidFill>
            <a:ln>
              <a:no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en-US" sz="2000" dirty="0"/>
            </a:p>
          </p:txBody>
        </p:sp>
        <p:sp>
          <p:nvSpPr>
            <p:cNvPr id="12" name="Title 1">
              <a:extLst>
                <a:ext uri="{FF2B5EF4-FFF2-40B4-BE49-F238E27FC236}">
                  <a16:creationId xmlns:a16="http://schemas.microsoft.com/office/drawing/2014/main" id="{8A2691FC-59E2-82A5-E12A-035070912A47}"/>
                </a:ext>
              </a:extLst>
            </p:cNvPr>
            <p:cNvSpPr txBox="1">
              <a:spLocks/>
            </p:cNvSpPr>
            <p:nvPr/>
          </p:nvSpPr>
          <p:spPr>
            <a:xfrm>
              <a:off x="739738" y="344774"/>
              <a:ext cx="9439576" cy="960044"/>
            </a:xfrm>
            <a:prstGeom prst="rect">
              <a:avLst/>
            </a:prstGeom>
            <a:noFill/>
            <a:ln w="12700" cap="flat" cmpd="sng" algn="ctr">
              <a:noFill/>
              <a:prstDash val="solid"/>
              <a:miter lim="800000"/>
            </a:ln>
          </p:spPr>
          <p:style>
            <a:lnRef idx="1">
              <a:schemeClr val="accent4"/>
            </a:lnRef>
            <a:fillRef idx="2">
              <a:schemeClr val="accent4"/>
            </a:fillRef>
            <a:effectRef idx="1">
              <a:schemeClr val="accent4"/>
            </a:effectRef>
            <a:fontRef idx="minor">
              <a:schemeClr val="dk1"/>
            </a:fontRef>
          </p:style>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l"/>
              <a:r>
                <a:rPr lang="en-US" sz="4000" dirty="0" err="1">
                  <a:solidFill>
                    <a:srgbClr val="C00000"/>
                  </a:solidFill>
                </a:rPr>
                <a:t>HDock</a:t>
              </a:r>
              <a:r>
                <a:rPr lang="en-US" sz="4000" dirty="0">
                  <a:solidFill>
                    <a:srgbClr val="C00000"/>
                  </a:solidFill>
                </a:rPr>
                <a:t> Docking Analysis</a:t>
              </a:r>
            </a:p>
          </p:txBody>
        </p:sp>
      </p:grpSp>
    </p:spTree>
    <p:extLst>
      <p:ext uri="{BB962C8B-B14F-4D97-AF65-F5344CB8AC3E}">
        <p14:creationId xmlns:p14="http://schemas.microsoft.com/office/powerpoint/2010/main" val="41032183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41F7C7-E7AF-8B68-6A72-F4F62476C0AA}"/>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083B032E-F4E5-ACCC-E8F9-B24A0705D3B5}"/>
              </a:ext>
            </a:extLst>
          </p:cNvPr>
          <p:cNvSpPr/>
          <p:nvPr/>
        </p:nvSpPr>
        <p:spPr>
          <a:xfrm>
            <a:off x="0" y="1675"/>
            <a:ext cx="12192000" cy="6858000"/>
          </a:xfrm>
          <a:prstGeom prst="rect">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800" dirty="0">
              <a:latin typeface="Arial" panose="020B0604020202020204" pitchFamily="34" charset="0"/>
              <a:cs typeface="Arial" panose="020B0604020202020204" pitchFamily="34" charset="0"/>
            </a:endParaRPr>
          </a:p>
        </p:txBody>
      </p:sp>
      <p:grpSp>
        <p:nvGrpSpPr>
          <p:cNvPr id="7" name="Group 6">
            <a:extLst>
              <a:ext uri="{FF2B5EF4-FFF2-40B4-BE49-F238E27FC236}">
                <a16:creationId xmlns:a16="http://schemas.microsoft.com/office/drawing/2014/main" id="{BE62E5D1-7922-7564-CB12-B63FE0FBC694}"/>
              </a:ext>
            </a:extLst>
          </p:cNvPr>
          <p:cNvGrpSpPr/>
          <p:nvPr/>
        </p:nvGrpSpPr>
        <p:grpSpPr>
          <a:xfrm>
            <a:off x="351920" y="1048771"/>
            <a:ext cx="6618734" cy="456846"/>
            <a:chOff x="357966" y="2951177"/>
            <a:chExt cx="3656550" cy="1092351"/>
          </a:xfrm>
        </p:grpSpPr>
        <p:sp>
          <p:nvSpPr>
            <p:cNvPr id="8" name="Rectangle: Rounded Corners 7">
              <a:extLst>
                <a:ext uri="{FF2B5EF4-FFF2-40B4-BE49-F238E27FC236}">
                  <a16:creationId xmlns:a16="http://schemas.microsoft.com/office/drawing/2014/main" id="{4DBBFFAE-F891-1A46-1862-5567515369E3}"/>
                </a:ext>
              </a:extLst>
            </p:cNvPr>
            <p:cNvSpPr/>
            <p:nvPr/>
          </p:nvSpPr>
          <p:spPr>
            <a:xfrm>
              <a:off x="357966" y="2951177"/>
              <a:ext cx="3656550" cy="1092351"/>
            </a:xfrm>
            <a:prstGeom prst="roundRect">
              <a:avLst>
                <a:gd name="adj" fmla="val 10000"/>
              </a:avLst>
            </a:prstGeom>
            <a:solidFill>
              <a:srgbClr val="C00000"/>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en-US"/>
            </a:p>
          </p:txBody>
        </p:sp>
        <p:sp>
          <p:nvSpPr>
            <p:cNvPr id="9" name="Rectangle: Rounded Corners 4">
              <a:extLst>
                <a:ext uri="{FF2B5EF4-FFF2-40B4-BE49-F238E27FC236}">
                  <a16:creationId xmlns:a16="http://schemas.microsoft.com/office/drawing/2014/main" id="{3F26B25B-CE18-12FB-FB2E-A5009B0F6F3A}"/>
                </a:ext>
              </a:extLst>
            </p:cNvPr>
            <p:cNvSpPr txBox="1"/>
            <p:nvPr/>
          </p:nvSpPr>
          <p:spPr>
            <a:xfrm>
              <a:off x="389960" y="2983171"/>
              <a:ext cx="3592562" cy="102836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34290" tIns="22860" rIns="34290" bIns="22860" numCol="1" spcCol="1270" anchor="t" anchorCtr="0">
              <a:noAutofit/>
            </a:bodyPr>
            <a:lstStyle/>
            <a:p>
              <a:pPr marL="0" lvl="0" indent="0" algn="ctr" defTabSz="800100">
                <a:lnSpc>
                  <a:spcPct val="150000"/>
                </a:lnSpc>
                <a:spcBef>
                  <a:spcPct val="0"/>
                </a:spcBef>
                <a:spcAft>
                  <a:spcPct val="35000"/>
                </a:spcAft>
                <a:buNone/>
              </a:pPr>
              <a:r>
                <a:rPr lang="en-US" dirty="0"/>
                <a:t>TLR- 4 – Multiepitope peptide vaccine candidate Docking</a:t>
              </a:r>
              <a:r>
                <a:rPr lang="en-US" sz="1800" kern="1200" dirty="0"/>
                <a:t> </a:t>
              </a:r>
              <a:r>
                <a:rPr lang="en-US" dirty="0"/>
                <a:t>W</a:t>
              </a:r>
              <a:r>
                <a:rPr lang="en-US" sz="1800" kern="1200" dirty="0"/>
                <a:t>orkflow</a:t>
              </a:r>
            </a:p>
          </p:txBody>
        </p:sp>
      </p:grpSp>
      <p:sp>
        <p:nvSpPr>
          <p:cNvPr id="10" name="TextBox 9">
            <a:extLst>
              <a:ext uri="{FF2B5EF4-FFF2-40B4-BE49-F238E27FC236}">
                <a16:creationId xmlns:a16="http://schemas.microsoft.com/office/drawing/2014/main" id="{9E3ED9C8-F5A3-50AF-3570-540882049869}"/>
              </a:ext>
            </a:extLst>
          </p:cNvPr>
          <p:cNvSpPr txBox="1"/>
          <p:nvPr/>
        </p:nvSpPr>
        <p:spPr>
          <a:xfrm>
            <a:off x="932104" y="3726705"/>
            <a:ext cx="1762648" cy="369332"/>
          </a:xfrm>
          <a:prstGeom prst="rect">
            <a:avLst/>
          </a:prstGeom>
          <a:noFill/>
        </p:spPr>
        <p:txBody>
          <a:bodyPr wrap="square" rtlCol="0">
            <a:spAutoFit/>
          </a:bodyPr>
          <a:lstStyle/>
          <a:p>
            <a:r>
              <a:rPr lang="en-US" dirty="0">
                <a:solidFill>
                  <a:srgbClr val="C00000"/>
                </a:solidFill>
              </a:rPr>
              <a:t>TLR – 4 (8WTA) </a:t>
            </a:r>
          </a:p>
        </p:txBody>
      </p:sp>
      <p:pic>
        <p:nvPicPr>
          <p:cNvPr id="14" name="Picture 13" descr="A blue and green spiral&#10;&#10;AI-generated content may be incorrect.">
            <a:extLst>
              <a:ext uri="{FF2B5EF4-FFF2-40B4-BE49-F238E27FC236}">
                <a16:creationId xmlns:a16="http://schemas.microsoft.com/office/drawing/2014/main" id="{8CD516B9-DAA3-D099-BEB1-2AAEF52425B1}"/>
              </a:ext>
            </a:extLst>
          </p:cNvPr>
          <p:cNvPicPr>
            <a:picLocks noChangeAspect="1"/>
          </p:cNvPicPr>
          <p:nvPr/>
        </p:nvPicPr>
        <p:blipFill>
          <a:blip r:embed="rId3">
            <a:extLst>
              <a:ext uri="{28A0092B-C50C-407E-A947-70E740481C1C}">
                <a14:useLocalDpi xmlns:a14="http://schemas.microsoft.com/office/drawing/2010/main" val="0"/>
              </a:ext>
            </a:extLst>
          </a:blip>
          <a:srcRect l="16178" t="17686" r="16371" b="10946"/>
          <a:stretch>
            <a:fillRect/>
          </a:stretch>
        </p:blipFill>
        <p:spPr>
          <a:xfrm rot="554966">
            <a:off x="333026" y="1590531"/>
            <a:ext cx="3083487" cy="2187847"/>
          </a:xfrm>
          <a:prstGeom prst="rect">
            <a:avLst/>
          </a:prstGeom>
        </p:spPr>
      </p:pic>
      <p:sp>
        <p:nvSpPr>
          <p:cNvPr id="20" name="TextBox 19">
            <a:extLst>
              <a:ext uri="{FF2B5EF4-FFF2-40B4-BE49-F238E27FC236}">
                <a16:creationId xmlns:a16="http://schemas.microsoft.com/office/drawing/2014/main" id="{A12FCDEA-426F-58B2-2B90-60667A59652F}"/>
              </a:ext>
            </a:extLst>
          </p:cNvPr>
          <p:cNvSpPr txBox="1"/>
          <p:nvPr/>
        </p:nvSpPr>
        <p:spPr>
          <a:xfrm>
            <a:off x="7866035" y="1925905"/>
            <a:ext cx="1010101" cy="369332"/>
          </a:xfrm>
          <a:prstGeom prst="rect">
            <a:avLst/>
          </a:prstGeom>
          <a:noFill/>
        </p:spPr>
        <p:txBody>
          <a:bodyPr wrap="square" rtlCol="0">
            <a:spAutoFit/>
          </a:bodyPr>
          <a:lstStyle/>
          <a:p>
            <a:r>
              <a:rPr lang="en-US" dirty="0">
                <a:solidFill>
                  <a:srgbClr val="C00000"/>
                </a:solidFill>
              </a:rPr>
              <a:t>TLR - 4</a:t>
            </a:r>
          </a:p>
        </p:txBody>
      </p:sp>
      <p:sp>
        <p:nvSpPr>
          <p:cNvPr id="21" name="TextBox 20">
            <a:extLst>
              <a:ext uri="{FF2B5EF4-FFF2-40B4-BE49-F238E27FC236}">
                <a16:creationId xmlns:a16="http://schemas.microsoft.com/office/drawing/2014/main" id="{4088E73D-2A2D-1808-21B6-B627BB97BE71}"/>
              </a:ext>
            </a:extLst>
          </p:cNvPr>
          <p:cNvSpPr txBox="1"/>
          <p:nvPr/>
        </p:nvSpPr>
        <p:spPr>
          <a:xfrm>
            <a:off x="10096491" y="2438721"/>
            <a:ext cx="878623" cy="320859"/>
          </a:xfrm>
          <a:prstGeom prst="rect">
            <a:avLst/>
          </a:prstGeom>
          <a:noFill/>
        </p:spPr>
        <p:txBody>
          <a:bodyPr wrap="square" rtlCol="0">
            <a:spAutoFit/>
          </a:bodyPr>
          <a:lstStyle/>
          <a:p>
            <a:r>
              <a:rPr lang="en-US" dirty="0">
                <a:solidFill>
                  <a:srgbClr val="C00000"/>
                </a:solidFill>
              </a:rPr>
              <a:t>MD-2</a:t>
            </a:r>
          </a:p>
        </p:txBody>
      </p:sp>
      <p:grpSp>
        <p:nvGrpSpPr>
          <p:cNvPr id="28" name="Group 27">
            <a:extLst>
              <a:ext uri="{FF2B5EF4-FFF2-40B4-BE49-F238E27FC236}">
                <a16:creationId xmlns:a16="http://schemas.microsoft.com/office/drawing/2014/main" id="{61276A37-72D7-36D2-D9C3-091BE1C0E2D9}"/>
              </a:ext>
            </a:extLst>
          </p:cNvPr>
          <p:cNvGrpSpPr/>
          <p:nvPr/>
        </p:nvGrpSpPr>
        <p:grpSpPr>
          <a:xfrm>
            <a:off x="3579855" y="3002650"/>
            <a:ext cx="971550" cy="908721"/>
            <a:chOff x="3824717" y="4171950"/>
            <a:chExt cx="971550" cy="908721"/>
          </a:xfrm>
        </p:grpSpPr>
        <p:pic>
          <p:nvPicPr>
            <p:cNvPr id="22" name="Picture 21">
              <a:extLst>
                <a:ext uri="{FF2B5EF4-FFF2-40B4-BE49-F238E27FC236}">
                  <a16:creationId xmlns:a16="http://schemas.microsoft.com/office/drawing/2014/main" id="{472C9221-2E05-C6F5-3231-15655E853FD9}"/>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13056" b="81389" l="34844" r="64844">
                          <a14:foregroundMark x1="37969" y1="60694" x2="36875" y2="29583"/>
                          <a14:foregroundMark x1="36875" y1="29583" x2="37734" y2="17639"/>
                          <a14:foregroundMark x1="37734" y1="17639" x2="41875" y2="15417"/>
                          <a14:foregroundMark x1="36094" y1="61528" x2="35156" y2="23056"/>
                          <a14:foregroundMark x1="35156" y1="23056" x2="36719" y2="16806"/>
                          <a14:foregroundMark x1="36719" y1="16806" x2="40938" y2="13611"/>
                          <a14:foregroundMark x1="40938" y1="13611" x2="45234" y2="13056"/>
                          <a14:foregroundMark x1="45234" y1="13056" x2="50156" y2="13333"/>
                          <a14:foregroundMark x1="36719" y1="15694" x2="34844" y2="27639"/>
                          <a14:foregroundMark x1="50625" y1="14028" x2="63438" y2="15417"/>
                          <a14:foregroundMark x1="63438" y1="15417" x2="64844" y2="22500"/>
                          <a14:foregroundMark x1="64844" y1="22500" x2="64141" y2="57500"/>
                          <a14:foregroundMark x1="56563" y1="36667" x2="56953" y2="35833"/>
                          <a14:foregroundMark x1="39688" y1="72778" x2="39688" y2="78889"/>
                          <a14:foregroundMark x1="43594" y1="75972" x2="44219" y2="78611"/>
                          <a14:foregroundMark x1="42969" y1="81389" x2="42969" y2="81389"/>
                          <a14:foregroundMark x1="45234" y1="74583" x2="45234" y2="74583"/>
                          <a14:foregroundMark x1="47578" y1="72361" x2="47578" y2="72361"/>
                          <a14:foregroundMark x1="51094" y1="74028" x2="51094" y2="74028"/>
                          <a14:foregroundMark x1="53047" y1="74444" x2="53047" y2="74444"/>
                          <a14:foregroundMark x1="58828" y1="73611" x2="58828" y2="73611"/>
                        </a14:backgroundRemoval>
                      </a14:imgEffect>
                    </a14:imgLayer>
                  </a14:imgProps>
                </a:ext>
              </a:extLst>
            </a:blip>
            <a:srcRect l="34766" t="12200" r="34531" b="17515"/>
            <a:stretch>
              <a:fillRect/>
            </a:stretch>
          </p:blipFill>
          <p:spPr>
            <a:xfrm>
              <a:off x="3955764" y="4246745"/>
              <a:ext cx="647614" cy="833926"/>
            </a:xfrm>
            <a:prstGeom prst="rect">
              <a:avLst/>
            </a:prstGeom>
          </p:spPr>
        </p:pic>
        <p:cxnSp>
          <p:nvCxnSpPr>
            <p:cNvPr id="24" name="Straight Arrow Connector 23">
              <a:extLst>
                <a:ext uri="{FF2B5EF4-FFF2-40B4-BE49-F238E27FC236}">
                  <a16:creationId xmlns:a16="http://schemas.microsoft.com/office/drawing/2014/main" id="{C49F5F9C-EF0A-C5C0-589E-B1E793E45BA5}"/>
                </a:ext>
              </a:extLst>
            </p:cNvPr>
            <p:cNvCxnSpPr/>
            <p:nvPr/>
          </p:nvCxnSpPr>
          <p:spPr>
            <a:xfrm>
              <a:off x="3824717" y="4171950"/>
              <a:ext cx="971550" cy="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pic>
        <p:nvPicPr>
          <p:cNvPr id="26" name="Picture 25" descr="A blue spiral with black background&#10;&#10;AI-generated content may be incorrect.">
            <a:extLst>
              <a:ext uri="{FF2B5EF4-FFF2-40B4-BE49-F238E27FC236}">
                <a16:creationId xmlns:a16="http://schemas.microsoft.com/office/drawing/2014/main" id="{85587C34-5901-BA2C-F766-37EEC23D64EF}"/>
              </a:ext>
            </a:extLst>
          </p:cNvPr>
          <p:cNvPicPr>
            <a:picLocks noChangeAspect="1"/>
          </p:cNvPicPr>
          <p:nvPr/>
        </p:nvPicPr>
        <p:blipFill>
          <a:blip r:embed="rId6">
            <a:extLst>
              <a:ext uri="{28A0092B-C50C-407E-A947-70E740481C1C}">
                <a14:useLocalDpi xmlns:a14="http://schemas.microsoft.com/office/drawing/2010/main" val="0"/>
              </a:ext>
            </a:extLst>
          </a:blip>
          <a:srcRect l="29884" t="20714" r="23634" b="12369"/>
          <a:stretch>
            <a:fillRect/>
          </a:stretch>
        </p:blipFill>
        <p:spPr>
          <a:xfrm>
            <a:off x="7540037" y="2127741"/>
            <a:ext cx="1662095" cy="1784457"/>
          </a:xfrm>
          <a:prstGeom prst="rect">
            <a:avLst/>
          </a:prstGeom>
        </p:spPr>
      </p:pic>
      <p:pic>
        <p:nvPicPr>
          <p:cNvPr id="30" name="Picture 29" descr="A purple ribbon on a black background&#10;&#10;AI-generated content may be incorrect.">
            <a:extLst>
              <a:ext uri="{FF2B5EF4-FFF2-40B4-BE49-F238E27FC236}">
                <a16:creationId xmlns:a16="http://schemas.microsoft.com/office/drawing/2014/main" id="{3CB2A40E-8405-DF41-C0E6-3AC3F70E7E87}"/>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787194" y="2643172"/>
            <a:ext cx="1294502" cy="970876"/>
          </a:xfrm>
          <a:prstGeom prst="rect">
            <a:avLst/>
          </a:prstGeom>
        </p:spPr>
      </p:pic>
      <p:cxnSp>
        <p:nvCxnSpPr>
          <p:cNvPr id="31" name="Straight Arrow Connector 30">
            <a:extLst>
              <a:ext uri="{FF2B5EF4-FFF2-40B4-BE49-F238E27FC236}">
                <a16:creationId xmlns:a16="http://schemas.microsoft.com/office/drawing/2014/main" id="{9BD43A8D-B443-BB3A-41AF-1BE271F2A089}"/>
              </a:ext>
            </a:extLst>
          </p:cNvPr>
          <p:cNvCxnSpPr>
            <a:cxnSpLocks/>
          </p:cNvCxnSpPr>
          <p:nvPr/>
        </p:nvCxnSpPr>
        <p:spPr>
          <a:xfrm>
            <a:off x="4832469" y="3002650"/>
            <a:ext cx="850404" cy="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FB39D046-2141-2A11-E934-A9B970F24EDD}"/>
              </a:ext>
            </a:extLst>
          </p:cNvPr>
          <p:cNvCxnSpPr>
            <a:cxnSpLocks/>
          </p:cNvCxnSpPr>
          <p:nvPr/>
        </p:nvCxnSpPr>
        <p:spPr>
          <a:xfrm>
            <a:off x="5989574" y="3002650"/>
            <a:ext cx="981079" cy="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pic>
        <p:nvPicPr>
          <p:cNvPr id="37" name="Picture 36">
            <a:extLst>
              <a:ext uri="{FF2B5EF4-FFF2-40B4-BE49-F238E27FC236}">
                <a16:creationId xmlns:a16="http://schemas.microsoft.com/office/drawing/2014/main" id="{AF3B1548-4B29-7373-3A21-46B1FB24F030}"/>
              </a:ext>
            </a:extLst>
          </p:cNvPr>
          <p:cNvPicPr>
            <a:picLocks noChangeAspect="1"/>
          </p:cNvPicPr>
          <p:nvPr/>
        </p:nvPicPr>
        <p:blipFill>
          <a:blip r:embed="rId8"/>
          <a:stretch>
            <a:fillRect/>
          </a:stretch>
        </p:blipFill>
        <p:spPr>
          <a:xfrm>
            <a:off x="4717327" y="3095509"/>
            <a:ext cx="1057298" cy="408286"/>
          </a:xfrm>
          <a:prstGeom prst="rect">
            <a:avLst/>
          </a:prstGeom>
        </p:spPr>
      </p:pic>
      <p:sp>
        <p:nvSpPr>
          <p:cNvPr id="39" name="TextBox 38">
            <a:extLst>
              <a:ext uri="{FF2B5EF4-FFF2-40B4-BE49-F238E27FC236}">
                <a16:creationId xmlns:a16="http://schemas.microsoft.com/office/drawing/2014/main" id="{75B7E7F5-0007-F905-987C-0F425F2D210F}"/>
              </a:ext>
            </a:extLst>
          </p:cNvPr>
          <p:cNvSpPr txBox="1"/>
          <p:nvPr/>
        </p:nvSpPr>
        <p:spPr>
          <a:xfrm>
            <a:off x="5989574" y="2578589"/>
            <a:ext cx="1294502" cy="430887"/>
          </a:xfrm>
          <a:prstGeom prst="rect">
            <a:avLst/>
          </a:prstGeom>
          <a:noFill/>
        </p:spPr>
        <p:txBody>
          <a:bodyPr wrap="square" rtlCol="0">
            <a:spAutoFit/>
          </a:bodyPr>
          <a:lstStyle/>
          <a:p>
            <a:r>
              <a:rPr lang="en-US" sz="1100" dirty="0"/>
              <a:t>Energy minimization</a:t>
            </a:r>
          </a:p>
        </p:txBody>
      </p:sp>
      <p:sp>
        <p:nvSpPr>
          <p:cNvPr id="41" name="TextBox 40">
            <a:extLst>
              <a:ext uri="{FF2B5EF4-FFF2-40B4-BE49-F238E27FC236}">
                <a16:creationId xmlns:a16="http://schemas.microsoft.com/office/drawing/2014/main" id="{4C1FC990-95DE-5B0B-F6CC-5010C70156C3}"/>
              </a:ext>
            </a:extLst>
          </p:cNvPr>
          <p:cNvSpPr txBox="1"/>
          <p:nvPr/>
        </p:nvSpPr>
        <p:spPr>
          <a:xfrm>
            <a:off x="4802152" y="2571763"/>
            <a:ext cx="1294502" cy="430887"/>
          </a:xfrm>
          <a:prstGeom prst="rect">
            <a:avLst/>
          </a:prstGeom>
          <a:noFill/>
        </p:spPr>
        <p:txBody>
          <a:bodyPr wrap="square" rtlCol="0">
            <a:spAutoFit/>
          </a:bodyPr>
          <a:lstStyle/>
          <a:p>
            <a:r>
              <a:rPr lang="en-US" sz="1100" dirty="0"/>
              <a:t>Structure refinement</a:t>
            </a:r>
          </a:p>
        </p:txBody>
      </p:sp>
      <p:pic>
        <p:nvPicPr>
          <p:cNvPr id="42" name="Picture 41">
            <a:extLst>
              <a:ext uri="{FF2B5EF4-FFF2-40B4-BE49-F238E27FC236}">
                <a16:creationId xmlns:a16="http://schemas.microsoft.com/office/drawing/2014/main" id="{47CD095B-ECE8-25E1-0F3F-9D53ED324772}"/>
              </a:ext>
            </a:extLst>
          </p:cNvPr>
          <p:cNvPicPr>
            <a:picLocks noChangeAspect="1"/>
          </p:cNvPicPr>
          <p:nvPr/>
        </p:nvPicPr>
        <p:blipFill>
          <a:blip r:embed="rId9"/>
          <a:stretch>
            <a:fillRect/>
          </a:stretch>
        </p:blipFill>
        <p:spPr>
          <a:xfrm>
            <a:off x="6047475" y="3107396"/>
            <a:ext cx="865276" cy="562429"/>
          </a:xfrm>
          <a:prstGeom prst="rect">
            <a:avLst/>
          </a:prstGeom>
        </p:spPr>
      </p:pic>
      <p:sp>
        <p:nvSpPr>
          <p:cNvPr id="45" name="TextBox 44">
            <a:extLst>
              <a:ext uri="{FF2B5EF4-FFF2-40B4-BE49-F238E27FC236}">
                <a16:creationId xmlns:a16="http://schemas.microsoft.com/office/drawing/2014/main" id="{B1E7EAFB-831D-E615-7DCA-C2E1A3A7E107}"/>
              </a:ext>
            </a:extLst>
          </p:cNvPr>
          <p:cNvSpPr txBox="1"/>
          <p:nvPr/>
        </p:nvSpPr>
        <p:spPr>
          <a:xfrm>
            <a:off x="3538530" y="2400312"/>
            <a:ext cx="1294502" cy="600164"/>
          </a:xfrm>
          <a:prstGeom prst="rect">
            <a:avLst/>
          </a:prstGeom>
          <a:noFill/>
        </p:spPr>
        <p:txBody>
          <a:bodyPr wrap="square" rtlCol="0">
            <a:spAutoFit/>
          </a:bodyPr>
          <a:lstStyle/>
          <a:p>
            <a:r>
              <a:rPr lang="en-US" sz="1100" dirty="0"/>
              <a:t>Receptor and native protein separation</a:t>
            </a:r>
          </a:p>
        </p:txBody>
      </p:sp>
      <p:cxnSp>
        <p:nvCxnSpPr>
          <p:cNvPr id="46" name="Straight Arrow Connector 45">
            <a:extLst>
              <a:ext uri="{FF2B5EF4-FFF2-40B4-BE49-F238E27FC236}">
                <a16:creationId xmlns:a16="http://schemas.microsoft.com/office/drawing/2014/main" id="{DF731893-C0C4-E011-5335-07600452E8C2}"/>
              </a:ext>
            </a:extLst>
          </p:cNvPr>
          <p:cNvCxnSpPr>
            <a:cxnSpLocks/>
          </p:cNvCxnSpPr>
          <p:nvPr/>
        </p:nvCxnSpPr>
        <p:spPr>
          <a:xfrm>
            <a:off x="3645047" y="5033454"/>
            <a:ext cx="850404" cy="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3789EE67-4661-250F-323F-984D0ECC1259}"/>
              </a:ext>
            </a:extLst>
          </p:cNvPr>
          <p:cNvCxnSpPr>
            <a:cxnSpLocks/>
          </p:cNvCxnSpPr>
          <p:nvPr/>
        </p:nvCxnSpPr>
        <p:spPr>
          <a:xfrm>
            <a:off x="4802152" y="5033454"/>
            <a:ext cx="981079" cy="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pic>
        <p:nvPicPr>
          <p:cNvPr id="48" name="Picture 47">
            <a:extLst>
              <a:ext uri="{FF2B5EF4-FFF2-40B4-BE49-F238E27FC236}">
                <a16:creationId xmlns:a16="http://schemas.microsoft.com/office/drawing/2014/main" id="{897D15E7-B294-6DD9-1214-552E4A60B987}"/>
              </a:ext>
            </a:extLst>
          </p:cNvPr>
          <p:cNvPicPr>
            <a:picLocks noChangeAspect="1"/>
          </p:cNvPicPr>
          <p:nvPr/>
        </p:nvPicPr>
        <p:blipFill>
          <a:blip r:embed="rId8"/>
          <a:stretch>
            <a:fillRect/>
          </a:stretch>
        </p:blipFill>
        <p:spPr>
          <a:xfrm>
            <a:off x="3529905" y="5126313"/>
            <a:ext cx="1057298" cy="408286"/>
          </a:xfrm>
          <a:prstGeom prst="rect">
            <a:avLst/>
          </a:prstGeom>
        </p:spPr>
      </p:pic>
      <p:sp>
        <p:nvSpPr>
          <p:cNvPr id="49" name="TextBox 48">
            <a:extLst>
              <a:ext uri="{FF2B5EF4-FFF2-40B4-BE49-F238E27FC236}">
                <a16:creationId xmlns:a16="http://schemas.microsoft.com/office/drawing/2014/main" id="{A3559977-6690-6CD1-BEF9-F52E1D762200}"/>
              </a:ext>
            </a:extLst>
          </p:cNvPr>
          <p:cNvSpPr txBox="1"/>
          <p:nvPr/>
        </p:nvSpPr>
        <p:spPr>
          <a:xfrm>
            <a:off x="4802152" y="4609393"/>
            <a:ext cx="1294502" cy="430887"/>
          </a:xfrm>
          <a:prstGeom prst="rect">
            <a:avLst/>
          </a:prstGeom>
          <a:noFill/>
        </p:spPr>
        <p:txBody>
          <a:bodyPr wrap="square" rtlCol="0">
            <a:spAutoFit/>
          </a:bodyPr>
          <a:lstStyle/>
          <a:p>
            <a:r>
              <a:rPr lang="en-US" sz="1100" dirty="0"/>
              <a:t>Energy minimization</a:t>
            </a:r>
          </a:p>
        </p:txBody>
      </p:sp>
      <p:sp>
        <p:nvSpPr>
          <p:cNvPr id="50" name="TextBox 49">
            <a:extLst>
              <a:ext uri="{FF2B5EF4-FFF2-40B4-BE49-F238E27FC236}">
                <a16:creationId xmlns:a16="http://schemas.microsoft.com/office/drawing/2014/main" id="{634193D5-F954-BD1A-DF06-240CAE6D07E6}"/>
              </a:ext>
            </a:extLst>
          </p:cNvPr>
          <p:cNvSpPr txBox="1"/>
          <p:nvPr/>
        </p:nvSpPr>
        <p:spPr>
          <a:xfrm>
            <a:off x="3614730" y="4602567"/>
            <a:ext cx="1294502" cy="430887"/>
          </a:xfrm>
          <a:prstGeom prst="rect">
            <a:avLst/>
          </a:prstGeom>
          <a:noFill/>
        </p:spPr>
        <p:txBody>
          <a:bodyPr wrap="square" rtlCol="0">
            <a:spAutoFit/>
          </a:bodyPr>
          <a:lstStyle/>
          <a:p>
            <a:r>
              <a:rPr lang="en-US" sz="1100" dirty="0"/>
              <a:t>Structure refinement</a:t>
            </a:r>
          </a:p>
        </p:txBody>
      </p:sp>
      <p:pic>
        <p:nvPicPr>
          <p:cNvPr id="51" name="Picture 50">
            <a:extLst>
              <a:ext uri="{FF2B5EF4-FFF2-40B4-BE49-F238E27FC236}">
                <a16:creationId xmlns:a16="http://schemas.microsoft.com/office/drawing/2014/main" id="{7C36E3AA-C019-8631-EAA2-89ED4749DD21}"/>
              </a:ext>
            </a:extLst>
          </p:cNvPr>
          <p:cNvPicPr>
            <a:picLocks noChangeAspect="1"/>
          </p:cNvPicPr>
          <p:nvPr/>
        </p:nvPicPr>
        <p:blipFill>
          <a:blip r:embed="rId9"/>
          <a:stretch>
            <a:fillRect/>
          </a:stretch>
        </p:blipFill>
        <p:spPr>
          <a:xfrm>
            <a:off x="4860053" y="5138200"/>
            <a:ext cx="865276" cy="562429"/>
          </a:xfrm>
          <a:prstGeom prst="rect">
            <a:avLst/>
          </a:prstGeom>
        </p:spPr>
      </p:pic>
      <p:sp>
        <p:nvSpPr>
          <p:cNvPr id="52" name="TextBox 51">
            <a:extLst>
              <a:ext uri="{FF2B5EF4-FFF2-40B4-BE49-F238E27FC236}">
                <a16:creationId xmlns:a16="http://schemas.microsoft.com/office/drawing/2014/main" id="{0862F890-F497-5FE5-4819-956037E368E3}"/>
              </a:ext>
            </a:extLst>
          </p:cNvPr>
          <p:cNvSpPr txBox="1"/>
          <p:nvPr/>
        </p:nvSpPr>
        <p:spPr>
          <a:xfrm>
            <a:off x="826541" y="5501055"/>
            <a:ext cx="2343151" cy="646331"/>
          </a:xfrm>
          <a:prstGeom prst="rect">
            <a:avLst/>
          </a:prstGeom>
          <a:noFill/>
        </p:spPr>
        <p:txBody>
          <a:bodyPr wrap="square" rtlCol="0">
            <a:spAutoFit/>
          </a:bodyPr>
          <a:lstStyle/>
          <a:p>
            <a:r>
              <a:rPr lang="en-US" dirty="0">
                <a:solidFill>
                  <a:srgbClr val="C00000"/>
                </a:solidFill>
              </a:rPr>
              <a:t>Multi-epitope peptide vaccine candidates</a:t>
            </a:r>
          </a:p>
        </p:txBody>
      </p:sp>
      <p:sp>
        <p:nvSpPr>
          <p:cNvPr id="53" name="Rectangle: Rounded Corners 52">
            <a:extLst>
              <a:ext uri="{FF2B5EF4-FFF2-40B4-BE49-F238E27FC236}">
                <a16:creationId xmlns:a16="http://schemas.microsoft.com/office/drawing/2014/main" id="{36C4E2DE-D695-459E-89FE-5242B12EB4CC}"/>
              </a:ext>
            </a:extLst>
          </p:cNvPr>
          <p:cNvSpPr/>
          <p:nvPr/>
        </p:nvSpPr>
        <p:spPr>
          <a:xfrm>
            <a:off x="1229544" y="4717114"/>
            <a:ext cx="524108" cy="215443"/>
          </a:xfrm>
          <a:prstGeom prst="round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C1</a:t>
            </a:r>
          </a:p>
        </p:txBody>
      </p:sp>
      <p:sp>
        <p:nvSpPr>
          <p:cNvPr id="54" name="Rectangle: Rounded Corners 53">
            <a:extLst>
              <a:ext uri="{FF2B5EF4-FFF2-40B4-BE49-F238E27FC236}">
                <a16:creationId xmlns:a16="http://schemas.microsoft.com/office/drawing/2014/main" id="{35154168-02A0-E0E5-FF26-3203378F3798}"/>
              </a:ext>
            </a:extLst>
          </p:cNvPr>
          <p:cNvSpPr/>
          <p:nvPr/>
        </p:nvSpPr>
        <p:spPr>
          <a:xfrm>
            <a:off x="1289320" y="5055551"/>
            <a:ext cx="524108" cy="215443"/>
          </a:xfrm>
          <a:prstGeom prst="round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C2</a:t>
            </a:r>
          </a:p>
        </p:txBody>
      </p:sp>
      <p:sp>
        <p:nvSpPr>
          <p:cNvPr id="55" name="Rectangle: Rounded Corners 54">
            <a:extLst>
              <a:ext uri="{FF2B5EF4-FFF2-40B4-BE49-F238E27FC236}">
                <a16:creationId xmlns:a16="http://schemas.microsoft.com/office/drawing/2014/main" id="{CCAD6CC3-9808-76FE-0133-9AB58A6722D5}"/>
              </a:ext>
            </a:extLst>
          </p:cNvPr>
          <p:cNvSpPr/>
          <p:nvPr/>
        </p:nvSpPr>
        <p:spPr>
          <a:xfrm>
            <a:off x="1934794" y="5199269"/>
            <a:ext cx="524108" cy="215443"/>
          </a:xfrm>
          <a:prstGeom prst="round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C6</a:t>
            </a:r>
          </a:p>
        </p:txBody>
      </p:sp>
      <p:sp>
        <p:nvSpPr>
          <p:cNvPr id="56" name="Rectangle: Rounded Corners 55">
            <a:extLst>
              <a:ext uri="{FF2B5EF4-FFF2-40B4-BE49-F238E27FC236}">
                <a16:creationId xmlns:a16="http://schemas.microsoft.com/office/drawing/2014/main" id="{04EE688A-9B00-0BCE-BE11-2735A1804FB6}"/>
              </a:ext>
            </a:extLst>
          </p:cNvPr>
          <p:cNvSpPr/>
          <p:nvPr/>
        </p:nvSpPr>
        <p:spPr>
          <a:xfrm>
            <a:off x="2024606" y="4826829"/>
            <a:ext cx="524108" cy="215443"/>
          </a:xfrm>
          <a:prstGeom prst="round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C5</a:t>
            </a:r>
          </a:p>
        </p:txBody>
      </p:sp>
      <p:pic>
        <p:nvPicPr>
          <p:cNvPr id="66" name="Picture 65" descr="A close-up of a protein&#10;&#10;AI-generated content may be incorrect.">
            <a:extLst>
              <a:ext uri="{FF2B5EF4-FFF2-40B4-BE49-F238E27FC236}">
                <a16:creationId xmlns:a16="http://schemas.microsoft.com/office/drawing/2014/main" id="{16B32C82-8269-1C96-98E1-370BE5078D30}"/>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6011272" y="4461271"/>
            <a:ext cx="1755958" cy="1215912"/>
          </a:xfrm>
          <a:prstGeom prst="rect">
            <a:avLst/>
          </a:prstGeom>
        </p:spPr>
      </p:pic>
      <p:sp>
        <p:nvSpPr>
          <p:cNvPr id="67" name="TextBox 66">
            <a:extLst>
              <a:ext uri="{FF2B5EF4-FFF2-40B4-BE49-F238E27FC236}">
                <a16:creationId xmlns:a16="http://schemas.microsoft.com/office/drawing/2014/main" id="{3F482DDC-8CA5-FAE9-F856-E5678CD0C244}"/>
              </a:ext>
            </a:extLst>
          </p:cNvPr>
          <p:cNvSpPr txBox="1"/>
          <p:nvPr/>
        </p:nvSpPr>
        <p:spPr>
          <a:xfrm>
            <a:off x="6746755" y="5586390"/>
            <a:ext cx="467412" cy="369332"/>
          </a:xfrm>
          <a:prstGeom prst="rect">
            <a:avLst/>
          </a:prstGeom>
          <a:noFill/>
        </p:spPr>
        <p:txBody>
          <a:bodyPr wrap="square" rtlCol="0">
            <a:spAutoFit/>
          </a:bodyPr>
          <a:lstStyle/>
          <a:p>
            <a:r>
              <a:rPr lang="en-US" dirty="0">
                <a:solidFill>
                  <a:srgbClr val="C00000"/>
                </a:solidFill>
              </a:rPr>
              <a:t>C1</a:t>
            </a:r>
          </a:p>
        </p:txBody>
      </p:sp>
      <p:pic>
        <p:nvPicPr>
          <p:cNvPr id="69" name="Picture 68" descr="A colorful spirals of dna&#10;&#10;AI-generated content may be incorrect.">
            <a:extLst>
              <a:ext uri="{FF2B5EF4-FFF2-40B4-BE49-F238E27FC236}">
                <a16:creationId xmlns:a16="http://schemas.microsoft.com/office/drawing/2014/main" id="{D3F57B0F-A4C1-507D-A695-D9F94F6DE5B1}"/>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7198694" y="4461280"/>
            <a:ext cx="1755958" cy="1190759"/>
          </a:xfrm>
          <a:prstGeom prst="rect">
            <a:avLst/>
          </a:prstGeom>
        </p:spPr>
      </p:pic>
      <p:sp>
        <p:nvSpPr>
          <p:cNvPr id="70" name="TextBox 69">
            <a:extLst>
              <a:ext uri="{FF2B5EF4-FFF2-40B4-BE49-F238E27FC236}">
                <a16:creationId xmlns:a16="http://schemas.microsoft.com/office/drawing/2014/main" id="{38FE9EC2-79DF-0B3E-96C1-DF60A2312C84}"/>
              </a:ext>
            </a:extLst>
          </p:cNvPr>
          <p:cNvSpPr txBox="1"/>
          <p:nvPr/>
        </p:nvSpPr>
        <p:spPr>
          <a:xfrm>
            <a:off x="7842967" y="5580708"/>
            <a:ext cx="467412" cy="369332"/>
          </a:xfrm>
          <a:prstGeom prst="rect">
            <a:avLst/>
          </a:prstGeom>
          <a:noFill/>
        </p:spPr>
        <p:txBody>
          <a:bodyPr wrap="square" rtlCol="0">
            <a:spAutoFit/>
          </a:bodyPr>
          <a:lstStyle/>
          <a:p>
            <a:r>
              <a:rPr lang="en-US" dirty="0">
                <a:solidFill>
                  <a:srgbClr val="C00000"/>
                </a:solidFill>
              </a:rPr>
              <a:t>C2</a:t>
            </a:r>
          </a:p>
        </p:txBody>
      </p:sp>
      <p:pic>
        <p:nvPicPr>
          <p:cNvPr id="72" name="Picture 71" descr="A close-up of a protein&#10;&#10;AI-generated content may be incorrect.">
            <a:extLst>
              <a:ext uri="{FF2B5EF4-FFF2-40B4-BE49-F238E27FC236}">
                <a16:creationId xmlns:a16="http://schemas.microsoft.com/office/drawing/2014/main" id="{E997F8BC-2437-BF18-E757-225CE21C2746}"/>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8413474" y="4412184"/>
            <a:ext cx="1852449" cy="1256192"/>
          </a:xfrm>
          <a:prstGeom prst="rect">
            <a:avLst/>
          </a:prstGeom>
        </p:spPr>
      </p:pic>
      <p:sp>
        <p:nvSpPr>
          <p:cNvPr id="73" name="TextBox 72">
            <a:extLst>
              <a:ext uri="{FF2B5EF4-FFF2-40B4-BE49-F238E27FC236}">
                <a16:creationId xmlns:a16="http://schemas.microsoft.com/office/drawing/2014/main" id="{6A07A825-BB63-73BE-44CD-3DFF8DBE0316}"/>
              </a:ext>
            </a:extLst>
          </p:cNvPr>
          <p:cNvSpPr txBox="1"/>
          <p:nvPr/>
        </p:nvSpPr>
        <p:spPr>
          <a:xfrm>
            <a:off x="9105992" y="5580708"/>
            <a:ext cx="467412" cy="369332"/>
          </a:xfrm>
          <a:prstGeom prst="rect">
            <a:avLst/>
          </a:prstGeom>
          <a:noFill/>
        </p:spPr>
        <p:txBody>
          <a:bodyPr wrap="square" rtlCol="0">
            <a:spAutoFit/>
          </a:bodyPr>
          <a:lstStyle/>
          <a:p>
            <a:r>
              <a:rPr lang="en-US" dirty="0">
                <a:solidFill>
                  <a:srgbClr val="C00000"/>
                </a:solidFill>
              </a:rPr>
              <a:t>C5</a:t>
            </a:r>
          </a:p>
        </p:txBody>
      </p:sp>
      <p:pic>
        <p:nvPicPr>
          <p:cNvPr id="75" name="Picture 74" descr="A close-up of a protein&#10;&#10;AI-generated content may be incorrect.">
            <a:extLst>
              <a:ext uri="{FF2B5EF4-FFF2-40B4-BE49-F238E27FC236}">
                <a16:creationId xmlns:a16="http://schemas.microsoft.com/office/drawing/2014/main" id="{AD59C90F-6EE6-914A-6CF2-3FD9EFD302B7}"/>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9766394" y="4486447"/>
            <a:ext cx="1726836" cy="1171011"/>
          </a:xfrm>
          <a:prstGeom prst="rect">
            <a:avLst/>
          </a:prstGeom>
        </p:spPr>
      </p:pic>
      <p:sp>
        <p:nvSpPr>
          <p:cNvPr id="76" name="TextBox 75">
            <a:extLst>
              <a:ext uri="{FF2B5EF4-FFF2-40B4-BE49-F238E27FC236}">
                <a16:creationId xmlns:a16="http://schemas.microsoft.com/office/drawing/2014/main" id="{46D6097D-9733-DDDA-87BD-EDC3C5F88CB6}"/>
              </a:ext>
            </a:extLst>
          </p:cNvPr>
          <p:cNvSpPr txBox="1"/>
          <p:nvPr/>
        </p:nvSpPr>
        <p:spPr>
          <a:xfrm>
            <a:off x="10369017" y="5580708"/>
            <a:ext cx="467412" cy="369332"/>
          </a:xfrm>
          <a:prstGeom prst="rect">
            <a:avLst/>
          </a:prstGeom>
          <a:noFill/>
        </p:spPr>
        <p:txBody>
          <a:bodyPr wrap="square" rtlCol="0">
            <a:spAutoFit/>
          </a:bodyPr>
          <a:lstStyle/>
          <a:p>
            <a:r>
              <a:rPr lang="en-US" dirty="0">
                <a:solidFill>
                  <a:srgbClr val="C00000"/>
                </a:solidFill>
              </a:rPr>
              <a:t>C6</a:t>
            </a:r>
          </a:p>
        </p:txBody>
      </p:sp>
      <p:grpSp>
        <p:nvGrpSpPr>
          <p:cNvPr id="6" name="Group 5">
            <a:extLst>
              <a:ext uri="{FF2B5EF4-FFF2-40B4-BE49-F238E27FC236}">
                <a16:creationId xmlns:a16="http://schemas.microsoft.com/office/drawing/2014/main" id="{A6F60F8E-95DA-EA04-1AD6-D387DA3684F2}"/>
              </a:ext>
            </a:extLst>
          </p:cNvPr>
          <p:cNvGrpSpPr/>
          <p:nvPr/>
        </p:nvGrpSpPr>
        <p:grpSpPr>
          <a:xfrm>
            <a:off x="3169060" y="136833"/>
            <a:ext cx="6950920" cy="723900"/>
            <a:chOff x="739738" y="344774"/>
            <a:chExt cx="9439576" cy="1042237"/>
          </a:xfrm>
        </p:grpSpPr>
        <p:sp>
          <p:nvSpPr>
            <p:cNvPr id="11" name="Rectangle: Rounded Corners 10">
              <a:extLst>
                <a:ext uri="{FF2B5EF4-FFF2-40B4-BE49-F238E27FC236}">
                  <a16:creationId xmlns:a16="http://schemas.microsoft.com/office/drawing/2014/main" id="{CC11D527-6D77-FBC0-1273-E322B3D5B8B6}"/>
                </a:ext>
              </a:extLst>
            </p:cNvPr>
            <p:cNvSpPr/>
            <p:nvPr/>
          </p:nvSpPr>
          <p:spPr>
            <a:xfrm>
              <a:off x="739739" y="344774"/>
              <a:ext cx="8311794" cy="1042237"/>
            </a:xfrm>
            <a:prstGeom prst="roundRect">
              <a:avLst/>
            </a:prstGeom>
            <a:solidFill>
              <a:schemeClr val="bg1">
                <a:lumMod val="85000"/>
              </a:schemeClr>
            </a:solidFill>
            <a:ln>
              <a:no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en-US" sz="2000" dirty="0"/>
            </a:p>
          </p:txBody>
        </p:sp>
        <p:sp>
          <p:nvSpPr>
            <p:cNvPr id="12" name="Title 1">
              <a:extLst>
                <a:ext uri="{FF2B5EF4-FFF2-40B4-BE49-F238E27FC236}">
                  <a16:creationId xmlns:a16="http://schemas.microsoft.com/office/drawing/2014/main" id="{5DCA3717-9BD2-A4D5-A73A-BE472C1CA49C}"/>
                </a:ext>
              </a:extLst>
            </p:cNvPr>
            <p:cNvSpPr txBox="1">
              <a:spLocks/>
            </p:cNvSpPr>
            <p:nvPr/>
          </p:nvSpPr>
          <p:spPr>
            <a:xfrm>
              <a:off x="739738" y="344774"/>
              <a:ext cx="9439576" cy="960044"/>
            </a:xfrm>
            <a:prstGeom prst="rect">
              <a:avLst/>
            </a:prstGeom>
            <a:noFill/>
            <a:ln w="12700" cap="flat" cmpd="sng" algn="ctr">
              <a:noFill/>
              <a:prstDash val="solid"/>
              <a:miter lim="800000"/>
            </a:ln>
          </p:spPr>
          <p:style>
            <a:lnRef idx="1">
              <a:schemeClr val="accent4"/>
            </a:lnRef>
            <a:fillRef idx="2">
              <a:schemeClr val="accent4"/>
            </a:fillRef>
            <a:effectRef idx="1">
              <a:schemeClr val="accent4"/>
            </a:effectRef>
            <a:fontRef idx="minor">
              <a:schemeClr val="dk1"/>
            </a:fontRef>
          </p:style>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l"/>
              <a:r>
                <a:rPr lang="en-US" sz="4000" dirty="0" err="1">
                  <a:solidFill>
                    <a:srgbClr val="C00000"/>
                  </a:solidFill>
                </a:rPr>
                <a:t>HDock</a:t>
              </a:r>
              <a:r>
                <a:rPr lang="en-US" sz="4000" dirty="0">
                  <a:solidFill>
                    <a:srgbClr val="C00000"/>
                  </a:solidFill>
                </a:rPr>
                <a:t> Docking Analysis</a:t>
              </a:r>
            </a:p>
          </p:txBody>
        </p:sp>
      </p:grpSp>
    </p:spTree>
    <p:extLst>
      <p:ext uri="{BB962C8B-B14F-4D97-AF65-F5344CB8AC3E}">
        <p14:creationId xmlns:p14="http://schemas.microsoft.com/office/powerpoint/2010/main" val="34568447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0"/>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7"/>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7"/>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5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9"/>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42"/>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9"/>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26"/>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0"/>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1"/>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30"/>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66"/>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67"/>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70"/>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69"/>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73"/>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72"/>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76"/>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1" grpId="0"/>
      <p:bldP spid="39" grpId="0"/>
      <p:bldP spid="41" grpId="0"/>
      <p:bldP spid="45" grpId="0"/>
      <p:bldP spid="49" grpId="0"/>
      <p:bldP spid="50" grpId="0"/>
      <p:bldP spid="67" grpId="0"/>
      <p:bldP spid="70" grpId="0"/>
      <p:bldP spid="73" grpId="0"/>
      <p:bldP spid="76"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C4166AB-ADE3-8AEE-BB16-AD90C7E9902D}"/>
              </a:ext>
            </a:extLst>
          </p:cNvPr>
          <p:cNvSpPr/>
          <p:nvPr/>
        </p:nvSpPr>
        <p:spPr>
          <a:xfrm>
            <a:off x="0" y="1675"/>
            <a:ext cx="12192000" cy="6858000"/>
          </a:xfrm>
          <a:prstGeom prst="rect">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800" dirty="0">
              <a:latin typeface="Arial" panose="020B0604020202020204" pitchFamily="34" charset="0"/>
              <a:cs typeface="Arial" panose="020B0604020202020204" pitchFamily="34" charset="0"/>
            </a:endParaRPr>
          </a:p>
        </p:txBody>
      </p:sp>
      <p:grpSp>
        <p:nvGrpSpPr>
          <p:cNvPr id="6" name="Group 5">
            <a:extLst>
              <a:ext uri="{FF2B5EF4-FFF2-40B4-BE49-F238E27FC236}">
                <a16:creationId xmlns:a16="http://schemas.microsoft.com/office/drawing/2014/main" id="{B07F06C0-4B63-6FDC-3299-187F7E425ACD}"/>
              </a:ext>
            </a:extLst>
          </p:cNvPr>
          <p:cNvGrpSpPr/>
          <p:nvPr/>
        </p:nvGrpSpPr>
        <p:grpSpPr>
          <a:xfrm>
            <a:off x="351920" y="1048771"/>
            <a:ext cx="1762630" cy="456846"/>
            <a:chOff x="357966" y="2951177"/>
            <a:chExt cx="3656550" cy="1092351"/>
          </a:xfrm>
        </p:grpSpPr>
        <p:sp>
          <p:nvSpPr>
            <p:cNvPr id="7" name="Rectangle: Rounded Corners 6">
              <a:extLst>
                <a:ext uri="{FF2B5EF4-FFF2-40B4-BE49-F238E27FC236}">
                  <a16:creationId xmlns:a16="http://schemas.microsoft.com/office/drawing/2014/main" id="{262C08FD-2400-79FE-FB81-3FB99F730D48}"/>
                </a:ext>
              </a:extLst>
            </p:cNvPr>
            <p:cNvSpPr/>
            <p:nvPr/>
          </p:nvSpPr>
          <p:spPr>
            <a:xfrm>
              <a:off x="357966" y="2951177"/>
              <a:ext cx="3656550" cy="1092351"/>
            </a:xfrm>
            <a:prstGeom prst="roundRect">
              <a:avLst>
                <a:gd name="adj" fmla="val 10000"/>
              </a:avLst>
            </a:prstGeom>
            <a:solidFill>
              <a:srgbClr val="C00000"/>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en-US"/>
            </a:p>
          </p:txBody>
        </p:sp>
        <p:sp>
          <p:nvSpPr>
            <p:cNvPr id="8" name="Rectangle: Rounded Corners 4">
              <a:extLst>
                <a:ext uri="{FF2B5EF4-FFF2-40B4-BE49-F238E27FC236}">
                  <a16:creationId xmlns:a16="http://schemas.microsoft.com/office/drawing/2014/main" id="{10597D3F-FA1F-99D1-2FC2-3D0604D990C9}"/>
                </a:ext>
              </a:extLst>
            </p:cNvPr>
            <p:cNvSpPr txBox="1"/>
            <p:nvPr/>
          </p:nvSpPr>
          <p:spPr>
            <a:xfrm>
              <a:off x="389960" y="2983171"/>
              <a:ext cx="3592562" cy="102836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34290" tIns="22860" rIns="34290" bIns="22860" numCol="1" spcCol="1270" anchor="ctr" anchorCtr="0">
              <a:noAutofit/>
            </a:bodyPr>
            <a:lstStyle/>
            <a:p>
              <a:pPr marL="0" lvl="0" indent="0" algn="ctr" defTabSz="800100">
                <a:lnSpc>
                  <a:spcPct val="150000"/>
                </a:lnSpc>
                <a:spcBef>
                  <a:spcPct val="0"/>
                </a:spcBef>
                <a:spcAft>
                  <a:spcPct val="35000"/>
                </a:spcAft>
                <a:buNone/>
              </a:pPr>
              <a:r>
                <a:rPr lang="en-US" dirty="0"/>
                <a:t>Docking Results</a:t>
              </a:r>
              <a:endParaRPr lang="en-US" sz="1800" kern="1200" dirty="0"/>
            </a:p>
          </p:txBody>
        </p:sp>
      </p:grpSp>
      <p:grpSp>
        <p:nvGrpSpPr>
          <p:cNvPr id="33" name="Group 32">
            <a:extLst>
              <a:ext uri="{FF2B5EF4-FFF2-40B4-BE49-F238E27FC236}">
                <a16:creationId xmlns:a16="http://schemas.microsoft.com/office/drawing/2014/main" id="{6F776453-0267-158E-CF5B-B008A9B6925C}"/>
              </a:ext>
            </a:extLst>
          </p:cNvPr>
          <p:cNvGrpSpPr/>
          <p:nvPr/>
        </p:nvGrpSpPr>
        <p:grpSpPr>
          <a:xfrm>
            <a:off x="1534099" y="1628075"/>
            <a:ext cx="3867011" cy="4768835"/>
            <a:chOff x="648274" y="1580450"/>
            <a:chExt cx="3867011" cy="4768835"/>
          </a:xfrm>
        </p:grpSpPr>
        <p:pic>
          <p:nvPicPr>
            <p:cNvPr id="10" name="Picture 9" descr="A blue and pink spiral&#10;&#10;AI-generated content may be incorrect.">
              <a:extLst>
                <a:ext uri="{FF2B5EF4-FFF2-40B4-BE49-F238E27FC236}">
                  <a16:creationId xmlns:a16="http://schemas.microsoft.com/office/drawing/2014/main" id="{A3C9C611-B072-5CE9-B375-DA6D0A9925FA}"/>
                </a:ext>
              </a:extLst>
            </p:cNvPr>
            <p:cNvPicPr>
              <a:picLocks noChangeAspect="1"/>
            </p:cNvPicPr>
            <p:nvPr/>
          </p:nvPicPr>
          <p:blipFill>
            <a:blip r:embed="rId2">
              <a:extLst>
                <a:ext uri="{28A0092B-C50C-407E-A947-70E740481C1C}">
                  <a14:useLocalDpi xmlns:a14="http://schemas.microsoft.com/office/drawing/2010/main" val="0"/>
                </a:ext>
              </a:extLst>
            </a:blip>
            <a:srcRect l="24245" t="23921" r="27179" b="15637"/>
            <a:stretch>
              <a:fillRect/>
            </a:stretch>
          </p:blipFill>
          <p:spPr>
            <a:xfrm rot="1097321">
              <a:off x="648274" y="1580450"/>
              <a:ext cx="3867011" cy="4056097"/>
            </a:xfrm>
            <a:prstGeom prst="rect">
              <a:avLst/>
            </a:prstGeom>
          </p:spPr>
        </p:pic>
        <p:sp>
          <p:nvSpPr>
            <p:cNvPr id="11" name="TextBox 10">
              <a:extLst>
                <a:ext uri="{FF2B5EF4-FFF2-40B4-BE49-F238E27FC236}">
                  <a16:creationId xmlns:a16="http://schemas.microsoft.com/office/drawing/2014/main" id="{05C2F7C2-F4F0-6E6B-724E-283AC0F286AC}"/>
                </a:ext>
              </a:extLst>
            </p:cNvPr>
            <p:cNvSpPr txBox="1"/>
            <p:nvPr/>
          </p:nvSpPr>
          <p:spPr>
            <a:xfrm>
              <a:off x="1412521" y="5370057"/>
              <a:ext cx="2725717" cy="369332"/>
            </a:xfrm>
            <a:prstGeom prst="rect">
              <a:avLst/>
            </a:prstGeom>
            <a:noFill/>
          </p:spPr>
          <p:txBody>
            <a:bodyPr wrap="square" rtlCol="0">
              <a:spAutoFit/>
            </a:bodyPr>
            <a:lstStyle/>
            <a:p>
              <a:r>
                <a:rPr lang="en-US" dirty="0">
                  <a:solidFill>
                    <a:srgbClr val="C00000"/>
                  </a:solidFill>
                </a:rPr>
                <a:t>TLR – 4 - Native Protein</a:t>
              </a:r>
            </a:p>
          </p:txBody>
        </p:sp>
        <p:sp>
          <p:nvSpPr>
            <p:cNvPr id="12" name="TextBox 11">
              <a:extLst>
                <a:ext uri="{FF2B5EF4-FFF2-40B4-BE49-F238E27FC236}">
                  <a16:creationId xmlns:a16="http://schemas.microsoft.com/office/drawing/2014/main" id="{398B99EE-EE33-6C5F-40E8-35664CA336C8}"/>
                </a:ext>
              </a:extLst>
            </p:cNvPr>
            <p:cNvSpPr txBox="1"/>
            <p:nvPr/>
          </p:nvSpPr>
          <p:spPr>
            <a:xfrm>
              <a:off x="1412521" y="5764510"/>
              <a:ext cx="2905526" cy="584775"/>
            </a:xfrm>
            <a:prstGeom prst="rect">
              <a:avLst/>
            </a:prstGeom>
            <a:noFill/>
          </p:spPr>
          <p:txBody>
            <a:bodyPr wrap="square" rtlCol="0">
              <a:spAutoFit/>
            </a:bodyPr>
            <a:lstStyle/>
            <a:p>
              <a:r>
                <a:rPr lang="en-US" sz="1600" dirty="0"/>
                <a:t>Docking Score -  -405.87</a:t>
              </a:r>
            </a:p>
            <a:p>
              <a:r>
                <a:rPr lang="en-US" sz="1600" dirty="0"/>
                <a:t>Docking Confidence – 0.994</a:t>
              </a:r>
            </a:p>
          </p:txBody>
        </p:sp>
      </p:grpSp>
      <p:grpSp>
        <p:nvGrpSpPr>
          <p:cNvPr id="31" name="Group 30">
            <a:extLst>
              <a:ext uri="{FF2B5EF4-FFF2-40B4-BE49-F238E27FC236}">
                <a16:creationId xmlns:a16="http://schemas.microsoft.com/office/drawing/2014/main" id="{33D53E07-111B-5E6F-29F3-9BE00546A1C8}"/>
              </a:ext>
            </a:extLst>
          </p:cNvPr>
          <p:cNvGrpSpPr/>
          <p:nvPr/>
        </p:nvGrpSpPr>
        <p:grpSpPr>
          <a:xfrm>
            <a:off x="6425059" y="1591745"/>
            <a:ext cx="2189158" cy="2362482"/>
            <a:chOff x="6142418" y="1492237"/>
            <a:chExt cx="2189158" cy="2362482"/>
          </a:xfrm>
        </p:grpSpPr>
        <p:pic>
          <p:nvPicPr>
            <p:cNvPr id="20" name="Picture 19" descr="A close up of a dna model&#10;&#10;AI-generated content may be incorrect.">
              <a:extLst>
                <a:ext uri="{FF2B5EF4-FFF2-40B4-BE49-F238E27FC236}">
                  <a16:creationId xmlns:a16="http://schemas.microsoft.com/office/drawing/2014/main" id="{CC5EBD69-3955-348A-3758-1DC8814AA7CB}"/>
                </a:ext>
              </a:extLst>
            </p:cNvPr>
            <p:cNvPicPr>
              <a:picLocks noChangeAspect="1"/>
            </p:cNvPicPr>
            <p:nvPr/>
          </p:nvPicPr>
          <p:blipFill>
            <a:blip r:embed="rId3">
              <a:extLst>
                <a:ext uri="{28A0092B-C50C-407E-A947-70E740481C1C}">
                  <a14:useLocalDpi xmlns:a14="http://schemas.microsoft.com/office/drawing/2010/main" val="0"/>
                </a:ext>
              </a:extLst>
            </a:blip>
            <a:srcRect l="29382" t="19491" r="25370" b="4893"/>
            <a:stretch>
              <a:fillRect/>
            </a:stretch>
          </p:blipFill>
          <p:spPr>
            <a:xfrm>
              <a:off x="6282743" y="1492237"/>
              <a:ext cx="1428901" cy="1619251"/>
            </a:xfrm>
            <a:prstGeom prst="rect">
              <a:avLst/>
            </a:prstGeom>
          </p:spPr>
        </p:pic>
        <p:sp>
          <p:nvSpPr>
            <p:cNvPr id="21" name="TextBox 20">
              <a:extLst>
                <a:ext uri="{FF2B5EF4-FFF2-40B4-BE49-F238E27FC236}">
                  <a16:creationId xmlns:a16="http://schemas.microsoft.com/office/drawing/2014/main" id="{0BD3C0AC-5919-EA2A-C156-BC83224CBC2E}"/>
                </a:ext>
              </a:extLst>
            </p:cNvPr>
            <p:cNvSpPr txBox="1"/>
            <p:nvPr/>
          </p:nvSpPr>
          <p:spPr>
            <a:xfrm>
              <a:off x="6388786" y="3050036"/>
              <a:ext cx="1271476" cy="307777"/>
            </a:xfrm>
            <a:prstGeom prst="rect">
              <a:avLst/>
            </a:prstGeom>
            <a:noFill/>
          </p:spPr>
          <p:txBody>
            <a:bodyPr wrap="square" rtlCol="0">
              <a:spAutoFit/>
            </a:bodyPr>
            <a:lstStyle/>
            <a:p>
              <a:r>
                <a:rPr lang="en-US" sz="1400" dirty="0">
                  <a:solidFill>
                    <a:srgbClr val="C00000"/>
                  </a:solidFill>
                </a:rPr>
                <a:t>TLR – 4 – C5</a:t>
              </a:r>
            </a:p>
          </p:txBody>
        </p:sp>
        <p:sp>
          <p:nvSpPr>
            <p:cNvPr id="25" name="TextBox 24">
              <a:extLst>
                <a:ext uri="{FF2B5EF4-FFF2-40B4-BE49-F238E27FC236}">
                  <a16:creationId xmlns:a16="http://schemas.microsoft.com/office/drawing/2014/main" id="{559D465E-5AD7-502F-86C3-9E2192C4DBF2}"/>
                </a:ext>
              </a:extLst>
            </p:cNvPr>
            <p:cNvSpPr txBox="1"/>
            <p:nvPr/>
          </p:nvSpPr>
          <p:spPr>
            <a:xfrm>
              <a:off x="6142418" y="3393054"/>
              <a:ext cx="2189158" cy="461665"/>
            </a:xfrm>
            <a:prstGeom prst="rect">
              <a:avLst/>
            </a:prstGeom>
            <a:noFill/>
          </p:spPr>
          <p:txBody>
            <a:bodyPr wrap="square" rtlCol="0">
              <a:spAutoFit/>
            </a:bodyPr>
            <a:lstStyle/>
            <a:p>
              <a:r>
                <a:rPr lang="en-US" sz="1200" dirty="0"/>
                <a:t>Docking Score -  -256.87</a:t>
              </a:r>
            </a:p>
            <a:p>
              <a:r>
                <a:rPr lang="en-US" sz="1200" dirty="0"/>
                <a:t>Docking Confidence – 0.957</a:t>
              </a:r>
            </a:p>
          </p:txBody>
        </p:sp>
      </p:grpSp>
      <p:grpSp>
        <p:nvGrpSpPr>
          <p:cNvPr id="32" name="Group 31">
            <a:extLst>
              <a:ext uri="{FF2B5EF4-FFF2-40B4-BE49-F238E27FC236}">
                <a16:creationId xmlns:a16="http://schemas.microsoft.com/office/drawing/2014/main" id="{17BD7D74-46A4-9AC8-8EBA-E2BFE880FED2}"/>
              </a:ext>
            </a:extLst>
          </p:cNvPr>
          <p:cNvGrpSpPr/>
          <p:nvPr/>
        </p:nvGrpSpPr>
        <p:grpSpPr>
          <a:xfrm>
            <a:off x="9066280" y="1591745"/>
            <a:ext cx="1837530" cy="2318630"/>
            <a:chOff x="8907055" y="1503157"/>
            <a:chExt cx="1837530" cy="2318630"/>
          </a:xfrm>
        </p:grpSpPr>
        <p:pic>
          <p:nvPicPr>
            <p:cNvPr id="23" name="Picture 22" descr="A close up of a spiral&#10;&#10;AI-generated content may be incorrect.">
              <a:extLst>
                <a:ext uri="{FF2B5EF4-FFF2-40B4-BE49-F238E27FC236}">
                  <a16:creationId xmlns:a16="http://schemas.microsoft.com/office/drawing/2014/main" id="{D4514666-3D8D-3624-BD18-02FEDD866BFE}"/>
                </a:ext>
              </a:extLst>
            </p:cNvPr>
            <p:cNvPicPr>
              <a:picLocks noChangeAspect="1"/>
            </p:cNvPicPr>
            <p:nvPr/>
          </p:nvPicPr>
          <p:blipFill>
            <a:blip r:embed="rId4">
              <a:extLst>
                <a:ext uri="{28A0092B-C50C-407E-A947-70E740481C1C}">
                  <a14:useLocalDpi xmlns:a14="http://schemas.microsoft.com/office/drawing/2010/main" val="0"/>
                </a:ext>
              </a:extLst>
            </a:blip>
            <a:srcRect l="25419" t="20289" r="32160" b="4083"/>
            <a:stretch>
              <a:fillRect/>
            </a:stretch>
          </p:blipFill>
          <p:spPr>
            <a:xfrm rot="743798">
              <a:off x="8928194" y="1503157"/>
              <a:ext cx="1457310" cy="1656274"/>
            </a:xfrm>
            <a:prstGeom prst="rect">
              <a:avLst/>
            </a:prstGeom>
          </p:spPr>
        </p:pic>
        <p:sp>
          <p:nvSpPr>
            <p:cNvPr id="24" name="TextBox 23">
              <a:extLst>
                <a:ext uri="{FF2B5EF4-FFF2-40B4-BE49-F238E27FC236}">
                  <a16:creationId xmlns:a16="http://schemas.microsoft.com/office/drawing/2014/main" id="{55DE8F93-7BAD-EC5B-0BD7-37F72CD4CEFB}"/>
                </a:ext>
              </a:extLst>
            </p:cNvPr>
            <p:cNvSpPr txBox="1"/>
            <p:nvPr/>
          </p:nvSpPr>
          <p:spPr>
            <a:xfrm>
              <a:off x="9123016" y="3027799"/>
              <a:ext cx="1271476" cy="307777"/>
            </a:xfrm>
            <a:prstGeom prst="rect">
              <a:avLst/>
            </a:prstGeom>
            <a:noFill/>
          </p:spPr>
          <p:txBody>
            <a:bodyPr wrap="square" rtlCol="0">
              <a:spAutoFit/>
            </a:bodyPr>
            <a:lstStyle/>
            <a:p>
              <a:r>
                <a:rPr lang="en-US" sz="1400" dirty="0">
                  <a:solidFill>
                    <a:srgbClr val="C00000"/>
                  </a:solidFill>
                </a:rPr>
                <a:t>TLR – 4 – C6</a:t>
              </a:r>
            </a:p>
          </p:txBody>
        </p:sp>
        <p:sp>
          <p:nvSpPr>
            <p:cNvPr id="26" name="TextBox 25">
              <a:extLst>
                <a:ext uri="{FF2B5EF4-FFF2-40B4-BE49-F238E27FC236}">
                  <a16:creationId xmlns:a16="http://schemas.microsoft.com/office/drawing/2014/main" id="{2A502B17-9283-FCAB-14AA-0F46E3C2F87B}"/>
                </a:ext>
              </a:extLst>
            </p:cNvPr>
            <p:cNvSpPr txBox="1"/>
            <p:nvPr/>
          </p:nvSpPr>
          <p:spPr>
            <a:xfrm>
              <a:off x="8907055" y="3390900"/>
              <a:ext cx="1837530" cy="430887"/>
            </a:xfrm>
            <a:prstGeom prst="rect">
              <a:avLst/>
            </a:prstGeom>
            <a:noFill/>
          </p:spPr>
          <p:txBody>
            <a:bodyPr wrap="square" rtlCol="0">
              <a:spAutoFit/>
            </a:bodyPr>
            <a:lstStyle/>
            <a:p>
              <a:r>
                <a:rPr lang="en-US" sz="1100" dirty="0"/>
                <a:t>Docking Score -  -120.89</a:t>
              </a:r>
            </a:p>
            <a:p>
              <a:r>
                <a:rPr lang="en-US" sz="1100" dirty="0"/>
                <a:t>Docking Confidence – 0.358</a:t>
              </a:r>
            </a:p>
          </p:txBody>
        </p:sp>
      </p:grpSp>
      <p:grpSp>
        <p:nvGrpSpPr>
          <p:cNvPr id="30" name="Group 29">
            <a:extLst>
              <a:ext uri="{FF2B5EF4-FFF2-40B4-BE49-F238E27FC236}">
                <a16:creationId xmlns:a16="http://schemas.microsoft.com/office/drawing/2014/main" id="{6E84CD59-82D8-DC7D-4DB9-0A8DE9F66357}"/>
              </a:ext>
            </a:extLst>
          </p:cNvPr>
          <p:cNvGrpSpPr/>
          <p:nvPr/>
        </p:nvGrpSpPr>
        <p:grpSpPr>
          <a:xfrm>
            <a:off x="9066280" y="4104934"/>
            <a:ext cx="2246792" cy="2340446"/>
            <a:chOff x="9305051" y="4335208"/>
            <a:chExt cx="2246792" cy="2340446"/>
          </a:xfrm>
        </p:grpSpPr>
        <p:pic>
          <p:nvPicPr>
            <p:cNvPr id="17" name="Picture 16" descr="A blue and green spiral with a black background&#10;&#10;AI-generated content may be incorrect.">
              <a:extLst>
                <a:ext uri="{FF2B5EF4-FFF2-40B4-BE49-F238E27FC236}">
                  <a16:creationId xmlns:a16="http://schemas.microsoft.com/office/drawing/2014/main" id="{AAACAD35-8763-5BC9-E48C-8C448E3FA684}"/>
                </a:ext>
              </a:extLst>
            </p:cNvPr>
            <p:cNvPicPr>
              <a:picLocks noChangeAspect="1"/>
            </p:cNvPicPr>
            <p:nvPr/>
          </p:nvPicPr>
          <p:blipFill>
            <a:blip r:embed="rId5">
              <a:extLst>
                <a:ext uri="{28A0092B-C50C-407E-A947-70E740481C1C}">
                  <a14:useLocalDpi xmlns:a14="http://schemas.microsoft.com/office/drawing/2010/main" val="0"/>
                </a:ext>
              </a:extLst>
            </a:blip>
            <a:srcRect l="29032" t="19757" r="32552" b="5312"/>
            <a:stretch>
              <a:fillRect/>
            </a:stretch>
          </p:blipFill>
          <p:spPr>
            <a:xfrm>
              <a:off x="9305051" y="4335208"/>
              <a:ext cx="1439534" cy="1798293"/>
            </a:xfrm>
            <a:prstGeom prst="rect">
              <a:avLst/>
            </a:prstGeom>
          </p:spPr>
        </p:pic>
        <p:sp>
          <p:nvSpPr>
            <p:cNvPr id="18" name="TextBox 17">
              <a:extLst>
                <a:ext uri="{FF2B5EF4-FFF2-40B4-BE49-F238E27FC236}">
                  <a16:creationId xmlns:a16="http://schemas.microsoft.com/office/drawing/2014/main" id="{6C4C0441-D7D1-3B7B-BE9D-2A332EEE219D}"/>
                </a:ext>
              </a:extLst>
            </p:cNvPr>
            <p:cNvSpPr txBox="1"/>
            <p:nvPr/>
          </p:nvSpPr>
          <p:spPr>
            <a:xfrm>
              <a:off x="9473109" y="5913605"/>
              <a:ext cx="1271476" cy="307777"/>
            </a:xfrm>
            <a:prstGeom prst="rect">
              <a:avLst/>
            </a:prstGeom>
            <a:noFill/>
          </p:spPr>
          <p:txBody>
            <a:bodyPr wrap="square" rtlCol="0">
              <a:spAutoFit/>
            </a:bodyPr>
            <a:lstStyle/>
            <a:p>
              <a:r>
                <a:rPr lang="en-US" sz="1400" dirty="0">
                  <a:solidFill>
                    <a:srgbClr val="C00000"/>
                  </a:solidFill>
                </a:rPr>
                <a:t>TLR – 4 – C2</a:t>
              </a:r>
            </a:p>
          </p:txBody>
        </p:sp>
        <p:sp>
          <p:nvSpPr>
            <p:cNvPr id="27" name="TextBox 26">
              <a:extLst>
                <a:ext uri="{FF2B5EF4-FFF2-40B4-BE49-F238E27FC236}">
                  <a16:creationId xmlns:a16="http://schemas.microsoft.com/office/drawing/2014/main" id="{721EDD7B-C4E7-3B48-D730-0AB8CC66D9D8}"/>
                </a:ext>
              </a:extLst>
            </p:cNvPr>
            <p:cNvSpPr txBox="1"/>
            <p:nvPr/>
          </p:nvSpPr>
          <p:spPr>
            <a:xfrm>
              <a:off x="9325083" y="6213989"/>
              <a:ext cx="2226760" cy="461665"/>
            </a:xfrm>
            <a:prstGeom prst="rect">
              <a:avLst/>
            </a:prstGeom>
            <a:noFill/>
          </p:spPr>
          <p:txBody>
            <a:bodyPr wrap="square" rtlCol="0">
              <a:spAutoFit/>
            </a:bodyPr>
            <a:lstStyle/>
            <a:p>
              <a:r>
                <a:rPr lang="en-US" sz="1200" dirty="0"/>
                <a:t>Docking Score -  -172.11</a:t>
              </a:r>
            </a:p>
            <a:p>
              <a:r>
                <a:rPr lang="en-US" sz="1200" dirty="0"/>
                <a:t>Docking Confidence – 0.608</a:t>
              </a:r>
            </a:p>
          </p:txBody>
        </p:sp>
      </p:grpSp>
      <p:grpSp>
        <p:nvGrpSpPr>
          <p:cNvPr id="29" name="Group 28">
            <a:extLst>
              <a:ext uri="{FF2B5EF4-FFF2-40B4-BE49-F238E27FC236}">
                <a16:creationId xmlns:a16="http://schemas.microsoft.com/office/drawing/2014/main" id="{7637FE28-4411-0455-C6EA-CED335424DE5}"/>
              </a:ext>
            </a:extLst>
          </p:cNvPr>
          <p:cNvGrpSpPr/>
          <p:nvPr/>
        </p:nvGrpSpPr>
        <p:grpSpPr>
          <a:xfrm>
            <a:off x="6425059" y="4192814"/>
            <a:ext cx="1970928" cy="2252566"/>
            <a:chOff x="6366130" y="4440064"/>
            <a:chExt cx="1970928" cy="2252566"/>
          </a:xfrm>
        </p:grpSpPr>
        <p:pic>
          <p:nvPicPr>
            <p:cNvPr id="14" name="Picture 13" descr="A close up of a structure&#10;&#10;AI-generated content may be incorrect.">
              <a:extLst>
                <a:ext uri="{FF2B5EF4-FFF2-40B4-BE49-F238E27FC236}">
                  <a16:creationId xmlns:a16="http://schemas.microsoft.com/office/drawing/2014/main" id="{E421E194-2ECF-CE7A-E125-61CAE3E55C07}"/>
                </a:ext>
              </a:extLst>
            </p:cNvPr>
            <p:cNvPicPr>
              <a:picLocks noChangeAspect="1"/>
            </p:cNvPicPr>
            <p:nvPr/>
          </p:nvPicPr>
          <p:blipFill>
            <a:blip r:embed="rId6">
              <a:extLst>
                <a:ext uri="{28A0092B-C50C-407E-A947-70E740481C1C}">
                  <a14:useLocalDpi xmlns:a14="http://schemas.microsoft.com/office/drawing/2010/main" val="0"/>
                </a:ext>
              </a:extLst>
            </a:blip>
            <a:srcRect l="28037" t="16251" r="27774" b="4903"/>
            <a:stretch>
              <a:fillRect/>
            </a:stretch>
          </p:blipFill>
          <p:spPr>
            <a:xfrm rot="1013368">
              <a:off x="6439685" y="4440064"/>
              <a:ext cx="1396572" cy="1588582"/>
            </a:xfrm>
            <a:prstGeom prst="rect">
              <a:avLst/>
            </a:prstGeom>
          </p:spPr>
        </p:pic>
        <p:sp>
          <p:nvSpPr>
            <p:cNvPr id="15" name="TextBox 14">
              <a:extLst>
                <a:ext uri="{FF2B5EF4-FFF2-40B4-BE49-F238E27FC236}">
                  <a16:creationId xmlns:a16="http://schemas.microsoft.com/office/drawing/2014/main" id="{20D866EC-4D83-9ADF-58E8-1A08F511C56E}"/>
                </a:ext>
              </a:extLst>
            </p:cNvPr>
            <p:cNvSpPr txBox="1"/>
            <p:nvPr/>
          </p:nvSpPr>
          <p:spPr>
            <a:xfrm>
              <a:off x="6539194" y="5888060"/>
              <a:ext cx="1271476" cy="307777"/>
            </a:xfrm>
            <a:prstGeom prst="rect">
              <a:avLst/>
            </a:prstGeom>
            <a:noFill/>
          </p:spPr>
          <p:txBody>
            <a:bodyPr wrap="square" rtlCol="0">
              <a:spAutoFit/>
            </a:bodyPr>
            <a:lstStyle/>
            <a:p>
              <a:r>
                <a:rPr lang="en-US" sz="1400" dirty="0">
                  <a:solidFill>
                    <a:srgbClr val="C00000"/>
                  </a:solidFill>
                </a:rPr>
                <a:t>TLR – 4 – C1</a:t>
              </a:r>
            </a:p>
          </p:txBody>
        </p:sp>
        <p:sp>
          <p:nvSpPr>
            <p:cNvPr id="28" name="TextBox 27">
              <a:extLst>
                <a:ext uri="{FF2B5EF4-FFF2-40B4-BE49-F238E27FC236}">
                  <a16:creationId xmlns:a16="http://schemas.microsoft.com/office/drawing/2014/main" id="{57255B2E-42E0-98F7-2D1A-CE0213ACF99D}"/>
                </a:ext>
              </a:extLst>
            </p:cNvPr>
            <p:cNvSpPr txBox="1"/>
            <p:nvPr/>
          </p:nvSpPr>
          <p:spPr>
            <a:xfrm>
              <a:off x="6366130" y="6230965"/>
              <a:ext cx="1970928" cy="461665"/>
            </a:xfrm>
            <a:prstGeom prst="rect">
              <a:avLst/>
            </a:prstGeom>
            <a:noFill/>
          </p:spPr>
          <p:txBody>
            <a:bodyPr wrap="square" rtlCol="0">
              <a:spAutoFit/>
            </a:bodyPr>
            <a:lstStyle/>
            <a:p>
              <a:r>
                <a:rPr lang="en-US" sz="1200" dirty="0"/>
                <a:t>Docking Score -  -182.27</a:t>
              </a:r>
            </a:p>
            <a:p>
              <a:r>
                <a:rPr lang="en-US" sz="1200" dirty="0"/>
                <a:t>Docking Confidence – 0.655</a:t>
              </a:r>
            </a:p>
          </p:txBody>
        </p:sp>
      </p:grpSp>
      <mc:AlternateContent xmlns:mc="http://schemas.openxmlformats.org/markup-compatibility/2006" xmlns:p14="http://schemas.microsoft.com/office/powerpoint/2010/main">
        <mc:Choice Requires="p14">
          <p:contentPart p14:bwMode="auto" r:id="rId7">
            <p14:nvContentPartPr>
              <p14:cNvPr id="35" name="Ink 34">
                <a:extLst>
                  <a:ext uri="{FF2B5EF4-FFF2-40B4-BE49-F238E27FC236}">
                    <a16:creationId xmlns:a16="http://schemas.microsoft.com/office/drawing/2014/main" id="{47FEF114-5380-75E1-0CF5-90D975F77CD7}"/>
                  </a:ext>
                </a:extLst>
              </p14:cNvPr>
              <p14:cNvContentPartPr/>
              <p14:nvPr/>
            </p14:nvContentPartPr>
            <p14:xfrm>
              <a:off x="3817500" y="5981580"/>
              <a:ext cx="671040" cy="38520"/>
            </p14:xfrm>
          </p:contentPart>
        </mc:Choice>
        <mc:Fallback xmlns="">
          <p:pic>
            <p:nvPicPr>
              <p:cNvPr id="35" name="Ink 34">
                <a:extLst>
                  <a:ext uri="{FF2B5EF4-FFF2-40B4-BE49-F238E27FC236}">
                    <a16:creationId xmlns:a16="http://schemas.microsoft.com/office/drawing/2014/main" id="{47FEF114-5380-75E1-0CF5-90D975F77CD7}"/>
                  </a:ext>
                </a:extLst>
              </p:cNvPr>
              <p:cNvPicPr/>
              <p:nvPr/>
            </p:nvPicPr>
            <p:blipFill>
              <a:blip r:embed="rId8"/>
              <a:stretch>
                <a:fillRect/>
              </a:stretch>
            </p:blipFill>
            <p:spPr>
              <a:xfrm>
                <a:off x="3781500" y="5909580"/>
                <a:ext cx="742680" cy="18216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36" name="Ink 35">
                <a:extLst>
                  <a:ext uri="{FF2B5EF4-FFF2-40B4-BE49-F238E27FC236}">
                    <a16:creationId xmlns:a16="http://schemas.microsoft.com/office/drawing/2014/main" id="{9613722C-65B6-8B8C-2DFE-8E090D91C0B2}"/>
                  </a:ext>
                </a:extLst>
              </p14:cNvPr>
              <p14:cNvContentPartPr/>
              <p14:nvPr/>
            </p14:nvContentPartPr>
            <p14:xfrm>
              <a:off x="4290180" y="6225300"/>
              <a:ext cx="553320" cy="46800"/>
            </p14:xfrm>
          </p:contentPart>
        </mc:Choice>
        <mc:Fallback xmlns="">
          <p:pic>
            <p:nvPicPr>
              <p:cNvPr id="36" name="Ink 35">
                <a:extLst>
                  <a:ext uri="{FF2B5EF4-FFF2-40B4-BE49-F238E27FC236}">
                    <a16:creationId xmlns:a16="http://schemas.microsoft.com/office/drawing/2014/main" id="{9613722C-65B6-8B8C-2DFE-8E090D91C0B2}"/>
                  </a:ext>
                </a:extLst>
              </p:cNvPr>
              <p:cNvPicPr/>
              <p:nvPr/>
            </p:nvPicPr>
            <p:blipFill>
              <a:blip r:embed="rId10"/>
              <a:stretch>
                <a:fillRect/>
              </a:stretch>
            </p:blipFill>
            <p:spPr>
              <a:xfrm>
                <a:off x="4254180" y="6153660"/>
                <a:ext cx="624960" cy="19044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37" name="Ink 36">
                <a:extLst>
                  <a:ext uri="{FF2B5EF4-FFF2-40B4-BE49-F238E27FC236}">
                    <a16:creationId xmlns:a16="http://schemas.microsoft.com/office/drawing/2014/main" id="{9EE202F4-6624-EBD3-4A85-D2C6A1296C09}"/>
                  </a:ext>
                </a:extLst>
              </p14:cNvPr>
              <p14:cNvContentPartPr/>
              <p14:nvPr/>
            </p14:nvContentPartPr>
            <p14:xfrm>
              <a:off x="7612260" y="3604140"/>
              <a:ext cx="411480" cy="38880"/>
            </p14:xfrm>
          </p:contentPart>
        </mc:Choice>
        <mc:Fallback xmlns="">
          <p:pic>
            <p:nvPicPr>
              <p:cNvPr id="37" name="Ink 36">
                <a:extLst>
                  <a:ext uri="{FF2B5EF4-FFF2-40B4-BE49-F238E27FC236}">
                    <a16:creationId xmlns:a16="http://schemas.microsoft.com/office/drawing/2014/main" id="{9EE202F4-6624-EBD3-4A85-D2C6A1296C09}"/>
                  </a:ext>
                </a:extLst>
              </p:cNvPr>
              <p:cNvPicPr/>
              <p:nvPr/>
            </p:nvPicPr>
            <p:blipFill>
              <a:blip r:embed="rId12"/>
              <a:stretch>
                <a:fillRect/>
              </a:stretch>
            </p:blipFill>
            <p:spPr>
              <a:xfrm>
                <a:off x="7576260" y="3532140"/>
                <a:ext cx="483120" cy="18252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39" name="Ink 38">
                <a:extLst>
                  <a:ext uri="{FF2B5EF4-FFF2-40B4-BE49-F238E27FC236}">
                    <a16:creationId xmlns:a16="http://schemas.microsoft.com/office/drawing/2014/main" id="{EBFE5DAD-90E9-F5C5-20AB-BD7490388B3E}"/>
                  </a:ext>
                </a:extLst>
              </p14:cNvPr>
              <p14:cNvContentPartPr/>
              <p14:nvPr/>
            </p14:nvContentPartPr>
            <p14:xfrm>
              <a:off x="8001060" y="3802140"/>
              <a:ext cx="327600" cy="23040"/>
            </p14:xfrm>
          </p:contentPart>
        </mc:Choice>
        <mc:Fallback xmlns="">
          <p:pic>
            <p:nvPicPr>
              <p:cNvPr id="39" name="Ink 38">
                <a:extLst>
                  <a:ext uri="{FF2B5EF4-FFF2-40B4-BE49-F238E27FC236}">
                    <a16:creationId xmlns:a16="http://schemas.microsoft.com/office/drawing/2014/main" id="{EBFE5DAD-90E9-F5C5-20AB-BD7490388B3E}"/>
                  </a:ext>
                </a:extLst>
              </p:cNvPr>
              <p:cNvPicPr/>
              <p:nvPr/>
            </p:nvPicPr>
            <p:blipFill>
              <a:blip r:embed="rId14"/>
              <a:stretch>
                <a:fillRect/>
              </a:stretch>
            </p:blipFill>
            <p:spPr>
              <a:xfrm>
                <a:off x="7965060" y="3730140"/>
                <a:ext cx="399240" cy="16668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40" name="Ink 39">
                <a:extLst>
                  <a:ext uri="{FF2B5EF4-FFF2-40B4-BE49-F238E27FC236}">
                    <a16:creationId xmlns:a16="http://schemas.microsoft.com/office/drawing/2014/main" id="{56201CA0-2612-8E33-E64A-08CF5DA78AFE}"/>
                  </a:ext>
                </a:extLst>
              </p14:cNvPr>
              <p14:cNvContentPartPr/>
              <p14:nvPr/>
            </p14:nvContentPartPr>
            <p14:xfrm>
              <a:off x="10187700" y="3627180"/>
              <a:ext cx="403560" cy="8280"/>
            </p14:xfrm>
          </p:contentPart>
        </mc:Choice>
        <mc:Fallback xmlns="">
          <p:pic>
            <p:nvPicPr>
              <p:cNvPr id="40" name="Ink 39">
                <a:extLst>
                  <a:ext uri="{FF2B5EF4-FFF2-40B4-BE49-F238E27FC236}">
                    <a16:creationId xmlns:a16="http://schemas.microsoft.com/office/drawing/2014/main" id="{56201CA0-2612-8E33-E64A-08CF5DA78AFE}"/>
                  </a:ext>
                </a:extLst>
              </p:cNvPr>
              <p:cNvPicPr/>
              <p:nvPr/>
            </p:nvPicPr>
            <p:blipFill>
              <a:blip r:embed="rId16"/>
              <a:stretch>
                <a:fillRect/>
              </a:stretch>
            </p:blipFill>
            <p:spPr>
              <a:xfrm>
                <a:off x="10151700" y="3555180"/>
                <a:ext cx="475200" cy="15192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42" name="Ink 41">
                <a:extLst>
                  <a:ext uri="{FF2B5EF4-FFF2-40B4-BE49-F238E27FC236}">
                    <a16:creationId xmlns:a16="http://schemas.microsoft.com/office/drawing/2014/main" id="{1C71A7F5-3016-0E8A-3637-D2DC6248920B}"/>
                  </a:ext>
                </a:extLst>
              </p14:cNvPr>
              <p14:cNvContentPartPr/>
              <p14:nvPr/>
            </p14:nvContentPartPr>
            <p14:xfrm>
              <a:off x="10508100" y="3802140"/>
              <a:ext cx="274320" cy="360"/>
            </p14:xfrm>
          </p:contentPart>
        </mc:Choice>
        <mc:Fallback xmlns="">
          <p:pic>
            <p:nvPicPr>
              <p:cNvPr id="42" name="Ink 41">
                <a:extLst>
                  <a:ext uri="{FF2B5EF4-FFF2-40B4-BE49-F238E27FC236}">
                    <a16:creationId xmlns:a16="http://schemas.microsoft.com/office/drawing/2014/main" id="{1C71A7F5-3016-0E8A-3637-D2DC6248920B}"/>
                  </a:ext>
                </a:extLst>
              </p:cNvPr>
              <p:cNvPicPr/>
              <p:nvPr/>
            </p:nvPicPr>
            <p:blipFill>
              <a:blip r:embed="rId18"/>
              <a:stretch>
                <a:fillRect/>
              </a:stretch>
            </p:blipFill>
            <p:spPr>
              <a:xfrm>
                <a:off x="10472100" y="3730140"/>
                <a:ext cx="345960" cy="14400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44" name="Ink 43">
                <a:extLst>
                  <a:ext uri="{FF2B5EF4-FFF2-40B4-BE49-F238E27FC236}">
                    <a16:creationId xmlns:a16="http://schemas.microsoft.com/office/drawing/2014/main" id="{56D9AB15-DE50-BD53-45BB-1D24BD245D73}"/>
                  </a:ext>
                </a:extLst>
              </p14:cNvPr>
              <p14:cNvContentPartPr/>
              <p14:nvPr/>
            </p14:nvContentPartPr>
            <p14:xfrm>
              <a:off x="7978020" y="6301620"/>
              <a:ext cx="259560" cy="360"/>
            </p14:xfrm>
          </p:contentPart>
        </mc:Choice>
        <mc:Fallback xmlns="">
          <p:pic>
            <p:nvPicPr>
              <p:cNvPr id="44" name="Ink 43">
                <a:extLst>
                  <a:ext uri="{FF2B5EF4-FFF2-40B4-BE49-F238E27FC236}">
                    <a16:creationId xmlns:a16="http://schemas.microsoft.com/office/drawing/2014/main" id="{56D9AB15-DE50-BD53-45BB-1D24BD245D73}"/>
                  </a:ext>
                </a:extLst>
              </p:cNvPr>
              <p:cNvPicPr/>
              <p:nvPr/>
            </p:nvPicPr>
            <p:blipFill>
              <a:blip r:embed="rId20"/>
              <a:stretch>
                <a:fillRect/>
              </a:stretch>
            </p:blipFill>
            <p:spPr>
              <a:xfrm>
                <a:off x="7942020" y="6229620"/>
                <a:ext cx="331200" cy="14400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45" name="Ink 44">
                <a:extLst>
                  <a:ext uri="{FF2B5EF4-FFF2-40B4-BE49-F238E27FC236}">
                    <a16:creationId xmlns:a16="http://schemas.microsoft.com/office/drawing/2014/main" id="{90944C22-FAF4-B413-F377-E5F3BAEA0BA8}"/>
                  </a:ext>
                </a:extLst>
              </p14:cNvPr>
              <p14:cNvContentPartPr/>
              <p14:nvPr/>
            </p14:nvContentPartPr>
            <p14:xfrm>
              <a:off x="10637340" y="6316740"/>
              <a:ext cx="322200" cy="360"/>
            </p14:xfrm>
          </p:contentPart>
        </mc:Choice>
        <mc:Fallback xmlns="">
          <p:pic>
            <p:nvPicPr>
              <p:cNvPr id="45" name="Ink 44">
                <a:extLst>
                  <a:ext uri="{FF2B5EF4-FFF2-40B4-BE49-F238E27FC236}">
                    <a16:creationId xmlns:a16="http://schemas.microsoft.com/office/drawing/2014/main" id="{90944C22-FAF4-B413-F377-E5F3BAEA0BA8}"/>
                  </a:ext>
                </a:extLst>
              </p:cNvPr>
              <p:cNvPicPr/>
              <p:nvPr/>
            </p:nvPicPr>
            <p:blipFill>
              <a:blip r:embed="rId22"/>
              <a:stretch>
                <a:fillRect/>
              </a:stretch>
            </p:blipFill>
            <p:spPr>
              <a:xfrm>
                <a:off x="10601340" y="6244740"/>
                <a:ext cx="393840" cy="14400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47" name="Ink 46">
                <a:extLst>
                  <a:ext uri="{FF2B5EF4-FFF2-40B4-BE49-F238E27FC236}">
                    <a16:creationId xmlns:a16="http://schemas.microsoft.com/office/drawing/2014/main" id="{4F0ACF84-AAA0-016E-EE8D-756873EB7F9A}"/>
                  </a:ext>
                </a:extLst>
              </p14:cNvPr>
              <p14:cNvContentPartPr/>
              <p14:nvPr/>
            </p14:nvContentPartPr>
            <p14:xfrm>
              <a:off x="10271580" y="6126300"/>
              <a:ext cx="434520" cy="15840"/>
            </p14:xfrm>
          </p:contentPart>
        </mc:Choice>
        <mc:Fallback xmlns="">
          <p:pic>
            <p:nvPicPr>
              <p:cNvPr id="47" name="Ink 46">
                <a:extLst>
                  <a:ext uri="{FF2B5EF4-FFF2-40B4-BE49-F238E27FC236}">
                    <a16:creationId xmlns:a16="http://schemas.microsoft.com/office/drawing/2014/main" id="{4F0ACF84-AAA0-016E-EE8D-756873EB7F9A}"/>
                  </a:ext>
                </a:extLst>
              </p:cNvPr>
              <p:cNvPicPr/>
              <p:nvPr/>
            </p:nvPicPr>
            <p:blipFill>
              <a:blip r:embed="rId24"/>
              <a:stretch>
                <a:fillRect/>
              </a:stretch>
            </p:blipFill>
            <p:spPr>
              <a:xfrm>
                <a:off x="10235580" y="6054300"/>
                <a:ext cx="506160" cy="15948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48" name="Ink 47">
                <a:extLst>
                  <a:ext uri="{FF2B5EF4-FFF2-40B4-BE49-F238E27FC236}">
                    <a16:creationId xmlns:a16="http://schemas.microsoft.com/office/drawing/2014/main" id="{6736EF9D-FA82-D567-8589-CA5F3C3BDF38}"/>
                  </a:ext>
                </a:extLst>
              </p14:cNvPr>
              <p14:cNvContentPartPr/>
              <p14:nvPr/>
            </p14:nvContentPartPr>
            <p14:xfrm>
              <a:off x="7642500" y="6077340"/>
              <a:ext cx="438840" cy="34920"/>
            </p14:xfrm>
          </p:contentPart>
        </mc:Choice>
        <mc:Fallback xmlns="">
          <p:pic>
            <p:nvPicPr>
              <p:cNvPr id="48" name="Ink 47">
                <a:extLst>
                  <a:ext uri="{FF2B5EF4-FFF2-40B4-BE49-F238E27FC236}">
                    <a16:creationId xmlns:a16="http://schemas.microsoft.com/office/drawing/2014/main" id="{6736EF9D-FA82-D567-8589-CA5F3C3BDF38}"/>
                  </a:ext>
                </a:extLst>
              </p:cNvPr>
              <p:cNvPicPr/>
              <p:nvPr/>
            </p:nvPicPr>
            <p:blipFill>
              <a:blip r:embed="rId26"/>
              <a:stretch>
                <a:fillRect/>
              </a:stretch>
            </p:blipFill>
            <p:spPr>
              <a:xfrm>
                <a:off x="7606860" y="6005340"/>
                <a:ext cx="510480" cy="178560"/>
              </a:xfrm>
              <a:prstGeom prst="rect">
                <a:avLst/>
              </a:prstGeom>
            </p:spPr>
          </p:pic>
        </mc:Fallback>
      </mc:AlternateContent>
      <p:grpSp>
        <p:nvGrpSpPr>
          <p:cNvPr id="9" name="Group 8">
            <a:extLst>
              <a:ext uri="{FF2B5EF4-FFF2-40B4-BE49-F238E27FC236}">
                <a16:creationId xmlns:a16="http://schemas.microsoft.com/office/drawing/2014/main" id="{35FE516B-5FB2-C277-4A22-BD762436038C}"/>
              </a:ext>
            </a:extLst>
          </p:cNvPr>
          <p:cNvGrpSpPr/>
          <p:nvPr/>
        </p:nvGrpSpPr>
        <p:grpSpPr>
          <a:xfrm>
            <a:off x="3169060" y="136833"/>
            <a:ext cx="6950920" cy="723900"/>
            <a:chOff x="739738" y="344774"/>
            <a:chExt cx="9439576" cy="1042237"/>
          </a:xfrm>
        </p:grpSpPr>
        <p:sp>
          <p:nvSpPr>
            <p:cNvPr id="13" name="Rectangle: Rounded Corners 12">
              <a:extLst>
                <a:ext uri="{FF2B5EF4-FFF2-40B4-BE49-F238E27FC236}">
                  <a16:creationId xmlns:a16="http://schemas.microsoft.com/office/drawing/2014/main" id="{EFF78D02-4221-E861-F449-0214A6846493}"/>
                </a:ext>
              </a:extLst>
            </p:cNvPr>
            <p:cNvSpPr/>
            <p:nvPr/>
          </p:nvSpPr>
          <p:spPr>
            <a:xfrm>
              <a:off x="739739" y="344774"/>
              <a:ext cx="8311794" cy="1042237"/>
            </a:xfrm>
            <a:prstGeom prst="roundRect">
              <a:avLst/>
            </a:prstGeom>
            <a:solidFill>
              <a:schemeClr val="bg1">
                <a:lumMod val="85000"/>
              </a:schemeClr>
            </a:solidFill>
            <a:ln>
              <a:no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en-US" sz="2000" dirty="0"/>
            </a:p>
          </p:txBody>
        </p:sp>
        <p:sp>
          <p:nvSpPr>
            <p:cNvPr id="16" name="Title 1">
              <a:extLst>
                <a:ext uri="{FF2B5EF4-FFF2-40B4-BE49-F238E27FC236}">
                  <a16:creationId xmlns:a16="http://schemas.microsoft.com/office/drawing/2014/main" id="{717E636D-6783-F85E-114E-C0D307EECC6F}"/>
                </a:ext>
              </a:extLst>
            </p:cNvPr>
            <p:cNvSpPr txBox="1">
              <a:spLocks/>
            </p:cNvSpPr>
            <p:nvPr/>
          </p:nvSpPr>
          <p:spPr>
            <a:xfrm>
              <a:off x="739738" y="344774"/>
              <a:ext cx="9439576" cy="960044"/>
            </a:xfrm>
            <a:prstGeom prst="rect">
              <a:avLst/>
            </a:prstGeom>
            <a:noFill/>
            <a:ln w="12700" cap="flat" cmpd="sng" algn="ctr">
              <a:noFill/>
              <a:prstDash val="solid"/>
              <a:miter lim="800000"/>
            </a:ln>
          </p:spPr>
          <p:style>
            <a:lnRef idx="1">
              <a:schemeClr val="accent4"/>
            </a:lnRef>
            <a:fillRef idx="2">
              <a:schemeClr val="accent4"/>
            </a:fillRef>
            <a:effectRef idx="1">
              <a:schemeClr val="accent4"/>
            </a:effectRef>
            <a:fontRef idx="minor">
              <a:schemeClr val="dk1"/>
            </a:fontRef>
          </p:style>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l"/>
              <a:r>
                <a:rPr lang="en-US" sz="4000" dirty="0" err="1">
                  <a:solidFill>
                    <a:srgbClr val="C00000"/>
                  </a:solidFill>
                </a:rPr>
                <a:t>HDock</a:t>
              </a:r>
              <a:r>
                <a:rPr lang="en-US" sz="4000" dirty="0">
                  <a:solidFill>
                    <a:srgbClr val="C00000"/>
                  </a:solidFill>
                </a:rPr>
                <a:t> Docking Analysis</a:t>
              </a:r>
            </a:p>
          </p:txBody>
        </p:sp>
      </p:grpSp>
    </p:spTree>
    <p:extLst>
      <p:ext uri="{BB962C8B-B14F-4D97-AF65-F5344CB8AC3E}">
        <p14:creationId xmlns:p14="http://schemas.microsoft.com/office/powerpoint/2010/main" val="25676315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0"/>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B4340EBB-5F31-9DB7-4A16-BF0972DBA111}"/>
              </a:ext>
            </a:extLst>
          </p:cNvPr>
          <p:cNvGrpSpPr/>
          <p:nvPr/>
        </p:nvGrpSpPr>
        <p:grpSpPr>
          <a:xfrm>
            <a:off x="4606828" y="121566"/>
            <a:ext cx="2839147" cy="723900"/>
            <a:chOff x="739738" y="344774"/>
            <a:chExt cx="8311795" cy="1042237"/>
          </a:xfrm>
        </p:grpSpPr>
        <p:sp>
          <p:nvSpPr>
            <p:cNvPr id="5" name="Rectangle: Rounded Corners 4">
              <a:extLst>
                <a:ext uri="{FF2B5EF4-FFF2-40B4-BE49-F238E27FC236}">
                  <a16:creationId xmlns:a16="http://schemas.microsoft.com/office/drawing/2014/main" id="{BBC868BD-917C-6905-E677-95D444ECCF4A}"/>
                </a:ext>
              </a:extLst>
            </p:cNvPr>
            <p:cNvSpPr/>
            <p:nvPr/>
          </p:nvSpPr>
          <p:spPr>
            <a:xfrm>
              <a:off x="739739" y="344774"/>
              <a:ext cx="8311794" cy="1042237"/>
            </a:xfrm>
            <a:prstGeom prst="roundRect">
              <a:avLst/>
            </a:prstGeom>
            <a:solidFill>
              <a:schemeClr val="bg1">
                <a:lumMod val="85000"/>
              </a:schemeClr>
            </a:solidFill>
            <a:ln>
              <a:no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en-US" sz="2000" dirty="0"/>
            </a:p>
          </p:txBody>
        </p:sp>
        <p:sp>
          <p:nvSpPr>
            <p:cNvPr id="6" name="Title 1">
              <a:extLst>
                <a:ext uri="{FF2B5EF4-FFF2-40B4-BE49-F238E27FC236}">
                  <a16:creationId xmlns:a16="http://schemas.microsoft.com/office/drawing/2014/main" id="{DDF28FEA-A334-8B92-FD3C-F0087EE6208B}"/>
                </a:ext>
              </a:extLst>
            </p:cNvPr>
            <p:cNvSpPr txBox="1">
              <a:spLocks/>
            </p:cNvSpPr>
            <p:nvPr/>
          </p:nvSpPr>
          <p:spPr>
            <a:xfrm>
              <a:off x="739738" y="344774"/>
              <a:ext cx="8028993" cy="960044"/>
            </a:xfrm>
            <a:prstGeom prst="rect">
              <a:avLst/>
            </a:prstGeom>
            <a:noFill/>
            <a:ln w="12700" cap="flat" cmpd="sng" algn="ctr">
              <a:noFill/>
              <a:prstDash val="solid"/>
              <a:miter lim="800000"/>
            </a:ln>
          </p:spPr>
          <p:style>
            <a:lnRef idx="1">
              <a:schemeClr val="accent4"/>
            </a:lnRef>
            <a:fillRef idx="2">
              <a:schemeClr val="accent4"/>
            </a:fillRef>
            <a:effectRef idx="1">
              <a:schemeClr val="accent4"/>
            </a:effectRef>
            <a:fontRef idx="minor">
              <a:schemeClr val="dk1"/>
            </a:fontRef>
          </p:style>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l"/>
              <a:r>
                <a:rPr lang="en-US" sz="4000" dirty="0">
                  <a:solidFill>
                    <a:srgbClr val="C00000"/>
                  </a:solidFill>
                </a:rPr>
                <a:t>Conclusions</a:t>
              </a:r>
            </a:p>
          </p:txBody>
        </p:sp>
      </p:grpSp>
      <p:sp>
        <p:nvSpPr>
          <p:cNvPr id="7" name="Rectangle 6">
            <a:extLst>
              <a:ext uri="{FF2B5EF4-FFF2-40B4-BE49-F238E27FC236}">
                <a16:creationId xmlns:a16="http://schemas.microsoft.com/office/drawing/2014/main" id="{B89984F3-7C81-2998-A8BB-4B045D576471}"/>
              </a:ext>
            </a:extLst>
          </p:cNvPr>
          <p:cNvSpPr/>
          <p:nvPr/>
        </p:nvSpPr>
        <p:spPr>
          <a:xfrm>
            <a:off x="0" y="1675"/>
            <a:ext cx="12192000" cy="6858000"/>
          </a:xfrm>
          <a:prstGeom prst="rect">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800" dirty="0">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3594DC83-0F5A-4B53-1F49-901CF12D4A34}"/>
              </a:ext>
            </a:extLst>
          </p:cNvPr>
          <p:cNvSpPr txBox="1"/>
          <p:nvPr/>
        </p:nvSpPr>
        <p:spPr>
          <a:xfrm>
            <a:off x="552451" y="1046075"/>
            <a:ext cx="5391150" cy="369332"/>
          </a:xfrm>
          <a:prstGeom prst="rect">
            <a:avLst/>
          </a:prstGeom>
          <a:noFill/>
        </p:spPr>
        <p:txBody>
          <a:bodyPr wrap="square" rtlCol="0">
            <a:spAutoFit/>
          </a:bodyPr>
          <a:lstStyle/>
          <a:p>
            <a:r>
              <a:rPr lang="en-US" dirty="0"/>
              <a:t>Immunogenic peptide with both T and B Cell epitopes.</a:t>
            </a:r>
          </a:p>
        </p:txBody>
      </p:sp>
      <p:sp>
        <p:nvSpPr>
          <p:cNvPr id="10" name="TextBox 9">
            <a:extLst>
              <a:ext uri="{FF2B5EF4-FFF2-40B4-BE49-F238E27FC236}">
                <a16:creationId xmlns:a16="http://schemas.microsoft.com/office/drawing/2014/main" id="{B2F27E0D-F8D0-0448-D5C4-1DB461E783CF}"/>
              </a:ext>
            </a:extLst>
          </p:cNvPr>
          <p:cNvSpPr txBox="1"/>
          <p:nvPr/>
        </p:nvSpPr>
        <p:spPr>
          <a:xfrm>
            <a:off x="552451" y="1611527"/>
            <a:ext cx="3129712" cy="523220"/>
          </a:xfrm>
          <a:prstGeom prst="rect">
            <a:avLst/>
          </a:prstGeom>
          <a:solidFill>
            <a:srgbClr val="C00000"/>
          </a:solidFill>
          <a:ln>
            <a:noFill/>
          </a:ln>
        </p:spPr>
        <p:txBody>
          <a:bodyPr wrap="square" rtlCol="0">
            <a:spAutoFit/>
          </a:bodyPr>
          <a:lstStyle/>
          <a:p>
            <a:pPr algn="ctr" fontAlgn="ctr">
              <a:buNone/>
            </a:pPr>
            <a:r>
              <a:rPr lang="en-US" sz="1400" dirty="0">
                <a:solidFill>
                  <a:srgbClr val="D9D9D9"/>
                </a:solidFill>
              </a:rPr>
              <a:t>FARELAYEGLDPALIIKKLKETGGDDWV</a:t>
            </a:r>
          </a:p>
          <a:p>
            <a:pPr algn="ctr" fontAlgn="ctr">
              <a:buNone/>
            </a:pPr>
            <a:r>
              <a:rPr lang="en-US" sz="1400" dirty="0">
                <a:solidFill>
                  <a:srgbClr val="D9D9D9"/>
                </a:solidFill>
                <a:latin typeface="Calibri" panose="020F0502020204030204" pitchFamily="34" charset="0"/>
              </a:rPr>
              <a:t>(P1)</a:t>
            </a:r>
          </a:p>
        </p:txBody>
      </p:sp>
      <p:sp>
        <p:nvSpPr>
          <p:cNvPr id="12" name="TextBox 11">
            <a:extLst>
              <a:ext uri="{FF2B5EF4-FFF2-40B4-BE49-F238E27FC236}">
                <a16:creationId xmlns:a16="http://schemas.microsoft.com/office/drawing/2014/main" id="{1628112C-819A-D65D-3931-EF1F5F0C06A8}"/>
              </a:ext>
            </a:extLst>
          </p:cNvPr>
          <p:cNvSpPr txBox="1"/>
          <p:nvPr/>
        </p:nvSpPr>
        <p:spPr>
          <a:xfrm>
            <a:off x="4492791" y="1611527"/>
            <a:ext cx="2588044" cy="523220"/>
          </a:xfrm>
          <a:prstGeom prst="rect">
            <a:avLst/>
          </a:prstGeom>
          <a:solidFill>
            <a:srgbClr val="C00000"/>
          </a:solidFill>
          <a:ln>
            <a:noFill/>
          </a:ln>
        </p:spPr>
        <p:txBody>
          <a:bodyPr wrap="square">
            <a:spAutoFit/>
          </a:bodyPr>
          <a:lstStyle/>
          <a:p>
            <a:pPr algn="ctr" fontAlgn="ctr">
              <a:buNone/>
            </a:pPr>
            <a:r>
              <a:rPr lang="en-US" sz="1400" u="none" strike="noStrike" dirty="0">
                <a:solidFill>
                  <a:srgbClr val="D9D9D9"/>
                </a:solidFill>
                <a:effectLst/>
              </a:rPr>
              <a:t>DTKFIIVFALTRGNKIVKASGKM</a:t>
            </a:r>
          </a:p>
          <a:p>
            <a:pPr algn="ctr" fontAlgn="ctr">
              <a:buNone/>
            </a:pPr>
            <a:r>
              <a:rPr lang="en-US" sz="1400" b="0" i="0" dirty="0">
                <a:solidFill>
                  <a:srgbClr val="D9D9D9"/>
                </a:solidFill>
                <a:latin typeface="Calibri" panose="020F0502020204030204" pitchFamily="34" charset="0"/>
              </a:rPr>
              <a:t>(P2)</a:t>
            </a:r>
            <a:endParaRPr lang="en-US" sz="1400" b="0" i="0" u="none" strike="noStrike" dirty="0">
              <a:solidFill>
                <a:srgbClr val="D9D9D9"/>
              </a:solidFill>
              <a:effectLst/>
              <a:latin typeface="Calibri" panose="020F0502020204030204" pitchFamily="34" charset="0"/>
            </a:endParaRPr>
          </a:p>
        </p:txBody>
      </p:sp>
      <p:sp>
        <p:nvSpPr>
          <p:cNvPr id="14" name="TextBox 13">
            <a:extLst>
              <a:ext uri="{FF2B5EF4-FFF2-40B4-BE49-F238E27FC236}">
                <a16:creationId xmlns:a16="http://schemas.microsoft.com/office/drawing/2014/main" id="{E70C2BCC-975D-CC9F-868E-10D3D4179DC1}"/>
              </a:ext>
            </a:extLst>
          </p:cNvPr>
          <p:cNvSpPr txBox="1"/>
          <p:nvPr/>
        </p:nvSpPr>
        <p:spPr>
          <a:xfrm>
            <a:off x="7634288" y="1611527"/>
            <a:ext cx="3690937" cy="492443"/>
          </a:xfrm>
          <a:prstGeom prst="rect">
            <a:avLst/>
          </a:prstGeom>
          <a:solidFill>
            <a:srgbClr val="C00000"/>
          </a:solidFill>
          <a:ln>
            <a:noFill/>
          </a:ln>
        </p:spPr>
        <p:txBody>
          <a:bodyPr wrap="square">
            <a:spAutoFit/>
          </a:bodyPr>
          <a:lstStyle/>
          <a:p>
            <a:pPr algn="ctr" fontAlgn="ctr">
              <a:buNone/>
            </a:pPr>
            <a:r>
              <a:rPr lang="en-US" sz="1400" u="none" strike="noStrike" dirty="0">
                <a:solidFill>
                  <a:srgbClr val="D9D9D9"/>
                </a:solidFill>
                <a:effectLst/>
              </a:rPr>
              <a:t>KEYLPVGPAVMNLKVENYPPEMMCMAFGSLIPT</a:t>
            </a:r>
          </a:p>
          <a:p>
            <a:pPr algn="ctr" fontAlgn="ctr">
              <a:buNone/>
            </a:pPr>
            <a:r>
              <a:rPr lang="en-US" sz="1200" b="0" i="0" dirty="0">
                <a:solidFill>
                  <a:srgbClr val="D9D9D9"/>
                </a:solidFill>
                <a:latin typeface="Calibri" panose="020F0502020204030204" pitchFamily="34" charset="0"/>
              </a:rPr>
              <a:t>(P3)</a:t>
            </a:r>
            <a:endParaRPr lang="en-US" sz="1200" b="0" i="0" u="none" strike="noStrike" dirty="0">
              <a:solidFill>
                <a:srgbClr val="D9D9D9"/>
              </a:solidFill>
              <a:effectLst/>
              <a:latin typeface="Calibri" panose="020F0502020204030204" pitchFamily="34" charset="0"/>
            </a:endParaRPr>
          </a:p>
        </p:txBody>
      </p:sp>
      <p:sp>
        <p:nvSpPr>
          <p:cNvPr id="15" name="TextBox 14">
            <a:extLst>
              <a:ext uri="{FF2B5EF4-FFF2-40B4-BE49-F238E27FC236}">
                <a16:creationId xmlns:a16="http://schemas.microsoft.com/office/drawing/2014/main" id="{BA0B1289-B983-D10B-8FF8-8AA63B8BDEA7}"/>
              </a:ext>
            </a:extLst>
          </p:cNvPr>
          <p:cNvSpPr txBox="1"/>
          <p:nvPr/>
        </p:nvSpPr>
        <p:spPr>
          <a:xfrm>
            <a:off x="552451" y="2357048"/>
            <a:ext cx="10772774" cy="646331"/>
          </a:xfrm>
          <a:prstGeom prst="rect">
            <a:avLst/>
          </a:prstGeom>
          <a:noFill/>
        </p:spPr>
        <p:txBody>
          <a:bodyPr wrap="square" rtlCol="0">
            <a:spAutoFit/>
          </a:bodyPr>
          <a:lstStyle/>
          <a:p>
            <a:r>
              <a:rPr lang="en-US" dirty="0"/>
              <a:t>These peptides molecular docking interactions against HLA Class I and HLA Class II revealed each peptides ability to elicit T Cells activation</a:t>
            </a:r>
          </a:p>
        </p:txBody>
      </p:sp>
      <p:sp>
        <p:nvSpPr>
          <p:cNvPr id="16" name="TextBox 15">
            <a:extLst>
              <a:ext uri="{FF2B5EF4-FFF2-40B4-BE49-F238E27FC236}">
                <a16:creationId xmlns:a16="http://schemas.microsoft.com/office/drawing/2014/main" id="{C9A44BF7-3A4A-AB71-D9D6-97E7D113DDCD}"/>
              </a:ext>
            </a:extLst>
          </p:cNvPr>
          <p:cNvSpPr txBox="1"/>
          <p:nvPr/>
        </p:nvSpPr>
        <p:spPr>
          <a:xfrm>
            <a:off x="8195513" y="3198533"/>
            <a:ext cx="3129712" cy="523220"/>
          </a:xfrm>
          <a:prstGeom prst="rect">
            <a:avLst/>
          </a:prstGeom>
          <a:solidFill>
            <a:srgbClr val="C00000"/>
          </a:solidFill>
          <a:ln>
            <a:noFill/>
          </a:ln>
        </p:spPr>
        <p:txBody>
          <a:bodyPr wrap="square" rtlCol="0">
            <a:spAutoFit/>
          </a:bodyPr>
          <a:lstStyle/>
          <a:p>
            <a:pPr algn="ctr" fontAlgn="ctr">
              <a:buNone/>
            </a:pPr>
            <a:r>
              <a:rPr lang="en-US" sz="1400" dirty="0">
                <a:solidFill>
                  <a:srgbClr val="D9D9D9"/>
                </a:solidFill>
              </a:rPr>
              <a:t>FARELAYEGLDPALIIKKLKETGGDDWV</a:t>
            </a:r>
          </a:p>
          <a:p>
            <a:pPr algn="ctr" fontAlgn="ctr">
              <a:buNone/>
            </a:pPr>
            <a:r>
              <a:rPr lang="en-US" sz="1400" dirty="0">
                <a:solidFill>
                  <a:srgbClr val="D9D9D9"/>
                </a:solidFill>
                <a:latin typeface="Calibri" panose="020F0502020204030204" pitchFamily="34" charset="0"/>
              </a:rPr>
              <a:t>(P1)</a:t>
            </a:r>
          </a:p>
        </p:txBody>
      </p:sp>
      <p:sp>
        <p:nvSpPr>
          <p:cNvPr id="17" name="TextBox 16">
            <a:extLst>
              <a:ext uri="{FF2B5EF4-FFF2-40B4-BE49-F238E27FC236}">
                <a16:creationId xmlns:a16="http://schemas.microsoft.com/office/drawing/2014/main" id="{20695882-5473-0E31-59FE-3EFC52EFC472}"/>
              </a:ext>
            </a:extLst>
          </p:cNvPr>
          <p:cNvSpPr txBox="1"/>
          <p:nvPr/>
        </p:nvSpPr>
        <p:spPr>
          <a:xfrm>
            <a:off x="688557" y="3198533"/>
            <a:ext cx="2588044" cy="523220"/>
          </a:xfrm>
          <a:prstGeom prst="rect">
            <a:avLst/>
          </a:prstGeom>
          <a:solidFill>
            <a:srgbClr val="C00000"/>
          </a:solidFill>
          <a:ln>
            <a:noFill/>
          </a:ln>
        </p:spPr>
        <p:txBody>
          <a:bodyPr wrap="square">
            <a:spAutoFit/>
          </a:bodyPr>
          <a:lstStyle/>
          <a:p>
            <a:pPr algn="ctr" fontAlgn="ctr">
              <a:buNone/>
            </a:pPr>
            <a:r>
              <a:rPr lang="en-US" sz="1400" u="none" strike="noStrike" dirty="0">
                <a:solidFill>
                  <a:srgbClr val="D9D9D9"/>
                </a:solidFill>
                <a:effectLst/>
              </a:rPr>
              <a:t>DTKFIIVFALTRGNKIVKASGKM</a:t>
            </a:r>
          </a:p>
          <a:p>
            <a:pPr algn="ctr" fontAlgn="ctr">
              <a:buNone/>
            </a:pPr>
            <a:r>
              <a:rPr lang="en-US" sz="1400" b="0" i="0" dirty="0">
                <a:solidFill>
                  <a:srgbClr val="D9D9D9"/>
                </a:solidFill>
                <a:latin typeface="Calibri" panose="020F0502020204030204" pitchFamily="34" charset="0"/>
              </a:rPr>
              <a:t>(P2)</a:t>
            </a:r>
            <a:endParaRPr lang="en-US" sz="1400" b="0" i="0" u="none" strike="noStrike" dirty="0">
              <a:solidFill>
                <a:srgbClr val="D9D9D9"/>
              </a:solidFill>
              <a:effectLst/>
              <a:latin typeface="Calibri" panose="020F0502020204030204" pitchFamily="34" charset="0"/>
            </a:endParaRPr>
          </a:p>
        </p:txBody>
      </p:sp>
      <p:sp>
        <p:nvSpPr>
          <p:cNvPr id="18" name="TextBox 17">
            <a:extLst>
              <a:ext uri="{FF2B5EF4-FFF2-40B4-BE49-F238E27FC236}">
                <a16:creationId xmlns:a16="http://schemas.microsoft.com/office/drawing/2014/main" id="{3DD0D741-594A-3323-CCE1-61085BE88033}"/>
              </a:ext>
            </a:extLst>
          </p:cNvPr>
          <p:cNvSpPr txBox="1"/>
          <p:nvPr/>
        </p:nvSpPr>
        <p:spPr>
          <a:xfrm>
            <a:off x="3890588" y="3229310"/>
            <a:ext cx="3690937" cy="492443"/>
          </a:xfrm>
          <a:prstGeom prst="rect">
            <a:avLst/>
          </a:prstGeom>
          <a:solidFill>
            <a:srgbClr val="C00000"/>
          </a:solidFill>
          <a:ln>
            <a:noFill/>
          </a:ln>
        </p:spPr>
        <p:txBody>
          <a:bodyPr wrap="square">
            <a:spAutoFit/>
          </a:bodyPr>
          <a:lstStyle/>
          <a:p>
            <a:pPr algn="ctr" fontAlgn="ctr">
              <a:buNone/>
            </a:pPr>
            <a:r>
              <a:rPr lang="en-US" sz="1400" u="none" strike="noStrike" dirty="0">
                <a:solidFill>
                  <a:srgbClr val="D9D9D9"/>
                </a:solidFill>
                <a:effectLst/>
              </a:rPr>
              <a:t>KEYLPVGPAVMNLKVENYPPEMMCMAFGSLIPT</a:t>
            </a:r>
          </a:p>
          <a:p>
            <a:pPr algn="ctr" fontAlgn="ctr">
              <a:buNone/>
            </a:pPr>
            <a:r>
              <a:rPr lang="en-US" sz="1200" b="0" i="0" dirty="0">
                <a:solidFill>
                  <a:srgbClr val="D9D9D9"/>
                </a:solidFill>
                <a:latin typeface="Calibri" panose="020F0502020204030204" pitchFamily="34" charset="0"/>
              </a:rPr>
              <a:t>(P3)</a:t>
            </a:r>
            <a:endParaRPr lang="en-US" sz="1200" b="0" i="0" u="none" strike="noStrike" dirty="0">
              <a:solidFill>
                <a:srgbClr val="D9D9D9"/>
              </a:solidFill>
              <a:effectLst/>
              <a:latin typeface="Calibri" panose="020F0502020204030204" pitchFamily="34" charset="0"/>
            </a:endParaRPr>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3D05BD73-2426-EE10-2504-7F30CFA2CFF8}"/>
                  </a:ext>
                </a:extLst>
              </p:cNvPr>
              <p:cNvSpPr txBox="1"/>
              <p:nvPr/>
            </p:nvSpPr>
            <p:spPr>
              <a:xfrm>
                <a:off x="3359262" y="3182777"/>
                <a:ext cx="421590"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3200" i="1" smtClean="0">
                          <a:solidFill>
                            <a:srgbClr val="C00000"/>
                          </a:solidFill>
                          <a:latin typeface="Cambria Math" panose="02040503050406030204" pitchFamily="18" charset="0"/>
                          <a:ea typeface="Cambria Math" panose="02040503050406030204" pitchFamily="18" charset="0"/>
                        </a:rPr>
                        <m:t>&gt;</m:t>
                      </m:r>
                    </m:oMath>
                  </m:oMathPara>
                </a14:m>
                <a:endParaRPr lang="en-US" dirty="0">
                  <a:solidFill>
                    <a:srgbClr val="C00000"/>
                  </a:solidFill>
                </a:endParaRPr>
              </a:p>
            </p:txBody>
          </p:sp>
        </mc:Choice>
        <mc:Fallback xmlns="">
          <p:sp>
            <p:nvSpPr>
              <p:cNvPr id="19" name="TextBox 18">
                <a:extLst>
                  <a:ext uri="{FF2B5EF4-FFF2-40B4-BE49-F238E27FC236}">
                    <a16:creationId xmlns:a16="http://schemas.microsoft.com/office/drawing/2014/main" id="{3D05BD73-2426-EE10-2504-7F30CFA2CFF8}"/>
                  </a:ext>
                </a:extLst>
              </p:cNvPr>
              <p:cNvSpPr txBox="1">
                <a:spLocks noRot="1" noChangeAspect="1" noMove="1" noResize="1" noEditPoints="1" noAdjustHandles="1" noChangeArrowheads="1" noChangeShapeType="1" noTextEdit="1"/>
              </p:cNvSpPr>
              <p:nvPr/>
            </p:nvSpPr>
            <p:spPr>
              <a:xfrm>
                <a:off x="3359262" y="3182777"/>
                <a:ext cx="421590" cy="492443"/>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9EC4ED7E-27F3-C5EA-9D36-2604A6771C85}"/>
                  </a:ext>
                </a:extLst>
              </p:cNvPr>
              <p:cNvSpPr txBox="1"/>
              <p:nvPr/>
            </p:nvSpPr>
            <p:spPr>
              <a:xfrm>
                <a:off x="7711636" y="3182778"/>
                <a:ext cx="421590"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3200" i="1" smtClean="0">
                          <a:solidFill>
                            <a:srgbClr val="C00000"/>
                          </a:solidFill>
                          <a:latin typeface="Cambria Math" panose="02040503050406030204" pitchFamily="18" charset="0"/>
                          <a:ea typeface="Cambria Math" panose="02040503050406030204" pitchFamily="18" charset="0"/>
                        </a:rPr>
                        <m:t>&gt;</m:t>
                      </m:r>
                    </m:oMath>
                  </m:oMathPara>
                </a14:m>
                <a:endParaRPr lang="en-US" dirty="0">
                  <a:solidFill>
                    <a:srgbClr val="C00000"/>
                  </a:solidFill>
                </a:endParaRPr>
              </a:p>
            </p:txBody>
          </p:sp>
        </mc:Choice>
        <mc:Fallback xmlns="">
          <p:sp>
            <p:nvSpPr>
              <p:cNvPr id="20" name="TextBox 19">
                <a:extLst>
                  <a:ext uri="{FF2B5EF4-FFF2-40B4-BE49-F238E27FC236}">
                    <a16:creationId xmlns:a16="http://schemas.microsoft.com/office/drawing/2014/main" id="{9EC4ED7E-27F3-C5EA-9D36-2604A6771C85}"/>
                  </a:ext>
                </a:extLst>
              </p:cNvPr>
              <p:cNvSpPr txBox="1">
                <a:spLocks noRot="1" noChangeAspect="1" noMove="1" noResize="1" noEditPoints="1" noAdjustHandles="1" noChangeArrowheads="1" noChangeShapeType="1" noTextEdit="1"/>
              </p:cNvSpPr>
              <p:nvPr/>
            </p:nvSpPr>
            <p:spPr>
              <a:xfrm>
                <a:off x="7711636" y="3182778"/>
                <a:ext cx="421590" cy="492443"/>
              </a:xfrm>
              <a:prstGeom prst="rect">
                <a:avLst/>
              </a:prstGeom>
              <a:blipFill>
                <a:blip r:embed="rId3"/>
                <a:stretch>
                  <a:fillRect/>
                </a:stretch>
              </a:blipFill>
            </p:spPr>
            <p:txBody>
              <a:bodyPr/>
              <a:lstStyle/>
              <a:p>
                <a:r>
                  <a:rPr lang="en-US">
                    <a:noFill/>
                  </a:rPr>
                  <a:t> </a:t>
                </a:r>
              </a:p>
            </p:txBody>
          </p:sp>
        </mc:Fallback>
      </mc:AlternateContent>
      <p:sp>
        <p:nvSpPr>
          <p:cNvPr id="21" name="TextBox 20">
            <a:extLst>
              <a:ext uri="{FF2B5EF4-FFF2-40B4-BE49-F238E27FC236}">
                <a16:creationId xmlns:a16="http://schemas.microsoft.com/office/drawing/2014/main" id="{7E5ECC62-8C26-FC76-E49D-A4FC259E40AD}"/>
              </a:ext>
            </a:extLst>
          </p:cNvPr>
          <p:cNvSpPr txBox="1"/>
          <p:nvPr/>
        </p:nvSpPr>
        <p:spPr>
          <a:xfrm>
            <a:off x="552451" y="3962030"/>
            <a:ext cx="10772774" cy="923330"/>
          </a:xfrm>
          <a:prstGeom prst="rect">
            <a:avLst/>
          </a:prstGeom>
          <a:noFill/>
        </p:spPr>
        <p:txBody>
          <a:bodyPr wrap="square" rtlCol="0">
            <a:spAutoFit/>
          </a:bodyPr>
          <a:lstStyle/>
          <a:p>
            <a:r>
              <a:rPr lang="en-US" dirty="0"/>
              <a:t>These peptides were then joined together using linkers in all possible combinations into immunogenic peptide vaccine candidates whose molecular docking interactions against TLR 4 revealed each candidates ability to elicit innate immune cells activation.</a:t>
            </a:r>
          </a:p>
        </p:txBody>
      </p:sp>
      <p:grpSp>
        <p:nvGrpSpPr>
          <p:cNvPr id="30" name="Group 29">
            <a:extLst>
              <a:ext uri="{FF2B5EF4-FFF2-40B4-BE49-F238E27FC236}">
                <a16:creationId xmlns:a16="http://schemas.microsoft.com/office/drawing/2014/main" id="{9A4E1AFF-19CC-2C3D-C5C4-6971853A7E66}"/>
              </a:ext>
            </a:extLst>
          </p:cNvPr>
          <p:cNvGrpSpPr/>
          <p:nvPr/>
        </p:nvGrpSpPr>
        <p:grpSpPr>
          <a:xfrm>
            <a:off x="6113840" y="4888492"/>
            <a:ext cx="1019176" cy="1494451"/>
            <a:chOff x="879987" y="4860184"/>
            <a:chExt cx="1019176" cy="1494451"/>
          </a:xfrm>
        </p:grpSpPr>
        <p:pic>
          <p:nvPicPr>
            <p:cNvPr id="22" name="Picture 21" descr="A close-up of a protein&#10;&#10;AI-generated content may be incorrect.">
              <a:extLst>
                <a:ext uri="{FF2B5EF4-FFF2-40B4-BE49-F238E27FC236}">
                  <a16:creationId xmlns:a16="http://schemas.microsoft.com/office/drawing/2014/main" id="{15BBA8A6-084B-7E28-68B6-8C390B1F28E5}"/>
                </a:ext>
              </a:extLst>
            </p:cNvPr>
            <p:cNvPicPr>
              <a:picLocks noChangeAspect="1"/>
            </p:cNvPicPr>
            <p:nvPr/>
          </p:nvPicPr>
          <p:blipFill>
            <a:blip r:embed="rId4">
              <a:extLst>
                <a:ext uri="{28A0092B-C50C-407E-A947-70E740481C1C}">
                  <a14:useLocalDpi xmlns:a14="http://schemas.microsoft.com/office/drawing/2010/main" val="0"/>
                </a:ext>
              </a:extLst>
            </a:blip>
            <a:srcRect l="23824" r="18135"/>
            <a:stretch>
              <a:fillRect/>
            </a:stretch>
          </p:blipFill>
          <p:spPr>
            <a:xfrm>
              <a:off x="879987" y="4860184"/>
              <a:ext cx="1019176" cy="1215912"/>
            </a:xfrm>
            <a:prstGeom prst="rect">
              <a:avLst/>
            </a:prstGeom>
          </p:spPr>
        </p:pic>
        <p:sp>
          <p:nvSpPr>
            <p:cNvPr id="23" name="TextBox 22">
              <a:extLst>
                <a:ext uri="{FF2B5EF4-FFF2-40B4-BE49-F238E27FC236}">
                  <a16:creationId xmlns:a16="http://schemas.microsoft.com/office/drawing/2014/main" id="{5237485C-2232-D08E-8959-AF76BD650927}"/>
                </a:ext>
              </a:extLst>
            </p:cNvPr>
            <p:cNvSpPr txBox="1"/>
            <p:nvPr/>
          </p:nvSpPr>
          <p:spPr>
            <a:xfrm>
              <a:off x="1197126" y="5985303"/>
              <a:ext cx="467412" cy="369332"/>
            </a:xfrm>
            <a:prstGeom prst="rect">
              <a:avLst/>
            </a:prstGeom>
            <a:noFill/>
          </p:spPr>
          <p:txBody>
            <a:bodyPr wrap="square" rtlCol="0">
              <a:spAutoFit/>
            </a:bodyPr>
            <a:lstStyle/>
            <a:p>
              <a:r>
                <a:rPr lang="en-US" dirty="0">
                  <a:solidFill>
                    <a:srgbClr val="C00000"/>
                  </a:solidFill>
                </a:rPr>
                <a:t>C1</a:t>
              </a:r>
            </a:p>
          </p:txBody>
        </p:sp>
      </p:grpSp>
      <p:grpSp>
        <p:nvGrpSpPr>
          <p:cNvPr id="31" name="Group 30">
            <a:extLst>
              <a:ext uri="{FF2B5EF4-FFF2-40B4-BE49-F238E27FC236}">
                <a16:creationId xmlns:a16="http://schemas.microsoft.com/office/drawing/2014/main" id="{FCA6750E-0700-4A24-D16A-1F6BE69851A5}"/>
              </a:ext>
            </a:extLst>
          </p:cNvPr>
          <p:cNvGrpSpPr/>
          <p:nvPr/>
        </p:nvGrpSpPr>
        <p:grpSpPr>
          <a:xfrm>
            <a:off x="4606828" y="4919350"/>
            <a:ext cx="848059" cy="1488760"/>
            <a:chOff x="2105025" y="4860193"/>
            <a:chExt cx="848059" cy="1488760"/>
          </a:xfrm>
        </p:grpSpPr>
        <p:pic>
          <p:nvPicPr>
            <p:cNvPr id="24" name="Picture 23" descr="A colorful spirals of dna&#10;&#10;AI-generated content may be incorrect.">
              <a:extLst>
                <a:ext uri="{FF2B5EF4-FFF2-40B4-BE49-F238E27FC236}">
                  <a16:creationId xmlns:a16="http://schemas.microsoft.com/office/drawing/2014/main" id="{48C1D364-C280-9250-38B1-30731E29B15A}"/>
                </a:ext>
              </a:extLst>
            </p:cNvPr>
            <p:cNvPicPr>
              <a:picLocks noChangeAspect="1"/>
            </p:cNvPicPr>
            <p:nvPr/>
          </p:nvPicPr>
          <p:blipFill>
            <a:blip r:embed="rId5">
              <a:extLst>
                <a:ext uri="{28A0092B-C50C-407E-A947-70E740481C1C}">
                  <a14:useLocalDpi xmlns:a14="http://schemas.microsoft.com/office/drawing/2010/main" val="0"/>
                </a:ext>
              </a:extLst>
            </a:blip>
            <a:srcRect l="25967" r="25738"/>
            <a:stretch>
              <a:fillRect/>
            </a:stretch>
          </p:blipFill>
          <p:spPr>
            <a:xfrm>
              <a:off x="2105025" y="4860193"/>
              <a:ext cx="848059" cy="1190759"/>
            </a:xfrm>
            <a:prstGeom prst="rect">
              <a:avLst/>
            </a:prstGeom>
          </p:spPr>
        </p:pic>
        <p:sp>
          <p:nvSpPr>
            <p:cNvPr id="25" name="TextBox 24">
              <a:extLst>
                <a:ext uri="{FF2B5EF4-FFF2-40B4-BE49-F238E27FC236}">
                  <a16:creationId xmlns:a16="http://schemas.microsoft.com/office/drawing/2014/main" id="{3BFEEBC0-F9E3-AAB9-E363-AD5582971758}"/>
                </a:ext>
              </a:extLst>
            </p:cNvPr>
            <p:cNvSpPr txBox="1"/>
            <p:nvPr/>
          </p:nvSpPr>
          <p:spPr>
            <a:xfrm>
              <a:off x="2293338" y="5979621"/>
              <a:ext cx="467412" cy="369332"/>
            </a:xfrm>
            <a:prstGeom prst="rect">
              <a:avLst/>
            </a:prstGeom>
            <a:noFill/>
          </p:spPr>
          <p:txBody>
            <a:bodyPr wrap="square" rtlCol="0">
              <a:spAutoFit/>
            </a:bodyPr>
            <a:lstStyle/>
            <a:p>
              <a:r>
                <a:rPr lang="en-US" dirty="0">
                  <a:solidFill>
                    <a:srgbClr val="C00000"/>
                  </a:solidFill>
                </a:rPr>
                <a:t>C2</a:t>
              </a:r>
            </a:p>
          </p:txBody>
        </p:sp>
      </p:grpSp>
      <p:grpSp>
        <p:nvGrpSpPr>
          <p:cNvPr id="32" name="Group 31">
            <a:extLst>
              <a:ext uri="{FF2B5EF4-FFF2-40B4-BE49-F238E27FC236}">
                <a16:creationId xmlns:a16="http://schemas.microsoft.com/office/drawing/2014/main" id="{5068F37A-8A70-00F2-D211-BA8FEFA6DF16}"/>
              </a:ext>
            </a:extLst>
          </p:cNvPr>
          <p:cNvGrpSpPr/>
          <p:nvPr/>
        </p:nvGrpSpPr>
        <p:grpSpPr>
          <a:xfrm>
            <a:off x="2807487" y="4915742"/>
            <a:ext cx="1019175" cy="1537856"/>
            <a:chOff x="3276600" y="4811097"/>
            <a:chExt cx="1019175" cy="1537856"/>
          </a:xfrm>
        </p:grpSpPr>
        <p:pic>
          <p:nvPicPr>
            <p:cNvPr id="26" name="Picture 25" descr="A close-up of a protein&#10;&#10;AI-generated content may be incorrect.">
              <a:extLst>
                <a:ext uri="{FF2B5EF4-FFF2-40B4-BE49-F238E27FC236}">
                  <a16:creationId xmlns:a16="http://schemas.microsoft.com/office/drawing/2014/main" id="{BEF7FFEF-D155-0111-8686-2E0BEDBD0989}"/>
                </a:ext>
              </a:extLst>
            </p:cNvPr>
            <p:cNvPicPr>
              <a:picLocks noChangeAspect="1"/>
            </p:cNvPicPr>
            <p:nvPr/>
          </p:nvPicPr>
          <p:blipFill>
            <a:blip r:embed="rId6">
              <a:extLst>
                <a:ext uri="{28A0092B-C50C-407E-A947-70E740481C1C}">
                  <a14:useLocalDpi xmlns:a14="http://schemas.microsoft.com/office/drawing/2010/main" val="0"/>
                </a:ext>
              </a:extLst>
            </a:blip>
            <a:srcRect l="22281" r="22702"/>
            <a:stretch>
              <a:fillRect/>
            </a:stretch>
          </p:blipFill>
          <p:spPr>
            <a:xfrm>
              <a:off x="3276600" y="4811097"/>
              <a:ext cx="1019175" cy="1256192"/>
            </a:xfrm>
            <a:prstGeom prst="rect">
              <a:avLst/>
            </a:prstGeom>
          </p:spPr>
        </p:pic>
        <p:sp>
          <p:nvSpPr>
            <p:cNvPr id="27" name="TextBox 26">
              <a:extLst>
                <a:ext uri="{FF2B5EF4-FFF2-40B4-BE49-F238E27FC236}">
                  <a16:creationId xmlns:a16="http://schemas.microsoft.com/office/drawing/2014/main" id="{AD2DE63B-6AF4-349A-8E64-BAB9E443DC32}"/>
                </a:ext>
              </a:extLst>
            </p:cNvPr>
            <p:cNvSpPr txBox="1"/>
            <p:nvPr/>
          </p:nvSpPr>
          <p:spPr>
            <a:xfrm>
              <a:off x="3556363" y="5979621"/>
              <a:ext cx="467412" cy="369332"/>
            </a:xfrm>
            <a:prstGeom prst="rect">
              <a:avLst/>
            </a:prstGeom>
            <a:noFill/>
          </p:spPr>
          <p:txBody>
            <a:bodyPr wrap="square" rtlCol="0">
              <a:spAutoFit/>
            </a:bodyPr>
            <a:lstStyle/>
            <a:p>
              <a:r>
                <a:rPr lang="en-US" dirty="0">
                  <a:solidFill>
                    <a:srgbClr val="C00000"/>
                  </a:solidFill>
                </a:rPr>
                <a:t>C5</a:t>
              </a:r>
            </a:p>
          </p:txBody>
        </p:sp>
      </p:grpSp>
      <p:grpSp>
        <p:nvGrpSpPr>
          <p:cNvPr id="33" name="Group 32">
            <a:extLst>
              <a:ext uri="{FF2B5EF4-FFF2-40B4-BE49-F238E27FC236}">
                <a16:creationId xmlns:a16="http://schemas.microsoft.com/office/drawing/2014/main" id="{D4C34ECB-52F0-63C1-4138-2D5AFC172F33}"/>
              </a:ext>
            </a:extLst>
          </p:cNvPr>
          <p:cNvGrpSpPr/>
          <p:nvPr/>
        </p:nvGrpSpPr>
        <p:grpSpPr>
          <a:xfrm>
            <a:off x="7976195" y="4887655"/>
            <a:ext cx="1099063" cy="1463593"/>
            <a:chOff x="4501637" y="4885360"/>
            <a:chExt cx="1099063" cy="1463593"/>
          </a:xfrm>
        </p:grpSpPr>
        <p:pic>
          <p:nvPicPr>
            <p:cNvPr id="28" name="Picture 27" descr="A close-up of a protein&#10;&#10;AI-generated content may be incorrect.">
              <a:extLst>
                <a:ext uri="{FF2B5EF4-FFF2-40B4-BE49-F238E27FC236}">
                  <a16:creationId xmlns:a16="http://schemas.microsoft.com/office/drawing/2014/main" id="{4EC0DDC8-0C79-3BAB-FB31-52673233C4B8}"/>
                </a:ext>
              </a:extLst>
            </p:cNvPr>
            <p:cNvPicPr>
              <a:picLocks noChangeAspect="1"/>
            </p:cNvPicPr>
            <p:nvPr/>
          </p:nvPicPr>
          <p:blipFill>
            <a:blip r:embed="rId7">
              <a:extLst>
                <a:ext uri="{28A0092B-C50C-407E-A947-70E740481C1C}">
                  <a14:useLocalDpi xmlns:a14="http://schemas.microsoft.com/office/drawing/2010/main" val="0"/>
                </a:ext>
              </a:extLst>
            </a:blip>
            <a:srcRect l="16497" r="19857"/>
            <a:stretch>
              <a:fillRect/>
            </a:stretch>
          </p:blipFill>
          <p:spPr>
            <a:xfrm>
              <a:off x="4501637" y="4885360"/>
              <a:ext cx="1099063" cy="1171011"/>
            </a:xfrm>
            <a:prstGeom prst="rect">
              <a:avLst/>
            </a:prstGeom>
          </p:spPr>
        </p:pic>
        <p:sp>
          <p:nvSpPr>
            <p:cNvPr id="29" name="TextBox 28">
              <a:extLst>
                <a:ext uri="{FF2B5EF4-FFF2-40B4-BE49-F238E27FC236}">
                  <a16:creationId xmlns:a16="http://schemas.microsoft.com/office/drawing/2014/main" id="{792D1E15-637D-0A45-135B-195AD53ED633}"/>
                </a:ext>
              </a:extLst>
            </p:cNvPr>
            <p:cNvSpPr txBox="1"/>
            <p:nvPr/>
          </p:nvSpPr>
          <p:spPr>
            <a:xfrm>
              <a:off x="4819388" y="5979621"/>
              <a:ext cx="467412" cy="369332"/>
            </a:xfrm>
            <a:prstGeom prst="rect">
              <a:avLst/>
            </a:prstGeom>
            <a:noFill/>
          </p:spPr>
          <p:txBody>
            <a:bodyPr wrap="square" rtlCol="0">
              <a:spAutoFit/>
            </a:bodyPr>
            <a:lstStyle/>
            <a:p>
              <a:r>
                <a:rPr lang="en-US" dirty="0">
                  <a:solidFill>
                    <a:srgbClr val="C00000"/>
                  </a:solidFill>
                </a:rPr>
                <a:t>C6</a:t>
              </a:r>
            </a:p>
          </p:txBody>
        </p:sp>
      </p:grp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FCC7C6E4-93C1-ED9C-5167-F450B4A077B7}"/>
                  </a:ext>
                </a:extLst>
              </p:cNvPr>
              <p:cNvSpPr txBox="1"/>
              <p:nvPr/>
            </p:nvSpPr>
            <p:spPr>
              <a:xfrm>
                <a:off x="7500841" y="5172169"/>
                <a:ext cx="421590"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3200" i="1" smtClean="0">
                          <a:solidFill>
                            <a:srgbClr val="C00000"/>
                          </a:solidFill>
                          <a:latin typeface="Cambria Math" panose="02040503050406030204" pitchFamily="18" charset="0"/>
                          <a:ea typeface="Cambria Math" panose="02040503050406030204" pitchFamily="18" charset="0"/>
                        </a:rPr>
                        <m:t>&gt;</m:t>
                      </m:r>
                    </m:oMath>
                  </m:oMathPara>
                </a14:m>
                <a:endParaRPr lang="en-US" dirty="0">
                  <a:solidFill>
                    <a:srgbClr val="C00000"/>
                  </a:solidFill>
                </a:endParaRPr>
              </a:p>
            </p:txBody>
          </p:sp>
        </mc:Choice>
        <mc:Fallback xmlns="">
          <p:sp>
            <p:nvSpPr>
              <p:cNvPr id="34" name="TextBox 33">
                <a:extLst>
                  <a:ext uri="{FF2B5EF4-FFF2-40B4-BE49-F238E27FC236}">
                    <a16:creationId xmlns:a16="http://schemas.microsoft.com/office/drawing/2014/main" id="{FCC7C6E4-93C1-ED9C-5167-F450B4A077B7}"/>
                  </a:ext>
                </a:extLst>
              </p:cNvPr>
              <p:cNvSpPr txBox="1">
                <a:spLocks noRot="1" noChangeAspect="1" noMove="1" noResize="1" noEditPoints="1" noAdjustHandles="1" noChangeArrowheads="1" noChangeShapeType="1" noTextEdit="1"/>
              </p:cNvSpPr>
              <p:nvPr/>
            </p:nvSpPr>
            <p:spPr>
              <a:xfrm>
                <a:off x="7500841" y="5172169"/>
                <a:ext cx="421590" cy="492443"/>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CD5EC767-5BF5-DD87-9B22-6669A68C1164}"/>
                  </a:ext>
                </a:extLst>
              </p:cNvPr>
              <p:cNvSpPr txBox="1"/>
              <p:nvPr/>
            </p:nvSpPr>
            <p:spPr>
              <a:xfrm>
                <a:off x="3975006" y="5172168"/>
                <a:ext cx="421590"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3200" i="1" smtClean="0">
                          <a:solidFill>
                            <a:srgbClr val="C00000"/>
                          </a:solidFill>
                          <a:latin typeface="Cambria Math" panose="02040503050406030204" pitchFamily="18" charset="0"/>
                          <a:ea typeface="Cambria Math" panose="02040503050406030204" pitchFamily="18" charset="0"/>
                        </a:rPr>
                        <m:t>&gt;</m:t>
                      </m:r>
                    </m:oMath>
                  </m:oMathPara>
                </a14:m>
                <a:endParaRPr lang="en-US" dirty="0">
                  <a:solidFill>
                    <a:srgbClr val="C00000"/>
                  </a:solidFill>
                </a:endParaRPr>
              </a:p>
            </p:txBody>
          </p:sp>
        </mc:Choice>
        <mc:Fallback xmlns="">
          <p:sp>
            <p:nvSpPr>
              <p:cNvPr id="35" name="TextBox 34">
                <a:extLst>
                  <a:ext uri="{FF2B5EF4-FFF2-40B4-BE49-F238E27FC236}">
                    <a16:creationId xmlns:a16="http://schemas.microsoft.com/office/drawing/2014/main" id="{CD5EC767-5BF5-DD87-9B22-6669A68C1164}"/>
                  </a:ext>
                </a:extLst>
              </p:cNvPr>
              <p:cNvSpPr txBox="1">
                <a:spLocks noRot="1" noChangeAspect="1" noMove="1" noResize="1" noEditPoints="1" noAdjustHandles="1" noChangeArrowheads="1" noChangeShapeType="1" noTextEdit="1"/>
              </p:cNvSpPr>
              <p:nvPr/>
            </p:nvSpPr>
            <p:spPr>
              <a:xfrm>
                <a:off x="3975006" y="5172168"/>
                <a:ext cx="421590" cy="492443"/>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AA800B98-24D9-9B3E-5104-18CF0D313FF8}"/>
                  </a:ext>
                </a:extLst>
              </p:cNvPr>
              <p:cNvSpPr txBox="1"/>
              <p:nvPr/>
            </p:nvSpPr>
            <p:spPr>
              <a:xfrm>
                <a:off x="5657010" y="5172168"/>
                <a:ext cx="415178"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3200" i="1" smtClean="0">
                          <a:solidFill>
                            <a:srgbClr val="C00000"/>
                          </a:solidFill>
                          <a:latin typeface="Cambria Math" panose="02040503050406030204" pitchFamily="18" charset="0"/>
                          <a:ea typeface="Cambria Math" panose="02040503050406030204" pitchFamily="18" charset="0"/>
                        </a:rPr>
                        <m:t>≈</m:t>
                      </m:r>
                    </m:oMath>
                  </m:oMathPara>
                </a14:m>
                <a:endParaRPr lang="en-US" sz="3200" dirty="0">
                  <a:solidFill>
                    <a:srgbClr val="C00000"/>
                  </a:solidFill>
                </a:endParaRPr>
              </a:p>
            </p:txBody>
          </p:sp>
        </mc:Choice>
        <mc:Fallback xmlns="">
          <p:sp>
            <p:nvSpPr>
              <p:cNvPr id="36" name="TextBox 35">
                <a:extLst>
                  <a:ext uri="{FF2B5EF4-FFF2-40B4-BE49-F238E27FC236}">
                    <a16:creationId xmlns:a16="http://schemas.microsoft.com/office/drawing/2014/main" id="{AA800B98-24D9-9B3E-5104-18CF0D313FF8}"/>
                  </a:ext>
                </a:extLst>
              </p:cNvPr>
              <p:cNvSpPr txBox="1">
                <a:spLocks noRot="1" noChangeAspect="1" noMove="1" noResize="1" noEditPoints="1" noAdjustHandles="1" noChangeArrowheads="1" noChangeShapeType="1" noTextEdit="1"/>
              </p:cNvSpPr>
              <p:nvPr/>
            </p:nvSpPr>
            <p:spPr>
              <a:xfrm>
                <a:off x="5657010" y="5172168"/>
                <a:ext cx="415178" cy="492443"/>
              </a:xfrm>
              <a:prstGeom prst="rect">
                <a:avLst/>
              </a:prstGeom>
              <a:blipFill>
                <a:blip r:embed="rId10"/>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427849429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5ED8F93C-F144-3644-70B4-4F818B0CA0FF}"/>
              </a:ext>
            </a:extLst>
          </p:cNvPr>
          <p:cNvGrpSpPr/>
          <p:nvPr/>
        </p:nvGrpSpPr>
        <p:grpSpPr>
          <a:xfrm>
            <a:off x="4895183" y="157194"/>
            <a:ext cx="2943999" cy="723900"/>
            <a:chOff x="739738" y="344774"/>
            <a:chExt cx="9439576" cy="1042237"/>
          </a:xfrm>
        </p:grpSpPr>
        <p:sp>
          <p:nvSpPr>
            <p:cNvPr id="3" name="Rectangle: Rounded Corners 2">
              <a:extLst>
                <a:ext uri="{FF2B5EF4-FFF2-40B4-BE49-F238E27FC236}">
                  <a16:creationId xmlns:a16="http://schemas.microsoft.com/office/drawing/2014/main" id="{B2C0C239-AB3E-7367-A9D5-62B5141F2EF2}"/>
                </a:ext>
              </a:extLst>
            </p:cNvPr>
            <p:cNvSpPr/>
            <p:nvPr/>
          </p:nvSpPr>
          <p:spPr>
            <a:xfrm>
              <a:off x="739739" y="344774"/>
              <a:ext cx="8311794" cy="1042237"/>
            </a:xfrm>
            <a:prstGeom prst="roundRect">
              <a:avLst/>
            </a:prstGeom>
            <a:solidFill>
              <a:schemeClr val="bg1">
                <a:lumMod val="85000"/>
              </a:schemeClr>
            </a:solidFill>
            <a:ln>
              <a:no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en-US" sz="2000" dirty="0"/>
            </a:p>
          </p:txBody>
        </p:sp>
        <p:sp>
          <p:nvSpPr>
            <p:cNvPr id="4" name="Title 1">
              <a:extLst>
                <a:ext uri="{FF2B5EF4-FFF2-40B4-BE49-F238E27FC236}">
                  <a16:creationId xmlns:a16="http://schemas.microsoft.com/office/drawing/2014/main" id="{B9A09D56-B21F-2740-C709-C94A7D7504A0}"/>
                </a:ext>
              </a:extLst>
            </p:cNvPr>
            <p:cNvSpPr txBox="1">
              <a:spLocks/>
            </p:cNvSpPr>
            <p:nvPr/>
          </p:nvSpPr>
          <p:spPr>
            <a:xfrm>
              <a:off x="739738" y="344774"/>
              <a:ext cx="9439576" cy="960044"/>
            </a:xfrm>
            <a:prstGeom prst="rect">
              <a:avLst/>
            </a:prstGeom>
            <a:noFill/>
            <a:ln w="12700" cap="flat" cmpd="sng" algn="ctr">
              <a:noFill/>
              <a:prstDash val="solid"/>
              <a:miter lim="800000"/>
            </a:ln>
          </p:spPr>
          <p:style>
            <a:lnRef idx="1">
              <a:schemeClr val="accent4"/>
            </a:lnRef>
            <a:fillRef idx="2">
              <a:schemeClr val="accent4"/>
            </a:fillRef>
            <a:effectRef idx="1">
              <a:schemeClr val="accent4"/>
            </a:effectRef>
            <a:fontRef idx="minor">
              <a:schemeClr val="dk1"/>
            </a:fontRef>
          </p:style>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l"/>
              <a:r>
                <a:rPr lang="en-US" sz="4000" dirty="0">
                  <a:solidFill>
                    <a:srgbClr val="C00000"/>
                  </a:solidFill>
                </a:rPr>
                <a:t>References</a:t>
              </a:r>
            </a:p>
          </p:txBody>
        </p:sp>
      </p:grpSp>
      <p:sp>
        <p:nvSpPr>
          <p:cNvPr id="5" name="Rectangle 4">
            <a:extLst>
              <a:ext uri="{FF2B5EF4-FFF2-40B4-BE49-F238E27FC236}">
                <a16:creationId xmlns:a16="http://schemas.microsoft.com/office/drawing/2014/main" id="{7FEBD3C0-D5AB-DC9D-57CD-FE01C19BFC7E}"/>
              </a:ext>
            </a:extLst>
          </p:cNvPr>
          <p:cNvSpPr/>
          <p:nvPr/>
        </p:nvSpPr>
        <p:spPr>
          <a:xfrm>
            <a:off x="0" y="1675"/>
            <a:ext cx="12192000" cy="6858000"/>
          </a:xfrm>
          <a:prstGeom prst="rect">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800" dirty="0">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0280C041-BCAD-45B3-7119-1D97E95909B3}"/>
              </a:ext>
            </a:extLst>
          </p:cNvPr>
          <p:cNvSpPr txBox="1"/>
          <p:nvPr/>
        </p:nvSpPr>
        <p:spPr>
          <a:xfrm>
            <a:off x="189619" y="1036612"/>
            <a:ext cx="11577637" cy="5414303"/>
          </a:xfrm>
          <a:prstGeom prst="rect">
            <a:avLst/>
          </a:prstGeom>
          <a:noFill/>
        </p:spPr>
        <p:txBody>
          <a:bodyPr wrap="square">
            <a:spAutoFit/>
          </a:bodyPr>
          <a:lstStyle/>
          <a:p>
            <a:pPr marL="342900" marR="0" indent="-342900" algn="just">
              <a:lnSpc>
                <a:spcPct val="115000"/>
              </a:lnSpc>
              <a:spcAft>
                <a:spcPts val="800"/>
              </a:spcAft>
              <a:buFont typeface="Arial" panose="020B0604020202020204" pitchFamily="34" charset="0"/>
              <a:buChar char="•"/>
            </a:pP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Cui H, Shen S, Chen L, Fan Z, Wen Q, Xing Y, et al. Global epidemiology of severe fever with thrombocytopenia syndrome virus in human and animals: a systematic review and meta-analysis. The Lancet Regional Health – Western Pacific [Internet]. 2024 Jul 1 [cited 2025 Jun 2];48. Available from: </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hlinkClick r:id="rId2"/>
              </a:rPr>
              <a:t>https://www.thelancet.com/journals/lanwpc/article/PIIS2666-6065(24)00127-5/fulltext?uuid=uuid%3Ac867e2b7-1e72-4b4a-91aa-071ecc2d81e8</a:t>
            </a:r>
            <a:endParaRPr lang="en-US" sz="1400" kern="100" dirty="0">
              <a:latin typeface="Times New Roman" panose="02020603050405020304" pitchFamily="18" charset="0"/>
              <a:ea typeface="Aptos" panose="020B0004020202020204" pitchFamily="34" charset="0"/>
              <a:cs typeface="Times New Roman" panose="02020603050405020304" pitchFamily="18" charset="0"/>
            </a:endParaRPr>
          </a:p>
          <a:p>
            <a:pPr marL="342900" marR="0" indent="-342900" algn="just">
              <a:lnSpc>
                <a:spcPct val="115000"/>
              </a:lnSpc>
              <a:spcAft>
                <a:spcPts val="800"/>
              </a:spcAft>
              <a:buFont typeface="Arial" panose="020B0604020202020204" pitchFamily="34" charset="0"/>
              <a:buChar char="•"/>
            </a:pPr>
            <a:r>
              <a:rPr lang="en-US" sz="1400" dirty="0">
                <a:effectLst/>
                <a:latin typeface="Times New Roman" panose="02020603050405020304" pitchFamily="18" charset="0"/>
                <a:ea typeface="Aptos" panose="020B0004020202020204" pitchFamily="34" charset="0"/>
              </a:rPr>
              <a:t>Zheng J, Du S, Liu Q. The cellular host factors for severe fever with thrombocytopenia syndrome virus infection. Animals and Zoonoses Available from: </a:t>
            </a:r>
            <a:r>
              <a:rPr lang="en-US" sz="1400" dirty="0">
                <a:effectLst/>
                <a:latin typeface="Times New Roman" panose="02020603050405020304" pitchFamily="18" charset="0"/>
                <a:ea typeface="Aptos" panose="020B0004020202020204" pitchFamily="34" charset="0"/>
                <a:hlinkClick r:id="rId3"/>
              </a:rPr>
              <a:t>https://www.sciencedirect.com/science/article/pii/S2950248925000331</a:t>
            </a:r>
            <a:endParaRPr lang="en-US" sz="14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Waterhouse AM, Procter JB, Martin DMA, Clamp M, Barton GJ. </a:t>
            </a:r>
            <a:r>
              <a:rPr lang="en-US" sz="1400" dirty="0" err="1">
                <a:latin typeface="Times New Roman" panose="02020603050405020304" pitchFamily="18" charset="0"/>
                <a:cs typeface="Times New Roman" panose="02020603050405020304" pitchFamily="18" charset="0"/>
              </a:rPr>
              <a:t>Jalview</a:t>
            </a:r>
            <a:r>
              <a:rPr lang="en-US" sz="1400" dirty="0">
                <a:latin typeface="Times New Roman" panose="02020603050405020304" pitchFamily="18" charset="0"/>
                <a:cs typeface="Times New Roman" panose="02020603050405020304" pitchFamily="18" charset="0"/>
              </a:rPr>
              <a:t> Version 2—a multiple sequence alignment editor and analysis workbench. Bioinformatics. 2009 May 1;25(9):1189–91. </a:t>
            </a:r>
          </a:p>
          <a:p>
            <a:pPr marL="342900" indent="-342900" algn="just">
              <a:buFont typeface="Arial" panose="020B0604020202020204" pitchFamily="34" charset="0"/>
              <a:buChar char="•"/>
            </a:pPr>
            <a:endParaRPr lang="en-US" sz="14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Kumar S, Stecher G, Suleski M, Sanderford M, Sharma S, Tamura K. MEGA12: Molecular Evolutionary Genetic Analysis version 12 for adaptive and green computing [Internet]. </a:t>
            </a:r>
            <a:r>
              <a:rPr lang="en-US" sz="1400" dirty="0" err="1">
                <a:latin typeface="Times New Roman" panose="02020603050405020304" pitchFamily="18" charset="0"/>
                <a:cs typeface="Times New Roman" panose="02020603050405020304" pitchFamily="18" charset="0"/>
              </a:rPr>
              <a:t>bioRxiv</a:t>
            </a:r>
            <a:r>
              <a:rPr lang="en-US" sz="1400" dirty="0">
                <a:latin typeface="Times New Roman" panose="02020603050405020304" pitchFamily="18" charset="0"/>
                <a:cs typeface="Times New Roman" panose="02020603050405020304" pitchFamily="18" charset="0"/>
              </a:rPr>
              <a:t>; 2024 Available from: </a:t>
            </a:r>
            <a:r>
              <a:rPr lang="en-US" sz="1400" dirty="0">
                <a:latin typeface="Times New Roman" panose="02020603050405020304" pitchFamily="18" charset="0"/>
                <a:cs typeface="Times New Roman" panose="02020603050405020304" pitchFamily="18" charset="0"/>
                <a:hlinkClick r:id="rId4"/>
              </a:rPr>
              <a:t>https://www.biorxiv.org/content/10.1101/2024.12.10.627672v1</a:t>
            </a:r>
            <a:endParaRPr lang="en-US" sz="14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endParaRPr lang="en-US" sz="14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Reynisson B, Alvarez B, Paul S, Peters B, Nielsen M. NetMHCpan-4.1 and NetMHCIIpan-4.0: improved predictions of MHC antigen presentation by concurrent motif deconvolution and integration of MS MHC eluted ligand data. Nucleic Acids Res. 2020 Jul 2;48(W1):W449–54. </a:t>
            </a:r>
          </a:p>
          <a:p>
            <a:pPr marL="342900" indent="-342900" algn="just">
              <a:buFont typeface="Arial" panose="020B0604020202020204" pitchFamily="34" charset="0"/>
              <a:buChar char="•"/>
            </a:pPr>
            <a:endParaRPr lang="en-US" sz="14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O’Donnell TJ, </a:t>
            </a:r>
            <a:r>
              <a:rPr lang="en-US" sz="1400" dirty="0" err="1">
                <a:latin typeface="Times New Roman" panose="02020603050405020304" pitchFamily="18" charset="0"/>
                <a:cs typeface="Times New Roman" panose="02020603050405020304" pitchFamily="18" charset="0"/>
              </a:rPr>
              <a:t>Rubinsteyn</a:t>
            </a:r>
            <a:r>
              <a:rPr lang="en-US" sz="1400" dirty="0">
                <a:latin typeface="Times New Roman" panose="02020603050405020304" pitchFamily="18" charset="0"/>
                <a:cs typeface="Times New Roman" panose="02020603050405020304" pitchFamily="18" charset="0"/>
              </a:rPr>
              <a:t> A, Bonsack M, Riemer AB, Laserson U, Hammerbacher J. </a:t>
            </a:r>
            <a:r>
              <a:rPr lang="en-US" sz="1400" dirty="0" err="1">
                <a:latin typeface="Times New Roman" panose="02020603050405020304" pitchFamily="18" charset="0"/>
                <a:cs typeface="Times New Roman" panose="02020603050405020304" pitchFamily="18" charset="0"/>
              </a:rPr>
              <a:t>MHCflurry</a:t>
            </a:r>
            <a:r>
              <a:rPr lang="en-US" sz="1400" dirty="0">
                <a:latin typeface="Times New Roman" panose="02020603050405020304" pitchFamily="18" charset="0"/>
                <a:cs typeface="Times New Roman" panose="02020603050405020304" pitchFamily="18" charset="0"/>
              </a:rPr>
              <a:t>: Open-Source Class I MHC Binding Affinity Prediction. cels. 2018 Jul 25;7(1):129-132.e4. </a:t>
            </a:r>
          </a:p>
          <a:p>
            <a:pPr marL="342900" indent="-342900" algn="just">
              <a:buFont typeface="Arial" panose="020B0604020202020204" pitchFamily="34" charset="0"/>
              <a:buChar char="•"/>
            </a:pPr>
            <a:endParaRPr lang="en-US" sz="14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Nilsson JB, </a:t>
            </a:r>
            <a:r>
              <a:rPr lang="en-US" sz="1400" dirty="0" err="1">
                <a:latin typeface="Times New Roman" panose="02020603050405020304" pitchFamily="18" charset="0"/>
                <a:cs typeface="Times New Roman" panose="02020603050405020304" pitchFamily="18" charset="0"/>
              </a:rPr>
              <a:t>Kaabinejadian</a:t>
            </a:r>
            <a:r>
              <a:rPr lang="en-US" sz="1400" dirty="0">
                <a:latin typeface="Times New Roman" panose="02020603050405020304" pitchFamily="18" charset="0"/>
                <a:cs typeface="Times New Roman" panose="02020603050405020304" pitchFamily="18" charset="0"/>
              </a:rPr>
              <a:t> S, Yari H, Kester MGD, van Balen P, Hildebrand WH, et al. Accurate prediction of HLA class II antigen presentation across all loci using tailored data acquisition and refined machine learning. Science Advances. 2023 Nov 24;9(47):eadj6367. </a:t>
            </a:r>
          </a:p>
          <a:p>
            <a:pPr marL="342900" indent="-342900" algn="just">
              <a:buFont typeface="Arial" panose="020B0604020202020204" pitchFamily="34" charset="0"/>
              <a:buChar char="•"/>
            </a:pPr>
            <a:endParaRPr lang="en-US" sz="14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You R, Qu W, </a:t>
            </a:r>
            <a:r>
              <a:rPr lang="en-US" sz="1400" dirty="0" err="1">
                <a:latin typeface="Times New Roman" panose="02020603050405020304" pitchFamily="18" charset="0"/>
                <a:cs typeface="Times New Roman" panose="02020603050405020304" pitchFamily="18" charset="0"/>
              </a:rPr>
              <a:t>Mamitsuka</a:t>
            </a:r>
            <a:r>
              <a:rPr lang="en-US" sz="1400" dirty="0">
                <a:latin typeface="Times New Roman" panose="02020603050405020304" pitchFamily="18" charset="0"/>
                <a:cs typeface="Times New Roman" panose="02020603050405020304" pitchFamily="18" charset="0"/>
              </a:rPr>
              <a:t> H, Zhu S. </a:t>
            </a:r>
            <a:r>
              <a:rPr lang="en-US" sz="1400" dirty="0" err="1">
                <a:latin typeface="Times New Roman" panose="02020603050405020304" pitchFamily="18" charset="0"/>
                <a:cs typeface="Times New Roman" panose="02020603050405020304" pitchFamily="18" charset="0"/>
              </a:rPr>
              <a:t>DeepMHCII</a:t>
            </a:r>
            <a:r>
              <a:rPr lang="en-US" sz="1400" dirty="0">
                <a:latin typeface="Times New Roman" panose="02020603050405020304" pitchFamily="18" charset="0"/>
                <a:cs typeface="Times New Roman" panose="02020603050405020304" pitchFamily="18" charset="0"/>
              </a:rPr>
              <a:t>: a novel binding core-aware deep interaction model for accurate MHC-II peptide binding affinity prediction. Bioinformatics. 2022 Jun 24;38(Supplement_1):i220–8. </a:t>
            </a:r>
          </a:p>
          <a:p>
            <a:pPr marL="342900" indent="-342900" algn="just">
              <a:buFont typeface="Arial" panose="020B0604020202020204" pitchFamily="34" charset="0"/>
              <a:buChar char="•"/>
            </a:pPr>
            <a:endParaRPr lang="en-US"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7707443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F038F7-F6DA-C87A-04BA-D47B5D2EF1E3}"/>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B7F36A27-9BB1-A451-E446-3C664D8F7DF6}"/>
              </a:ext>
            </a:extLst>
          </p:cNvPr>
          <p:cNvSpPr/>
          <p:nvPr/>
        </p:nvSpPr>
        <p:spPr>
          <a:xfrm>
            <a:off x="0" y="1675"/>
            <a:ext cx="12192000" cy="6858000"/>
          </a:xfrm>
          <a:prstGeom prst="rect">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800" dirty="0">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F8085EEC-DAF5-AB60-00EF-9883547B2CFA}"/>
              </a:ext>
            </a:extLst>
          </p:cNvPr>
          <p:cNvSpPr txBox="1"/>
          <p:nvPr/>
        </p:nvSpPr>
        <p:spPr>
          <a:xfrm>
            <a:off x="189619" y="1046075"/>
            <a:ext cx="11783306" cy="3539430"/>
          </a:xfrm>
          <a:prstGeom prst="rect">
            <a:avLst/>
          </a:prstGeom>
          <a:noFill/>
        </p:spPr>
        <p:txBody>
          <a:bodyPr wrap="square">
            <a:spAutoFit/>
          </a:bodyPr>
          <a:lstStyle/>
          <a:p>
            <a:pPr marL="342900" indent="-342900">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Kumar N, Tripathi S, Sharma N, </a:t>
            </a:r>
            <a:r>
              <a:rPr lang="en-US" sz="1400" dirty="0" err="1">
                <a:latin typeface="Times New Roman" panose="02020603050405020304" pitchFamily="18" charset="0"/>
                <a:cs typeface="Times New Roman" panose="02020603050405020304" pitchFamily="18" charset="0"/>
              </a:rPr>
              <a:t>Patiyal</a:t>
            </a:r>
            <a:r>
              <a:rPr lang="en-US" sz="1400" dirty="0">
                <a:latin typeface="Times New Roman" panose="02020603050405020304" pitchFamily="18" charset="0"/>
                <a:cs typeface="Times New Roman" panose="02020603050405020304" pitchFamily="18" charset="0"/>
              </a:rPr>
              <a:t> S, Devi NL, Raghava GPS. A method for predicting linear and conformational B-cell epitopes in an antigen from its primary sequence [Internet]. </a:t>
            </a:r>
            <a:r>
              <a:rPr lang="en-US" sz="1400" dirty="0" err="1">
                <a:latin typeface="Times New Roman" panose="02020603050405020304" pitchFamily="18" charset="0"/>
                <a:cs typeface="Times New Roman" panose="02020603050405020304" pitchFamily="18" charset="0"/>
              </a:rPr>
              <a:t>bioRxiv</a:t>
            </a:r>
            <a:r>
              <a:rPr lang="en-US" sz="1400" dirty="0">
                <a:latin typeface="Times New Roman" panose="02020603050405020304" pitchFamily="18" charset="0"/>
                <a:cs typeface="Times New Roman" panose="02020603050405020304" pitchFamily="18" charset="0"/>
              </a:rPr>
              <a:t>; 2023 [cited 2025 Jun 17]. p. 2023.01.18.524531. Available from: </a:t>
            </a:r>
            <a:r>
              <a:rPr lang="en-US" sz="1400" dirty="0">
                <a:latin typeface="Times New Roman" panose="02020603050405020304" pitchFamily="18" charset="0"/>
                <a:cs typeface="Times New Roman" panose="02020603050405020304" pitchFamily="18" charset="0"/>
                <a:hlinkClick r:id="rId2"/>
              </a:rPr>
              <a:t>https://www.biorxiv.org/content/10.1101/2023.01.18.524531v1</a:t>
            </a:r>
            <a:endParaRPr lang="en-US" sz="1400" dirty="0">
              <a:latin typeface="Times New Roman" panose="02020603050405020304" pitchFamily="18" charset="0"/>
              <a:cs typeface="Times New Roman" panose="02020603050405020304" pitchFamily="18" charset="0"/>
            </a:endParaRPr>
          </a:p>
          <a:p>
            <a:endParaRPr lang="en-US" sz="1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Kim DE, </a:t>
            </a:r>
            <a:r>
              <a:rPr lang="en-US" sz="1400" dirty="0" err="1">
                <a:latin typeface="Times New Roman" panose="02020603050405020304" pitchFamily="18" charset="0"/>
                <a:cs typeface="Times New Roman" panose="02020603050405020304" pitchFamily="18" charset="0"/>
              </a:rPr>
              <a:t>Chivian</a:t>
            </a:r>
            <a:r>
              <a:rPr lang="en-US" sz="1400" dirty="0">
                <a:latin typeface="Times New Roman" panose="02020603050405020304" pitchFamily="18" charset="0"/>
                <a:cs typeface="Times New Roman" panose="02020603050405020304" pitchFamily="18" charset="0"/>
              </a:rPr>
              <a:t> D, Baker D. Protein structure prediction and analysis using the </a:t>
            </a:r>
            <a:r>
              <a:rPr lang="en-US" sz="1400" dirty="0" err="1">
                <a:latin typeface="Times New Roman" panose="02020603050405020304" pitchFamily="18" charset="0"/>
                <a:cs typeface="Times New Roman" panose="02020603050405020304" pitchFamily="18" charset="0"/>
              </a:rPr>
              <a:t>Robetta</a:t>
            </a:r>
            <a:r>
              <a:rPr lang="en-US" sz="1400" dirty="0">
                <a:latin typeface="Times New Roman" panose="02020603050405020304" pitchFamily="18" charset="0"/>
                <a:cs typeface="Times New Roman" panose="02020603050405020304" pitchFamily="18" charset="0"/>
              </a:rPr>
              <a:t> server. Nucleic Acids Research. 2004 Jul 1;32(suppl_2):W526–31. </a:t>
            </a:r>
          </a:p>
          <a:p>
            <a:pPr marL="342900" indent="-342900">
              <a:buFont typeface="Arial" panose="020B0604020202020204" pitchFamily="34" charset="0"/>
              <a:buChar char="•"/>
            </a:pPr>
            <a:endParaRPr lang="en-US" sz="1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Zhou P, Jin B, Li H, Huang SY. HPEPDOCK: a web server for blind peptide–protein docking based on a hierarchical algorithm. Nucleic Acids Research. 2018 Jul 2;46(W1):W443–50. </a:t>
            </a:r>
          </a:p>
          <a:p>
            <a:pPr marL="342900" indent="-342900">
              <a:buFont typeface="Arial" panose="020B0604020202020204" pitchFamily="34" charset="0"/>
              <a:buChar char="•"/>
            </a:pPr>
            <a:endParaRPr lang="en-US" sz="1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Bhattacharya D, Nowotny J, Cao R, Cheng J. 3Drefine: an interactive web server for efficient protein structure refinement. Nucleic Acids Research. 2016 Jul 8;44(W1):W406–9.</a:t>
            </a:r>
          </a:p>
          <a:p>
            <a:r>
              <a:rPr lang="en-US" sz="1400" dirty="0">
                <a:latin typeface="Times New Roman" panose="02020603050405020304" pitchFamily="18" charset="0"/>
                <a:cs typeface="Times New Roman" panose="02020603050405020304" pitchFamily="18" charset="0"/>
              </a:rPr>
              <a:t> </a:t>
            </a:r>
          </a:p>
          <a:p>
            <a:pPr marL="342900" indent="-342900">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Goddard TD, Huang CC, Ferrin TE. Visualizing density maps with UCSF Chimera. Journal of Structural Biology. 2007 Jan 1;157(1):281–7. </a:t>
            </a:r>
          </a:p>
          <a:p>
            <a:pPr marL="342900" indent="-342900">
              <a:buFont typeface="Arial" panose="020B0604020202020204" pitchFamily="34" charset="0"/>
              <a:buChar char="•"/>
            </a:pPr>
            <a:endParaRPr lang="en-US" sz="1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Yan Y, Zhang D, Zhou P, Li B, Huang SY. HDOCK: a web server for protein–protein and protein–DNA/RNA docking based on a hybrid strategy. Nucleic Acids Research. 2017 Jul 3;45(W1):W365–73. </a:t>
            </a:r>
          </a:p>
        </p:txBody>
      </p:sp>
      <p:grpSp>
        <p:nvGrpSpPr>
          <p:cNvPr id="6" name="Group 5">
            <a:extLst>
              <a:ext uri="{FF2B5EF4-FFF2-40B4-BE49-F238E27FC236}">
                <a16:creationId xmlns:a16="http://schemas.microsoft.com/office/drawing/2014/main" id="{9906E4D7-1BCB-FE49-1C2F-8BE40697E604}"/>
              </a:ext>
            </a:extLst>
          </p:cNvPr>
          <p:cNvGrpSpPr/>
          <p:nvPr/>
        </p:nvGrpSpPr>
        <p:grpSpPr>
          <a:xfrm>
            <a:off x="4895183" y="157194"/>
            <a:ext cx="2943999" cy="723900"/>
            <a:chOff x="739738" y="344774"/>
            <a:chExt cx="9439576" cy="1042237"/>
          </a:xfrm>
        </p:grpSpPr>
        <p:sp>
          <p:nvSpPr>
            <p:cNvPr id="7" name="Rectangle: Rounded Corners 6">
              <a:extLst>
                <a:ext uri="{FF2B5EF4-FFF2-40B4-BE49-F238E27FC236}">
                  <a16:creationId xmlns:a16="http://schemas.microsoft.com/office/drawing/2014/main" id="{1CCB5B3E-419B-075A-0B09-ABD66479771E}"/>
                </a:ext>
              </a:extLst>
            </p:cNvPr>
            <p:cNvSpPr/>
            <p:nvPr/>
          </p:nvSpPr>
          <p:spPr>
            <a:xfrm>
              <a:off x="739739" y="344774"/>
              <a:ext cx="8311794" cy="1042237"/>
            </a:xfrm>
            <a:prstGeom prst="roundRect">
              <a:avLst/>
            </a:prstGeom>
            <a:solidFill>
              <a:schemeClr val="bg1">
                <a:lumMod val="85000"/>
              </a:schemeClr>
            </a:solidFill>
            <a:ln>
              <a:no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en-US" sz="2000" dirty="0"/>
            </a:p>
          </p:txBody>
        </p:sp>
        <p:sp>
          <p:nvSpPr>
            <p:cNvPr id="9" name="Title 1">
              <a:extLst>
                <a:ext uri="{FF2B5EF4-FFF2-40B4-BE49-F238E27FC236}">
                  <a16:creationId xmlns:a16="http://schemas.microsoft.com/office/drawing/2014/main" id="{CAF4EAB4-DD72-D781-6C10-AA499520F2C0}"/>
                </a:ext>
              </a:extLst>
            </p:cNvPr>
            <p:cNvSpPr txBox="1">
              <a:spLocks/>
            </p:cNvSpPr>
            <p:nvPr/>
          </p:nvSpPr>
          <p:spPr>
            <a:xfrm>
              <a:off x="739738" y="344774"/>
              <a:ext cx="9439576" cy="960044"/>
            </a:xfrm>
            <a:prstGeom prst="rect">
              <a:avLst/>
            </a:prstGeom>
            <a:noFill/>
            <a:ln w="12700" cap="flat" cmpd="sng" algn="ctr">
              <a:noFill/>
              <a:prstDash val="solid"/>
              <a:miter lim="800000"/>
            </a:ln>
          </p:spPr>
          <p:style>
            <a:lnRef idx="1">
              <a:schemeClr val="accent4"/>
            </a:lnRef>
            <a:fillRef idx="2">
              <a:schemeClr val="accent4"/>
            </a:fillRef>
            <a:effectRef idx="1">
              <a:schemeClr val="accent4"/>
            </a:effectRef>
            <a:fontRef idx="minor">
              <a:schemeClr val="dk1"/>
            </a:fontRef>
          </p:style>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l"/>
              <a:r>
                <a:rPr lang="en-US" sz="4000" dirty="0">
                  <a:solidFill>
                    <a:srgbClr val="C00000"/>
                  </a:solidFill>
                </a:rPr>
                <a:t>References</a:t>
              </a:r>
            </a:p>
          </p:txBody>
        </p:sp>
      </p:grpSp>
    </p:spTree>
    <p:extLst>
      <p:ext uri="{BB962C8B-B14F-4D97-AF65-F5344CB8AC3E}">
        <p14:creationId xmlns:p14="http://schemas.microsoft.com/office/powerpoint/2010/main" val="103954618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2AA209C-441A-CE1E-69CC-0AF53140ED4A}"/>
              </a:ext>
            </a:extLst>
          </p:cNvPr>
          <p:cNvSpPr/>
          <p:nvPr/>
        </p:nvSpPr>
        <p:spPr>
          <a:xfrm>
            <a:off x="0" y="1675"/>
            <a:ext cx="12192000" cy="6858000"/>
          </a:xfrm>
          <a:prstGeom prst="rect">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800"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08F40B0A-3E74-3196-AD0A-F0C193D3C3C1}"/>
              </a:ext>
            </a:extLst>
          </p:cNvPr>
          <p:cNvSpPr txBox="1"/>
          <p:nvPr/>
        </p:nvSpPr>
        <p:spPr>
          <a:xfrm>
            <a:off x="4726113" y="3044279"/>
            <a:ext cx="3842534" cy="769441"/>
          </a:xfrm>
          <a:prstGeom prst="rect">
            <a:avLst/>
          </a:prstGeom>
          <a:noFill/>
        </p:spPr>
        <p:txBody>
          <a:bodyPr wrap="square" rtlCol="0">
            <a:spAutoFit/>
          </a:bodyPr>
          <a:lstStyle/>
          <a:p>
            <a:r>
              <a:rPr lang="en-US" sz="4400" dirty="0"/>
              <a:t>Thank You ……</a:t>
            </a:r>
          </a:p>
        </p:txBody>
      </p:sp>
    </p:spTree>
    <p:extLst>
      <p:ext uri="{BB962C8B-B14F-4D97-AF65-F5344CB8AC3E}">
        <p14:creationId xmlns:p14="http://schemas.microsoft.com/office/powerpoint/2010/main" val="363166490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10513</TotalTime>
  <Words>3754</Words>
  <Application>Microsoft Office PowerPoint</Application>
  <PresentationFormat>Widescreen</PresentationFormat>
  <Paragraphs>620</Paragraphs>
  <Slides>38</Slides>
  <Notes>2</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38</vt:i4>
      </vt:variant>
    </vt:vector>
  </HeadingPairs>
  <TitlesOfParts>
    <vt:vector size="49" baseType="lpstr">
      <vt:lpstr>Aptos</vt:lpstr>
      <vt:lpstr>Arial</vt:lpstr>
      <vt:lpstr>Calibri</vt:lpstr>
      <vt:lpstr>Cambria Math</vt:lpstr>
      <vt:lpstr>Consolas</vt:lpstr>
      <vt:lpstr>Garamond</vt:lpstr>
      <vt:lpstr>Gill Sans MT</vt:lpstr>
      <vt:lpstr>Times New Roman</vt:lpstr>
      <vt:lpstr>Wingdings</vt:lpstr>
      <vt:lpstr>Office Theme</vt:lpstr>
      <vt:lpstr>Parcel</vt:lpstr>
      <vt:lpstr>PowerPoint Presentation</vt:lpstr>
      <vt:lpstr>Introduction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Milind Shrivastava</dc:creator>
  <cp:lastModifiedBy>Milind Shrivastava</cp:lastModifiedBy>
  <cp:revision>13</cp:revision>
  <dcterms:created xsi:type="dcterms:W3CDTF">2025-03-26T17:00:15Z</dcterms:created>
  <dcterms:modified xsi:type="dcterms:W3CDTF">2026-07-12T18:09:21Z</dcterms:modified>
</cp:coreProperties>
</file>